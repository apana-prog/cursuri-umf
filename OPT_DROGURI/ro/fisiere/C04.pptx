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Bine ați venit la a patra ședință. Titlul are două jumătăți: ce face medicul cu cineva care consumă și nu se poate opri, și dependența pe care o poate produce, fără nicio intenție, chiar rețeta lui.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Biletul de ieșire de data trecută a rămas fără răspunsuri, deci nu avem încă ce schimba pe baza lui. Azi îi păstrăm ultimele cinci minute. E anonim și nu se notează.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 pacienți, aceeași dimineață. Niciunul nu a cumpărat ceva de pe stradă: amândoi au început cu o rețetă scrisă pentru un motiv real. Răspunsul provizoriu la titlu: medicul are două datorii, să nu creeze dependențe noi și să țină în viață pe cei deja dependenți. A doua datorie are un nume, reducerea riscurilor.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Votați acum, înainte de orice explicație. Revenim la acest vot în prima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Primul termen nou: dependența fizică. În cuvinte obișnuite, corpul s-a obișnuit cu pastila și protestează când nu o mai primește. Nu este același lucru cu adicția. Doamna Elena nu își mărește singură doza și nu caută pastile pe ascuns. Iar diferența contează pentru cuvintele pe care le alegeți.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Citiți încă o dată fraza din caz: doar pentru câteva săptămâni. Este exact intervalul în care dependența fizică poate începe. De aceea, ghidul din 2025 cere ca o rețetă nouă să fie reevaluată în cel mult o lună.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 Statele Unite, aproape jumătate dintre cei care primesc benzodiazepine le iau mai mult decât intervalul în care dependența poate începe. Pentru România nu avem o serie oficială publică. Vedem numai partea care ajunge la serviciile pentru adicții, iar raportul spune explicit: fără prescripție medicală.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Două minute cu colegul de bancă. De ce credeți că dependența de benzodiazepine luate cu rețetă ajunge rar într-o statistică? Notați două motive.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Votul de la început avea o variantă corectă: B. Oprirea bruscă a unei benzodiazepine luate regulat poate produce un sevraj care pune viața în pericol. Varianta A pare virtuoasă și este cea mai periculoasă. Varianta C pare blândă, dar este o renunțare.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Ghidul din 2025 dă un reper, nu o rețetă fixă. Pentru doamna Elena, cu valori ipotetice, planul durează luni, nu zile. Comparați-l cu cei șase ani în care s-a format dependența. Și nu orice pacient trebuie să ajungă la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 voluntari: unul este medicul de familie, celălalt doamna Elena. Ea a citit că alprazolamul strică memoria și vrea să-l lase de mâine. Medicul are trei minute să o convingă să nu îl oprească brusc, fără să o sperie și fără să o certe. Apoi votați: ați fi plecat de la acest medic cu un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Discuția pornește de la cuvintele folosite. Pacienta are, în parte, dreptate, iar medicul i-o poate spune: ghidul enumeră afectarea cognitivă printre riscurile asociate benzodiazepinelor. Tocmai de aceea doza merită scăzută, dar treptat.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Medicamentele Z nu au structura benzodiazepinelor, dar au mecanisme și riscuri asemănătoare. Cifra de 66 de cazuri pare mică, dar cuprinde numai ce a fost raportat sau publicat. Pentru pacient, informația utilă e simplă: dacă v-ați trezit făcând ceva fără să vă amintiți, opriți medicamentul și spuneți medicului.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 există o categorie pe care trebuie să o cunoașteți: benzodiazepinele noi, produse în afara oricărei autorizări. Și o diferență practică: supradoza cu opioide poate fi inversată cu naloxonă; cea cu benzodiazepine cere un alt antidot, dat în general numai în spital.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Benzodiazepina scrisă pentru câteva săptămâni poate produce dependență fizică chiar dacă pacientul o ia corect. Programați-l înapoi într-o lună. Iar dacă o ia de ani de zile, nu i-o opriți brusc: scădeți-o încet, cu un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doilea pacient al dimineții: operat de hernie de disc acum trei luni, cere încă o cutie de opioid. Ce faceți?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Varianta C urmează ghidul american din 2022. În durerea de câteva săptămâni sau luni, tratamentele fără opioide sunt preferate. Iar înainte de un tratament continuu, medicul stabilește împreună cu pacientul ce vor să obțină. Varianta B pare prudentă, dar îl lasă singur, fără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să înțelegeți de ce ghidul este atât de prudent: primul val a început odată cu creșterea prescrierii în anii 1990. Al doilea a venit cu heroina, al treilea cu fentanilul produs ilegal. În 2023, aproximativ trei din patru decese prin supradoză au implicat un opioid.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OMS vede două cauze: opioidele pentru durerea cronică au devenit mai disponibile, iar pe piața ilegală au apărut opioide foarte puternice. Cele două cazuri ale dimineții se întâlnesc aici: un pacient poate primi, de la medici diferiți, și o benzodiazepină, și un opioid.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titlu real de presă, din 2017, tradus. L-ați crede? După vot, căutăm cuvintele din titlu care spun mai mult decât datele.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Titlul are o parte de adevăr: primul val a început odată cu prescrierea. Ce depășește sursele sunt cuvintele „în centrul”, care pun medicii în mijlocul întregii crize. O frază mai apropiată de date este mai puțin spectaculoasă și mai ușor de apărat.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Două decizii recente privesc direct cabinetul: prescrierea electronică a stupefiantelor și trecerea tramadolului în tabelele substanțelor controlate. Raportul european arată de ce contează: pastilele cu opioide sintetice foarte puternice s-au răspândit repede, iar cele false par legitime.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Criza americană a opioidelor a început cu rețete. Înainte de un opioid pentru o durere de luni de zile, încercați tratamentele fără opioide și stabiliți cu pacientul ce vreți să obțineți. Și nu combinați, fără un motiv bun, opioidul cu o benzodiazepină.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vedem în zece minute. Urmează partea despre reducerea riscurilor.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Suntem la București, la câțiva ani după aderarea României la Uniunea Europeană. Cazul este o reconstituire; cifrele care urmează nu sunt. Întrebarea rezidentului e și a noastră: cum s-a putut întâmpla atât de repede?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Comisia identifică două cauze care au venit împreună: serviciile pentru persoanele care își injectează droguri au pierdut finanțarea, iar în aceeași perioadă au apărut stimulante ieftine, injectate de mult mai multe ori pe zi. Mai multe injectări înseamnă mai multe seringi; fără seringi sterile, mai multe seringi împărțite.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doilea termen nou: reducerea riscurilor. În cuvinte obișnuite: dacă tot consumi, să nu mori și să nu te îmbolnăvești din asta. Precizarea esențială: aceste servicii nu au ca obiectiv principal încetarea totală a consumului.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singur cuvânt, primul care vă vine în minte când auziți schimb de seringi. Norul rămâne pe ecran cât vorbim.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Obiecția morală merită luată în serios, pentru că o au și mulți medici. Un chirurg operează un motociclist accidentat fără să îi ceară să renunțe la motocicletă. A doua obiecție este una de fapt și se verifică. Prima se discută cu valori, a doua cu date, exact ca în ședința trecută.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Raportul european face o distincție pe care merită să o rețineți. Pentru schimbul de seringi și pentru naloxona dată acasă: arată eficacitate. Pentru camerele de consum: pot contribui. Sunt niveluri diferite de siguranță. Iar naloxona e ușor de apărat: la cine nu a luat opioide, nu are, practic, niciun 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Schimbul de seringi există peste tot în Uniune, dar puține țări ating ținta OMS. Naloxona dată acasă există în multe țări europene, iar în câteva se eliberează fără prescripție. Rețineți lista; în România vom vedea ce lipsește.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 România, programul de reducere a riscurilor există numai în București. Numărul seringilor distribuite a scăzut față de anul precedent. Două servicii lipsesc: naloxona în mâna martorilor și camerele de consum.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Câte din o sută de persoane care își injectează droguri, testate în programele din București, aveau hepatita C? Votați, apoi discutați cu colegul de ce v-ați gândit la o cifră mai mică sau mai mare.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Varianta corectă este C, aproximativ o treime. Mulți aleg o cifră mai mică, pentru că hepatita C nu se vede. Este un risc care rămâne invizibil până când cineva îl măsoară.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Moțiunea: Clujul ar trebui să aibă o cameră de consum supravegheat. Partea stângă susține, partea dreaptă se opune, indiferent de opinia fiecăruia. Ca în ședința trecută, urmăriți unde se termină faptul și unde începe valoarea.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Observați că ambele tabere primesc aceeași propoziție, tăiată în două. Așa se întâmplă des în dezbaterea publică: fiecare parte citează jumătatea de frază care îi convine. Întrebările care rămân deschise sunt de politică, nu de știință.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Reducerea riscurilor nu înseamnă că aprobați consumul, ci că nu condiționați îngrijirea de abstinență. Pentru seringile sterile și pentru naloxonă, dovezile sunt solide. În România, programul există doar în București.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treilea termen nou: tratamentul de substituție. În cuvinte obișnuite: un medicament luat zilnic, controlat, în locul drogului luat de pe stradă. Medicamentele se discută pe larg în ședința a șasea.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Înainte de cifre: din zece persoane care au nevoie de tratament pentru dependența de opioide, câte credeți că îl primesc? Apoi discutați cu colegul ce ar putea ține un om departe de tratament.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Varianta corectă este A: OMS estimează că mai puțin de una din zece persoane care au nevoie de tratament îl primesc. În România, puțin peste o mie și jumătate de oameni primesc metadonă; restul celor înscriși erau în program din anii anteriori.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Metadona are riscurile unui opioid. Dar raportul nu spune câte dintre persoanele decedate erau în tratament, așa că cifra nu evaluează programul.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Tratamentul de substituție ține omul în viață și în legătură cu medicul. Iar metadona rămâne un opioid: combinată cu o benzodiazepină, crește riscul.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Șase lucruri pe care le puteți face de mâine, ca studenți și ca viitori medici.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Zece întrebări despre ce am discutat azi. Rezultatul nu se notează.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 întrebări anonime, pe Mentimeter. Luni, pe pagina disciplinei, veți găsi două lucruri schimbate după răspunsurile voastre. Mulțumesc.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pic>
        <p:nvPicPr>
          <p:cNvPr id="2" name="Image 0" descr="/Users/adrianpana/Downloads/UMF_Cluj_SP/Materiale SP/Atelier_didactic/discipline/OPT_DROGURI/active/img/alprazolam_blister_commons.jpg">    </p:cNvPr>
          <p:cNvPicPr>
            <a:picLocks noChangeAspect="1"/>
          </p:cNvPicPr>
          <p:nvPr/>
        </p:nvPicPr>
        <p:blipFill>
          <a:blip r:embed="rId1"/>
          <a:stretch>
            <a:fillRect/>
          </a:stretch>
        </p:blipFill>
        <p:spPr>
          <a:xfrm>
            <a:off x="7345375" y="0"/>
            <a:ext cx="4846320" cy="6858000"/>
          </a:xfrm>
          <a:prstGeom prst="rect">
            <a:avLst/>
          </a:prstGeom>
        </p:spPr>
      </p:pic>
      <p:sp>
        <p:nvSpPr>
          <p:cNvPr id="3" name="Shape 0"/>
          <p:cNvSpPr/>
          <p:nvPr/>
        </p:nvSpPr>
        <p:spPr>
          <a:xfrm>
            <a:off x="640080" y="777240"/>
            <a:ext cx="2377440" cy="329184"/>
          </a:xfrm>
          <a:prstGeom prst="roundRect">
            <a:avLst>
              <a:gd name="adj" fmla="val 50000"/>
            </a:avLst>
          </a:prstGeom>
          <a:solidFill>
            <a:srgbClr val="FF4757"/>
          </a:solidFill>
          <a:ln w="12700">
            <a:solidFill>
              <a:srgbClr val="FF4757"/>
            </a:solidFill>
            <a:prstDash val="solid"/>
          </a:ln>
        </p:spPr>
        <p:txBody>
          <a:bodyPr/>
          <a:p/>
        </p:txBody>
      </p:sp>
      <p:sp>
        <p:nvSpPr>
          <p:cNvPr id="4" name="Text 1"/>
          <p:cNvSpPr/>
          <p:nvPr/>
        </p:nvSpPr>
        <p:spPr>
          <a:xfrm>
            <a:off x="640080" y="777240"/>
            <a:ext cx="237744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ȘEDINȚA A PATRA</a:t>
            </a:r>
            <a:endParaRPr lang="en-US" sz="1300" dirty="0"/>
          </a:p>
        </p:txBody>
      </p:sp>
      <p:sp>
        <p:nvSpPr>
          <p:cNvPr id="5" name="Text 2"/>
          <p:cNvSpPr/>
          <p:nvPr/>
        </p:nvSpPr>
        <p:spPr>
          <a:xfrm>
            <a:off x="640080" y="1371600"/>
            <a:ext cx="6400800" cy="86868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Reducerea riscurilor</a:t>
            </a:r>
            <a:endParaRPr lang="en-US" sz="3800" dirty="0"/>
          </a:p>
        </p:txBody>
      </p:sp>
      <p:sp>
        <p:nvSpPr>
          <p:cNvPr id="6" name="Text 3"/>
          <p:cNvSpPr/>
          <p:nvPr/>
        </p:nvSpPr>
        <p:spPr>
          <a:xfrm>
            <a:off x="640080" y="2240280"/>
            <a:ext cx="6400800" cy="1005840"/>
          </a:xfrm>
          <a:prstGeom prst="rect">
            <a:avLst/>
          </a:prstGeom>
          <a:noFill/>
          <a:ln/>
        </p:spPr>
        <p:txBody>
          <a:bodyPr wrap="square" lIns="0" tIns="0" rIns="0" bIns="0" rtlCol="0" anchor="t"/>
          <a:lstStyle/>
          <a:p>
            <a:pPr indent="0" marL="0">
              <a:buNone/>
            </a:pPr>
            <a:r>
              <a:rPr lang="en-US" sz="2800" b="1" dirty="0">
                <a:solidFill>
                  <a:srgbClr val="27D3BE"/>
                </a:solidFill>
                <a:latin typeface="Palatino Linotype" pitchFamily="34" charset="0"/>
                <a:ea typeface="Palatino Linotype" pitchFamily="34" charset="-122"/>
                <a:cs typeface="Palatino Linotype" pitchFamily="34" charset="-120"/>
              </a:rPr>
              <a:t>și dependența care începe în cabinet</a:t>
            </a:r>
            <a:endParaRPr lang="en-US" sz="2800" dirty="0"/>
          </a:p>
        </p:txBody>
      </p:sp>
      <p:sp>
        <p:nvSpPr>
          <p:cNvPr id="7" name="Shape 4"/>
          <p:cNvSpPr/>
          <p:nvPr/>
        </p:nvSpPr>
        <p:spPr>
          <a:xfrm>
            <a:off x="667512" y="3474720"/>
            <a:ext cx="1280160" cy="27432"/>
          </a:xfrm>
          <a:prstGeom prst="rect">
            <a:avLst/>
          </a:prstGeom>
          <a:solidFill>
            <a:srgbClr val="FF4757"/>
          </a:solidFill>
          <a:ln/>
        </p:spPr>
        <p:txBody>
          <a:bodyPr/>
          <a:p/>
        </p:txBody>
      </p:sp>
      <p:sp>
        <p:nvSpPr>
          <p:cNvPr id="8" name="Text 5"/>
          <p:cNvSpPr/>
          <p:nvPr/>
        </p:nvSpPr>
        <p:spPr>
          <a:xfrm>
            <a:off x="640080" y="3657600"/>
            <a:ext cx="6400800" cy="1005840"/>
          </a:xfrm>
          <a:prstGeom prst="rect">
            <a:avLst/>
          </a:prstGeom>
          <a:noFill/>
          <a:ln/>
        </p:spPr>
        <p:txBody>
          <a:bodyPr wrap="square" lIns="0" tIns="0" rIns="0" bIns="0" rtlCol="0" anchor="t"/>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Creierul tău pe droguri: neuroștiința adicției și politicile drogurilor</a:t>
            </a:r>
            <a:endParaRPr lang="en-US" sz="1300" dirty="0"/>
          </a:p>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Conf. univ. dr. Adrian Pană · UMF „Iuliu Hațieganu” Cluj-Napoca · 2026–2027</a:t>
            </a:r>
            <a:endParaRPr lang="en-US" sz="1300" dirty="0"/>
          </a:p>
        </p:txBody>
      </p:sp>
      <p:sp>
        <p:nvSpPr>
          <p:cNvPr id="9" name="Shape 6"/>
          <p:cNvSpPr/>
          <p:nvPr/>
        </p:nvSpPr>
        <p:spPr>
          <a:xfrm>
            <a:off x="640080" y="4983480"/>
            <a:ext cx="1417320" cy="1097280"/>
          </a:xfrm>
          <a:prstGeom prst="roundRect">
            <a:avLst>
              <a:gd name="adj" fmla="val 7500"/>
            </a:avLst>
          </a:prstGeom>
          <a:solidFill>
            <a:srgbClr val="FFFFFF"/>
          </a:solidFill>
          <a:ln w="12700">
            <a:solidFill>
              <a:srgbClr val="FFFFFF"/>
            </a:solidFill>
            <a:prstDash val="solid"/>
          </a:ln>
        </p:spPr>
        <p:txBody>
          <a:bodyPr/>
          <a:p/>
        </p:txBody>
      </p:sp>
      <p:sp>
        <p:nvSpPr>
          <p:cNvPr id="11" name="Text 8"/>
          <p:cNvSpPr/>
          <p:nvPr/>
        </p:nvSpPr>
        <p:spPr>
          <a:xfrm>
            <a:off x="2240280" y="5029200"/>
            <a:ext cx="4572000" cy="1005840"/>
          </a:xfrm>
          <a:prstGeom prst="rect">
            <a:avLst/>
          </a:prstGeom>
          <a:noFill/>
          <a:ln/>
        </p:spPr>
        <p:txBody>
          <a:bodyPr wrap="square" lIns="0" tIns="0" rIns="0" bIns="0" rtlCol="0" anchor="ctr"/>
          <a:lstStyle/>
          <a:p>
            <a:pPr indent="0" marL="0">
              <a:buNone/>
            </a:pPr>
            <a:r>
              <a:rPr lang="en-US" sz="1400" dirty="0">
                <a:solidFill>
                  <a:srgbClr val="959BB0"/>
                </a:solidFill>
                <a:latin typeface="Palatino Linotype" pitchFamily="34" charset="0"/>
                <a:ea typeface="Palatino Linotype" pitchFamily="34" charset="-122"/>
                <a:cs typeface="Palatino Linotype" pitchFamily="34" charset="-120"/>
              </a:rPr>
              <a:t>Deschideți Mentimeter de acum: votăm în primele minute.</a:t>
            </a:r>
            <a:endParaRPr lang="en-US" sz="1400" dirty="0"/>
          </a:p>
        </p:txBody>
      </p:sp>
      <p:sp>
        <p:nvSpPr>
          <p:cNvPr id="12" name="Shape 9"/>
          <p:cNvSpPr/>
          <p:nvPr/>
        </p:nvSpPr>
        <p:spPr>
          <a:xfrm>
            <a:off x="7345375" y="6355080"/>
            <a:ext cx="4846320" cy="502920"/>
          </a:xfrm>
          <a:prstGeom prst="rect">
            <a:avLst/>
          </a:prstGeom>
          <a:solidFill>
            <a:srgbClr val="11121A">
              <a:alpha val="70000"/>
            </a:srgbClr>
          </a:solidFill>
          <a:ln w="12700">
            <a:solidFill>
              <a:srgbClr val="11121A"/>
            </a:solidFill>
            <a:prstDash val="solid"/>
          </a:ln>
        </p:spPr>
        <p:txBody>
          <a:bodyPr/>
          <a:p/>
        </p:txBody>
      </p:sp>
      <p:sp>
        <p:nvSpPr>
          <p:cNvPr id="13" name="Text 10"/>
          <p:cNvSpPr/>
          <p:nvPr/>
        </p:nvSpPr>
        <p:spPr>
          <a:xfrm>
            <a:off x="7498080" y="6373368"/>
            <a:ext cx="4572000" cy="256032"/>
          </a:xfrm>
          <a:prstGeom prst="rect">
            <a:avLst/>
          </a:prstGeom>
          <a:noFill/>
          <a:ln/>
        </p:spPr>
        <p:txBody>
          <a:bodyPr wrap="square" lIns="0" tIns="0" rIns="0" bIns="0" rtlCol="0" anchor="ctr"/>
          <a:lstStyle/>
          <a:p>
            <a:pPr indent="0" marL="0">
              <a:buNone/>
            </a:pPr>
            <a:r>
              <a:rPr lang="en-US" sz="1100" dirty="0">
                <a:solidFill>
                  <a:srgbClr val="FFFFFF"/>
                </a:solidFill>
                <a:latin typeface="Palatino Linotype" pitchFamily="34" charset="0"/>
                <a:ea typeface="Palatino Linotype" pitchFamily="34" charset="-122"/>
                <a:cs typeface="Palatino Linotype" pitchFamily="34" charset="-120"/>
              </a:rPr>
              <a:t>Alprazolam, comprimate în blister</a:t>
            </a:r>
            <a:endParaRPr lang="en-US" sz="1100" dirty="0"/>
          </a:p>
        </p:txBody>
      </p:sp>
      <p:sp>
        <p:nvSpPr>
          <p:cNvPr id="14" name="Text 11"/>
          <p:cNvSpPr/>
          <p:nvPr/>
        </p:nvSpPr>
        <p:spPr>
          <a:xfrm>
            <a:off x="7498080" y="6601968"/>
            <a:ext cx="4572000" cy="219456"/>
          </a:xfrm>
          <a:prstGeom prst="rect">
            <a:avLst/>
          </a:prstGeom>
          <a:noFill/>
          <a:ln/>
        </p:spPr>
        <p:txBody>
          <a:bodyPr wrap="square" lIns="0" tIns="0" rIns="0" bIns="0" rtlCol="0" anchor="ctr"/>
          <a:lstStyle/>
          <a:p>
            <a:pPr indent="0" marL="0">
              <a:buNone/>
            </a:pPr>
            <a:r>
              <a:rPr lang="en-US" sz="850" i="1" dirty="0">
                <a:solidFill>
                  <a:srgbClr val="C9CCD8"/>
                </a:solidFill>
                <a:latin typeface="Palatino Linotype" pitchFamily="34" charset="0"/>
                <a:ea typeface="Palatino Linotype" pitchFamily="34" charset="-122"/>
                <a:cs typeface="Palatino Linotype" pitchFamily="34" charset="-120"/>
              </a:rPr>
              <a:t>Foto: Tmeers91 · CC0 · Wikimedia Commons</a:t>
            </a:r>
            <a:endParaRPr lang="en-US" sz="850" dirty="0"/>
          </a:p>
        </p:txBody>
      </p:sp>
      <p:pic>
        <p:nvPicPr>
          <p:cNvPr id="15" name="Picture 14" descr="Mentimeter_OPT_DROGURI_C04.png"/>
          <p:cNvPicPr>
            <a:picLocks noChangeAspect="1"/>
          </p:cNvPicPr>
          <p:nvPr/>
        </p:nvPicPr>
        <p:blipFill>
          <a:blip r:embed="rId4"/>
          <a:stretch>
            <a:fillRect/>
          </a:stretch>
        </p:blipFill>
        <p:spPr>
          <a:xfrm>
            <a:off x="1017269" y="4983480"/>
            <a:ext cx="662941" cy="662941"/>
          </a:xfrm>
          <a:prstGeom prst="rect">
            <a:avLst/>
          </a:prstGeom>
        </p:spPr>
      </p:pic>
      <p:sp>
        <p:nvSpPr>
          <p:cNvPr id="16" name="TextBox 15"/>
          <p:cNvSpPr txBox="1"/>
          <p:nvPr/>
        </p:nvSpPr>
        <p:spPr>
          <a:xfrm>
            <a:off x="640080" y="5684521"/>
            <a:ext cx="1417320" cy="434339"/>
          </a:xfrm>
          <a:prstGeom prst="rect">
            <a:avLst/>
          </a:prstGeom>
          <a:noFill/>
        </p:spPr>
        <p:txBody>
          <a:bodyPr wrap="square" lIns="0" rIns="0" tIns="0" bIns="0" anchor="t">
            <a:spAutoFit/>
          </a:bodyPr>
          <a:lstStyle/>
          <a:p>
            <a:pPr algn="ctr"/>
            <a:r>
              <a:rPr sz="900" b="1">
                <a:solidFill>
                  <a:srgbClr val="B02532"/>
                </a:solidFill>
                <a:latin typeface="Palatino Linotype"/>
              </a:rPr>
              <a:t>menti.com</a:t>
            </a:r>
          </a:p>
          <a:p>
            <a:pPr algn="ctr"/>
            <a:r>
              <a:rPr sz="900" b="1">
                <a:solidFill>
                  <a:srgbClr val="B02532"/>
                </a:solidFill>
                <a:latin typeface="Palatino Linotype"/>
              </a:rPr>
              <a:t>anonim, fără cont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DUPĂ BILETELE DE IEȘIRE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Biletul de ieșire are nevoie de voi</a:t>
            </a:r>
            <a:endParaRPr lang="en-US" sz="3200" dirty="0"/>
          </a:p>
        </p:txBody>
      </p:sp>
      <p:sp>
        <p:nvSpPr>
          <p:cNvPr id="4" name="Shape 2"/>
          <p:cNvSpPr/>
          <p:nvPr/>
        </p:nvSpPr>
        <p:spPr>
          <a:xfrm>
            <a:off x="594360" y="1737360"/>
            <a:ext cx="10972800" cy="1417320"/>
          </a:xfrm>
          <a:prstGeom prst="roundRect">
            <a:avLst>
              <a:gd name="adj" fmla="val 5806"/>
            </a:avLst>
          </a:prstGeom>
          <a:solidFill>
            <a:srgbClr val="ECEAE4"/>
          </a:solidFill>
          <a:ln w="12700">
            <a:solidFill>
              <a:srgbClr val="ECEAE4"/>
            </a:solidFill>
            <a:prstDash val="solid"/>
          </a:ln>
        </p:spPr>
        <p:txBody>
          <a:bodyPr/>
          <a:p/>
        </p:txBody>
      </p:sp>
      <p:sp>
        <p:nvSpPr>
          <p:cNvPr id="5" name="Shape 3"/>
          <p:cNvSpPr/>
          <p:nvPr/>
        </p:nvSpPr>
        <p:spPr>
          <a:xfrm>
            <a:off x="914400" y="2240280"/>
            <a:ext cx="420624" cy="420624"/>
          </a:xfrm>
          <a:prstGeom prst="ellipse">
            <a:avLst/>
          </a:prstGeom>
          <a:solidFill>
            <a:srgbClr val="B02532"/>
          </a:solidFill>
          <a:ln/>
        </p:spPr>
        <p:txBody>
          <a:bodyPr/>
          <a:p/>
        </p:txBody>
      </p:sp>
      <p:sp>
        <p:nvSpPr>
          <p:cNvPr id="6" name="Text 4"/>
          <p:cNvSpPr/>
          <p:nvPr/>
        </p:nvSpPr>
        <p:spPr>
          <a:xfrm>
            <a:off x="914400" y="2240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1737360"/>
            <a:ext cx="9692640" cy="1417320"/>
          </a:xfrm>
          <a:prstGeom prst="rect">
            <a:avLst/>
          </a:prstGeom>
          <a:noFill/>
          <a:ln/>
        </p:spPr>
        <p:txBody>
          <a:bodyPr wrap="square" lIns="0" tIns="0" rIns="0" bIns="0" rtlCol="0" anchor="ctr"/>
          <a:lstStyle/>
          <a:p>
            <a:pPr indent="0" marL="0">
              <a:buNone/>
            </a:pPr>
            <a:r>
              <a:rPr lang="en-US" sz="2000" dirty="0">
                <a:solidFill>
                  <a:srgbClr val="11121A"/>
                </a:solidFill>
                <a:latin typeface="Palatino Linotype" pitchFamily="34" charset="0"/>
                <a:ea typeface="Palatino Linotype" pitchFamily="34" charset="-122"/>
                <a:cs typeface="Palatino Linotype" pitchFamily="34" charset="-120"/>
              </a:rPr>
              <a:t>La biletul de ieșire al ședinței a treia nu am primit răspunsuri, așa că nu avem încă două lucruri de schimbat pe baza lor.</a:t>
            </a:r>
            <a:endParaRPr lang="en-US" sz="2000" dirty="0"/>
          </a:p>
        </p:txBody>
      </p:sp>
      <p:sp>
        <p:nvSpPr>
          <p:cNvPr id="8" name="Shape 6"/>
          <p:cNvSpPr/>
          <p:nvPr/>
        </p:nvSpPr>
        <p:spPr>
          <a:xfrm>
            <a:off x="594360" y="3429000"/>
            <a:ext cx="10972800" cy="1417320"/>
          </a:xfrm>
          <a:prstGeom prst="roundRect">
            <a:avLst>
              <a:gd name="adj" fmla="val 5806"/>
            </a:avLst>
          </a:prstGeom>
          <a:solidFill>
            <a:srgbClr val="F9F8F5"/>
          </a:solidFill>
          <a:ln w="12700">
            <a:solidFill>
              <a:srgbClr val="F9F8F5"/>
            </a:solidFill>
            <a:prstDash val="solid"/>
          </a:ln>
        </p:spPr>
        <p:txBody>
          <a:bodyPr/>
          <a:p/>
        </p:txBody>
      </p:sp>
      <p:sp>
        <p:nvSpPr>
          <p:cNvPr id="9" name="Shape 7"/>
          <p:cNvSpPr/>
          <p:nvPr/>
        </p:nvSpPr>
        <p:spPr>
          <a:xfrm>
            <a:off x="914400" y="3931920"/>
            <a:ext cx="420624" cy="420624"/>
          </a:xfrm>
          <a:prstGeom prst="ellipse">
            <a:avLst/>
          </a:prstGeom>
          <a:solidFill>
            <a:srgbClr val="B02532"/>
          </a:solidFill>
          <a:ln/>
        </p:spPr>
        <p:txBody>
          <a:bodyPr/>
          <a:p/>
        </p:txBody>
      </p:sp>
      <p:sp>
        <p:nvSpPr>
          <p:cNvPr id="10" name="Text 8"/>
          <p:cNvSpPr/>
          <p:nvPr/>
        </p:nvSpPr>
        <p:spPr>
          <a:xfrm>
            <a:off x="914400" y="39319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600200" y="3429000"/>
            <a:ext cx="9692640" cy="1417320"/>
          </a:xfrm>
          <a:prstGeom prst="rect">
            <a:avLst/>
          </a:prstGeom>
          <a:noFill/>
          <a:ln/>
        </p:spPr>
        <p:txBody>
          <a:bodyPr wrap="square" lIns="0" tIns="0" rIns="0" bIns="0" rtlCol="0" anchor="ctr"/>
          <a:lstStyle/>
          <a:p>
            <a:pPr indent="0" marL="0">
              <a:buNone/>
            </a:pPr>
            <a:r>
              <a:rPr lang="en-US" sz="2000" dirty="0">
                <a:solidFill>
                  <a:srgbClr val="11121A"/>
                </a:solidFill>
                <a:latin typeface="Palatino Linotype" pitchFamily="34" charset="0"/>
                <a:ea typeface="Palatino Linotype" pitchFamily="34" charset="-122"/>
                <a:cs typeface="Palatino Linotype" pitchFamily="34" charset="-120"/>
              </a:rPr>
              <a:t>Azi, ultimele cinci minute sunt pentru cele trei întrebări. Ce scrieți schimbă ședința următoare.</a:t>
            </a:r>
            <a:endParaRPr lang="en-US" sz="2000" dirty="0"/>
          </a:p>
        </p:txBody>
      </p:sp>
      <p:sp>
        <p:nvSpPr>
          <p:cNvPr id="12" name="Text 10"/>
          <p:cNvSpPr/>
          <p:nvPr/>
        </p:nvSpPr>
        <p:spPr>
          <a:xfrm>
            <a:off x="594360" y="5349240"/>
            <a:ext cx="10972800" cy="457200"/>
          </a:xfrm>
          <a:prstGeom prst="rect">
            <a:avLst/>
          </a:prstGeom>
          <a:noFill/>
          <a:ln/>
        </p:spPr>
        <p:txBody>
          <a:bodyPr wrap="square" lIns="0" tIns="0" rIns="0" bIns="0" rtlCol="0" anchor="t"/>
          <a:lstStyle/>
          <a:p>
            <a:pPr indent="0" marL="0">
              <a:buNone/>
            </a:pPr>
            <a:r>
              <a:rPr lang="en-US" sz="1700" i="1" dirty="0">
                <a:solidFill>
                  <a:srgbClr val="3A3C44"/>
                </a:solidFill>
                <a:latin typeface="Palatino Linotype" pitchFamily="34" charset="0"/>
                <a:ea typeface="Palatino Linotype" pitchFamily="34" charset="-122"/>
                <a:cs typeface="Palatino Linotype" pitchFamily="34" charset="-120"/>
              </a:rPr>
              <a:t>Biletul este anonim și nu se notează.</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LA CABINETUL DE FAMILIE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Două rețete în aceeași dimineață</a:t>
            </a:r>
            <a:endParaRPr lang="en-US" sz="3200" dirty="0"/>
          </a:p>
        </p:txBody>
      </p:sp>
      <p:sp>
        <p:nvSpPr>
          <p:cNvPr id="4" name="Shape 2"/>
          <p:cNvSpPr/>
          <p:nvPr/>
        </p:nvSpPr>
        <p:spPr>
          <a:xfrm>
            <a:off x="594360" y="1508760"/>
            <a:ext cx="5349240" cy="2788920"/>
          </a:xfrm>
          <a:prstGeom prst="roundRect">
            <a:avLst>
              <a:gd name="adj" fmla="val 2951"/>
            </a:avLst>
          </a:prstGeom>
          <a:solidFill>
            <a:srgbClr val="1D1F2B"/>
          </a:solidFill>
          <a:ln w="12700">
            <a:solidFill>
              <a:srgbClr val="1D1F2B"/>
            </a:solidFill>
            <a:prstDash val="solid"/>
          </a:ln>
        </p:spPr>
        <p:txBody>
          <a:bodyPr/>
          <a:p/>
        </p:txBody>
      </p:sp>
      <p:sp>
        <p:nvSpPr>
          <p:cNvPr id="5" name="Shape 3"/>
          <p:cNvSpPr/>
          <p:nvPr/>
        </p:nvSpPr>
        <p:spPr>
          <a:xfrm>
            <a:off x="594360" y="1508760"/>
            <a:ext cx="5349240" cy="73152"/>
          </a:xfrm>
          <a:prstGeom prst="rect">
            <a:avLst/>
          </a:prstGeom>
          <a:solidFill>
            <a:srgbClr val="27D3BE"/>
          </a:solidFill>
          <a:ln w="12700">
            <a:solidFill>
              <a:srgbClr val="27D3BE"/>
            </a:solidFill>
            <a:prstDash val="solid"/>
          </a:ln>
        </p:spPr>
        <p:txBody>
          <a:bodyPr/>
          <a:p/>
        </p:txBody>
      </p:sp>
      <p:sp>
        <p:nvSpPr>
          <p:cNvPr id="6" name="Text 4"/>
          <p:cNvSpPr/>
          <p:nvPr/>
        </p:nvSpPr>
        <p:spPr>
          <a:xfrm>
            <a:off x="868680" y="1737360"/>
            <a:ext cx="4846320" cy="320040"/>
          </a:xfrm>
          <a:prstGeom prst="rect">
            <a:avLst/>
          </a:prstGeom>
          <a:noFill/>
          <a:ln/>
        </p:spPr>
        <p:txBody>
          <a:bodyPr wrap="square" lIns="0" tIns="0" rIns="0" bIns="0" rtlCol="0" anchor="t"/>
          <a:lstStyle/>
          <a:p>
            <a:pPr indent="0" marL="0">
              <a:buNone/>
            </a:pPr>
            <a:r>
              <a:rPr lang="en-US" sz="1250" b="1" spc="200" kern="0" dirty="0">
                <a:solidFill>
                  <a:srgbClr val="27D3BE"/>
                </a:solidFill>
                <a:latin typeface="Palatino Linotype" pitchFamily="34" charset="0"/>
                <a:ea typeface="Palatino Linotype" pitchFamily="34" charset="-122"/>
                <a:cs typeface="Palatino Linotype" pitchFamily="34" charset="-120"/>
              </a:rPr>
              <a:t>DOAMNA ELENA, ȘAIZECI ȘI ȘAPTE DE ANI</a:t>
            </a:r>
            <a:endParaRPr lang="en-US" sz="1250" dirty="0"/>
          </a:p>
        </p:txBody>
      </p:sp>
      <p:sp>
        <p:nvSpPr>
          <p:cNvPr id="7" name="Text 5"/>
          <p:cNvSpPr/>
          <p:nvPr/>
        </p:nvSpPr>
        <p:spPr>
          <a:xfrm>
            <a:off x="868680" y="2148840"/>
            <a:ext cx="4846320" cy="205740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Rețeta lunară de alprazolam, începută acum șase ani, după moartea soțului, „doar pentru câteva săptămâni”. Într-un weekend fără pastile a tremurat și a avut palpitații.</a:t>
            </a:r>
            <a:endParaRPr lang="en-US" sz="1600" dirty="0"/>
          </a:p>
        </p:txBody>
      </p:sp>
      <p:sp>
        <p:nvSpPr>
          <p:cNvPr id="8" name="Shape 6"/>
          <p:cNvSpPr/>
          <p:nvPr/>
        </p:nvSpPr>
        <p:spPr>
          <a:xfrm>
            <a:off x="6217920" y="1508760"/>
            <a:ext cx="5349240" cy="2788920"/>
          </a:xfrm>
          <a:prstGeom prst="roundRect">
            <a:avLst>
              <a:gd name="adj" fmla="val 2951"/>
            </a:avLst>
          </a:prstGeom>
          <a:solidFill>
            <a:srgbClr val="1D1F2B"/>
          </a:solidFill>
          <a:ln w="12700">
            <a:solidFill>
              <a:srgbClr val="1D1F2B"/>
            </a:solidFill>
            <a:prstDash val="solid"/>
          </a:ln>
        </p:spPr>
        <p:txBody>
          <a:bodyPr/>
          <a:p/>
        </p:txBody>
      </p:sp>
      <p:sp>
        <p:nvSpPr>
          <p:cNvPr id="9" name="Shape 7"/>
          <p:cNvSpPr/>
          <p:nvPr/>
        </p:nvSpPr>
        <p:spPr>
          <a:xfrm>
            <a:off x="6217920" y="1508760"/>
            <a:ext cx="5349240" cy="73152"/>
          </a:xfrm>
          <a:prstGeom prst="rect">
            <a:avLst/>
          </a:prstGeom>
          <a:solidFill>
            <a:srgbClr val="FF4757"/>
          </a:solidFill>
          <a:ln w="12700">
            <a:solidFill>
              <a:srgbClr val="FF4757"/>
            </a:solidFill>
            <a:prstDash val="solid"/>
          </a:ln>
        </p:spPr>
        <p:txBody>
          <a:bodyPr/>
          <a:p/>
        </p:txBody>
      </p:sp>
      <p:sp>
        <p:nvSpPr>
          <p:cNvPr id="10" name="Text 8"/>
          <p:cNvSpPr/>
          <p:nvPr/>
        </p:nvSpPr>
        <p:spPr>
          <a:xfrm>
            <a:off x="6492240" y="1737360"/>
            <a:ext cx="4846320" cy="320040"/>
          </a:xfrm>
          <a:prstGeom prst="rect">
            <a:avLst/>
          </a:prstGeom>
          <a:noFill/>
          <a:ln/>
        </p:spPr>
        <p:txBody>
          <a:bodyPr wrap="square" lIns="0" tIns="0" rIns="0" bIns="0" rtlCol="0" anchor="t"/>
          <a:lstStyle/>
          <a:p>
            <a:pPr indent="0" marL="0">
              <a:buNone/>
            </a:pPr>
            <a:r>
              <a:rPr lang="en-US" sz="1250" b="1" spc="200" kern="0" dirty="0">
                <a:solidFill>
                  <a:srgbClr val="FF4757"/>
                </a:solidFill>
                <a:latin typeface="Palatino Linotype" pitchFamily="34" charset="0"/>
                <a:ea typeface="Palatino Linotype" pitchFamily="34" charset="-122"/>
                <a:cs typeface="Palatino Linotype" pitchFamily="34" charset="-120"/>
              </a:rPr>
              <a:t>UN BĂRBAT DE TREIZECI ȘI PATRU DE ANI</a:t>
            </a:r>
            <a:endParaRPr lang="en-US" sz="1250" dirty="0"/>
          </a:p>
        </p:txBody>
      </p:sp>
      <p:sp>
        <p:nvSpPr>
          <p:cNvPr id="11" name="Text 9"/>
          <p:cNvSpPr/>
          <p:nvPr/>
        </p:nvSpPr>
        <p:spPr>
          <a:xfrm>
            <a:off x="6492240" y="2148840"/>
            <a:ext cx="4846320" cy="205740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Operat de hernie de disc acum trei luni; a primit atunci un opioid. Cere acum „încă o cutie, că altfel nu pot lucra”.</a:t>
            </a:r>
            <a:endParaRPr lang="en-US" sz="1600" dirty="0"/>
          </a:p>
        </p:txBody>
      </p:sp>
      <p:sp>
        <p:nvSpPr>
          <p:cNvPr id="12" name="Text 10"/>
          <p:cNvSpPr/>
          <p:nvPr/>
        </p:nvSpPr>
        <p:spPr>
          <a:xfrm>
            <a:off x="594360" y="4526280"/>
            <a:ext cx="10972800" cy="457200"/>
          </a:xfrm>
          <a:prstGeom prst="rect">
            <a:avLst/>
          </a:prstGeom>
          <a:noFill/>
          <a:ln/>
        </p:spPr>
        <p:txBody>
          <a:bodyPr wrap="square" lIns="0" tIns="0" rIns="0" bIns="0" rtlCol="0" anchor="t"/>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Niciunul nu a cumpărat ceva de pe stradă. Amândoi au început cu o rețetă.</a:t>
            </a:r>
            <a:endParaRPr lang="en-US" sz="1900" dirty="0"/>
          </a:p>
        </p:txBody>
      </p:sp>
      <p:sp>
        <p:nvSpPr>
          <p:cNvPr id="13" name="Text 11"/>
          <p:cNvSpPr/>
          <p:nvPr/>
        </p:nvSpPr>
        <p:spPr>
          <a:xfrm>
            <a:off x="594360" y="5074920"/>
            <a:ext cx="10972800" cy="86868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Răspunsul provizoriu: medicul are două datorii. Să nu creeze dependențe noi și să-i țină în viață pe cei deja dependenți.</a:t>
            </a:r>
            <a:endParaRPr lang="en-US" sz="1600" dirty="0"/>
          </a:p>
        </p:txBody>
      </p:sp>
      <p:sp>
        <p:nvSpPr>
          <p:cNvPr id="14" name="Text 12"/>
          <p:cNvSpPr/>
          <p:nvPr/>
        </p:nvSpPr>
        <p:spPr>
          <a:xfrm>
            <a:off x="594360" y="6309360"/>
            <a:ext cx="5486400" cy="256032"/>
          </a:xfrm>
          <a:prstGeom prst="rect">
            <a:avLst/>
          </a:prstGeom>
          <a:noFill/>
          <a:ln/>
        </p:spPr>
        <p:txBody>
          <a:bodyPr wrap="square" lIns="0" tIns="0" rIns="0" bIns="0" rtlCol="0" anchor="t"/>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Cazuri construite pentru ședință.</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ÎNAINTE DE ORICE EXPLICAȚIE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2700" b="1" dirty="0">
                <a:solidFill>
                  <a:srgbClr val="FFFFFF"/>
                </a:solidFill>
                <a:latin typeface="Palatino Linotype" pitchFamily="34" charset="0"/>
                <a:ea typeface="Palatino Linotype" pitchFamily="34" charset="-122"/>
                <a:cs typeface="Palatino Linotype" pitchFamily="34" charset="-120"/>
              </a:rPr>
              <a:t>„Doamna Elena vrea să renunțe la alprazolam de mâine.” Ce îi răspundeți?</a:t>
            </a:r>
            <a:endParaRPr lang="en-US" sz="2700" dirty="0"/>
          </a:p>
        </p:txBody>
      </p:sp>
      <p:sp>
        <p:nvSpPr>
          <p:cNvPr id="6" name="Shape 4"/>
          <p:cNvSpPr/>
          <p:nvPr/>
        </p:nvSpPr>
        <p:spPr>
          <a:xfrm>
            <a:off x="594360" y="1828800"/>
            <a:ext cx="10972800" cy="713232"/>
          </a:xfrm>
          <a:prstGeom prst="roundRect">
            <a:avLst>
              <a:gd name="adj" fmla="val 11538"/>
            </a:avLst>
          </a:prstGeom>
          <a:solidFill>
            <a:srgbClr val="1D1F2B"/>
          </a:solidFill>
          <a:ln w="12700">
            <a:solidFill>
              <a:srgbClr val="1D1F2B"/>
            </a:solidFill>
            <a:prstDash val="solid"/>
          </a:ln>
        </p:spPr>
        <p:txBody>
          <a:bodyPr/>
          <a:p/>
        </p:txBody>
      </p:sp>
      <p:sp>
        <p:nvSpPr>
          <p:cNvPr id="7" name="Shape 5"/>
          <p:cNvSpPr/>
          <p:nvPr/>
        </p:nvSpPr>
        <p:spPr>
          <a:xfrm>
            <a:off x="914400" y="1975104"/>
            <a:ext cx="420624" cy="420624"/>
          </a:xfrm>
          <a:prstGeom prst="ellipse">
            <a:avLst/>
          </a:prstGeom>
          <a:solidFill>
            <a:srgbClr val="FFC24B"/>
          </a:solidFill>
          <a:ln/>
        </p:spPr>
        <p:txBody>
          <a:bodyPr/>
          <a:p/>
        </p:txBody>
      </p:sp>
      <p:sp>
        <p:nvSpPr>
          <p:cNvPr id="8" name="Text 6"/>
          <p:cNvSpPr/>
          <p:nvPr/>
        </p:nvSpPr>
        <p:spPr>
          <a:xfrm>
            <a:off x="914400" y="197510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1828800"/>
            <a:ext cx="9692640" cy="713232"/>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„Foarte bine, opriți-l de mâine.”</a:t>
            </a:r>
            <a:endParaRPr lang="en-US" sz="1800" dirty="0"/>
          </a:p>
        </p:txBody>
      </p:sp>
      <p:sp>
        <p:nvSpPr>
          <p:cNvPr id="10" name="Shape 8"/>
          <p:cNvSpPr/>
          <p:nvPr/>
        </p:nvSpPr>
        <p:spPr>
          <a:xfrm>
            <a:off x="594360" y="2670048"/>
            <a:ext cx="10972800" cy="713232"/>
          </a:xfrm>
          <a:prstGeom prst="roundRect">
            <a:avLst>
              <a:gd name="adj" fmla="val 11538"/>
            </a:avLst>
          </a:prstGeom>
          <a:solidFill>
            <a:srgbClr val="1D1F2B"/>
          </a:solidFill>
          <a:ln w="12700">
            <a:solidFill>
              <a:srgbClr val="1D1F2B"/>
            </a:solidFill>
            <a:prstDash val="solid"/>
          </a:ln>
        </p:spPr>
        <p:txBody>
          <a:bodyPr/>
          <a:p/>
        </p:txBody>
      </p:sp>
      <p:sp>
        <p:nvSpPr>
          <p:cNvPr id="11" name="Shape 9"/>
          <p:cNvSpPr/>
          <p:nvPr/>
        </p:nvSpPr>
        <p:spPr>
          <a:xfrm>
            <a:off x="914400" y="2816352"/>
            <a:ext cx="420624" cy="420624"/>
          </a:xfrm>
          <a:prstGeom prst="ellipse">
            <a:avLst/>
          </a:prstGeom>
          <a:solidFill>
            <a:srgbClr val="FFC24B"/>
          </a:solidFill>
          <a:ln/>
        </p:spPr>
        <p:txBody>
          <a:bodyPr/>
          <a:p/>
        </p:txBody>
      </p:sp>
      <p:sp>
        <p:nvSpPr>
          <p:cNvPr id="12" name="Text 10"/>
          <p:cNvSpPr/>
          <p:nvPr/>
        </p:nvSpPr>
        <p:spPr>
          <a:xfrm>
            <a:off x="914400" y="281635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2670048"/>
            <a:ext cx="9692640" cy="713232"/>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„Să nu-l opriți brusc; facem un plan să scădem doza treptat.”</a:t>
            </a:r>
            <a:endParaRPr lang="en-US" sz="1800" dirty="0"/>
          </a:p>
        </p:txBody>
      </p:sp>
      <p:sp>
        <p:nvSpPr>
          <p:cNvPr id="14" name="Shape 12"/>
          <p:cNvSpPr/>
          <p:nvPr/>
        </p:nvSpPr>
        <p:spPr>
          <a:xfrm>
            <a:off x="594360" y="3511296"/>
            <a:ext cx="10972800" cy="713232"/>
          </a:xfrm>
          <a:prstGeom prst="roundRect">
            <a:avLst>
              <a:gd name="adj" fmla="val 11538"/>
            </a:avLst>
          </a:prstGeom>
          <a:solidFill>
            <a:srgbClr val="1D1F2B"/>
          </a:solidFill>
          <a:ln w="12700">
            <a:solidFill>
              <a:srgbClr val="1D1F2B"/>
            </a:solidFill>
            <a:prstDash val="solid"/>
          </a:ln>
        </p:spPr>
        <p:txBody>
          <a:bodyPr/>
          <a:p/>
        </p:txBody>
      </p:sp>
      <p:sp>
        <p:nvSpPr>
          <p:cNvPr id="15" name="Shape 13"/>
          <p:cNvSpPr/>
          <p:nvPr/>
        </p:nvSpPr>
        <p:spPr>
          <a:xfrm>
            <a:off x="914400" y="3657600"/>
            <a:ext cx="420624" cy="420624"/>
          </a:xfrm>
          <a:prstGeom prst="ellipse">
            <a:avLst/>
          </a:prstGeom>
          <a:solidFill>
            <a:srgbClr val="FFC24B"/>
          </a:solidFill>
          <a:ln/>
        </p:spPr>
        <p:txBody>
          <a:bodyPr/>
          <a:p/>
        </p:txBody>
      </p:sp>
      <p:sp>
        <p:nvSpPr>
          <p:cNvPr id="16" name="Text 14"/>
          <p:cNvSpPr/>
          <p:nvPr/>
        </p:nvSpPr>
        <p:spPr>
          <a:xfrm>
            <a:off x="914400" y="365760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3511296"/>
            <a:ext cx="9692640" cy="713232"/>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„La vârsta dumneavoastră nu mai merită să renunțați.”</a:t>
            </a:r>
            <a:endParaRPr lang="en-US" sz="1800" dirty="0"/>
          </a:p>
        </p:txBody>
      </p:sp>
      <p:sp>
        <p:nvSpPr>
          <p:cNvPr id="18" name="Shape 16"/>
          <p:cNvSpPr/>
          <p:nvPr/>
        </p:nvSpPr>
        <p:spPr>
          <a:xfrm>
            <a:off x="594360" y="4352544"/>
            <a:ext cx="10972800" cy="713232"/>
          </a:xfrm>
          <a:prstGeom prst="roundRect">
            <a:avLst>
              <a:gd name="adj" fmla="val 11538"/>
            </a:avLst>
          </a:prstGeom>
          <a:solidFill>
            <a:srgbClr val="1D1F2B"/>
          </a:solidFill>
          <a:ln w="12700">
            <a:solidFill>
              <a:srgbClr val="1D1F2B"/>
            </a:solidFill>
            <a:prstDash val="solid"/>
          </a:ln>
        </p:spPr>
        <p:txBody>
          <a:bodyPr/>
          <a:p/>
        </p:txBody>
      </p:sp>
      <p:sp>
        <p:nvSpPr>
          <p:cNvPr id="19" name="Shape 17"/>
          <p:cNvSpPr/>
          <p:nvPr/>
        </p:nvSpPr>
        <p:spPr>
          <a:xfrm>
            <a:off x="914400" y="4498848"/>
            <a:ext cx="420624" cy="420624"/>
          </a:xfrm>
          <a:prstGeom prst="ellipse">
            <a:avLst/>
          </a:prstGeom>
          <a:solidFill>
            <a:srgbClr val="FFC24B"/>
          </a:solidFill>
          <a:ln/>
        </p:spPr>
        <p:txBody>
          <a:bodyPr/>
          <a:p/>
        </p:txBody>
      </p:sp>
      <p:sp>
        <p:nvSpPr>
          <p:cNvPr id="20" name="Text 18"/>
          <p:cNvSpPr/>
          <p:nvPr/>
        </p:nvSpPr>
        <p:spPr>
          <a:xfrm>
            <a:off x="914400" y="44988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600200" y="4352544"/>
            <a:ext cx="9692640" cy="713232"/>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„Nu știu.”</a:t>
            </a:r>
            <a:endParaRPr lang="en-US" sz="1800" dirty="0"/>
          </a:p>
        </p:txBody>
      </p:sp>
      <p:sp>
        <p:nvSpPr>
          <p:cNvPr id="22" name="Text 20"/>
          <p:cNvSpPr/>
          <p:nvPr/>
        </p:nvSpPr>
        <p:spPr>
          <a:xfrm>
            <a:off x="594360" y="5349240"/>
            <a:ext cx="8595360" cy="411480"/>
          </a:xfrm>
          <a:prstGeom prst="rect">
            <a:avLst/>
          </a:prstGeom>
          <a:noFill/>
          <a:ln/>
        </p:spPr>
        <p:txBody>
          <a:bodyPr wrap="square" lIns="0" tIns="0" rIns="0" bIns="0" rtlCol="0" anchor="t"/>
          <a:lstStyle/>
          <a:p>
            <a:pPr indent="0" marL="0">
              <a:buNone/>
            </a:pPr>
            <a:r>
              <a:rPr lang="en-US" sz="1600" b="1" dirty="0">
                <a:solidFill>
                  <a:srgbClr val="FFC24B"/>
                </a:solidFill>
                <a:latin typeface="Palatino Linotype" pitchFamily="34" charset="0"/>
                <a:ea typeface="Palatino Linotype" pitchFamily="34" charset="-122"/>
                <a:cs typeface="Palatino Linotype" pitchFamily="34" charset="-120"/>
              </a:rPr>
              <a:t>Răspundeți pe telefon, la codul afișat.</a:t>
            </a:r>
            <a:endParaRPr lang="en-US" sz="1600" dirty="0"/>
          </a:p>
        </p:txBody>
      </p:sp>
      <p:sp>
        <p:nvSpPr>
          <p:cNvPr id="23" name="Shape 21"/>
          <p:cNvSpPr/>
          <p:nvPr/>
        </p:nvSpPr>
        <p:spPr>
          <a:xfrm>
            <a:off x="9738360" y="5212080"/>
            <a:ext cx="1828800" cy="1371600"/>
          </a:xfrm>
          <a:prstGeom prst="roundRect">
            <a:avLst>
              <a:gd name="adj" fmla="val 6000"/>
            </a:avLst>
          </a:prstGeom>
          <a:solidFill>
            <a:srgbClr val="FFFFFF"/>
          </a:solidFill>
          <a:ln w="12700">
            <a:solidFill>
              <a:srgbClr val="FFFFFF"/>
            </a:solidFill>
            <a:prstDash val="solid"/>
          </a:ln>
        </p:spPr>
        <p:txBody>
          <a:bodyPr/>
          <a:p/>
        </p:txBody>
      </p:sp>
      <p:pic>
        <p:nvPicPr>
          <p:cNvPr id="24" name="Picture 23" descr="Mentimeter_OPT_DROGURI_C04.png"/>
          <p:cNvPicPr>
            <a:picLocks noChangeAspect="1"/>
          </p:cNvPicPr>
          <p:nvPr/>
        </p:nvPicPr>
        <p:blipFill>
          <a:blip r:embed="rId3"/>
          <a:stretch>
            <a:fillRect/>
          </a:stretch>
        </p:blipFill>
        <p:spPr>
          <a:xfrm>
            <a:off x="10184129" y="5212080"/>
            <a:ext cx="937261" cy="937261"/>
          </a:xfrm>
          <a:prstGeom prst="rect">
            <a:avLst/>
          </a:prstGeom>
        </p:spPr>
      </p:pic>
      <p:sp>
        <p:nvSpPr>
          <p:cNvPr id="25" name="TextBox 24"/>
          <p:cNvSpPr txBox="1"/>
          <p:nvPr/>
        </p:nvSpPr>
        <p:spPr>
          <a:xfrm>
            <a:off x="9738360" y="6187441"/>
            <a:ext cx="1828800" cy="434339"/>
          </a:xfrm>
          <a:prstGeom prst="rect">
            <a:avLst/>
          </a:prstGeom>
          <a:noFill/>
        </p:spPr>
        <p:txBody>
          <a:bodyPr wrap="square" lIns="0" rIns="0" tIns="0" bIns="0" anchor="t">
            <a:spAutoFit/>
          </a:bodyPr>
          <a:lstStyle/>
          <a:p>
            <a:pPr algn="ctr"/>
            <a:r>
              <a:rPr sz="900" b="1">
                <a:solidFill>
                  <a:srgbClr val="B02532"/>
                </a:solidFill>
                <a:latin typeface="Palatino Linotype"/>
              </a:rPr>
              <a:t>menti.com</a:t>
            </a:r>
          </a:p>
          <a:p>
            <a:pPr algn="ctr"/>
            <a:r>
              <a:rPr sz="900" b="1">
                <a:solidFill>
                  <a:srgbClr val="B02532"/>
                </a:solidFill>
                <a:latin typeface="Palatino Linotype"/>
              </a:rPr>
              <a:t>anonim, fără cont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PARTEA ÎNTÂI · PRIMUL TERMEN NOU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Dependența fizică</a:t>
            </a:r>
            <a:endParaRPr lang="en-US" sz="3400" dirty="0"/>
          </a:p>
        </p:txBody>
      </p:sp>
      <p:sp>
        <p:nvSpPr>
          <p:cNvPr id="4" name="Text 2"/>
          <p:cNvSpPr/>
          <p:nvPr/>
        </p:nvSpPr>
        <p:spPr>
          <a:xfrm>
            <a:off x="594360" y="1417320"/>
            <a:ext cx="5577840" cy="118872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Organismul s-a adaptat la un medicament luat regulat: oprirea bruscă sau scăderea prea rapidă a dozei produce sevraj.</a:t>
            </a:r>
            <a:endParaRPr lang="en-US" sz="1800" dirty="0"/>
          </a:p>
        </p:txBody>
      </p:sp>
      <p:sp>
        <p:nvSpPr>
          <p:cNvPr id="5" name="Text 3"/>
          <p:cNvSpPr/>
          <p:nvPr/>
        </p:nvSpPr>
        <p:spPr>
          <a:xfrm>
            <a:off x="594360" y="2697480"/>
            <a:ext cx="5577840" cy="914400"/>
          </a:xfrm>
          <a:prstGeom prst="rect">
            <a:avLst/>
          </a:prstGeom>
          <a:noFill/>
          <a:ln/>
        </p:spPr>
        <p:txBody>
          <a:bodyPr wrap="square" lIns="0" tIns="0" rIns="0" bIns="0" rtlCol="0" anchor="t"/>
          <a:lstStyle/>
          <a:p>
            <a:pPr indent="0" marL="0">
              <a:buNone/>
            </a:pPr>
            <a:r>
              <a:rPr lang="en-US" sz="1800" b="1" i="1" dirty="0">
                <a:solidFill>
                  <a:srgbClr val="FFC24B"/>
                </a:solidFill>
                <a:latin typeface="Palatino Linotype" pitchFamily="34" charset="0"/>
                <a:ea typeface="Palatino Linotype" pitchFamily="34" charset="-122"/>
                <a:cs typeface="Palatino Linotype" pitchFamily="34" charset="-120"/>
              </a:rPr>
              <a:t>„Corpul s-a obișnuit cu pastila și protestează când nu o mai primește.”</a:t>
            </a:r>
            <a:endParaRPr lang="en-US" sz="1800" dirty="0"/>
          </a:p>
        </p:txBody>
      </p:sp>
      <p:sp>
        <p:nvSpPr>
          <p:cNvPr id="6" name="Text 4"/>
          <p:cNvSpPr/>
          <p:nvPr/>
        </p:nvSpPr>
        <p:spPr>
          <a:xfrm>
            <a:off x="594360" y="3749040"/>
            <a:ext cx="5577840" cy="1188720"/>
          </a:xfrm>
          <a:prstGeom prst="rect">
            <a:avLst/>
          </a:prstGeom>
          <a:noFill/>
          <a:ln/>
        </p:spPr>
        <p:txBody>
          <a:bodyPr wrap="square" lIns="0" tIns="0" rIns="0" bIns="0" rtlCol="0" anchor="t"/>
          <a:lstStyle/>
          <a:p>
            <a:pPr indent="0" marL="0">
              <a:buNone/>
            </a:pPr>
            <a:r>
              <a:rPr lang="en-US" sz="1550" dirty="0">
                <a:solidFill>
                  <a:srgbClr val="959BB0"/>
                </a:solidFill>
                <a:latin typeface="Palatino Linotype" pitchFamily="34" charset="0"/>
                <a:ea typeface="Palatino Linotype" pitchFamily="34" charset="-122"/>
                <a:cs typeface="Palatino Linotype" pitchFamily="34" charset="-120"/>
              </a:rPr>
              <a:t>Poate apărea și la cine ia medicamentul exact cum i s-a spus. Ghidul comun din 2025: un rezultat așteptat, distinct de tulburarea de uz.</a:t>
            </a:r>
            <a:endParaRPr lang="en-US" sz="1550" dirty="0"/>
          </a:p>
        </p:txBody>
      </p:sp>
      <p:sp>
        <p:nvSpPr>
          <p:cNvPr id="7" name="Shape 5"/>
          <p:cNvSpPr/>
          <p:nvPr/>
        </p:nvSpPr>
        <p:spPr>
          <a:xfrm>
            <a:off x="6492240" y="1417320"/>
            <a:ext cx="5074920" cy="2057400"/>
          </a:xfrm>
          <a:prstGeom prst="roundRect">
            <a:avLst>
              <a:gd name="adj" fmla="val 4000"/>
            </a:avLst>
          </a:prstGeom>
          <a:solidFill>
            <a:srgbClr val="1D1F2B"/>
          </a:solidFill>
          <a:ln w="12700">
            <a:solidFill>
              <a:srgbClr val="1D1F2B"/>
            </a:solidFill>
            <a:prstDash val="solid"/>
          </a:ln>
        </p:spPr>
        <p:txBody>
          <a:bodyPr/>
          <a:p/>
        </p:txBody>
      </p:sp>
      <p:sp>
        <p:nvSpPr>
          <p:cNvPr id="8" name="Shape 6"/>
          <p:cNvSpPr/>
          <p:nvPr/>
        </p:nvSpPr>
        <p:spPr>
          <a:xfrm>
            <a:off x="6492240" y="1417320"/>
            <a:ext cx="73152" cy="2057400"/>
          </a:xfrm>
          <a:prstGeom prst="rect">
            <a:avLst/>
          </a:prstGeom>
          <a:solidFill>
            <a:srgbClr val="FF4757"/>
          </a:solidFill>
          <a:ln w="12700">
            <a:solidFill>
              <a:srgbClr val="FF4757"/>
            </a:solidFill>
            <a:prstDash val="solid"/>
          </a:ln>
        </p:spPr>
        <p:txBody>
          <a:bodyPr/>
          <a:p/>
        </p:txBody>
      </p:sp>
      <p:sp>
        <p:nvSpPr>
          <p:cNvPr id="9" name="Text 7"/>
          <p:cNvSpPr/>
          <p:nvPr/>
        </p:nvSpPr>
        <p:spPr>
          <a:xfrm>
            <a:off x="6812280" y="1581912"/>
            <a:ext cx="4526280" cy="292608"/>
          </a:xfrm>
          <a:prstGeom prst="rect">
            <a:avLst/>
          </a:prstGeom>
          <a:noFill/>
          <a:ln/>
        </p:spPr>
        <p:txBody>
          <a:bodyPr wrap="square" lIns="0" tIns="0" rIns="0" bIns="0" rtlCol="0" anchor="t"/>
          <a:lstStyle/>
          <a:p>
            <a:pPr indent="0" marL="0">
              <a:buNone/>
            </a:pPr>
            <a:r>
              <a:rPr lang="en-US" sz="1200" b="1" spc="200" kern="0" dirty="0">
                <a:solidFill>
                  <a:srgbClr val="FF4757"/>
                </a:solidFill>
                <a:latin typeface="Palatino Linotype" pitchFamily="34" charset="0"/>
                <a:ea typeface="Palatino Linotype" pitchFamily="34" charset="-122"/>
                <a:cs typeface="Palatino Linotype" pitchFamily="34" charset="-120"/>
              </a:rPr>
              <a:t>DACĂ SPUNEȚI</a:t>
            </a:r>
            <a:endParaRPr lang="en-US" sz="1200" dirty="0"/>
          </a:p>
        </p:txBody>
      </p:sp>
      <p:sp>
        <p:nvSpPr>
          <p:cNvPr id="10" name="Text 8"/>
          <p:cNvSpPr/>
          <p:nvPr/>
        </p:nvSpPr>
        <p:spPr>
          <a:xfrm>
            <a:off x="6812280" y="1920240"/>
            <a:ext cx="4526280" cy="1028700"/>
          </a:xfrm>
          <a:prstGeom prst="rect">
            <a:avLst/>
          </a:prstGeom>
          <a:noFill/>
          <a:ln/>
        </p:spPr>
        <p:txBody>
          <a:bodyPr wrap="square" lIns="0" tIns="0" rIns="0" bIns="0" rtlCol="0" anchor="t"/>
          <a:lstStyle/>
          <a:p>
            <a:pPr indent="0" marL="0">
              <a:buNone/>
            </a:pPr>
            <a:r>
              <a:rPr lang="en-US" sz="1900" b="1" i="1" dirty="0">
                <a:solidFill>
                  <a:srgbClr val="FFFFFF"/>
                </a:solidFill>
                <a:latin typeface="Palatino Linotype" pitchFamily="34" charset="0"/>
                <a:ea typeface="Palatino Linotype" pitchFamily="34" charset="-122"/>
                <a:cs typeface="Palatino Linotype" pitchFamily="34" charset="-120"/>
              </a:rPr>
              <a:t>„Sunteți dependentă.”</a:t>
            </a:r>
            <a:endParaRPr lang="en-US" sz="1900" dirty="0"/>
          </a:p>
        </p:txBody>
      </p:sp>
      <p:sp>
        <p:nvSpPr>
          <p:cNvPr id="11" name="Text 9"/>
          <p:cNvSpPr/>
          <p:nvPr/>
        </p:nvSpPr>
        <p:spPr>
          <a:xfrm>
            <a:off x="6812280" y="2903220"/>
            <a:ext cx="4526280" cy="480060"/>
          </a:xfrm>
          <a:prstGeom prst="rect">
            <a:avLst/>
          </a:prstGeom>
          <a:noFill/>
          <a:ln/>
        </p:spPr>
        <p:txBody>
          <a:bodyPr wrap="square" lIns="0" tIns="0" rIns="0" bIns="0" rtlCol="0" anchor="t"/>
          <a:lstStyle/>
          <a:p>
            <a:pPr indent="0" marL="0">
              <a:buNone/>
            </a:pPr>
            <a:r>
              <a:rPr lang="en-US" sz="1550" dirty="0">
                <a:solidFill>
                  <a:srgbClr val="959BB0"/>
                </a:solidFill>
                <a:latin typeface="Palatino Linotype" pitchFamily="34" charset="0"/>
                <a:ea typeface="Palatino Linotype" pitchFamily="34" charset="-122"/>
                <a:cs typeface="Palatino Linotype" pitchFamily="34" charset="-120"/>
              </a:rPr>
              <a:t>ea aude „sunteți o drogată”.</a:t>
            </a:r>
            <a:endParaRPr lang="en-US" sz="1550" dirty="0"/>
          </a:p>
        </p:txBody>
      </p:sp>
      <p:sp>
        <p:nvSpPr>
          <p:cNvPr id="12" name="Shape 10"/>
          <p:cNvSpPr/>
          <p:nvPr/>
        </p:nvSpPr>
        <p:spPr>
          <a:xfrm>
            <a:off x="6492240" y="3657600"/>
            <a:ext cx="5074920" cy="2057400"/>
          </a:xfrm>
          <a:prstGeom prst="roundRect">
            <a:avLst>
              <a:gd name="adj" fmla="val 4000"/>
            </a:avLst>
          </a:prstGeom>
          <a:solidFill>
            <a:srgbClr val="1D1F2B"/>
          </a:solidFill>
          <a:ln w="12700">
            <a:solidFill>
              <a:srgbClr val="1D1F2B"/>
            </a:solidFill>
            <a:prstDash val="solid"/>
          </a:ln>
        </p:spPr>
        <p:txBody>
          <a:bodyPr/>
          <a:p/>
        </p:txBody>
      </p:sp>
      <p:sp>
        <p:nvSpPr>
          <p:cNvPr id="13" name="Shape 11"/>
          <p:cNvSpPr/>
          <p:nvPr/>
        </p:nvSpPr>
        <p:spPr>
          <a:xfrm>
            <a:off x="6492240" y="3657600"/>
            <a:ext cx="73152" cy="2057400"/>
          </a:xfrm>
          <a:prstGeom prst="rect">
            <a:avLst/>
          </a:prstGeom>
          <a:solidFill>
            <a:srgbClr val="27D3BE"/>
          </a:solidFill>
          <a:ln w="12700">
            <a:solidFill>
              <a:srgbClr val="27D3BE"/>
            </a:solidFill>
            <a:prstDash val="solid"/>
          </a:ln>
        </p:spPr>
        <p:txBody>
          <a:bodyPr/>
          <a:p/>
        </p:txBody>
      </p:sp>
      <p:sp>
        <p:nvSpPr>
          <p:cNvPr id="14" name="Text 12"/>
          <p:cNvSpPr/>
          <p:nvPr/>
        </p:nvSpPr>
        <p:spPr>
          <a:xfrm>
            <a:off x="6812280" y="3822192"/>
            <a:ext cx="4526280" cy="292608"/>
          </a:xfrm>
          <a:prstGeom prst="rect">
            <a:avLst/>
          </a:prstGeom>
          <a:noFill/>
          <a:ln/>
        </p:spPr>
        <p:txBody>
          <a:bodyPr wrap="square" lIns="0" tIns="0" rIns="0" bIns="0" rtlCol="0" anchor="t"/>
          <a:lstStyle/>
          <a:p>
            <a:pPr indent="0" marL="0">
              <a:buNone/>
            </a:pPr>
            <a:r>
              <a:rPr lang="en-US" sz="1200" b="1" spc="200" kern="0" dirty="0">
                <a:solidFill>
                  <a:srgbClr val="27D3BE"/>
                </a:solidFill>
                <a:latin typeface="Palatino Linotype" pitchFamily="34" charset="0"/>
                <a:ea typeface="Palatino Linotype" pitchFamily="34" charset="-122"/>
                <a:cs typeface="Palatino Linotype" pitchFamily="34" charset="-120"/>
              </a:rPr>
              <a:t>DACĂ SPUNEȚI</a:t>
            </a:r>
            <a:endParaRPr lang="en-US" sz="1200" dirty="0"/>
          </a:p>
        </p:txBody>
      </p:sp>
      <p:sp>
        <p:nvSpPr>
          <p:cNvPr id="15" name="Text 13"/>
          <p:cNvSpPr/>
          <p:nvPr/>
        </p:nvSpPr>
        <p:spPr>
          <a:xfrm>
            <a:off x="6812280" y="4160520"/>
            <a:ext cx="4526280" cy="1028700"/>
          </a:xfrm>
          <a:prstGeom prst="rect">
            <a:avLst/>
          </a:prstGeom>
          <a:noFill/>
          <a:ln/>
        </p:spPr>
        <p:txBody>
          <a:bodyPr wrap="square" lIns="0" tIns="0" rIns="0" bIns="0" rtlCol="0" anchor="t"/>
          <a:lstStyle/>
          <a:p>
            <a:pPr indent="0" marL="0">
              <a:buNone/>
            </a:pPr>
            <a:r>
              <a:rPr lang="en-US" sz="1900" b="1" i="1" dirty="0">
                <a:solidFill>
                  <a:srgbClr val="FFFFFF"/>
                </a:solidFill>
                <a:latin typeface="Palatino Linotype" pitchFamily="34" charset="0"/>
                <a:ea typeface="Palatino Linotype" pitchFamily="34" charset="-122"/>
                <a:cs typeface="Palatino Linotype" pitchFamily="34" charset="-120"/>
              </a:rPr>
              <a:t>„Corpul s-a obișnuit; îl dezvățăm încet.”</a:t>
            </a:r>
            <a:endParaRPr lang="en-US" sz="1900" dirty="0"/>
          </a:p>
        </p:txBody>
      </p:sp>
      <p:sp>
        <p:nvSpPr>
          <p:cNvPr id="16" name="Text 14"/>
          <p:cNvSpPr/>
          <p:nvPr/>
        </p:nvSpPr>
        <p:spPr>
          <a:xfrm>
            <a:off x="6812280" y="5143500"/>
            <a:ext cx="4526280" cy="480060"/>
          </a:xfrm>
          <a:prstGeom prst="rect">
            <a:avLst/>
          </a:prstGeom>
          <a:noFill/>
          <a:ln/>
        </p:spPr>
        <p:txBody>
          <a:bodyPr wrap="square" lIns="0" tIns="0" rIns="0" bIns="0" rtlCol="0" anchor="t"/>
          <a:lstStyle/>
          <a:p>
            <a:pPr indent="0" marL="0">
              <a:buNone/>
            </a:pPr>
            <a:r>
              <a:rPr lang="en-US" sz="1550" dirty="0">
                <a:solidFill>
                  <a:srgbClr val="959BB0"/>
                </a:solidFill>
                <a:latin typeface="Palatino Linotype" pitchFamily="34" charset="0"/>
                <a:ea typeface="Palatino Linotype" pitchFamily="34" charset="-122"/>
                <a:cs typeface="Palatino Linotype" pitchFamily="34" charset="-120"/>
              </a:rPr>
              <a:t>ea aude un plan.</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CÂT DE REPEDE APARE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„Doar pentru câteva săptămâni”</a:t>
            </a:r>
            <a:endParaRPr lang="en-US" sz="3200" dirty="0"/>
          </a:p>
        </p:txBody>
      </p:sp>
      <p:sp>
        <p:nvSpPr>
          <p:cNvPr id="4" name="Text 2"/>
          <p:cNvSpPr/>
          <p:nvPr/>
        </p:nvSpPr>
        <p:spPr>
          <a:xfrm>
            <a:off x="594360" y="1463040"/>
            <a:ext cx="5669280" cy="914400"/>
          </a:xfrm>
          <a:prstGeom prst="rect">
            <a:avLst/>
          </a:prstGeom>
          <a:noFill/>
          <a:ln/>
        </p:spPr>
        <p:txBody>
          <a:bodyPr wrap="square" lIns="0" tIns="0" rIns="0" bIns="0" rtlCol="0" anchor="t"/>
          <a:lstStyle/>
          <a:p>
            <a:pPr indent="0" marL="0">
              <a:buNone/>
            </a:pPr>
            <a:r>
              <a:rPr lang="en-US" sz="3400" b="1" dirty="0">
                <a:solidFill>
                  <a:srgbClr val="B02532"/>
                </a:solidFill>
                <a:latin typeface="Palatino Linotype" pitchFamily="34" charset="0"/>
                <a:ea typeface="Palatino Linotype" pitchFamily="34" charset="-122"/>
                <a:cs typeface="Palatino Linotype" pitchFamily="34" charset="-120"/>
              </a:rPr>
              <a:t>câteva zile sau săptămâni</a:t>
            </a:r>
            <a:endParaRPr lang="en-US" sz="3400" dirty="0"/>
          </a:p>
        </p:txBody>
      </p:sp>
      <p:sp>
        <p:nvSpPr>
          <p:cNvPr id="5" name="Text 3"/>
          <p:cNvSpPr/>
          <p:nvPr/>
        </p:nvSpPr>
        <p:spPr>
          <a:xfrm>
            <a:off x="594360" y="2423160"/>
            <a:ext cx="5669280" cy="109728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FDA, comunicarea din 2020: după atât poate apărea dependența fizică de benzodiazepine, chiar luate conform prescripției.</a:t>
            </a:r>
            <a:endParaRPr lang="en-US" sz="1600" dirty="0"/>
          </a:p>
        </p:txBody>
      </p:sp>
      <p:sp>
        <p:nvSpPr>
          <p:cNvPr id="6" name="Shape 4"/>
          <p:cNvSpPr/>
          <p:nvPr/>
        </p:nvSpPr>
        <p:spPr>
          <a:xfrm>
            <a:off x="6583680" y="1463040"/>
            <a:ext cx="4983480" cy="2377440"/>
          </a:xfrm>
          <a:prstGeom prst="roundRect">
            <a:avLst>
              <a:gd name="adj" fmla="val 3462"/>
            </a:avLst>
          </a:prstGeom>
          <a:solidFill>
            <a:srgbClr val="ECEAE4"/>
          </a:solidFill>
          <a:ln w="12700">
            <a:solidFill>
              <a:srgbClr val="ECEAE4"/>
            </a:solidFill>
            <a:prstDash val="solid"/>
          </a:ln>
        </p:spPr>
        <p:txBody>
          <a:bodyPr/>
          <a:p/>
        </p:txBody>
      </p:sp>
      <p:sp>
        <p:nvSpPr>
          <p:cNvPr id="7" name="Text 5"/>
          <p:cNvSpPr/>
          <p:nvPr/>
        </p:nvSpPr>
        <p:spPr>
          <a:xfrm>
            <a:off x="6858000" y="1627632"/>
            <a:ext cx="4572000" cy="292608"/>
          </a:xfrm>
          <a:prstGeom prst="rect">
            <a:avLst/>
          </a:prstGeom>
          <a:noFill/>
          <a:ln/>
        </p:spPr>
        <p:txBody>
          <a:bodyPr wrap="square" lIns="0" tIns="0" rIns="0" bIns="0" rtlCol="0" anchor="t"/>
          <a:lstStyle/>
          <a:p>
            <a:pPr indent="0" marL="0">
              <a:buNone/>
            </a:pPr>
            <a:r>
              <a:rPr lang="en-US" sz="1250" b="1" spc="200" kern="0" dirty="0">
                <a:solidFill>
                  <a:srgbClr val="0E7C6B"/>
                </a:solidFill>
                <a:latin typeface="Palatino Linotype" pitchFamily="34" charset="0"/>
                <a:ea typeface="Palatino Linotype" pitchFamily="34" charset="-122"/>
                <a:cs typeface="Palatino Linotype" pitchFamily="34" charset="-120"/>
              </a:rPr>
              <a:t>GHIDUL COMUN DIN 2025</a:t>
            </a:r>
            <a:endParaRPr lang="en-US" sz="1250" dirty="0"/>
          </a:p>
        </p:txBody>
      </p:sp>
      <p:sp>
        <p:nvSpPr>
          <p:cNvPr id="8" name="Text 6"/>
          <p:cNvSpPr/>
          <p:nvPr/>
        </p:nvSpPr>
        <p:spPr>
          <a:xfrm>
            <a:off x="6858000" y="1993392"/>
            <a:ext cx="4480560" cy="17830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Mulți pacienți care le iau de mai puțin de o lună, mai ales în doze mici, probabil nu au dependență fizică. Ea se poate dezvolta în câteva săptămâni și diferă de la un pacient la altul.</a:t>
            </a:r>
            <a:endParaRPr lang="en-US" sz="1500" dirty="0"/>
          </a:p>
        </p:txBody>
      </p:sp>
      <p:sp>
        <p:nvSpPr>
          <p:cNvPr id="9" name="Shape 7"/>
          <p:cNvSpPr/>
          <p:nvPr/>
        </p:nvSpPr>
        <p:spPr>
          <a:xfrm>
            <a:off x="594360" y="4114800"/>
            <a:ext cx="10972800" cy="1143000"/>
          </a:xfrm>
          <a:prstGeom prst="roundRect">
            <a:avLst>
              <a:gd name="adj" fmla="val 7200"/>
            </a:avLst>
          </a:prstGeom>
          <a:solidFill>
            <a:srgbClr val="F4E0E2"/>
          </a:solidFill>
          <a:ln w="12700">
            <a:solidFill>
              <a:srgbClr val="F4E0E2"/>
            </a:solidFill>
            <a:prstDash val="solid"/>
          </a:ln>
        </p:spPr>
        <p:txBody>
          <a:bodyPr/>
          <a:p/>
        </p:txBody>
      </p:sp>
      <p:sp>
        <p:nvSpPr>
          <p:cNvPr id="10" name="Text 8"/>
          <p:cNvSpPr/>
          <p:nvPr/>
        </p:nvSpPr>
        <p:spPr>
          <a:xfrm>
            <a:off x="868680" y="4114800"/>
            <a:ext cx="10424160" cy="1143000"/>
          </a:xfrm>
          <a:prstGeom prst="rect">
            <a:avLst/>
          </a:prstGeom>
          <a:noFill/>
          <a:ln/>
        </p:spPr>
        <p:txBody>
          <a:bodyPr wrap="square" lIns="0" tIns="0" rIns="0" bIns="0" rtlCol="0" anchor="ctr"/>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După o rețetă nouă: reevaluați riscurile și beneficiile în cel mult o lună.</a:t>
            </a:r>
            <a:endParaRPr lang="en-US" sz="2000" dirty="0"/>
          </a:p>
        </p:txBody>
      </p:sp>
      <p:sp>
        <p:nvSpPr>
          <p:cNvPr id="11" name="Text 9"/>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Surse: FDA, comunicarea din 2020; ghidul clinic comun din 2025.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CÂT DE DES</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se vede și ce nu se vede</a:t>
            </a:r>
            <a:endParaRPr lang="en-US" sz="3200" dirty="0"/>
          </a:p>
        </p:txBody>
      </p:sp>
      <p:sp>
        <p:nvSpPr>
          <p:cNvPr id="4" name="Text 2"/>
          <p:cNvSpPr/>
          <p:nvPr/>
        </p:nvSpPr>
        <p:spPr>
          <a:xfrm>
            <a:off x="594360" y="1417320"/>
            <a:ext cx="5486400" cy="320040"/>
          </a:xfrm>
          <a:prstGeom prst="rect">
            <a:avLst/>
          </a:prstGeom>
          <a:noFill/>
          <a:ln/>
        </p:spPr>
        <p:txBody>
          <a:bodyPr wrap="square" lIns="0" tIns="0" rIns="0" bIns="0" rtlCol="0" anchor="t"/>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STATELE UNITE</a:t>
            </a:r>
            <a:endParaRPr lang="en-US" sz="1300" dirty="0"/>
          </a:p>
        </p:txBody>
      </p:sp>
      <p:sp>
        <p:nvSpPr>
          <p:cNvPr id="5" name="Shape 3"/>
          <p:cNvSpPr/>
          <p:nvPr/>
        </p:nvSpPr>
        <p:spPr>
          <a:xfrm>
            <a:off x="594360" y="1783080"/>
            <a:ext cx="5349240" cy="1600200"/>
          </a:xfrm>
          <a:prstGeom prst="roundRect">
            <a:avLst>
              <a:gd name="adj" fmla="val 5143"/>
            </a:avLst>
          </a:prstGeom>
          <a:solidFill>
            <a:srgbClr val="ECEAE4"/>
          </a:solidFill>
          <a:ln w="12700">
            <a:solidFill>
              <a:srgbClr val="ECEAE4"/>
            </a:solidFill>
            <a:prstDash val="solid"/>
          </a:ln>
        </p:spPr>
        <p:txBody>
          <a:bodyPr/>
          <a:p/>
        </p:txBody>
      </p:sp>
      <p:sp>
        <p:nvSpPr>
          <p:cNvPr id="6" name="Text 4"/>
          <p:cNvSpPr/>
          <p:nvPr/>
        </p:nvSpPr>
        <p:spPr>
          <a:xfrm>
            <a:off x="868680" y="1892808"/>
            <a:ext cx="4800600" cy="800100"/>
          </a:xfrm>
          <a:prstGeom prst="rect">
            <a:avLst/>
          </a:prstGeom>
          <a:noFill/>
          <a:ln/>
        </p:spPr>
        <p:txBody>
          <a:bodyPr wrap="square" lIns="0" tIns="0" rIns="0" bIns="0" rtlCol="0" anchor="ctr"/>
          <a:lstStyle/>
          <a:p>
            <a:pPr indent="0" marL="0">
              <a:buNone/>
            </a:pPr>
            <a:r>
              <a:rPr lang="en-US" sz="3000" b="1" dirty="0">
                <a:solidFill>
                  <a:srgbClr val="0E7C6B"/>
                </a:solidFill>
                <a:latin typeface="Palatino Linotype" pitchFamily="34" charset="0"/>
                <a:ea typeface="Palatino Linotype" pitchFamily="34" charset="-122"/>
                <a:cs typeface="Palatino Linotype" pitchFamily="34" charset="-120"/>
              </a:rPr>
              <a:t>24 de milioane</a:t>
            </a:r>
            <a:endParaRPr lang="en-US" sz="3000" dirty="0"/>
          </a:p>
        </p:txBody>
      </p:sp>
      <p:sp>
        <p:nvSpPr>
          <p:cNvPr id="7" name="Text 5"/>
          <p:cNvSpPr/>
          <p:nvPr/>
        </p:nvSpPr>
        <p:spPr>
          <a:xfrm>
            <a:off x="868680" y="2601468"/>
            <a:ext cx="4800600" cy="736092"/>
          </a:xfrm>
          <a:prstGeom prst="rect">
            <a:avLst/>
          </a:prstGeom>
          <a:noFill/>
          <a:ln/>
        </p:spPr>
        <p:txBody>
          <a:bodyPr wrap="square" lIns="0" tIns="0" rIns="0" bIns="0" rtlCol="0" anchor="t"/>
          <a:lstStyle/>
          <a:p>
            <a:pPr indent="0" marL="0">
              <a:buNone/>
            </a:pPr>
            <a:r>
              <a:rPr lang="en-US" sz="1200" dirty="0">
                <a:solidFill>
                  <a:srgbClr val="11121A"/>
                </a:solidFill>
                <a:latin typeface="Palatino Linotype" pitchFamily="34" charset="0"/>
                <a:ea typeface="Palatino Linotype" pitchFamily="34" charset="-122"/>
                <a:cs typeface="Palatino Linotype" pitchFamily="34" charset="-120"/>
              </a:rPr>
              <a:t>au raportat, în 2023, că folosesc o benzodiazepină; aproximativ 20 de milioane conform prescripției</a:t>
            </a:r>
            <a:endParaRPr lang="en-US" sz="1200" dirty="0"/>
          </a:p>
        </p:txBody>
      </p:sp>
      <p:sp>
        <p:nvSpPr>
          <p:cNvPr id="8" name="Shape 6"/>
          <p:cNvSpPr/>
          <p:nvPr/>
        </p:nvSpPr>
        <p:spPr>
          <a:xfrm>
            <a:off x="594360" y="3520440"/>
            <a:ext cx="5349240" cy="1600200"/>
          </a:xfrm>
          <a:prstGeom prst="roundRect">
            <a:avLst>
              <a:gd name="adj" fmla="val 5143"/>
            </a:avLst>
          </a:prstGeom>
          <a:solidFill>
            <a:srgbClr val="ECEAE4"/>
          </a:solidFill>
          <a:ln w="12700">
            <a:solidFill>
              <a:srgbClr val="ECEAE4"/>
            </a:solidFill>
            <a:prstDash val="solid"/>
          </a:ln>
        </p:spPr>
        <p:txBody>
          <a:bodyPr/>
          <a:p/>
        </p:txBody>
      </p:sp>
      <p:sp>
        <p:nvSpPr>
          <p:cNvPr id="9" name="Text 7"/>
          <p:cNvSpPr/>
          <p:nvPr/>
        </p:nvSpPr>
        <p:spPr>
          <a:xfrm>
            <a:off x="868680" y="3630168"/>
            <a:ext cx="4800600" cy="800100"/>
          </a:xfrm>
          <a:prstGeom prst="rect">
            <a:avLst/>
          </a:prstGeom>
          <a:noFill/>
          <a:ln/>
        </p:spPr>
        <p:txBody>
          <a:bodyPr wrap="square" lIns="0" tIns="0" rIns="0" bIns="0" rtlCol="0" anchor="ctr"/>
          <a:lstStyle/>
          <a:p>
            <a:pPr indent="0" marL="0">
              <a:buNone/>
            </a:pPr>
            <a:r>
              <a:rPr lang="en-US" sz="3000" b="1" dirty="0">
                <a:solidFill>
                  <a:srgbClr val="0E7C6B"/>
                </a:solidFill>
                <a:latin typeface="Palatino Linotype" pitchFamily="34" charset="0"/>
                <a:ea typeface="Palatino Linotype" pitchFamily="34" charset="-122"/>
                <a:cs typeface="Palatino Linotype" pitchFamily="34" charset="-120"/>
              </a:rPr>
              <a:t>1 din 2</a:t>
            </a:r>
            <a:endParaRPr lang="en-US" sz="3000" dirty="0"/>
          </a:p>
        </p:txBody>
      </p:sp>
      <p:sp>
        <p:nvSpPr>
          <p:cNvPr id="10" name="Text 8"/>
          <p:cNvSpPr/>
          <p:nvPr/>
        </p:nvSpPr>
        <p:spPr>
          <a:xfrm>
            <a:off x="868680" y="4338828"/>
            <a:ext cx="4800600" cy="736092"/>
          </a:xfrm>
          <a:prstGeom prst="rect">
            <a:avLst/>
          </a:prstGeom>
          <a:noFill/>
          <a:ln/>
        </p:spPr>
        <p:txBody>
          <a:bodyPr wrap="square" lIns="0" tIns="0" rIns="0" bIns="0" rtlCol="0" anchor="t"/>
          <a:lstStyle/>
          <a:p>
            <a:pPr indent="0" marL="0">
              <a:buNone/>
            </a:pPr>
            <a:r>
              <a:rPr lang="en-US" sz="1200" dirty="0">
                <a:solidFill>
                  <a:srgbClr val="11121A"/>
                </a:solidFill>
                <a:latin typeface="Palatino Linotype" pitchFamily="34" charset="0"/>
                <a:ea typeface="Palatino Linotype" pitchFamily="34" charset="-122"/>
                <a:cs typeface="Palatino Linotype" pitchFamily="34" charset="-120"/>
              </a:rPr>
              <a:t>pacienți cu benzodiazepine orale le-au primit două luni sau mai mult, în 2018</a:t>
            </a:r>
            <a:endParaRPr lang="en-US" sz="1200" dirty="0"/>
          </a:p>
        </p:txBody>
      </p:sp>
      <p:sp>
        <p:nvSpPr>
          <p:cNvPr id="11" name="Text 9"/>
          <p:cNvSpPr/>
          <p:nvPr/>
        </p:nvSpPr>
        <p:spPr>
          <a:xfrm>
            <a:off x="6217920" y="1417320"/>
            <a:ext cx="5303520" cy="320040"/>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ROMÂNIA</a:t>
            </a:r>
            <a:endParaRPr lang="en-US" sz="1300" dirty="0"/>
          </a:p>
        </p:txBody>
      </p:sp>
      <p:sp>
        <p:nvSpPr>
          <p:cNvPr id="12" name="Shape 10"/>
          <p:cNvSpPr/>
          <p:nvPr/>
        </p:nvSpPr>
        <p:spPr>
          <a:xfrm>
            <a:off x="6217920" y="1783080"/>
            <a:ext cx="5349240" cy="1600200"/>
          </a:xfrm>
          <a:prstGeom prst="roundRect">
            <a:avLst>
              <a:gd name="adj" fmla="val 5143"/>
            </a:avLst>
          </a:prstGeom>
          <a:solidFill>
            <a:srgbClr val="ECEAE4"/>
          </a:solidFill>
          <a:ln w="12700">
            <a:solidFill>
              <a:srgbClr val="ECEAE4"/>
            </a:solidFill>
            <a:prstDash val="solid"/>
          </a:ln>
        </p:spPr>
        <p:txBody>
          <a:bodyPr/>
          <a:p/>
        </p:txBody>
      </p:sp>
      <p:sp>
        <p:nvSpPr>
          <p:cNvPr id="13" name="Text 11"/>
          <p:cNvSpPr/>
          <p:nvPr/>
        </p:nvSpPr>
        <p:spPr>
          <a:xfrm>
            <a:off x="6492240" y="1892808"/>
            <a:ext cx="4800600" cy="800100"/>
          </a:xfrm>
          <a:prstGeom prst="rect">
            <a:avLst/>
          </a:prstGeom>
          <a:noFill/>
          <a:ln/>
        </p:spPr>
        <p:txBody>
          <a:bodyPr wrap="square" lIns="0" tIns="0" rIns="0" bIns="0" rtlCol="0" anchor="ctr"/>
          <a:lstStyle/>
          <a:p>
            <a:pPr indent="0" marL="0">
              <a:buNone/>
            </a:pPr>
            <a:r>
              <a:rPr lang="en-US" sz="4000" b="1" dirty="0">
                <a:solidFill>
                  <a:srgbClr val="B02532"/>
                </a:solidFill>
                <a:latin typeface="Palatino Linotype" pitchFamily="34" charset="0"/>
                <a:ea typeface="Palatino Linotype" pitchFamily="34" charset="-122"/>
                <a:cs typeface="Palatino Linotype" pitchFamily="34" charset="-120"/>
              </a:rPr>
              <a:t>69</a:t>
            </a:r>
            <a:endParaRPr lang="en-US" sz="4000" dirty="0"/>
          </a:p>
        </p:txBody>
      </p:sp>
      <p:sp>
        <p:nvSpPr>
          <p:cNvPr id="14" name="Text 12"/>
          <p:cNvSpPr/>
          <p:nvPr/>
        </p:nvSpPr>
        <p:spPr>
          <a:xfrm>
            <a:off x="6492240" y="2601468"/>
            <a:ext cx="4800600" cy="736092"/>
          </a:xfrm>
          <a:prstGeom prst="rect">
            <a:avLst/>
          </a:prstGeom>
          <a:noFill/>
          <a:ln/>
        </p:spPr>
        <p:txBody>
          <a:bodyPr wrap="square" lIns="0" tIns="0" rIns="0" bIns="0" rtlCol="0" anchor="t"/>
          <a:lstStyle/>
          <a:p>
            <a:pPr indent="0" marL="0">
              <a:buNone/>
            </a:pPr>
            <a:r>
              <a:rPr lang="en-US" sz="1200" dirty="0">
                <a:solidFill>
                  <a:srgbClr val="11121A"/>
                </a:solidFill>
                <a:latin typeface="Palatino Linotype" pitchFamily="34" charset="0"/>
                <a:ea typeface="Palatino Linotype" pitchFamily="34" charset="-122"/>
                <a:cs typeface="Palatino Linotype" pitchFamily="34" charset="-120"/>
              </a:rPr>
              <a:t>de cereri de asistență în 2024 (59 în 2023) pentru hipnotice și sedative fără prescripție medicală</a:t>
            </a:r>
            <a:endParaRPr lang="en-US" sz="1200" dirty="0"/>
          </a:p>
        </p:txBody>
      </p:sp>
      <p:sp>
        <p:nvSpPr>
          <p:cNvPr id="15" name="Shape 13"/>
          <p:cNvSpPr/>
          <p:nvPr/>
        </p:nvSpPr>
        <p:spPr>
          <a:xfrm>
            <a:off x="6217920" y="3520440"/>
            <a:ext cx="5349240" cy="1600200"/>
          </a:xfrm>
          <a:prstGeom prst="roundRect">
            <a:avLst>
              <a:gd name="adj" fmla="val 5143"/>
            </a:avLst>
          </a:prstGeom>
          <a:solidFill>
            <a:srgbClr val="F4E0E2"/>
          </a:solidFill>
          <a:ln w="12700">
            <a:solidFill>
              <a:srgbClr val="F4E0E2"/>
            </a:solidFill>
            <a:prstDash val="solid"/>
          </a:ln>
        </p:spPr>
        <p:txBody>
          <a:bodyPr/>
          <a:p/>
        </p:txBody>
      </p:sp>
      <p:sp>
        <p:nvSpPr>
          <p:cNvPr id="16" name="Text 14"/>
          <p:cNvSpPr/>
          <p:nvPr/>
        </p:nvSpPr>
        <p:spPr>
          <a:xfrm>
            <a:off x="6492240" y="3520440"/>
            <a:ext cx="4846320" cy="1600200"/>
          </a:xfrm>
          <a:prstGeom prst="rect">
            <a:avLst/>
          </a:prstGeom>
          <a:noFill/>
          <a:ln/>
        </p:spPr>
        <p:txBody>
          <a:bodyPr wrap="square" lIns="0" tIns="0" rIns="0" bIns="0" rtlCol="0" anchor="ctr"/>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Doamna Elena, cu rețetă, nu apare în această cifră.</a:t>
            </a:r>
            <a:endParaRPr lang="en-US" sz="1900" dirty="0"/>
          </a:p>
        </p:txBody>
      </p:sp>
      <p:sp>
        <p:nvSpPr>
          <p:cNvPr id="17" name="Text 15"/>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Surse: ghidul clinic comun din 2025 (datele americane); raportul național privind situația drogurilor (datele pentru 2024).</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 · 2 MINUTE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LUCRAȚI CU COLEGUL DE BANCĂ</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De ce ajunge rar într-o statistică?</a:t>
            </a:r>
            <a:endParaRPr lang="en-US" sz="3400" dirty="0"/>
          </a:p>
        </p:txBody>
      </p:sp>
      <p:sp>
        <p:nvSpPr>
          <p:cNvPr id="6" name="Text 4"/>
          <p:cNvSpPr/>
          <p:nvPr/>
        </p:nvSpPr>
        <p:spPr>
          <a:xfrm>
            <a:off x="594360" y="1463040"/>
            <a:ext cx="10972800" cy="868680"/>
          </a:xfrm>
          <a:prstGeom prst="rect">
            <a:avLst/>
          </a:prstGeom>
          <a:noFill/>
          <a:ln/>
        </p:spPr>
        <p:txBody>
          <a:bodyPr wrap="square" lIns="0" tIns="0" rIns="0" bIns="0" rtlCol="0" anchor="t"/>
          <a:lstStyle/>
          <a:p>
            <a:pPr indent="0" marL="0">
              <a:buNone/>
            </a:pPr>
            <a:r>
              <a:rPr lang="en-US" sz="1900" dirty="0">
                <a:solidFill>
                  <a:srgbClr val="959BB0"/>
                </a:solidFill>
                <a:latin typeface="Palatino Linotype" pitchFamily="34" charset="0"/>
                <a:ea typeface="Palatino Linotype" pitchFamily="34" charset="-122"/>
                <a:cs typeface="Palatino Linotype" pitchFamily="34" charset="-120"/>
              </a:rPr>
              <a:t>Dependența de benzodiazepine luate cu rețetă ajunge rar într-o statistică. Notați două motive posibile.</a:t>
            </a:r>
            <a:endParaRPr lang="en-US" sz="1900" dirty="0"/>
          </a:p>
        </p:txBody>
      </p:sp>
      <p:sp>
        <p:nvSpPr>
          <p:cNvPr id="7" name="Shape 5"/>
          <p:cNvSpPr/>
          <p:nvPr/>
        </p:nvSpPr>
        <p:spPr>
          <a:xfrm>
            <a:off x="594360" y="2606040"/>
            <a:ext cx="10972800" cy="1005840"/>
          </a:xfrm>
          <a:prstGeom prst="roundRect">
            <a:avLst>
              <a:gd name="adj" fmla="val 8182"/>
            </a:avLst>
          </a:prstGeom>
          <a:solidFill>
            <a:srgbClr val="1D1F2B"/>
          </a:solidFill>
          <a:ln w="12700">
            <a:solidFill>
              <a:srgbClr val="1D1F2B"/>
            </a:solidFill>
            <a:prstDash val="solid"/>
          </a:ln>
        </p:spPr>
        <p:txBody>
          <a:bodyPr/>
          <a:p/>
        </p:txBody>
      </p:sp>
      <p:sp>
        <p:nvSpPr>
          <p:cNvPr id="8" name="Shape 6"/>
          <p:cNvSpPr/>
          <p:nvPr/>
        </p:nvSpPr>
        <p:spPr>
          <a:xfrm>
            <a:off x="914400" y="2898648"/>
            <a:ext cx="420624" cy="420624"/>
          </a:xfrm>
          <a:prstGeom prst="ellipse">
            <a:avLst/>
          </a:prstGeom>
          <a:solidFill>
            <a:srgbClr val="27D3BE"/>
          </a:solidFill>
          <a:ln/>
        </p:spPr>
        <p:txBody>
          <a:bodyPr/>
          <a:p/>
        </p:txBody>
      </p:sp>
      <p:sp>
        <p:nvSpPr>
          <p:cNvPr id="9" name="Text 7"/>
          <p:cNvSpPr/>
          <p:nvPr/>
        </p:nvSpPr>
        <p:spPr>
          <a:xfrm>
            <a:off x="914400" y="28986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10" name="Shape 8"/>
          <p:cNvSpPr/>
          <p:nvPr/>
        </p:nvSpPr>
        <p:spPr>
          <a:xfrm>
            <a:off x="1600200" y="3291840"/>
            <a:ext cx="9509760" cy="0"/>
          </a:xfrm>
          <a:prstGeom prst="line">
            <a:avLst/>
          </a:prstGeom>
          <a:noFill/>
          <a:ln w="12700">
            <a:solidFill>
              <a:srgbClr val="3A3E52"/>
            </a:solidFill>
            <a:prstDash val="dash"/>
          </a:ln>
        </p:spPr>
        <p:txBody>
          <a:bodyPr/>
          <a:p/>
        </p:txBody>
      </p:sp>
      <p:sp>
        <p:nvSpPr>
          <p:cNvPr id="11" name="Shape 9"/>
          <p:cNvSpPr/>
          <p:nvPr/>
        </p:nvSpPr>
        <p:spPr>
          <a:xfrm>
            <a:off x="594360" y="3840480"/>
            <a:ext cx="10972800" cy="1005840"/>
          </a:xfrm>
          <a:prstGeom prst="roundRect">
            <a:avLst>
              <a:gd name="adj" fmla="val 8182"/>
            </a:avLst>
          </a:prstGeom>
          <a:solidFill>
            <a:srgbClr val="1D1F2B"/>
          </a:solidFill>
          <a:ln w="12700">
            <a:solidFill>
              <a:srgbClr val="1D1F2B"/>
            </a:solidFill>
            <a:prstDash val="solid"/>
          </a:ln>
        </p:spPr>
        <p:txBody>
          <a:bodyPr/>
          <a:p/>
        </p:txBody>
      </p:sp>
      <p:sp>
        <p:nvSpPr>
          <p:cNvPr id="12" name="Shape 10"/>
          <p:cNvSpPr/>
          <p:nvPr/>
        </p:nvSpPr>
        <p:spPr>
          <a:xfrm>
            <a:off x="914400" y="4133088"/>
            <a:ext cx="420624" cy="420624"/>
          </a:xfrm>
          <a:prstGeom prst="ellipse">
            <a:avLst/>
          </a:prstGeom>
          <a:solidFill>
            <a:srgbClr val="27D3BE"/>
          </a:solidFill>
          <a:ln/>
        </p:spPr>
        <p:txBody>
          <a:bodyPr/>
          <a:p/>
        </p:txBody>
      </p:sp>
      <p:sp>
        <p:nvSpPr>
          <p:cNvPr id="13" name="Text 11"/>
          <p:cNvSpPr/>
          <p:nvPr/>
        </p:nvSpPr>
        <p:spPr>
          <a:xfrm>
            <a:off x="914400" y="41330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4" name="Shape 12"/>
          <p:cNvSpPr/>
          <p:nvPr/>
        </p:nvSpPr>
        <p:spPr>
          <a:xfrm>
            <a:off x="1600200" y="4526280"/>
            <a:ext cx="9509760" cy="0"/>
          </a:xfrm>
          <a:prstGeom prst="line">
            <a:avLst/>
          </a:prstGeom>
          <a:noFill/>
          <a:ln w="12700">
            <a:solidFill>
              <a:srgbClr val="3A3E52"/>
            </a:solidFill>
            <a:prstDash val="dash"/>
          </a:ln>
        </p:spPr>
        <p:txBody>
          <a:bodyPr/>
          <a:p/>
        </p:txBody>
      </p:sp>
      <p:sp>
        <p:nvSpPr>
          <p:cNvPr id="15" name="Text 13"/>
          <p:cNvSpPr/>
          <p:nvPr/>
        </p:nvSpPr>
        <p:spPr>
          <a:xfrm>
            <a:off x="594360" y="5257800"/>
            <a:ext cx="10972800" cy="411480"/>
          </a:xfrm>
          <a:prstGeom prst="rect">
            <a:avLst/>
          </a:prstGeom>
          <a:noFill/>
          <a:ln/>
        </p:spPr>
        <p:txBody>
          <a:bodyPr wrap="square" lIns="0" tIns="0" rIns="0" bIns="0" rtlCol="0" anchor="t"/>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Apoi doi colegi le citesc pentru toată sala.</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VOTUL DE LA ÎNCEPUT</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Varianta B: nu se oprește brusc</a:t>
            </a:r>
            <a:endParaRPr lang="en-US" sz="3200" dirty="0"/>
          </a:p>
        </p:txBody>
      </p:sp>
      <p:sp>
        <p:nvSpPr>
          <p:cNvPr id="4" name="Shape 2"/>
          <p:cNvSpPr/>
          <p:nvPr/>
        </p:nvSpPr>
        <p:spPr>
          <a:xfrm>
            <a:off x="594360" y="1463040"/>
            <a:ext cx="10972800" cy="1417320"/>
          </a:xfrm>
          <a:prstGeom prst="roundRect">
            <a:avLst>
              <a:gd name="adj" fmla="val 5806"/>
            </a:avLst>
          </a:prstGeom>
          <a:solidFill>
            <a:srgbClr val="ECEAE4"/>
          </a:solidFill>
          <a:ln w="12700">
            <a:solidFill>
              <a:srgbClr val="ECEAE4"/>
            </a:solidFill>
            <a:prstDash val="solid"/>
          </a:ln>
        </p:spPr>
        <p:txBody>
          <a:bodyPr/>
          <a:p/>
        </p:txBody>
      </p:sp>
      <p:sp>
        <p:nvSpPr>
          <p:cNvPr id="5" name="Text 3"/>
          <p:cNvSpPr/>
          <p:nvPr/>
        </p:nvSpPr>
        <p:spPr>
          <a:xfrm>
            <a:off x="868680" y="1463040"/>
            <a:ext cx="10424160" cy="141732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Ghidul comun din 2025: la utilizarea regulată, întreruperea bruscă poate produce un sevraj grav, potențial letal. Raportul european din 2026: simptomele de sevraj pot pune viața în pericol.</a:t>
            </a:r>
            <a:endParaRPr lang="en-US" sz="1700" dirty="0"/>
          </a:p>
        </p:txBody>
      </p:sp>
      <p:sp>
        <p:nvSpPr>
          <p:cNvPr id="6" name="Shape 4"/>
          <p:cNvSpPr/>
          <p:nvPr/>
        </p:nvSpPr>
        <p:spPr>
          <a:xfrm>
            <a:off x="685800" y="3383280"/>
            <a:ext cx="548640" cy="548640"/>
          </a:xfrm>
          <a:prstGeom prst="ellipse">
            <a:avLst/>
          </a:prstGeom>
          <a:solidFill>
            <a:srgbClr val="B02532"/>
          </a:solidFill>
          <a:ln/>
        </p:spPr>
        <p:txBody>
          <a:bodyPr/>
          <a:p/>
        </p:txBody>
      </p:sp>
      <p:sp>
        <p:nvSpPr>
          <p:cNvPr id="7" name="Text 5"/>
          <p:cNvSpPr/>
          <p:nvPr/>
        </p:nvSpPr>
        <p:spPr>
          <a:xfrm>
            <a:off x="685800" y="338328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A</a:t>
            </a:r>
            <a:endParaRPr lang="en-US" sz="1700" dirty="0"/>
          </a:p>
        </p:txBody>
      </p:sp>
      <p:sp>
        <p:nvSpPr>
          <p:cNvPr id="8" name="Text 6"/>
          <p:cNvSpPr/>
          <p:nvPr/>
        </p:nvSpPr>
        <p:spPr>
          <a:xfrm>
            <a:off x="1463040" y="3154680"/>
            <a:ext cx="10058400" cy="100584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pare cea mai virtuoasă și este cea mai periculoasă.</a:t>
            </a:r>
            <a:endParaRPr lang="en-US" sz="1700" dirty="0"/>
          </a:p>
        </p:txBody>
      </p:sp>
      <p:sp>
        <p:nvSpPr>
          <p:cNvPr id="9" name="Shape 7"/>
          <p:cNvSpPr/>
          <p:nvPr/>
        </p:nvSpPr>
        <p:spPr>
          <a:xfrm>
            <a:off x="685800" y="4572000"/>
            <a:ext cx="548640" cy="548640"/>
          </a:xfrm>
          <a:prstGeom prst="ellipse">
            <a:avLst/>
          </a:prstGeom>
          <a:solidFill>
            <a:srgbClr val="4A2D8C"/>
          </a:solidFill>
          <a:ln/>
        </p:spPr>
        <p:txBody>
          <a:bodyPr/>
          <a:p/>
        </p:txBody>
      </p:sp>
      <p:sp>
        <p:nvSpPr>
          <p:cNvPr id="10" name="Text 8"/>
          <p:cNvSpPr/>
          <p:nvPr/>
        </p:nvSpPr>
        <p:spPr>
          <a:xfrm>
            <a:off x="685800" y="457200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C</a:t>
            </a:r>
            <a:endParaRPr lang="en-US" sz="1700" dirty="0"/>
          </a:p>
        </p:txBody>
      </p:sp>
      <p:sp>
        <p:nvSpPr>
          <p:cNvPr id="11" name="Text 9"/>
          <p:cNvSpPr/>
          <p:nvPr/>
        </p:nvSpPr>
        <p:spPr>
          <a:xfrm>
            <a:off x="1463040" y="4343400"/>
            <a:ext cx="10058400" cy="100584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pare blândă și este o renunțare: ghidul nu spune că vârstnicii nu mai merită să încerce, ci că reducerea se adaptează fiecărui pacient.</a:t>
            </a:r>
            <a:endParaRPr lang="en-US" sz="1700" dirty="0"/>
          </a:p>
        </p:txBody>
      </p:sp>
      <p:sp>
        <p:nvSpPr>
          <p:cNvPr id="12" name="Text 10"/>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Surse: ghidul clinic comun din 2025; EUDA, European Drug Report 2026.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CUM ARATĂ O REDUCERE TREPTATĂ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Luni de zile, nu de mâine</a:t>
            </a:r>
            <a:endParaRPr lang="en-US" sz="3200" dirty="0"/>
          </a:p>
        </p:txBody>
      </p:sp>
      <p:sp>
        <p:nvSpPr>
          <p:cNvPr id="4" name="Text 2"/>
          <p:cNvSpPr/>
          <p:nvPr/>
        </p:nvSpPr>
        <p:spPr>
          <a:xfrm>
            <a:off x="594360" y="1417320"/>
            <a:ext cx="5394960" cy="960120"/>
          </a:xfrm>
          <a:prstGeom prst="rect">
            <a:avLst/>
          </a:prstGeom>
          <a:noFill/>
          <a:ln/>
        </p:spPr>
        <p:txBody>
          <a:bodyPr wrap="square" lIns="0" tIns="0" rIns="0" bIns="0" rtlCol="0" anchor="t"/>
          <a:lstStyle/>
          <a:p>
            <a:pPr indent="0" marL="0">
              <a:buNone/>
            </a:pPr>
            <a:r>
              <a:rPr lang="en-US" sz="6000" b="1" dirty="0">
                <a:solidFill>
                  <a:srgbClr val="0E7C6B"/>
                </a:solidFill>
                <a:latin typeface="Palatino Linotype" pitchFamily="34" charset="0"/>
                <a:ea typeface="Palatino Linotype" pitchFamily="34" charset="-122"/>
                <a:cs typeface="Palatino Linotype" pitchFamily="34" charset="-120"/>
              </a:rPr>
              <a:t>5–10%</a:t>
            </a:r>
            <a:endParaRPr lang="en-US" sz="6000" dirty="0"/>
          </a:p>
        </p:txBody>
      </p:sp>
      <p:sp>
        <p:nvSpPr>
          <p:cNvPr id="5" name="Text 3"/>
          <p:cNvSpPr/>
          <p:nvPr/>
        </p:nvSpPr>
        <p:spPr>
          <a:xfrm>
            <a:off x="594360" y="2423160"/>
            <a:ext cx="5394960" cy="100584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din doză, la fiecare 2–4 săptămâni: ritmul inițial obișnuit. De regulă, cel mult 25% la 2 săptămâni.</a:t>
            </a:r>
            <a:endParaRPr lang="en-US" sz="1650" dirty="0"/>
          </a:p>
        </p:txBody>
      </p:sp>
      <p:sp>
        <p:nvSpPr>
          <p:cNvPr id="6" name="Text 4"/>
          <p:cNvSpPr/>
          <p:nvPr/>
        </p:nvSpPr>
        <p:spPr>
          <a:xfrm>
            <a:off x="594360" y="3520440"/>
            <a:ext cx="5394960" cy="822960"/>
          </a:xfrm>
          <a:prstGeom prst="rect">
            <a:avLst/>
          </a:prstGeom>
          <a:noFill/>
          <a:ln/>
        </p:spPr>
        <p:txBody>
          <a:bodyPr wrap="square" lIns="0" tIns="0" rIns="0" bIns="0" rtlCol="0" anchor="t"/>
          <a:lstStyle/>
          <a:p>
            <a:pPr indent="0" marL="0">
              <a:buNone/>
            </a:pPr>
            <a:r>
              <a:rPr lang="en-US" sz="1550" i="1" dirty="0">
                <a:solidFill>
                  <a:srgbClr val="3A3C44"/>
                </a:solidFill>
                <a:latin typeface="Palatino Linotype" pitchFamily="34" charset="0"/>
                <a:ea typeface="Palatino Linotype" pitchFamily="34" charset="-122"/>
                <a:cs typeface="Palatino Linotype" pitchFamily="34" charset="-120"/>
              </a:rPr>
              <a:t>Un reper, nu o rețetă fixă: ritmul se ajustează după pacient.</a:t>
            </a:r>
            <a:endParaRPr lang="en-US" sz="1550" dirty="0"/>
          </a:p>
        </p:txBody>
      </p:sp>
      <p:sp>
        <p:nvSpPr>
          <p:cNvPr id="7" name="Shape 5"/>
          <p:cNvSpPr/>
          <p:nvPr/>
        </p:nvSpPr>
        <p:spPr>
          <a:xfrm>
            <a:off x="6309360" y="1417320"/>
            <a:ext cx="5257800" cy="3017520"/>
          </a:xfrm>
          <a:prstGeom prst="roundRect">
            <a:avLst>
              <a:gd name="adj" fmla="val 2727"/>
            </a:avLst>
          </a:prstGeom>
          <a:solidFill>
            <a:srgbClr val="ECEAE4"/>
          </a:solidFill>
          <a:ln w="12700">
            <a:solidFill>
              <a:srgbClr val="ECEAE4"/>
            </a:solidFill>
            <a:prstDash val="solid"/>
          </a:ln>
        </p:spPr>
        <p:txBody>
          <a:bodyPr/>
          <a:p/>
        </p:txBody>
      </p:sp>
      <p:sp>
        <p:nvSpPr>
          <p:cNvPr id="8" name="Text 6"/>
          <p:cNvSpPr/>
          <p:nvPr/>
        </p:nvSpPr>
        <p:spPr>
          <a:xfrm>
            <a:off x="6583680" y="1572768"/>
            <a:ext cx="4754880" cy="292608"/>
          </a:xfrm>
          <a:prstGeom prst="rect">
            <a:avLst/>
          </a:prstGeom>
          <a:noFill/>
          <a:ln/>
        </p:spPr>
        <p:txBody>
          <a:bodyPr wrap="square" lIns="0" tIns="0" rIns="0" bIns="0" rtlCol="0" anchor="t"/>
          <a:lstStyle/>
          <a:p>
            <a:pPr indent="0" marL="0">
              <a:buNone/>
            </a:pPr>
            <a:r>
              <a:rPr lang="en-US" sz="1250" b="1" spc="200" kern="0" dirty="0">
                <a:solidFill>
                  <a:srgbClr val="B02532"/>
                </a:solidFill>
                <a:latin typeface="Palatino Linotype" pitchFamily="34" charset="0"/>
                <a:ea typeface="Palatino Linotype" pitchFamily="34" charset="-122"/>
                <a:cs typeface="Palatino Linotype" pitchFamily="34" charset="-120"/>
              </a:rPr>
              <a:t>CALENDARUL DOAMNEI ELENA</a:t>
            </a:r>
            <a:endParaRPr lang="en-US" sz="1250" dirty="0"/>
          </a:p>
        </p:txBody>
      </p:sp>
      <p:sp>
        <p:nvSpPr>
          <p:cNvPr id="9" name="Text 7"/>
          <p:cNvSpPr/>
          <p:nvPr/>
        </p:nvSpPr>
        <p:spPr>
          <a:xfrm>
            <a:off x="6583680" y="1938528"/>
            <a:ext cx="4754880" cy="210312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O zecime din doză la fiecare trei săptămâni. Ritmul încetinește când apar simptome; știe dinainte pașii și poate reveni la cabinet.</a:t>
            </a:r>
            <a:endParaRPr lang="en-US" sz="1550" dirty="0"/>
          </a:p>
        </p:txBody>
      </p:sp>
      <p:sp>
        <p:nvSpPr>
          <p:cNvPr id="10" name="Text 8"/>
          <p:cNvSpPr/>
          <p:nvPr/>
        </p:nvSpPr>
        <p:spPr>
          <a:xfrm>
            <a:off x="6583680" y="4069080"/>
            <a:ext cx="4572000" cy="256032"/>
          </a:xfrm>
          <a:prstGeom prst="rect">
            <a:avLst/>
          </a:prstGeom>
          <a:noFill/>
          <a:ln/>
        </p:spPr>
        <p:txBody>
          <a:bodyPr wrap="square" lIns="0" tIns="0" rIns="0" bIns="0" rtlCol="0" anchor="t"/>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Valori ipotetice.</a:t>
            </a:r>
            <a:endParaRPr lang="en-US" sz="1000" dirty="0"/>
          </a:p>
        </p:txBody>
      </p:sp>
      <p:sp>
        <p:nvSpPr>
          <p:cNvPr id="11" name="Shape 9"/>
          <p:cNvSpPr/>
          <p:nvPr/>
        </p:nvSpPr>
        <p:spPr>
          <a:xfrm>
            <a:off x="594360" y="4663440"/>
            <a:ext cx="10972800" cy="1143000"/>
          </a:xfrm>
          <a:prstGeom prst="roundRect">
            <a:avLst>
              <a:gd name="adj" fmla="val 7200"/>
            </a:avLst>
          </a:prstGeom>
          <a:solidFill>
            <a:srgbClr val="E1F0EC"/>
          </a:solidFill>
          <a:ln w="12700">
            <a:solidFill>
              <a:srgbClr val="E1F0EC"/>
            </a:solidFill>
            <a:prstDash val="solid"/>
          </a:ln>
        </p:spPr>
        <p:txBody>
          <a:bodyPr/>
          <a:p/>
        </p:txBody>
      </p:sp>
      <p:sp>
        <p:nvSpPr>
          <p:cNvPr id="12" name="Text 10"/>
          <p:cNvSpPr/>
          <p:nvPr/>
        </p:nvSpPr>
        <p:spPr>
          <a:xfrm>
            <a:off x="868680" y="4663440"/>
            <a:ext cx="10424160" cy="1143000"/>
          </a:xfrm>
          <a:prstGeom prst="rect">
            <a:avLst/>
          </a:prstGeom>
          <a:noFill/>
          <a:ln/>
        </p:spPr>
        <p:txBody>
          <a:bodyPr wrap="square" lIns="0" tIns="0" rIns="0" bIns="0" rtlCol="0" anchor="ctr"/>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Scopul poate fi oprirea sau doza la care riscurile nu mai depășesc beneficiile. Nu orice pacient ajunge la zero.</a:t>
            </a:r>
            <a:endParaRPr lang="en-US" sz="1800" dirty="0"/>
          </a:p>
        </p:txBody>
      </p:sp>
      <p:sp>
        <p:nvSpPr>
          <p:cNvPr id="13" name="Text 11"/>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ghidul clinic comun din 2025.</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JOC DE ROL · 3 MINUTE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DOI VOLUNTARI: MEDICUL ȘI DOAMNA ELENA</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Doamna Elena a citit ceva</a:t>
            </a:r>
            <a:endParaRPr lang="en-US" sz="3200" dirty="0"/>
          </a:p>
        </p:txBody>
      </p:sp>
      <p:sp>
        <p:nvSpPr>
          <p:cNvPr id="6" name="Shape 4"/>
          <p:cNvSpPr/>
          <p:nvPr/>
        </p:nvSpPr>
        <p:spPr>
          <a:xfrm>
            <a:off x="594360" y="1463040"/>
            <a:ext cx="6766560" cy="1600200"/>
          </a:xfrm>
          <a:prstGeom prst="roundRect">
            <a:avLst>
              <a:gd name="adj" fmla="val 5143"/>
            </a:avLst>
          </a:prstGeom>
          <a:solidFill>
            <a:srgbClr val="272A38"/>
          </a:solidFill>
          <a:ln w="12700">
            <a:solidFill>
              <a:srgbClr val="272A38"/>
            </a:solidFill>
            <a:prstDash val="solid"/>
          </a:ln>
        </p:spPr>
        <p:txBody>
          <a:bodyPr/>
          <a:p/>
        </p:txBody>
      </p:sp>
      <p:sp>
        <p:nvSpPr>
          <p:cNvPr id="7" name="Text 5"/>
          <p:cNvSpPr/>
          <p:nvPr/>
        </p:nvSpPr>
        <p:spPr>
          <a:xfrm>
            <a:off x="868680" y="1572768"/>
            <a:ext cx="6309360" cy="274320"/>
          </a:xfrm>
          <a:prstGeom prst="rect">
            <a:avLst/>
          </a:prstGeom>
          <a:noFill/>
          <a:ln/>
        </p:spPr>
        <p:txBody>
          <a:bodyPr wrap="square" lIns="0" tIns="0" rIns="0" bIns="0" rtlCol="0" anchor="t"/>
          <a:lstStyle/>
          <a:p>
            <a:pPr indent="0" marL="0">
              <a:buNone/>
            </a:pPr>
            <a:r>
              <a:rPr lang="en-US" sz="1150" b="1" spc="200" kern="0" dirty="0">
                <a:solidFill>
                  <a:srgbClr val="FFC24B"/>
                </a:solidFill>
                <a:latin typeface="Palatino Linotype" pitchFamily="34" charset="0"/>
                <a:ea typeface="Palatino Linotype" pitchFamily="34" charset="-122"/>
                <a:cs typeface="Palatino Linotype" pitchFamily="34" charset="-120"/>
              </a:rPr>
              <a:t>DOAMNA ELENA</a:t>
            </a:r>
            <a:endParaRPr lang="en-US" sz="1150" dirty="0"/>
          </a:p>
        </p:txBody>
      </p:sp>
      <p:sp>
        <p:nvSpPr>
          <p:cNvPr id="8" name="Text 6"/>
          <p:cNvSpPr/>
          <p:nvPr/>
        </p:nvSpPr>
        <p:spPr>
          <a:xfrm>
            <a:off x="868680" y="1874520"/>
            <a:ext cx="6309360" cy="1097280"/>
          </a:xfrm>
          <a:prstGeom prst="rect">
            <a:avLst/>
          </a:prstGeom>
          <a:noFill/>
          <a:ln/>
        </p:spPr>
        <p:txBody>
          <a:bodyPr wrap="square" lIns="0" tIns="0" rIns="0" bIns="0" rtlCol="0" anchor="t"/>
          <a:lstStyle/>
          <a:p>
            <a:pPr indent="0" marL="0">
              <a:buNone/>
            </a:pPr>
            <a:r>
              <a:rPr lang="en-US" sz="2100" b="1" i="1" dirty="0">
                <a:solidFill>
                  <a:srgbClr val="FFFFFF"/>
                </a:solidFill>
                <a:latin typeface="Palatino Linotype" pitchFamily="34" charset="0"/>
                <a:ea typeface="Palatino Linotype" pitchFamily="34" charset="-122"/>
                <a:cs typeface="Palatino Linotype" pitchFamily="34" charset="-120"/>
              </a:rPr>
              <a:t>„Am citit că alprazolamul strică memoria. Vreau să-l las de mâine.”</a:t>
            </a:r>
            <a:endParaRPr lang="en-US" sz="2100" dirty="0"/>
          </a:p>
        </p:txBody>
      </p:sp>
      <p:sp>
        <p:nvSpPr>
          <p:cNvPr id="9" name="Text 7"/>
          <p:cNvSpPr/>
          <p:nvPr/>
        </p:nvSpPr>
        <p:spPr>
          <a:xfrm>
            <a:off x="594360" y="3291840"/>
            <a:ext cx="6766560" cy="914400"/>
          </a:xfrm>
          <a:prstGeom prst="rect">
            <a:avLst/>
          </a:prstGeom>
          <a:noFill/>
          <a:ln/>
        </p:spPr>
        <p:txBody>
          <a:bodyPr wrap="square" lIns="0" tIns="0" rIns="0" bIns="0" rtlCol="0" anchor="t"/>
          <a:lstStyle/>
          <a:p>
            <a:pPr indent="0" marL="0">
              <a:buNone/>
            </a:pPr>
            <a:r>
              <a:rPr lang="en-US" sz="1700" dirty="0">
                <a:solidFill>
                  <a:srgbClr val="959BB0"/>
                </a:solidFill>
                <a:latin typeface="Palatino Linotype" pitchFamily="34" charset="0"/>
                <a:ea typeface="Palatino Linotype" pitchFamily="34" charset="-122"/>
                <a:cs typeface="Palatino Linotype" pitchFamily="34" charset="-120"/>
              </a:rPr>
              <a:t>Medicul are trei minute: să o convingă să nu îl oprească brusc, fără să o sperie și fără să o certe.</a:t>
            </a:r>
            <a:endParaRPr lang="en-US" sz="1700" dirty="0"/>
          </a:p>
        </p:txBody>
      </p:sp>
      <p:sp>
        <p:nvSpPr>
          <p:cNvPr id="10" name="Text 8"/>
          <p:cNvSpPr/>
          <p:nvPr/>
        </p:nvSpPr>
        <p:spPr>
          <a:xfrm>
            <a:off x="594360" y="4343400"/>
            <a:ext cx="10972800" cy="457200"/>
          </a:xfrm>
          <a:prstGeom prst="rect">
            <a:avLst/>
          </a:prstGeom>
          <a:noFill/>
          <a:ln/>
        </p:spPr>
        <p:txBody>
          <a:bodyPr wrap="square" lIns="0" tIns="0" rIns="0" bIns="0" rtlCol="0" anchor="t"/>
          <a:lstStyle/>
          <a:p>
            <a:pPr indent="0" marL="0">
              <a:buNone/>
            </a:pPr>
            <a:r>
              <a:rPr lang="en-US" sz="1800" b="1" dirty="0">
                <a:solidFill>
                  <a:srgbClr val="FFFFFF"/>
                </a:solidFill>
                <a:latin typeface="Palatino Linotype" pitchFamily="34" charset="0"/>
                <a:ea typeface="Palatino Linotype" pitchFamily="34" charset="-122"/>
                <a:cs typeface="Palatino Linotype" pitchFamily="34" charset="-120"/>
              </a:rPr>
              <a:t>Apoi sala votează: „Ați fi plecat de la acest medic cu un plan?”</a:t>
            </a:r>
            <a:endParaRPr lang="en-US" sz="1800" dirty="0"/>
          </a:p>
        </p:txBody>
      </p:sp>
      <p:sp>
        <p:nvSpPr>
          <p:cNvPr id="11" name="Shape 9"/>
          <p:cNvSpPr/>
          <p:nvPr/>
        </p:nvSpPr>
        <p:spPr>
          <a:xfrm>
            <a:off x="594360" y="4937760"/>
            <a:ext cx="2148840" cy="329184"/>
          </a:xfrm>
          <a:prstGeom prst="roundRect">
            <a:avLst>
              <a:gd name="adj" fmla="val 50000"/>
            </a:avLst>
          </a:prstGeom>
          <a:solidFill>
            <a:srgbClr val="272A38"/>
          </a:solidFill>
          <a:ln w="12700">
            <a:solidFill>
              <a:srgbClr val="272A38"/>
            </a:solidFill>
            <a:prstDash val="solid"/>
          </a:ln>
        </p:spPr>
        <p:txBody>
          <a:bodyPr/>
          <a:p/>
        </p:txBody>
      </p:sp>
      <p:sp>
        <p:nvSpPr>
          <p:cNvPr id="12" name="Text 10"/>
          <p:cNvSpPr/>
          <p:nvPr/>
        </p:nvSpPr>
        <p:spPr>
          <a:xfrm>
            <a:off x="594360" y="4937760"/>
            <a:ext cx="214884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Da</a:t>
            </a:r>
            <a:endParaRPr lang="en-US" sz="1500" dirty="0"/>
          </a:p>
        </p:txBody>
      </p:sp>
      <p:sp>
        <p:nvSpPr>
          <p:cNvPr id="13" name="Shape 11"/>
          <p:cNvSpPr/>
          <p:nvPr/>
        </p:nvSpPr>
        <p:spPr>
          <a:xfrm>
            <a:off x="2971800" y="4937760"/>
            <a:ext cx="2148840" cy="329184"/>
          </a:xfrm>
          <a:prstGeom prst="roundRect">
            <a:avLst>
              <a:gd name="adj" fmla="val 50000"/>
            </a:avLst>
          </a:prstGeom>
          <a:solidFill>
            <a:srgbClr val="272A38"/>
          </a:solidFill>
          <a:ln w="12700">
            <a:solidFill>
              <a:srgbClr val="272A38"/>
            </a:solidFill>
            <a:prstDash val="solid"/>
          </a:ln>
        </p:spPr>
        <p:txBody>
          <a:bodyPr/>
          <a:p/>
        </p:txBody>
      </p:sp>
      <p:sp>
        <p:nvSpPr>
          <p:cNvPr id="14" name="Text 12"/>
          <p:cNvSpPr/>
          <p:nvPr/>
        </p:nvSpPr>
        <p:spPr>
          <a:xfrm>
            <a:off x="2971800" y="4937760"/>
            <a:ext cx="214884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Nu</a:t>
            </a:r>
            <a:endParaRPr lang="en-US" sz="1500" dirty="0"/>
          </a:p>
        </p:txBody>
      </p:sp>
      <p:sp>
        <p:nvSpPr>
          <p:cNvPr id="15" name="Shape 13"/>
          <p:cNvSpPr/>
          <p:nvPr/>
        </p:nvSpPr>
        <p:spPr>
          <a:xfrm>
            <a:off x="5349240" y="4937760"/>
            <a:ext cx="2148840" cy="329184"/>
          </a:xfrm>
          <a:prstGeom prst="roundRect">
            <a:avLst>
              <a:gd name="adj" fmla="val 50000"/>
            </a:avLst>
          </a:prstGeom>
          <a:solidFill>
            <a:srgbClr val="272A38"/>
          </a:solidFill>
          <a:ln w="12700">
            <a:solidFill>
              <a:srgbClr val="272A38"/>
            </a:solidFill>
            <a:prstDash val="solid"/>
          </a:ln>
        </p:spPr>
        <p:txBody>
          <a:bodyPr/>
          <a:p/>
        </p:txBody>
      </p:sp>
      <p:sp>
        <p:nvSpPr>
          <p:cNvPr id="16" name="Text 14"/>
          <p:cNvSpPr/>
          <p:nvPr/>
        </p:nvSpPr>
        <p:spPr>
          <a:xfrm>
            <a:off x="5349240" y="4937760"/>
            <a:ext cx="214884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Nu sunt sigur</a:t>
            </a:r>
            <a:endParaRPr lang="en-US" sz="1500" dirty="0"/>
          </a:p>
        </p:txBody>
      </p:sp>
      <p:sp>
        <p:nvSpPr>
          <p:cNvPr id="17" name="Text 15"/>
          <p:cNvSpPr/>
          <p:nvPr/>
        </p:nvSpPr>
        <p:spPr>
          <a:xfrm>
            <a:off x="594360" y="5532120"/>
            <a:ext cx="8595360" cy="411480"/>
          </a:xfrm>
          <a:prstGeom prst="rect">
            <a:avLst/>
          </a:prstGeom>
          <a:noFill/>
          <a:ln/>
        </p:spPr>
        <p:txBody>
          <a:bodyPr wrap="square" lIns="0" tIns="0" rIns="0" bIns="0" rtlCol="0" anchor="t"/>
          <a:lstStyle/>
          <a:p>
            <a:pPr indent="0" marL="0">
              <a:buNone/>
            </a:pPr>
            <a:r>
              <a:rPr lang="en-US" sz="1600" b="1" dirty="0">
                <a:solidFill>
                  <a:srgbClr val="FFC24B"/>
                </a:solidFill>
                <a:latin typeface="Palatino Linotype" pitchFamily="34" charset="0"/>
                <a:ea typeface="Palatino Linotype" pitchFamily="34" charset="-122"/>
                <a:cs typeface="Palatino Linotype" pitchFamily="34" charset="-120"/>
              </a:rPr>
              <a:t>Răspundeți pe telefon, la codul afișat.</a:t>
            </a:r>
            <a:endParaRPr lang="en-US" sz="1600" dirty="0"/>
          </a:p>
        </p:txBody>
      </p:sp>
      <p:sp>
        <p:nvSpPr>
          <p:cNvPr id="18" name="Shape 16"/>
          <p:cNvSpPr/>
          <p:nvPr/>
        </p:nvSpPr>
        <p:spPr>
          <a:xfrm>
            <a:off x="9509760" y="1463040"/>
            <a:ext cx="2057400" cy="1737360"/>
          </a:xfrm>
          <a:prstGeom prst="roundRect">
            <a:avLst>
              <a:gd name="adj" fmla="val 4737"/>
            </a:avLst>
          </a:prstGeom>
          <a:solidFill>
            <a:srgbClr val="FFFFFF"/>
          </a:solidFill>
          <a:ln w="12700">
            <a:solidFill>
              <a:srgbClr val="FFFFFF"/>
            </a:solidFill>
            <a:prstDash val="solid"/>
          </a:ln>
        </p:spPr>
        <p:txBody>
          <a:bodyPr/>
          <a:p/>
        </p:txBody>
      </p:sp>
      <p:pic>
        <p:nvPicPr>
          <p:cNvPr id="19" name="Picture 18" descr="Mentimeter_OPT_DROGURI_C04.png"/>
          <p:cNvPicPr>
            <a:picLocks noChangeAspect="1"/>
          </p:cNvPicPr>
          <p:nvPr/>
        </p:nvPicPr>
        <p:blipFill>
          <a:blip r:embed="rId3"/>
          <a:stretch>
            <a:fillRect/>
          </a:stretch>
        </p:blipFill>
        <p:spPr>
          <a:xfrm>
            <a:off x="9886949" y="1463040"/>
            <a:ext cx="1303021" cy="1303021"/>
          </a:xfrm>
          <a:prstGeom prst="rect">
            <a:avLst/>
          </a:prstGeom>
        </p:spPr>
      </p:pic>
      <p:sp>
        <p:nvSpPr>
          <p:cNvPr id="20" name="TextBox 19"/>
          <p:cNvSpPr txBox="1"/>
          <p:nvPr/>
        </p:nvSpPr>
        <p:spPr>
          <a:xfrm>
            <a:off x="9509760" y="2804161"/>
            <a:ext cx="2057400" cy="434339"/>
          </a:xfrm>
          <a:prstGeom prst="rect">
            <a:avLst/>
          </a:prstGeom>
          <a:noFill/>
        </p:spPr>
        <p:txBody>
          <a:bodyPr wrap="square" lIns="0" rIns="0" tIns="0" bIns="0" anchor="t">
            <a:spAutoFit/>
          </a:bodyPr>
          <a:lstStyle/>
          <a:p>
            <a:pPr algn="ctr"/>
            <a:r>
              <a:rPr sz="900" b="1">
                <a:solidFill>
                  <a:srgbClr val="B02532"/>
                </a:solidFill>
                <a:latin typeface="Palatino Linotype"/>
              </a:rPr>
              <a:t>menti.com</a:t>
            </a:r>
          </a:p>
          <a:p>
            <a:pPr algn="ctr"/>
            <a:r>
              <a:rPr sz="900" b="1">
                <a:solidFill>
                  <a:srgbClr val="B02532"/>
                </a:solidFill>
                <a:latin typeface="Palatino Linotype"/>
              </a:rPr>
              <a:t>anonim, fără cont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DUPĂ JOCUL DE ROL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Pacienta are, în parte, dreptate</a:t>
            </a:r>
            <a:endParaRPr lang="en-US" sz="3200" dirty="0"/>
          </a:p>
        </p:txBody>
      </p:sp>
      <p:sp>
        <p:nvSpPr>
          <p:cNvPr id="4" name="Shape 2"/>
          <p:cNvSpPr/>
          <p:nvPr/>
        </p:nvSpPr>
        <p:spPr>
          <a:xfrm>
            <a:off x="594360" y="1463040"/>
            <a:ext cx="5349240" cy="2240280"/>
          </a:xfrm>
          <a:prstGeom prst="roundRect">
            <a:avLst>
              <a:gd name="adj" fmla="val 3673"/>
            </a:avLst>
          </a:prstGeom>
          <a:solidFill>
            <a:srgbClr val="ECEAE4"/>
          </a:solidFill>
          <a:ln w="12700">
            <a:solidFill>
              <a:srgbClr val="ECEAE4"/>
            </a:solidFill>
            <a:prstDash val="solid"/>
          </a:ln>
        </p:spPr>
        <p:txBody>
          <a:bodyPr/>
          <a:p/>
        </p:txBody>
      </p:sp>
      <p:sp>
        <p:nvSpPr>
          <p:cNvPr id="5" name="Shape 3"/>
          <p:cNvSpPr/>
          <p:nvPr/>
        </p:nvSpPr>
        <p:spPr>
          <a:xfrm>
            <a:off x="594360" y="1463040"/>
            <a:ext cx="73152" cy="2240280"/>
          </a:xfrm>
          <a:prstGeom prst="rect">
            <a:avLst/>
          </a:prstGeom>
          <a:solidFill>
            <a:srgbClr val="B02532"/>
          </a:solidFill>
          <a:ln w="12700">
            <a:solidFill>
              <a:srgbClr val="B02532"/>
            </a:solidFill>
            <a:prstDash val="solid"/>
          </a:ln>
        </p:spPr>
        <p:txBody>
          <a:bodyPr/>
          <a:p/>
        </p:txBody>
      </p:sp>
      <p:sp>
        <p:nvSpPr>
          <p:cNvPr id="6" name="Text 4"/>
          <p:cNvSpPr/>
          <p:nvPr/>
        </p:nvSpPr>
        <p:spPr>
          <a:xfrm>
            <a:off x="914400" y="1627632"/>
            <a:ext cx="4800600" cy="292608"/>
          </a:xfrm>
          <a:prstGeom prst="rect">
            <a:avLst/>
          </a:prstGeom>
          <a:noFill/>
          <a:ln/>
        </p:spPr>
        <p:txBody>
          <a:bodyPr wrap="square" lIns="0" tIns="0" rIns="0" bIns="0" rtlCol="0" anchor="t"/>
          <a:lstStyle/>
          <a:p>
            <a:pPr indent="0" marL="0">
              <a:buNone/>
            </a:pPr>
            <a:r>
              <a:rPr lang="en-US" sz="1200" b="1" spc="200" kern="0" dirty="0">
                <a:solidFill>
                  <a:srgbClr val="B02532"/>
                </a:solidFill>
                <a:latin typeface="Palatino Linotype" pitchFamily="34" charset="0"/>
                <a:ea typeface="Palatino Linotype" pitchFamily="34" charset="-122"/>
                <a:cs typeface="Palatino Linotype" pitchFamily="34" charset="-120"/>
              </a:rPr>
              <a:t>MEDICUL CARE SPUNE</a:t>
            </a:r>
            <a:endParaRPr lang="en-US" sz="1200" dirty="0"/>
          </a:p>
        </p:txBody>
      </p:sp>
      <p:sp>
        <p:nvSpPr>
          <p:cNvPr id="7" name="Text 5"/>
          <p:cNvSpPr/>
          <p:nvPr/>
        </p:nvSpPr>
        <p:spPr>
          <a:xfrm>
            <a:off x="914400" y="1965960"/>
            <a:ext cx="4800600" cy="1120140"/>
          </a:xfrm>
          <a:prstGeom prst="rect">
            <a:avLst/>
          </a:prstGeom>
          <a:noFill/>
          <a:ln/>
        </p:spPr>
        <p:txBody>
          <a:bodyPr wrap="square" lIns="0" tIns="0" rIns="0" bIns="0" rtlCol="0" anchor="t"/>
          <a:lstStyle/>
          <a:p>
            <a:pPr indent="0" marL="0">
              <a:buNone/>
            </a:pPr>
            <a:r>
              <a:rPr lang="en-US" sz="1900" b="1" i="1" dirty="0">
                <a:solidFill>
                  <a:srgbClr val="11121A"/>
                </a:solidFill>
                <a:latin typeface="Palatino Linotype" pitchFamily="34" charset="0"/>
                <a:ea typeface="Palatino Linotype" pitchFamily="34" charset="-122"/>
                <a:cs typeface="Palatino Linotype" pitchFamily="34" charset="-120"/>
              </a:rPr>
              <a:t>„Sunteți dependentă.”</a:t>
            </a:r>
            <a:endParaRPr lang="en-US" sz="1900" dirty="0"/>
          </a:p>
        </p:txBody>
      </p:sp>
      <p:sp>
        <p:nvSpPr>
          <p:cNvPr id="8" name="Text 6"/>
          <p:cNvSpPr/>
          <p:nvPr/>
        </p:nvSpPr>
        <p:spPr>
          <a:xfrm>
            <a:off x="914400" y="3040380"/>
            <a:ext cx="4800600" cy="571500"/>
          </a:xfrm>
          <a:prstGeom prst="rect">
            <a:avLst/>
          </a:prstGeom>
          <a:noFill/>
          <a:ln/>
        </p:spPr>
        <p:txBody>
          <a:bodyPr wrap="square" lIns="0" tIns="0" rIns="0" bIns="0" rtlCol="0" anchor="t"/>
          <a:lstStyle/>
          <a:p>
            <a:pPr indent="0" marL="0">
              <a:buNone/>
            </a:pPr>
            <a:r>
              <a:rPr lang="en-US" sz="1550" dirty="0">
                <a:solidFill>
                  <a:srgbClr val="3A3C44"/>
                </a:solidFill>
                <a:latin typeface="Palatino Linotype" pitchFamily="34" charset="0"/>
                <a:ea typeface="Palatino Linotype" pitchFamily="34" charset="-122"/>
                <a:cs typeface="Palatino Linotype" pitchFamily="34" charset="-120"/>
              </a:rPr>
              <a:t>pierde, de obicei, conversația.</a:t>
            </a:r>
            <a:endParaRPr lang="en-US" sz="1550" dirty="0"/>
          </a:p>
        </p:txBody>
      </p:sp>
      <p:sp>
        <p:nvSpPr>
          <p:cNvPr id="9" name="Shape 7"/>
          <p:cNvSpPr/>
          <p:nvPr/>
        </p:nvSpPr>
        <p:spPr>
          <a:xfrm>
            <a:off x="6217920" y="1463040"/>
            <a:ext cx="5349240" cy="2240280"/>
          </a:xfrm>
          <a:prstGeom prst="roundRect">
            <a:avLst>
              <a:gd name="adj" fmla="val 3673"/>
            </a:avLst>
          </a:prstGeom>
          <a:solidFill>
            <a:srgbClr val="ECEAE4"/>
          </a:solidFill>
          <a:ln w="12700">
            <a:solidFill>
              <a:srgbClr val="ECEAE4"/>
            </a:solidFill>
            <a:prstDash val="solid"/>
          </a:ln>
        </p:spPr>
        <p:txBody>
          <a:bodyPr/>
          <a:p/>
        </p:txBody>
      </p:sp>
      <p:sp>
        <p:nvSpPr>
          <p:cNvPr id="10" name="Shape 8"/>
          <p:cNvSpPr/>
          <p:nvPr/>
        </p:nvSpPr>
        <p:spPr>
          <a:xfrm>
            <a:off x="6217920" y="1463040"/>
            <a:ext cx="73152" cy="2240280"/>
          </a:xfrm>
          <a:prstGeom prst="rect">
            <a:avLst/>
          </a:prstGeom>
          <a:solidFill>
            <a:srgbClr val="0E7C6B"/>
          </a:solidFill>
          <a:ln w="12700">
            <a:solidFill>
              <a:srgbClr val="0E7C6B"/>
            </a:solidFill>
            <a:prstDash val="solid"/>
          </a:ln>
        </p:spPr>
        <p:txBody>
          <a:bodyPr/>
          <a:p/>
        </p:txBody>
      </p:sp>
      <p:sp>
        <p:nvSpPr>
          <p:cNvPr id="11" name="Text 9"/>
          <p:cNvSpPr/>
          <p:nvPr/>
        </p:nvSpPr>
        <p:spPr>
          <a:xfrm>
            <a:off x="6537960" y="1627632"/>
            <a:ext cx="4800600" cy="292608"/>
          </a:xfrm>
          <a:prstGeom prst="rect">
            <a:avLst/>
          </a:prstGeom>
          <a:noFill/>
          <a:ln/>
        </p:spPr>
        <p:txBody>
          <a:bodyPr wrap="square" lIns="0" tIns="0" rIns="0" bIns="0" rtlCol="0" anchor="t"/>
          <a:lstStyle/>
          <a:p>
            <a:pPr indent="0" marL="0">
              <a:buNone/>
            </a:pPr>
            <a:r>
              <a:rPr lang="en-US" sz="1200" b="1" spc="200" kern="0" dirty="0">
                <a:solidFill>
                  <a:srgbClr val="0E7C6B"/>
                </a:solidFill>
                <a:latin typeface="Palatino Linotype" pitchFamily="34" charset="0"/>
                <a:ea typeface="Palatino Linotype" pitchFamily="34" charset="-122"/>
                <a:cs typeface="Palatino Linotype" pitchFamily="34" charset="-120"/>
              </a:rPr>
              <a:t>MEDICUL CARE SPUNE</a:t>
            </a:r>
            <a:endParaRPr lang="en-US" sz="1200" dirty="0"/>
          </a:p>
        </p:txBody>
      </p:sp>
      <p:sp>
        <p:nvSpPr>
          <p:cNvPr id="12" name="Text 10"/>
          <p:cNvSpPr/>
          <p:nvPr/>
        </p:nvSpPr>
        <p:spPr>
          <a:xfrm>
            <a:off x="6537960" y="1965960"/>
            <a:ext cx="4800600" cy="1120140"/>
          </a:xfrm>
          <a:prstGeom prst="rect">
            <a:avLst/>
          </a:prstGeom>
          <a:noFill/>
          <a:ln/>
        </p:spPr>
        <p:txBody>
          <a:bodyPr wrap="square" lIns="0" tIns="0" rIns="0" bIns="0" rtlCol="0" anchor="t"/>
          <a:lstStyle/>
          <a:p>
            <a:pPr indent="0" marL="0">
              <a:buNone/>
            </a:pPr>
            <a:r>
              <a:rPr lang="en-US" sz="1900" b="1" i="1" dirty="0">
                <a:solidFill>
                  <a:srgbClr val="11121A"/>
                </a:solidFill>
                <a:latin typeface="Palatino Linotype" pitchFamily="34" charset="0"/>
                <a:ea typeface="Palatino Linotype" pitchFamily="34" charset="-122"/>
                <a:cs typeface="Palatino Linotype" pitchFamily="34" charset="-120"/>
              </a:rPr>
              <a:t>„Îl scădem împreună, încet, și ne vedem peste trei săptămâni.”</a:t>
            </a:r>
            <a:endParaRPr lang="en-US" sz="1900" dirty="0"/>
          </a:p>
        </p:txBody>
      </p:sp>
      <p:sp>
        <p:nvSpPr>
          <p:cNvPr id="13" name="Text 11"/>
          <p:cNvSpPr/>
          <p:nvPr/>
        </p:nvSpPr>
        <p:spPr>
          <a:xfrm>
            <a:off x="6537960" y="3040380"/>
            <a:ext cx="4800600" cy="571500"/>
          </a:xfrm>
          <a:prstGeom prst="rect">
            <a:avLst/>
          </a:prstGeom>
          <a:noFill/>
          <a:ln/>
        </p:spPr>
        <p:txBody>
          <a:bodyPr wrap="square" lIns="0" tIns="0" rIns="0" bIns="0" rtlCol="0" anchor="t"/>
          <a:lstStyle/>
          <a:p>
            <a:pPr indent="0" marL="0">
              <a:buNone/>
            </a:pPr>
            <a:r>
              <a:rPr lang="en-US" sz="1550" dirty="0">
                <a:solidFill>
                  <a:srgbClr val="3A3C44"/>
                </a:solidFill>
                <a:latin typeface="Palatino Linotype" pitchFamily="34" charset="0"/>
                <a:ea typeface="Palatino Linotype" pitchFamily="34" charset="-122"/>
                <a:cs typeface="Palatino Linotype" pitchFamily="34" charset="-120"/>
              </a:rPr>
              <a:t>are mai multe șanse.</a:t>
            </a:r>
            <a:endParaRPr lang="en-US" sz="1550" dirty="0"/>
          </a:p>
        </p:txBody>
      </p:sp>
      <p:sp>
        <p:nvSpPr>
          <p:cNvPr id="14" name="Shape 12"/>
          <p:cNvSpPr/>
          <p:nvPr/>
        </p:nvSpPr>
        <p:spPr>
          <a:xfrm>
            <a:off x="594360" y="3931920"/>
            <a:ext cx="10972800" cy="1554480"/>
          </a:xfrm>
          <a:prstGeom prst="roundRect">
            <a:avLst>
              <a:gd name="adj" fmla="val 5294"/>
            </a:avLst>
          </a:prstGeom>
          <a:solidFill>
            <a:srgbClr val="E1F0EC"/>
          </a:solidFill>
          <a:ln w="12700">
            <a:solidFill>
              <a:srgbClr val="E1F0EC"/>
            </a:solidFill>
            <a:prstDash val="solid"/>
          </a:ln>
        </p:spPr>
        <p:txBody>
          <a:bodyPr/>
          <a:p/>
        </p:txBody>
      </p:sp>
      <p:sp>
        <p:nvSpPr>
          <p:cNvPr id="15" name="Text 13"/>
          <p:cNvSpPr/>
          <p:nvPr/>
        </p:nvSpPr>
        <p:spPr>
          <a:xfrm>
            <a:off x="868680" y="3931920"/>
            <a:ext cx="10424160" cy="1554480"/>
          </a:xfrm>
          <a:prstGeom prst="rect">
            <a:avLst/>
          </a:prstGeom>
          <a:noFill/>
          <a:ln/>
        </p:spPr>
        <p:txBody>
          <a:bodyPr wrap="square" lIns="0" tIns="0" rIns="0" bIns="0" rtlCol="0" anchor="ctr"/>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Ghidul din 2025 enumeră afectarea cognitivă printre riscurile benzodiazepinelor, alături de căderi și de accidentele rutiere. Tocmai de aceea merită scăzută doza: treptat, nu de mâine.</a:t>
            </a:r>
            <a:endParaRPr lang="en-US" sz="1800" dirty="0"/>
          </a:p>
        </p:txBody>
      </p:sp>
      <p:sp>
        <p:nvSpPr>
          <p:cNvPr id="16" name="Text 14"/>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ghidul clinic comun din 2025.</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PASTILELE DE SOMN</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Cele care nu sunt benzodiazepine</a:t>
            </a:r>
            <a:endParaRPr lang="en-US" sz="3200" dirty="0"/>
          </a:p>
        </p:txBody>
      </p:sp>
      <p:sp>
        <p:nvSpPr>
          <p:cNvPr id="4" name="Text 2"/>
          <p:cNvSpPr/>
          <p:nvPr/>
        </p:nvSpPr>
        <p:spPr>
          <a:xfrm>
            <a:off x="594360" y="1417320"/>
            <a:ext cx="5669280" cy="1188720"/>
          </a:xfrm>
          <a:prstGeom prst="rect">
            <a:avLst/>
          </a:prstGeom>
          <a:noFill/>
          <a:ln/>
        </p:spPr>
        <p:txBody>
          <a:bodyPr wrap="square" lIns="0" tIns="0" rIns="0" bIns="0" rtlCol="0" anchor="t"/>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Zolpidem, zopiclonă, eszopiclonă, zaleplon: „medicamentele Z”. Altă structură chimică; mecanisme și riscuri asemănătoare.</a:t>
            </a:r>
            <a:endParaRPr lang="en-US" sz="1700" dirty="0"/>
          </a:p>
        </p:txBody>
      </p:sp>
      <p:sp>
        <p:nvSpPr>
          <p:cNvPr id="5" name="Text 3"/>
          <p:cNvSpPr/>
          <p:nvPr/>
        </p:nvSpPr>
        <p:spPr>
          <a:xfrm>
            <a:off x="594360" y="2697480"/>
            <a:ext cx="2103120" cy="1280160"/>
          </a:xfrm>
          <a:prstGeom prst="rect">
            <a:avLst/>
          </a:prstGeom>
          <a:noFill/>
          <a:ln/>
        </p:spPr>
        <p:txBody>
          <a:bodyPr wrap="square" lIns="0" tIns="0" rIns="0" bIns="0" rtlCol="0" anchor="ctr"/>
          <a:lstStyle/>
          <a:p>
            <a:pPr indent="0" marL="0">
              <a:buNone/>
            </a:pPr>
            <a:r>
              <a:rPr lang="en-US" sz="8000" b="1" dirty="0">
                <a:solidFill>
                  <a:srgbClr val="FF4757"/>
                </a:solidFill>
                <a:latin typeface="Palatino Linotype" pitchFamily="34" charset="0"/>
                <a:ea typeface="Palatino Linotype" pitchFamily="34" charset="-122"/>
                <a:cs typeface="Palatino Linotype" pitchFamily="34" charset="-120"/>
              </a:rPr>
              <a:t>66</a:t>
            </a:r>
            <a:endParaRPr lang="en-US" sz="8000" dirty="0"/>
          </a:p>
        </p:txBody>
      </p:sp>
      <p:sp>
        <p:nvSpPr>
          <p:cNvPr id="6" name="Text 4"/>
          <p:cNvSpPr/>
          <p:nvPr/>
        </p:nvSpPr>
        <p:spPr>
          <a:xfrm>
            <a:off x="2743200" y="2743200"/>
            <a:ext cx="3520440" cy="1280160"/>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de cazuri cu leziuni grave, inclusiv decese, în 26 de ani: mers sau condus fără ca pacientul să fie complet treaz.</a:t>
            </a:r>
            <a:endParaRPr lang="en-US" sz="1500" dirty="0"/>
          </a:p>
        </p:txBody>
      </p:sp>
      <p:sp>
        <p:nvSpPr>
          <p:cNvPr id="7" name="Text 5"/>
          <p:cNvSpPr/>
          <p:nvPr/>
        </p:nvSpPr>
        <p:spPr>
          <a:xfrm>
            <a:off x="594360" y="4206240"/>
            <a:ext cx="5669280" cy="914400"/>
          </a:xfrm>
          <a:prstGeom prst="rect">
            <a:avLst/>
          </a:prstGeom>
          <a:noFill/>
          <a:ln/>
        </p:spPr>
        <p:txBody>
          <a:bodyPr wrap="square" lIns="0" tIns="0" rIns="0" bIns="0" rtlCol="0" anchor="t"/>
          <a:lstStyle/>
          <a:p>
            <a:pPr indent="0" marL="0">
              <a:buNone/>
            </a:pPr>
            <a:r>
              <a:rPr lang="en-US" sz="1450" i="1" dirty="0">
                <a:solidFill>
                  <a:srgbClr val="959BB0"/>
                </a:solidFill>
                <a:latin typeface="Palatino Linotype" pitchFamily="34" charset="0"/>
                <a:ea typeface="Palatino Linotype" pitchFamily="34" charset="-122"/>
                <a:cs typeface="Palatino Linotype" pitchFamily="34" charset="-120"/>
              </a:rPr>
              <a:t>FDA, 2019: avertismentul cel mai vizibil din informațiile de prescriere. Zopiclona nu intră în comunicarea americană.</a:t>
            </a:r>
            <a:endParaRPr lang="en-US" sz="1450" dirty="0"/>
          </a:p>
        </p:txBody>
      </p:sp>
      <p:sp>
        <p:nvSpPr>
          <p:cNvPr id="8" name="Shape 6"/>
          <p:cNvSpPr/>
          <p:nvPr/>
        </p:nvSpPr>
        <p:spPr>
          <a:xfrm>
            <a:off x="6583680" y="1463040"/>
            <a:ext cx="4983480" cy="3657600"/>
          </a:xfrm>
          <a:prstGeom prst="roundRect">
            <a:avLst>
              <a:gd name="adj" fmla="val 2250"/>
            </a:avLst>
          </a:prstGeom>
          <a:solidFill>
            <a:srgbClr val="1D1F2B"/>
          </a:solidFill>
          <a:ln w="12700">
            <a:solidFill>
              <a:srgbClr val="1D1F2B"/>
            </a:solidFill>
            <a:prstDash val="solid"/>
          </a:ln>
        </p:spPr>
        <p:txBody>
          <a:bodyPr/>
          <a:p/>
        </p:txBody>
      </p:sp>
      <p:sp>
        <p:nvSpPr>
          <p:cNvPr id="9" name="Text 7"/>
          <p:cNvSpPr/>
          <p:nvPr/>
        </p:nvSpPr>
        <p:spPr>
          <a:xfrm>
            <a:off x="6858000" y="1645920"/>
            <a:ext cx="4480560" cy="292608"/>
          </a:xfrm>
          <a:prstGeom prst="rect">
            <a:avLst/>
          </a:prstGeom>
          <a:noFill/>
          <a:ln/>
        </p:spPr>
        <p:txBody>
          <a:bodyPr wrap="square" lIns="0" tIns="0" rIns="0" bIns="0" rtlCol="0" anchor="t"/>
          <a:lstStyle/>
          <a:p>
            <a:pPr indent="0" marL="0">
              <a:buNone/>
            </a:pPr>
            <a:r>
              <a:rPr lang="en-US" sz="1250" b="1" spc="200" kern="0" dirty="0">
                <a:solidFill>
                  <a:srgbClr val="27D3BE"/>
                </a:solidFill>
                <a:latin typeface="Palatino Linotype" pitchFamily="34" charset="0"/>
                <a:ea typeface="Palatino Linotype" pitchFamily="34" charset="-122"/>
                <a:cs typeface="Palatino Linotype" pitchFamily="34" charset="-120"/>
              </a:rPr>
              <a:t>CE ÎI SPUNEȚI PACIENTULUI</a:t>
            </a:r>
            <a:endParaRPr lang="en-US" sz="1250" dirty="0"/>
          </a:p>
        </p:txBody>
      </p:sp>
      <p:sp>
        <p:nvSpPr>
          <p:cNvPr id="10" name="Text 8"/>
          <p:cNvSpPr/>
          <p:nvPr/>
        </p:nvSpPr>
        <p:spPr>
          <a:xfrm>
            <a:off x="6858000" y="2057400"/>
            <a:ext cx="4480560" cy="2011680"/>
          </a:xfrm>
          <a:prstGeom prst="rect">
            <a:avLst/>
          </a:prstGeom>
          <a:noFill/>
          <a:ln/>
        </p:spPr>
        <p:txBody>
          <a:bodyPr wrap="square" lIns="0" tIns="0" rIns="0" bIns="0" rtlCol="0" anchor="t"/>
          <a:lstStyle/>
          <a:p>
            <a:pPr indent="0" marL="0">
              <a:buNone/>
            </a:pPr>
            <a:r>
              <a:rPr lang="en-US" sz="1900" b="1" i="1" dirty="0">
                <a:solidFill>
                  <a:srgbClr val="FFFFFF"/>
                </a:solidFill>
                <a:latin typeface="Palatino Linotype" pitchFamily="34" charset="0"/>
                <a:ea typeface="Palatino Linotype" pitchFamily="34" charset="-122"/>
                <a:cs typeface="Palatino Linotype" pitchFamily="34" charset="-120"/>
              </a:rPr>
              <a:t>„Dacă v-ați trezit vreodată făcând ceva fără să vă amintiți, opriți medicamentul și spuneți imediat medicului.”</a:t>
            </a:r>
            <a:endParaRPr lang="en-US" sz="1900" dirty="0"/>
          </a:p>
        </p:txBody>
      </p:sp>
      <p:sp>
        <p:nvSpPr>
          <p:cNvPr id="11" name="Text 9"/>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Surse: ghidul clinic comun din 2025; FDA, comunicarea din 2019.</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PE PIAȚA ILEGALĂ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Benzodiazepinele care nu sunt medicamente</a:t>
            </a:r>
            <a:endParaRPr lang="en-US" sz="3000" dirty="0"/>
          </a:p>
        </p:txBody>
      </p:sp>
      <p:sp>
        <p:nvSpPr>
          <p:cNvPr id="4" name="Shape 2"/>
          <p:cNvSpPr/>
          <p:nvPr/>
        </p:nvSpPr>
        <p:spPr>
          <a:xfrm>
            <a:off x="594360" y="1463040"/>
            <a:ext cx="3520440" cy="1920240"/>
          </a:xfrm>
          <a:prstGeom prst="roundRect">
            <a:avLst>
              <a:gd name="adj" fmla="val 4286"/>
            </a:avLst>
          </a:prstGeom>
          <a:solidFill>
            <a:srgbClr val="ECEAE4"/>
          </a:solidFill>
          <a:ln w="12700">
            <a:solidFill>
              <a:srgbClr val="ECEAE4"/>
            </a:solidFill>
            <a:prstDash val="solid"/>
          </a:ln>
        </p:spPr>
        <p:txBody>
          <a:bodyPr/>
          <a:p/>
        </p:txBody>
      </p:sp>
      <p:sp>
        <p:nvSpPr>
          <p:cNvPr id="5" name="Text 3"/>
          <p:cNvSpPr/>
          <p:nvPr/>
        </p:nvSpPr>
        <p:spPr>
          <a:xfrm>
            <a:off x="868680" y="1572768"/>
            <a:ext cx="2971800" cy="960120"/>
          </a:xfrm>
          <a:prstGeom prst="rect">
            <a:avLst/>
          </a:prstGeom>
          <a:noFill/>
          <a:ln/>
        </p:spPr>
        <p:txBody>
          <a:bodyPr wrap="square" lIns="0" tIns="0" rIns="0" bIns="0" rtlCol="0" anchor="ctr"/>
          <a:lstStyle/>
          <a:p>
            <a:pPr indent="0" marL="0">
              <a:buNone/>
            </a:pPr>
            <a:r>
              <a:rPr lang="en-US" sz="4800" b="1" dirty="0">
                <a:solidFill>
                  <a:srgbClr val="B02532"/>
                </a:solidFill>
                <a:latin typeface="Palatino Linotype" pitchFamily="34" charset="0"/>
                <a:ea typeface="Palatino Linotype" pitchFamily="34" charset="-122"/>
                <a:cs typeface="Palatino Linotype" pitchFamily="34" charset="-120"/>
              </a:rPr>
              <a:t>40</a:t>
            </a:r>
            <a:endParaRPr lang="en-US" sz="4800" dirty="0"/>
          </a:p>
        </p:txBody>
      </p:sp>
      <p:sp>
        <p:nvSpPr>
          <p:cNvPr id="6" name="Text 4"/>
          <p:cNvSpPr/>
          <p:nvPr/>
        </p:nvSpPr>
        <p:spPr>
          <a:xfrm>
            <a:off x="868680" y="2441448"/>
            <a:ext cx="2971800" cy="883310"/>
          </a:xfrm>
          <a:prstGeom prst="rect">
            <a:avLst/>
          </a:prstGeom>
          <a:noFill/>
          <a:ln/>
        </p:spPr>
        <p:txBody>
          <a:bodyPr wrap="square" lIns="0" tIns="0" rIns="0" bIns="0" rtlCol="0" anchor="t"/>
          <a:lstStyle/>
          <a:p>
            <a:pPr indent="0" marL="0">
              <a:buNone/>
            </a:pPr>
            <a:r>
              <a:rPr lang="en-US" sz="1200" dirty="0">
                <a:solidFill>
                  <a:srgbClr val="11121A"/>
                </a:solidFill>
                <a:latin typeface="Palatino Linotype" pitchFamily="34" charset="0"/>
                <a:ea typeface="Palatino Linotype" pitchFamily="34" charset="-122"/>
                <a:cs typeface="Palatino Linotype" pitchFamily="34" charset="-120"/>
              </a:rPr>
              <a:t>benzodiazepine noi notificate sistemului european de avertizare, 2007–2025</a:t>
            </a:r>
            <a:endParaRPr lang="en-US" sz="1200" dirty="0"/>
          </a:p>
        </p:txBody>
      </p:sp>
      <p:sp>
        <p:nvSpPr>
          <p:cNvPr id="7" name="Shape 5"/>
          <p:cNvSpPr/>
          <p:nvPr/>
        </p:nvSpPr>
        <p:spPr>
          <a:xfrm>
            <a:off x="4343400" y="1463040"/>
            <a:ext cx="3520440" cy="1920240"/>
          </a:xfrm>
          <a:prstGeom prst="roundRect">
            <a:avLst>
              <a:gd name="adj" fmla="val 4286"/>
            </a:avLst>
          </a:prstGeom>
          <a:solidFill>
            <a:srgbClr val="ECEAE4"/>
          </a:solidFill>
          <a:ln w="12700">
            <a:solidFill>
              <a:srgbClr val="ECEAE4"/>
            </a:solidFill>
            <a:prstDash val="solid"/>
          </a:ln>
        </p:spPr>
        <p:txBody>
          <a:bodyPr/>
          <a:p/>
        </p:txBody>
      </p:sp>
      <p:sp>
        <p:nvSpPr>
          <p:cNvPr id="8" name="Text 6"/>
          <p:cNvSpPr/>
          <p:nvPr/>
        </p:nvSpPr>
        <p:spPr>
          <a:xfrm>
            <a:off x="4617720" y="1572768"/>
            <a:ext cx="2971800" cy="960120"/>
          </a:xfrm>
          <a:prstGeom prst="rect">
            <a:avLst/>
          </a:prstGeom>
          <a:noFill/>
          <a:ln/>
        </p:spPr>
        <p:txBody>
          <a:bodyPr wrap="square" lIns="0" tIns="0" rIns="0" bIns="0" rtlCol="0" anchor="ctr"/>
          <a:lstStyle/>
          <a:p>
            <a:pPr indent="0" marL="0">
              <a:buNone/>
            </a:pPr>
            <a:r>
              <a:rPr lang="en-US" sz="4800" b="1" dirty="0">
                <a:solidFill>
                  <a:srgbClr val="B02532"/>
                </a:solidFill>
                <a:latin typeface="Palatino Linotype" pitchFamily="34" charset="0"/>
                <a:ea typeface="Palatino Linotype" pitchFamily="34" charset="-122"/>
                <a:cs typeface="Palatino Linotype" pitchFamily="34" charset="-120"/>
              </a:rPr>
              <a:t>28</a:t>
            </a:r>
            <a:endParaRPr lang="en-US" sz="4800" dirty="0"/>
          </a:p>
        </p:txBody>
      </p:sp>
      <p:sp>
        <p:nvSpPr>
          <p:cNvPr id="9" name="Text 7"/>
          <p:cNvSpPr/>
          <p:nvPr/>
        </p:nvSpPr>
        <p:spPr>
          <a:xfrm>
            <a:off x="4617720" y="2441448"/>
            <a:ext cx="2971800" cy="883310"/>
          </a:xfrm>
          <a:prstGeom prst="rect">
            <a:avLst/>
          </a:prstGeom>
          <a:noFill/>
          <a:ln/>
        </p:spPr>
        <p:txBody>
          <a:bodyPr wrap="square" lIns="0" tIns="0" rIns="0" bIns="0" rtlCol="0" anchor="t"/>
          <a:lstStyle/>
          <a:p>
            <a:pPr indent="0" marL="0">
              <a:buNone/>
            </a:pPr>
            <a:r>
              <a:rPr lang="en-US" sz="1200" dirty="0">
                <a:solidFill>
                  <a:srgbClr val="11121A"/>
                </a:solidFill>
                <a:latin typeface="Palatino Linotype" pitchFamily="34" charset="0"/>
                <a:ea typeface="Palatino Linotype" pitchFamily="34" charset="-122"/>
                <a:cs typeface="Palatino Linotype" pitchFamily="34" charset="-120"/>
              </a:rPr>
              <a:t>dintre ele, pe piață în 2024, în 22 de state ale UE și în Norvegia</a:t>
            </a:r>
            <a:endParaRPr lang="en-US" sz="1200" dirty="0"/>
          </a:p>
        </p:txBody>
      </p:sp>
      <p:sp>
        <p:nvSpPr>
          <p:cNvPr id="10" name="Shape 8"/>
          <p:cNvSpPr/>
          <p:nvPr/>
        </p:nvSpPr>
        <p:spPr>
          <a:xfrm>
            <a:off x="8092440" y="1463040"/>
            <a:ext cx="3474720" cy="1920240"/>
          </a:xfrm>
          <a:prstGeom prst="roundRect">
            <a:avLst>
              <a:gd name="adj" fmla="val 4286"/>
            </a:avLst>
          </a:prstGeom>
          <a:solidFill>
            <a:srgbClr val="E1F0EC"/>
          </a:solidFill>
          <a:ln w="12700">
            <a:solidFill>
              <a:srgbClr val="E1F0EC"/>
            </a:solidFill>
            <a:prstDash val="solid"/>
          </a:ln>
        </p:spPr>
        <p:txBody>
          <a:bodyPr/>
          <a:p/>
        </p:txBody>
      </p:sp>
      <p:sp>
        <p:nvSpPr>
          <p:cNvPr id="11" name="Text 9"/>
          <p:cNvSpPr/>
          <p:nvPr/>
        </p:nvSpPr>
        <p:spPr>
          <a:xfrm>
            <a:off x="8321040" y="1554480"/>
            <a:ext cx="3063240" cy="1737360"/>
          </a:xfrm>
          <a:prstGeom prst="rect">
            <a:avLst/>
          </a:prstGeom>
          <a:noFill/>
          <a:ln/>
        </p:spPr>
        <p:txBody>
          <a:bodyPr wrap="square" lIns="0" tIns="0" rIns="0" bIns="0" rtlCol="0" anchor="ctr"/>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Martie 2025: România trece bromazolamul în tabelele substanțelor controlate, odată cu tramadolul și cinolazepamul.</a:t>
            </a:r>
            <a:endParaRPr lang="en-US" sz="1450" dirty="0"/>
          </a:p>
        </p:txBody>
      </p:sp>
      <p:sp>
        <p:nvSpPr>
          <p:cNvPr id="12" name="Shape 10"/>
          <p:cNvSpPr/>
          <p:nvPr/>
        </p:nvSpPr>
        <p:spPr>
          <a:xfrm>
            <a:off x="594360" y="3657600"/>
            <a:ext cx="10972800" cy="1554480"/>
          </a:xfrm>
          <a:prstGeom prst="roundRect">
            <a:avLst>
              <a:gd name="adj" fmla="val 5294"/>
            </a:avLst>
          </a:prstGeom>
          <a:solidFill>
            <a:srgbClr val="F4E0E2"/>
          </a:solidFill>
          <a:ln w="12700">
            <a:solidFill>
              <a:srgbClr val="F4E0E2"/>
            </a:solidFill>
            <a:prstDash val="solid"/>
          </a:ln>
        </p:spPr>
        <p:txBody>
          <a:bodyPr/>
          <a:p/>
        </p:txBody>
      </p:sp>
      <p:sp>
        <p:nvSpPr>
          <p:cNvPr id="13" name="Text 11"/>
          <p:cNvSpPr/>
          <p:nvPr/>
        </p:nvSpPr>
        <p:spPr>
          <a:xfrm>
            <a:off x="868680" y="3657600"/>
            <a:ext cx="10424160" cy="1554480"/>
          </a:xfrm>
          <a:prstGeom prst="rect">
            <a:avLst/>
          </a:prstGeom>
          <a:noFill/>
          <a:ln/>
        </p:spPr>
        <p:txBody>
          <a:bodyPr wrap="square" lIns="0" tIns="0" rIns="0" bIns="0" rtlCol="0" anchor="ctr"/>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Supradoza cu opioide poate fi inversată cu naloxonă. Cea cu benzodiazepine cere un alt antidot, administrat în general numai în spital.</a:t>
            </a:r>
            <a:endParaRPr lang="en-US" sz="1900" dirty="0"/>
          </a:p>
        </p:txBody>
      </p:sp>
      <p:sp>
        <p:nvSpPr>
          <p:cNvPr id="14" name="Text 12"/>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EUDA, European Drug Report 2026.</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 · JUMĂTATE DE MINUT</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PARTEA ÎNTÂI · ÎNCHEIERE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Ce îi spuneți mâine unui coleg</a:t>
            </a:r>
            <a:endParaRPr lang="en-US" sz="3400" dirty="0"/>
          </a:p>
        </p:txBody>
      </p:sp>
      <p:sp>
        <p:nvSpPr>
          <p:cNvPr id="6" name="Shape 4"/>
          <p:cNvSpPr/>
          <p:nvPr/>
        </p:nvSpPr>
        <p:spPr>
          <a:xfrm>
            <a:off x="594360" y="1828800"/>
            <a:ext cx="73152" cy="3291840"/>
          </a:xfrm>
          <a:prstGeom prst="rect">
            <a:avLst/>
          </a:prstGeom>
          <a:solidFill>
            <a:srgbClr val="27D3BE"/>
          </a:solidFill>
          <a:ln w="12700">
            <a:solidFill>
              <a:srgbClr val="27D3BE"/>
            </a:solidFill>
            <a:prstDash val="solid"/>
          </a:ln>
        </p:spPr>
        <p:txBody>
          <a:bodyPr/>
          <a:p/>
        </p:txBody>
      </p:sp>
      <p:sp>
        <p:nvSpPr>
          <p:cNvPr id="7" name="Text 5"/>
          <p:cNvSpPr/>
          <p:nvPr/>
        </p:nvSpPr>
        <p:spPr>
          <a:xfrm>
            <a:off x="960120" y="1828800"/>
            <a:ext cx="10515600" cy="3291840"/>
          </a:xfrm>
          <a:prstGeom prst="rect">
            <a:avLst/>
          </a:prstGeom>
          <a:noFill/>
          <a:ln/>
        </p:spPr>
        <p:txBody>
          <a:bodyPr wrap="square" lIns="0" tIns="0" rIns="0" bIns="0" rtlCol="0" anchor="ctr"/>
          <a:lstStyle/>
          <a:p>
            <a:pPr indent="0" marL="0">
              <a:buNone/>
            </a:pPr>
            <a:r>
              <a:rPr lang="en-US" sz="2300" i="1" dirty="0">
                <a:solidFill>
                  <a:srgbClr val="FFFFFF"/>
                </a:solidFill>
                <a:latin typeface="Palatino Linotype" pitchFamily="34" charset="0"/>
                <a:ea typeface="Palatino Linotype" pitchFamily="34" charset="-122"/>
                <a:cs typeface="Palatino Linotype" pitchFamily="34" charset="-120"/>
              </a:rPr>
              <a:t>„Benzodiazepina pe care o scrii azi pentru câteva săptămâni poate produce dependență fizică chiar dacă pacientul o ia corect. Programează-l înapoi într-o lună. Iar dacă o ia de ani de zile, nu i-o opri brusc: scade-o încet, cu un plan.”</a:t>
            </a:r>
            <a:endParaRPr lang="en-US" sz="2300" dirty="0"/>
          </a:p>
        </p:txBody>
      </p:sp>
      <p:sp>
        <p:nvSpPr>
          <p:cNvPr id="8" name="Text 6"/>
          <p:cNvSpPr/>
          <p:nvPr/>
        </p:nvSpPr>
        <p:spPr>
          <a:xfrm>
            <a:off x="594360" y="5486400"/>
            <a:ext cx="10972800" cy="41148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Spuneți-o, cu cuvintele voastre, colegului de bancă.</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PARTEA A DOUA · DUREREA DUPĂ OPERAȚIE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FFFFFF"/>
                </a:solidFill>
                <a:latin typeface="Palatino Linotype" pitchFamily="34" charset="0"/>
                <a:ea typeface="Palatino Linotype" pitchFamily="34" charset="-122"/>
                <a:cs typeface="Palatino Linotype" pitchFamily="34" charset="-120"/>
              </a:rPr>
              <a:t>„Încă o cutie de opioid”, la trei luni după operație. Ce faceți?</a:t>
            </a:r>
            <a:endParaRPr lang="en-US" sz="2800" dirty="0"/>
          </a:p>
        </p:txBody>
      </p:sp>
      <p:sp>
        <p:nvSpPr>
          <p:cNvPr id="6" name="Shape 4"/>
          <p:cNvSpPr/>
          <p:nvPr/>
        </p:nvSpPr>
        <p:spPr>
          <a:xfrm>
            <a:off x="594360" y="1691640"/>
            <a:ext cx="10972800" cy="777240"/>
          </a:xfrm>
          <a:prstGeom prst="roundRect">
            <a:avLst>
              <a:gd name="adj" fmla="val 10588"/>
            </a:avLst>
          </a:prstGeom>
          <a:solidFill>
            <a:srgbClr val="1D1F2B"/>
          </a:solidFill>
          <a:ln w="12700">
            <a:solidFill>
              <a:srgbClr val="1D1F2B"/>
            </a:solidFill>
            <a:prstDash val="solid"/>
          </a:ln>
        </p:spPr>
        <p:txBody>
          <a:bodyPr/>
          <a:p/>
        </p:txBody>
      </p:sp>
      <p:sp>
        <p:nvSpPr>
          <p:cNvPr id="7" name="Shape 5"/>
          <p:cNvSpPr/>
          <p:nvPr/>
        </p:nvSpPr>
        <p:spPr>
          <a:xfrm>
            <a:off x="914400" y="1869948"/>
            <a:ext cx="420624" cy="420624"/>
          </a:xfrm>
          <a:prstGeom prst="ellipse">
            <a:avLst/>
          </a:prstGeom>
          <a:solidFill>
            <a:srgbClr val="FFC24B"/>
          </a:solidFill>
          <a:ln/>
        </p:spPr>
        <p:txBody>
          <a:bodyPr/>
          <a:p/>
        </p:txBody>
      </p:sp>
      <p:sp>
        <p:nvSpPr>
          <p:cNvPr id="8" name="Text 6"/>
          <p:cNvSpPr/>
          <p:nvPr/>
        </p:nvSpPr>
        <p:spPr>
          <a:xfrm>
            <a:off x="914400" y="18699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1691640"/>
            <a:ext cx="9692640" cy="777240"/>
          </a:xfrm>
          <a:prstGeom prst="rect">
            <a:avLst/>
          </a:prstGeom>
          <a:noFill/>
          <a:ln/>
        </p:spPr>
        <p:txBody>
          <a:bodyPr wrap="square" lIns="0" tIns="0" rIns="0" bIns="0" rtlCol="0" anchor="ctr"/>
          <a:lstStyle/>
          <a:p>
            <a:pPr indent="0" marL="0">
              <a:buNone/>
            </a:pPr>
            <a:r>
              <a:rPr lang="en-US" sz="1650" dirty="0">
                <a:solidFill>
                  <a:srgbClr val="FFFFFF"/>
                </a:solidFill>
                <a:latin typeface="Palatino Linotype" pitchFamily="34" charset="0"/>
                <a:ea typeface="Palatino Linotype" pitchFamily="34" charset="-122"/>
                <a:cs typeface="Palatino Linotype" pitchFamily="34" charset="-120"/>
              </a:rPr>
              <a:t>Scrieți rețeta: durerea e reală.</a:t>
            </a:r>
            <a:endParaRPr lang="en-US" sz="1650" dirty="0"/>
          </a:p>
        </p:txBody>
      </p:sp>
      <p:sp>
        <p:nvSpPr>
          <p:cNvPr id="10" name="Shape 8"/>
          <p:cNvSpPr/>
          <p:nvPr/>
        </p:nvSpPr>
        <p:spPr>
          <a:xfrm>
            <a:off x="594360" y="2587752"/>
            <a:ext cx="10972800" cy="777240"/>
          </a:xfrm>
          <a:prstGeom prst="roundRect">
            <a:avLst>
              <a:gd name="adj" fmla="val 10588"/>
            </a:avLst>
          </a:prstGeom>
          <a:solidFill>
            <a:srgbClr val="1D1F2B"/>
          </a:solidFill>
          <a:ln w="12700">
            <a:solidFill>
              <a:srgbClr val="1D1F2B"/>
            </a:solidFill>
            <a:prstDash val="solid"/>
          </a:ln>
        </p:spPr>
        <p:txBody>
          <a:bodyPr/>
          <a:p/>
        </p:txBody>
      </p:sp>
      <p:sp>
        <p:nvSpPr>
          <p:cNvPr id="11" name="Shape 9"/>
          <p:cNvSpPr/>
          <p:nvPr/>
        </p:nvSpPr>
        <p:spPr>
          <a:xfrm>
            <a:off x="914400" y="2766060"/>
            <a:ext cx="420624" cy="420624"/>
          </a:xfrm>
          <a:prstGeom prst="ellipse">
            <a:avLst/>
          </a:prstGeom>
          <a:solidFill>
            <a:srgbClr val="FFC24B"/>
          </a:solidFill>
          <a:ln/>
        </p:spPr>
        <p:txBody>
          <a:bodyPr/>
          <a:p/>
        </p:txBody>
      </p:sp>
      <p:sp>
        <p:nvSpPr>
          <p:cNvPr id="12" name="Text 10"/>
          <p:cNvSpPr/>
          <p:nvPr/>
        </p:nvSpPr>
        <p:spPr>
          <a:xfrm>
            <a:off x="914400" y="276606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2587752"/>
            <a:ext cx="9692640" cy="777240"/>
          </a:xfrm>
          <a:prstGeom prst="rect">
            <a:avLst/>
          </a:prstGeom>
          <a:noFill/>
          <a:ln/>
        </p:spPr>
        <p:txBody>
          <a:bodyPr wrap="square" lIns="0" tIns="0" rIns="0" bIns="0" rtlCol="0" anchor="ctr"/>
          <a:lstStyle/>
          <a:p>
            <a:pPr indent="0" marL="0">
              <a:buNone/>
            </a:pPr>
            <a:r>
              <a:rPr lang="en-US" sz="1650" dirty="0">
                <a:solidFill>
                  <a:srgbClr val="FFFFFF"/>
                </a:solidFill>
                <a:latin typeface="Palatino Linotype" pitchFamily="34" charset="0"/>
                <a:ea typeface="Palatino Linotype" pitchFamily="34" charset="-122"/>
                <a:cs typeface="Palatino Linotype" pitchFamily="34" charset="-120"/>
              </a:rPr>
              <a:t>Refuzați și îl trimiteți acasă.</a:t>
            </a:r>
            <a:endParaRPr lang="en-US" sz="1650" dirty="0"/>
          </a:p>
        </p:txBody>
      </p:sp>
      <p:sp>
        <p:nvSpPr>
          <p:cNvPr id="14" name="Shape 12"/>
          <p:cNvSpPr/>
          <p:nvPr/>
        </p:nvSpPr>
        <p:spPr>
          <a:xfrm>
            <a:off x="594360" y="3483864"/>
            <a:ext cx="10972800" cy="777240"/>
          </a:xfrm>
          <a:prstGeom prst="roundRect">
            <a:avLst>
              <a:gd name="adj" fmla="val 10588"/>
            </a:avLst>
          </a:prstGeom>
          <a:solidFill>
            <a:srgbClr val="1D1F2B"/>
          </a:solidFill>
          <a:ln w="12700">
            <a:solidFill>
              <a:srgbClr val="1D1F2B"/>
            </a:solidFill>
            <a:prstDash val="solid"/>
          </a:ln>
        </p:spPr>
        <p:txBody>
          <a:bodyPr/>
          <a:p/>
        </p:txBody>
      </p:sp>
      <p:sp>
        <p:nvSpPr>
          <p:cNvPr id="15" name="Shape 13"/>
          <p:cNvSpPr/>
          <p:nvPr/>
        </p:nvSpPr>
        <p:spPr>
          <a:xfrm>
            <a:off x="914400" y="3662172"/>
            <a:ext cx="420624" cy="420624"/>
          </a:xfrm>
          <a:prstGeom prst="ellipse">
            <a:avLst/>
          </a:prstGeom>
          <a:solidFill>
            <a:srgbClr val="FFC24B"/>
          </a:solidFill>
          <a:ln/>
        </p:spPr>
        <p:txBody>
          <a:bodyPr/>
          <a:p/>
        </p:txBody>
      </p:sp>
      <p:sp>
        <p:nvSpPr>
          <p:cNvPr id="16" name="Text 14"/>
          <p:cNvSpPr/>
          <p:nvPr/>
        </p:nvSpPr>
        <p:spPr>
          <a:xfrm>
            <a:off x="914400" y="366217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3483864"/>
            <a:ext cx="9692640" cy="777240"/>
          </a:xfrm>
          <a:prstGeom prst="rect">
            <a:avLst/>
          </a:prstGeom>
          <a:noFill/>
          <a:ln/>
        </p:spPr>
        <p:txBody>
          <a:bodyPr wrap="square" lIns="0" tIns="0" rIns="0" bIns="0" rtlCol="0" anchor="ctr"/>
          <a:lstStyle/>
          <a:p>
            <a:pPr indent="0" marL="0">
              <a:buNone/>
            </a:pPr>
            <a:r>
              <a:rPr lang="en-US" sz="1650" dirty="0">
                <a:solidFill>
                  <a:srgbClr val="FFFFFF"/>
                </a:solidFill>
                <a:latin typeface="Palatino Linotype" pitchFamily="34" charset="0"/>
                <a:ea typeface="Palatino Linotype" pitchFamily="34" charset="-122"/>
                <a:cs typeface="Palatino Linotype" pitchFamily="34" charset="-120"/>
              </a:rPr>
              <a:t>Reevaluați durerea și funcția, discutați tratamente fără opioide și, dacă e nevoie de opioid, stabiliți împreună ținte și o durată.</a:t>
            </a:r>
            <a:endParaRPr lang="en-US" sz="1650" dirty="0"/>
          </a:p>
        </p:txBody>
      </p:sp>
      <p:sp>
        <p:nvSpPr>
          <p:cNvPr id="18" name="Shape 16"/>
          <p:cNvSpPr/>
          <p:nvPr/>
        </p:nvSpPr>
        <p:spPr>
          <a:xfrm>
            <a:off x="594360" y="4379976"/>
            <a:ext cx="10972800" cy="777240"/>
          </a:xfrm>
          <a:prstGeom prst="roundRect">
            <a:avLst>
              <a:gd name="adj" fmla="val 10588"/>
            </a:avLst>
          </a:prstGeom>
          <a:solidFill>
            <a:srgbClr val="1D1F2B"/>
          </a:solidFill>
          <a:ln w="12700">
            <a:solidFill>
              <a:srgbClr val="1D1F2B"/>
            </a:solidFill>
            <a:prstDash val="solid"/>
          </a:ln>
        </p:spPr>
        <p:txBody>
          <a:bodyPr/>
          <a:p/>
        </p:txBody>
      </p:sp>
      <p:sp>
        <p:nvSpPr>
          <p:cNvPr id="19" name="Shape 17"/>
          <p:cNvSpPr/>
          <p:nvPr/>
        </p:nvSpPr>
        <p:spPr>
          <a:xfrm>
            <a:off x="914400" y="4558284"/>
            <a:ext cx="420624" cy="420624"/>
          </a:xfrm>
          <a:prstGeom prst="ellipse">
            <a:avLst/>
          </a:prstGeom>
          <a:solidFill>
            <a:srgbClr val="FFC24B"/>
          </a:solidFill>
          <a:ln/>
        </p:spPr>
        <p:txBody>
          <a:bodyPr/>
          <a:p/>
        </p:txBody>
      </p:sp>
      <p:sp>
        <p:nvSpPr>
          <p:cNvPr id="20" name="Text 18"/>
          <p:cNvSpPr/>
          <p:nvPr/>
        </p:nvSpPr>
        <p:spPr>
          <a:xfrm>
            <a:off x="914400" y="455828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600200" y="4379976"/>
            <a:ext cx="9692640" cy="777240"/>
          </a:xfrm>
          <a:prstGeom prst="rect">
            <a:avLst/>
          </a:prstGeom>
          <a:noFill/>
          <a:ln/>
        </p:spPr>
        <p:txBody>
          <a:bodyPr wrap="square" lIns="0" tIns="0" rIns="0" bIns="0" rtlCol="0" anchor="ctr"/>
          <a:lstStyle/>
          <a:p>
            <a:pPr indent="0" marL="0">
              <a:buNone/>
            </a:pPr>
            <a:r>
              <a:rPr lang="en-US" sz="1650" dirty="0">
                <a:solidFill>
                  <a:srgbClr val="FFFFFF"/>
                </a:solidFill>
                <a:latin typeface="Palatino Linotype" pitchFamily="34" charset="0"/>
                <a:ea typeface="Palatino Linotype" pitchFamily="34" charset="-122"/>
                <a:cs typeface="Palatino Linotype" pitchFamily="34" charset="-120"/>
              </a:rPr>
              <a:t>Nu știu.</a:t>
            </a:r>
            <a:endParaRPr lang="en-US" sz="1650" dirty="0"/>
          </a:p>
        </p:txBody>
      </p:sp>
      <p:sp>
        <p:nvSpPr>
          <p:cNvPr id="22" name="Text 20"/>
          <p:cNvSpPr/>
          <p:nvPr/>
        </p:nvSpPr>
        <p:spPr>
          <a:xfrm>
            <a:off x="594360" y="5440680"/>
            <a:ext cx="8595360" cy="411480"/>
          </a:xfrm>
          <a:prstGeom prst="rect">
            <a:avLst/>
          </a:prstGeom>
          <a:noFill/>
          <a:ln/>
        </p:spPr>
        <p:txBody>
          <a:bodyPr wrap="square" lIns="0" tIns="0" rIns="0" bIns="0" rtlCol="0" anchor="t"/>
          <a:lstStyle/>
          <a:p>
            <a:pPr indent="0" marL="0">
              <a:buNone/>
            </a:pPr>
            <a:r>
              <a:rPr lang="en-US" sz="1600" b="1" dirty="0">
                <a:solidFill>
                  <a:srgbClr val="FFC24B"/>
                </a:solidFill>
                <a:latin typeface="Palatino Linotype" pitchFamily="34" charset="0"/>
                <a:ea typeface="Palatino Linotype" pitchFamily="34" charset="-122"/>
                <a:cs typeface="Palatino Linotype" pitchFamily="34" charset="-120"/>
              </a:rPr>
              <a:t>Răspundeți pe telefon, la codul afișat.</a:t>
            </a:r>
            <a:endParaRPr lang="en-US" sz="1600" dirty="0"/>
          </a:p>
        </p:txBody>
      </p:sp>
      <p:sp>
        <p:nvSpPr>
          <p:cNvPr id="23" name="Shape 21"/>
          <p:cNvSpPr/>
          <p:nvPr/>
        </p:nvSpPr>
        <p:spPr>
          <a:xfrm>
            <a:off x="9738360" y="5257800"/>
            <a:ext cx="1828800" cy="1325880"/>
          </a:xfrm>
          <a:prstGeom prst="roundRect">
            <a:avLst>
              <a:gd name="adj" fmla="val 6207"/>
            </a:avLst>
          </a:prstGeom>
          <a:solidFill>
            <a:srgbClr val="FFFFFF"/>
          </a:solidFill>
          <a:ln w="12700">
            <a:solidFill>
              <a:srgbClr val="FFFFFF"/>
            </a:solidFill>
            <a:prstDash val="solid"/>
          </a:ln>
        </p:spPr>
        <p:txBody>
          <a:bodyPr/>
          <a:p/>
        </p:txBody>
      </p:sp>
      <p:pic>
        <p:nvPicPr>
          <p:cNvPr id="24" name="Picture 23" descr="Mentimeter_OPT_DROGURI_C04.png"/>
          <p:cNvPicPr>
            <a:picLocks noChangeAspect="1"/>
          </p:cNvPicPr>
          <p:nvPr/>
        </p:nvPicPr>
        <p:blipFill>
          <a:blip r:embed="rId3"/>
          <a:stretch>
            <a:fillRect/>
          </a:stretch>
        </p:blipFill>
        <p:spPr>
          <a:xfrm>
            <a:off x="10206989" y="5257800"/>
            <a:ext cx="891541" cy="891541"/>
          </a:xfrm>
          <a:prstGeom prst="rect">
            <a:avLst/>
          </a:prstGeom>
        </p:spPr>
      </p:pic>
      <p:sp>
        <p:nvSpPr>
          <p:cNvPr id="25" name="TextBox 24"/>
          <p:cNvSpPr txBox="1"/>
          <p:nvPr/>
        </p:nvSpPr>
        <p:spPr>
          <a:xfrm>
            <a:off x="9738360" y="6187441"/>
            <a:ext cx="1828800" cy="434339"/>
          </a:xfrm>
          <a:prstGeom prst="rect">
            <a:avLst/>
          </a:prstGeom>
          <a:noFill/>
        </p:spPr>
        <p:txBody>
          <a:bodyPr wrap="square" lIns="0" rIns="0" tIns="0" bIns="0" anchor="t">
            <a:spAutoFit/>
          </a:bodyPr>
          <a:lstStyle/>
          <a:p>
            <a:pPr algn="ctr"/>
            <a:r>
              <a:rPr sz="900" b="1">
                <a:solidFill>
                  <a:srgbClr val="B02532"/>
                </a:solidFill>
                <a:latin typeface="Palatino Linotype"/>
              </a:rPr>
              <a:t>menti.com</a:t>
            </a:r>
          </a:p>
          <a:p>
            <a:pPr algn="ctr"/>
            <a:r>
              <a:rPr sz="900" b="1">
                <a:solidFill>
                  <a:srgbClr val="B02532"/>
                </a:solidFill>
                <a:latin typeface="Palatino Linotype"/>
              </a:rPr>
              <a:t>anonim, fără cont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GHIDUL CDC DIN 2022</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Varianta C urmează ghidul</a:t>
            </a:r>
            <a:endParaRPr lang="en-US" sz="3200" dirty="0"/>
          </a:p>
        </p:txBody>
      </p:sp>
      <p:sp>
        <p:nvSpPr>
          <p:cNvPr id="4" name="Shape 2"/>
          <p:cNvSpPr/>
          <p:nvPr/>
        </p:nvSpPr>
        <p:spPr>
          <a:xfrm>
            <a:off x="594360" y="1463040"/>
            <a:ext cx="10972800" cy="694944"/>
          </a:xfrm>
          <a:prstGeom prst="roundRect">
            <a:avLst>
              <a:gd name="adj" fmla="val 11842"/>
            </a:avLst>
          </a:prstGeom>
          <a:solidFill>
            <a:srgbClr val="ECEAE4"/>
          </a:solidFill>
          <a:ln w="12700">
            <a:solidFill>
              <a:srgbClr val="ECEAE4"/>
            </a:solidFill>
            <a:prstDash val="solid"/>
          </a:ln>
        </p:spPr>
        <p:txBody>
          <a:bodyPr/>
          <a:p/>
        </p:txBody>
      </p:sp>
      <p:sp>
        <p:nvSpPr>
          <p:cNvPr id="5" name="Shape 3"/>
          <p:cNvSpPr/>
          <p:nvPr/>
        </p:nvSpPr>
        <p:spPr>
          <a:xfrm>
            <a:off x="914400" y="1600200"/>
            <a:ext cx="420624" cy="420624"/>
          </a:xfrm>
          <a:prstGeom prst="ellipse">
            <a:avLst/>
          </a:prstGeom>
          <a:solidFill>
            <a:srgbClr val="B02532"/>
          </a:solidFill>
          <a:ln/>
        </p:spPr>
        <p:txBody>
          <a:bodyPr/>
          <a:p/>
        </p:txBody>
      </p:sp>
      <p:sp>
        <p:nvSpPr>
          <p:cNvPr id="6" name="Text 4"/>
          <p:cNvSpPr/>
          <p:nvPr/>
        </p:nvSpPr>
        <p:spPr>
          <a:xfrm>
            <a:off x="914400" y="16002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1463040"/>
            <a:ext cx="9692640" cy="694944"/>
          </a:xfrm>
          <a:prstGeom prst="rect">
            <a:avLst/>
          </a:prstGeom>
          <a:noFill/>
          <a:ln/>
        </p:spPr>
        <p:txBody>
          <a:bodyPr wrap="square" lIns="0" tIns="0" rIns="0" bIns="0" rtlCol="0" anchor="ctr"/>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Durerea acută obișnuită: tratamentele fără opioide sunt cel puțin la fel de eficace.</a:t>
            </a:r>
            <a:endParaRPr lang="en-US" sz="1650" dirty="0"/>
          </a:p>
        </p:txBody>
      </p:sp>
      <p:sp>
        <p:nvSpPr>
          <p:cNvPr id="8" name="Shape 6"/>
          <p:cNvSpPr/>
          <p:nvPr/>
        </p:nvSpPr>
        <p:spPr>
          <a:xfrm>
            <a:off x="594360" y="2267712"/>
            <a:ext cx="10972800" cy="694944"/>
          </a:xfrm>
          <a:prstGeom prst="roundRect">
            <a:avLst>
              <a:gd name="adj" fmla="val 11842"/>
            </a:avLst>
          </a:prstGeom>
          <a:solidFill>
            <a:srgbClr val="ECEAE4"/>
          </a:solidFill>
          <a:ln w="12700">
            <a:solidFill>
              <a:srgbClr val="ECEAE4"/>
            </a:solidFill>
            <a:prstDash val="solid"/>
          </a:ln>
        </p:spPr>
        <p:txBody>
          <a:bodyPr/>
          <a:p/>
        </p:txBody>
      </p:sp>
      <p:sp>
        <p:nvSpPr>
          <p:cNvPr id="9" name="Shape 7"/>
          <p:cNvSpPr/>
          <p:nvPr/>
        </p:nvSpPr>
        <p:spPr>
          <a:xfrm>
            <a:off x="914400" y="2404872"/>
            <a:ext cx="420624" cy="420624"/>
          </a:xfrm>
          <a:prstGeom prst="ellipse">
            <a:avLst/>
          </a:prstGeom>
          <a:solidFill>
            <a:srgbClr val="B02532"/>
          </a:solidFill>
          <a:ln/>
        </p:spPr>
        <p:txBody>
          <a:bodyPr/>
          <a:p/>
        </p:txBody>
      </p:sp>
      <p:sp>
        <p:nvSpPr>
          <p:cNvPr id="10" name="Text 8"/>
          <p:cNvSpPr/>
          <p:nvPr/>
        </p:nvSpPr>
        <p:spPr>
          <a:xfrm>
            <a:off x="914400" y="2404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600200" y="2267712"/>
            <a:ext cx="9692640" cy="694944"/>
          </a:xfrm>
          <a:prstGeom prst="rect">
            <a:avLst/>
          </a:prstGeom>
          <a:noFill/>
          <a:ln/>
        </p:spPr>
        <p:txBody>
          <a:bodyPr wrap="square" lIns="0" tIns="0" rIns="0" bIns="0" rtlCol="0" anchor="ctr"/>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Durerea de câteva săptămâni sau luni: tratamentele fără opioide sunt preferate.</a:t>
            </a:r>
            <a:endParaRPr lang="en-US" sz="1650" dirty="0"/>
          </a:p>
        </p:txBody>
      </p:sp>
      <p:sp>
        <p:nvSpPr>
          <p:cNvPr id="12" name="Shape 10"/>
          <p:cNvSpPr/>
          <p:nvPr/>
        </p:nvSpPr>
        <p:spPr>
          <a:xfrm>
            <a:off x="594360" y="3072384"/>
            <a:ext cx="10972800" cy="694944"/>
          </a:xfrm>
          <a:prstGeom prst="roundRect">
            <a:avLst>
              <a:gd name="adj" fmla="val 11842"/>
            </a:avLst>
          </a:prstGeom>
          <a:solidFill>
            <a:srgbClr val="ECEAE4"/>
          </a:solidFill>
          <a:ln w="12700">
            <a:solidFill>
              <a:srgbClr val="ECEAE4"/>
            </a:solidFill>
            <a:prstDash val="solid"/>
          </a:ln>
        </p:spPr>
        <p:txBody>
          <a:bodyPr/>
          <a:p/>
        </p:txBody>
      </p:sp>
      <p:sp>
        <p:nvSpPr>
          <p:cNvPr id="13" name="Shape 11"/>
          <p:cNvSpPr/>
          <p:nvPr/>
        </p:nvSpPr>
        <p:spPr>
          <a:xfrm>
            <a:off x="914400" y="3209544"/>
            <a:ext cx="420624" cy="420624"/>
          </a:xfrm>
          <a:prstGeom prst="ellipse">
            <a:avLst/>
          </a:prstGeom>
          <a:solidFill>
            <a:srgbClr val="B02532"/>
          </a:solidFill>
          <a:ln/>
        </p:spPr>
        <p:txBody>
          <a:bodyPr/>
          <a:p/>
        </p:txBody>
      </p:sp>
      <p:sp>
        <p:nvSpPr>
          <p:cNvPr id="14" name="Text 12"/>
          <p:cNvSpPr/>
          <p:nvPr/>
        </p:nvSpPr>
        <p:spPr>
          <a:xfrm>
            <a:off x="914400" y="320954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600200" y="3072384"/>
            <a:ext cx="9692640" cy="694944"/>
          </a:xfrm>
          <a:prstGeom prst="rect">
            <a:avLst/>
          </a:prstGeom>
          <a:noFill/>
          <a:ln/>
        </p:spPr>
        <p:txBody>
          <a:bodyPr wrap="square" lIns="0" tIns="0" rIns="0" bIns="0" rtlCol="0" anchor="ctr"/>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Dacă e nevoie de opioid: cel mult cât cere durata așteptată a durerii severe.</a:t>
            </a:r>
            <a:endParaRPr lang="en-US" sz="1650" dirty="0"/>
          </a:p>
        </p:txBody>
      </p:sp>
      <p:sp>
        <p:nvSpPr>
          <p:cNvPr id="16" name="Shape 14"/>
          <p:cNvSpPr/>
          <p:nvPr/>
        </p:nvSpPr>
        <p:spPr>
          <a:xfrm>
            <a:off x="594360" y="3877056"/>
            <a:ext cx="10972800" cy="694944"/>
          </a:xfrm>
          <a:prstGeom prst="roundRect">
            <a:avLst>
              <a:gd name="adj" fmla="val 11842"/>
            </a:avLst>
          </a:prstGeom>
          <a:solidFill>
            <a:srgbClr val="ECEAE4"/>
          </a:solidFill>
          <a:ln w="12700">
            <a:solidFill>
              <a:srgbClr val="ECEAE4"/>
            </a:solidFill>
            <a:prstDash val="solid"/>
          </a:ln>
        </p:spPr>
        <p:txBody>
          <a:bodyPr/>
          <a:p/>
        </p:txBody>
      </p:sp>
      <p:sp>
        <p:nvSpPr>
          <p:cNvPr id="17" name="Shape 15"/>
          <p:cNvSpPr/>
          <p:nvPr/>
        </p:nvSpPr>
        <p:spPr>
          <a:xfrm>
            <a:off x="914400" y="4014216"/>
            <a:ext cx="420624" cy="420624"/>
          </a:xfrm>
          <a:prstGeom prst="ellipse">
            <a:avLst/>
          </a:prstGeom>
          <a:solidFill>
            <a:srgbClr val="B02532"/>
          </a:solidFill>
          <a:ln/>
        </p:spPr>
        <p:txBody>
          <a:bodyPr/>
          <a:p/>
        </p:txBody>
      </p:sp>
      <p:sp>
        <p:nvSpPr>
          <p:cNvPr id="18" name="Text 16"/>
          <p:cNvSpPr/>
          <p:nvPr/>
        </p:nvSpPr>
        <p:spPr>
          <a:xfrm>
            <a:off x="914400" y="40142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19" name="Text 17"/>
          <p:cNvSpPr/>
          <p:nvPr/>
        </p:nvSpPr>
        <p:spPr>
          <a:xfrm>
            <a:off x="1600200" y="3877056"/>
            <a:ext cx="9692640" cy="694944"/>
          </a:xfrm>
          <a:prstGeom prst="rect">
            <a:avLst/>
          </a:prstGeom>
          <a:noFill/>
          <a:ln/>
        </p:spPr>
        <p:txBody>
          <a:bodyPr wrap="square" lIns="0" tIns="0" rIns="0" bIns="0" rtlCol="0" anchor="ctr"/>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Înainte de un tratament continuu: ținte de durere și de funcție, stabilite împreună.</a:t>
            </a:r>
            <a:endParaRPr lang="en-US" sz="1650" dirty="0"/>
          </a:p>
        </p:txBody>
      </p:sp>
      <p:sp>
        <p:nvSpPr>
          <p:cNvPr id="20" name="Text 18"/>
          <p:cNvSpPr/>
          <p:nvPr/>
        </p:nvSpPr>
        <p:spPr>
          <a:xfrm>
            <a:off x="594360" y="4846320"/>
            <a:ext cx="10972800" cy="77724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Varianta B pare prudentă, dar îl lasă singur cu durerea și cu o dependență posibilă, fără plan.</a:t>
            </a:r>
            <a:endParaRPr lang="en-US" sz="1700" dirty="0"/>
          </a:p>
        </p:txBody>
      </p:sp>
      <p:sp>
        <p:nvSpPr>
          <p:cNvPr id="21" name="Text 19"/>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CDC, ghidul pentru prescrierea opioidelor în durere, 2022.</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STATELE UNITE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Trei valuri</a:t>
            </a:r>
            <a:endParaRPr lang="en-US" sz="3400" dirty="0"/>
          </a:p>
        </p:txBody>
      </p:sp>
      <p:sp>
        <p:nvSpPr>
          <p:cNvPr id="4" name="Shape 2"/>
          <p:cNvSpPr/>
          <p:nvPr/>
        </p:nvSpPr>
        <p:spPr>
          <a:xfrm>
            <a:off x="822960" y="2103120"/>
            <a:ext cx="10515600" cy="36576"/>
          </a:xfrm>
          <a:prstGeom prst="rect">
            <a:avLst/>
          </a:prstGeom>
          <a:solidFill>
            <a:srgbClr val="3A3E52"/>
          </a:solidFill>
          <a:ln w="12700">
            <a:solidFill>
              <a:srgbClr val="3A3E52"/>
            </a:solidFill>
            <a:prstDash val="solid"/>
          </a:ln>
        </p:spPr>
        <p:txBody>
          <a:bodyPr/>
          <a:p/>
        </p:txBody>
      </p:sp>
      <p:sp>
        <p:nvSpPr>
          <p:cNvPr id="5" name="Shape 3"/>
          <p:cNvSpPr/>
          <p:nvPr/>
        </p:nvSpPr>
        <p:spPr>
          <a:xfrm>
            <a:off x="822960" y="1965960"/>
            <a:ext cx="310896" cy="310896"/>
          </a:xfrm>
          <a:prstGeom prst="ellipse">
            <a:avLst/>
          </a:prstGeom>
          <a:solidFill>
            <a:srgbClr val="FFC24B"/>
          </a:solidFill>
          <a:ln w="25400">
            <a:solidFill>
              <a:srgbClr val="11121A"/>
            </a:solidFill>
            <a:prstDash val="solid"/>
          </a:ln>
        </p:spPr>
        <p:txBody>
          <a:bodyPr/>
          <a:p/>
        </p:txBody>
      </p:sp>
      <p:sp>
        <p:nvSpPr>
          <p:cNvPr id="6" name="Text 4"/>
          <p:cNvSpPr/>
          <p:nvPr/>
        </p:nvSpPr>
        <p:spPr>
          <a:xfrm>
            <a:off x="822960" y="1463040"/>
            <a:ext cx="3200400" cy="411480"/>
          </a:xfrm>
          <a:prstGeom prst="rect">
            <a:avLst/>
          </a:prstGeom>
          <a:noFill/>
          <a:ln/>
        </p:spPr>
        <p:txBody>
          <a:bodyPr wrap="square" lIns="0" tIns="0" rIns="0" bIns="0" rtlCol="0" anchor="t"/>
          <a:lstStyle/>
          <a:p>
            <a:pPr indent="0" marL="0">
              <a:buNone/>
            </a:pPr>
            <a:r>
              <a:rPr lang="en-US" sz="2000" b="1" dirty="0">
                <a:solidFill>
                  <a:srgbClr val="FFC24B"/>
                </a:solidFill>
                <a:latin typeface="Palatino Linotype" pitchFamily="34" charset="0"/>
                <a:ea typeface="Palatino Linotype" pitchFamily="34" charset="-122"/>
                <a:cs typeface="Palatino Linotype" pitchFamily="34" charset="-120"/>
              </a:rPr>
              <a:t>anii 1990</a:t>
            </a:r>
            <a:endParaRPr lang="en-US" sz="2000" dirty="0"/>
          </a:p>
        </p:txBody>
      </p:sp>
      <p:sp>
        <p:nvSpPr>
          <p:cNvPr id="7" name="Text 5"/>
          <p:cNvSpPr/>
          <p:nvPr/>
        </p:nvSpPr>
        <p:spPr>
          <a:xfrm>
            <a:off x="822960" y="2468880"/>
            <a:ext cx="3291840" cy="1280160"/>
          </a:xfrm>
          <a:prstGeom prst="rect">
            <a:avLst/>
          </a:prstGeom>
          <a:noFill/>
          <a:ln/>
        </p:spPr>
        <p:txBody>
          <a:bodyPr wrap="square" lIns="0" tIns="0" rIns="0" bIns="0" rtlCol="0" anchor="t"/>
          <a:lstStyle/>
          <a:p>
            <a:pPr indent="0" marL="0">
              <a:buNone/>
            </a:pPr>
            <a:r>
              <a:rPr lang="en-US" sz="1550" dirty="0">
                <a:solidFill>
                  <a:srgbClr val="FFFFFF"/>
                </a:solidFill>
                <a:latin typeface="Palatino Linotype" pitchFamily="34" charset="0"/>
                <a:ea typeface="Palatino Linotype" pitchFamily="34" charset="-122"/>
                <a:cs typeface="Palatino Linotype" pitchFamily="34" charset="-120"/>
              </a:rPr>
              <a:t>Primul val: crește prescrierea opioidelor; decesele cu opioide pe rețetă cresc din jurul anului 1999.</a:t>
            </a:r>
            <a:endParaRPr lang="en-US" sz="1550" dirty="0"/>
          </a:p>
        </p:txBody>
      </p:sp>
      <p:sp>
        <p:nvSpPr>
          <p:cNvPr id="8" name="Shape 6"/>
          <p:cNvSpPr/>
          <p:nvPr/>
        </p:nvSpPr>
        <p:spPr>
          <a:xfrm>
            <a:off x="4572000" y="1965960"/>
            <a:ext cx="310896" cy="310896"/>
          </a:xfrm>
          <a:prstGeom prst="ellipse">
            <a:avLst/>
          </a:prstGeom>
          <a:solidFill>
            <a:srgbClr val="FF4757"/>
          </a:solidFill>
          <a:ln w="25400">
            <a:solidFill>
              <a:srgbClr val="11121A"/>
            </a:solidFill>
            <a:prstDash val="solid"/>
          </a:ln>
        </p:spPr>
        <p:txBody>
          <a:bodyPr/>
          <a:p/>
        </p:txBody>
      </p:sp>
      <p:sp>
        <p:nvSpPr>
          <p:cNvPr id="9" name="Text 7"/>
          <p:cNvSpPr/>
          <p:nvPr/>
        </p:nvSpPr>
        <p:spPr>
          <a:xfrm>
            <a:off x="4572000" y="1463040"/>
            <a:ext cx="3200400" cy="411480"/>
          </a:xfrm>
          <a:prstGeom prst="rect">
            <a:avLst/>
          </a:prstGeom>
          <a:noFill/>
          <a:ln/>
        </p:spPr>
        <p:txBody>
          <a:bodyPr wrap="square" lIns="0" tIns="0" rIns="0" bIns="0" rtlCol="0" anchor="t"/>
          <a:lstStyle/>
          <a:p>
            <a:pPr indent="0" marL="0">
              <a:buNone/>
            </a:pPr>
            <a:r>
              <a:rPr lang="en-US" sz="2000" b="1" dirty="0">
                <a:solidFill>
                  <a:srgbClr val="FF4757"/>
                </a:solidFill>
                <a:latin typeface="Palatino Linotype" pitchFamily="34" charset="0"/>
                <a:ea typeface="Palatino Linotype" pitchFamily="34" charset="-122"/>
                <a:cs typeface="Palatino Linotype" pitchFamily="34" charset="-120"/>
              </a:rPr>
              <a:t>2010</a:t>
            </a:r>
            <a:endParaRPr lang="en-US" sz="2000" dirty="0"/>
          </a:p>
        </p:txBody>
      </p:sp>
      <p:sp>
        <p:nvSpPr>
          <p:cNvPr id="10" name="Text 8"/>
          <p:cNvSpPr/>
          <p:nvPr/>
        </p:nvSpPr>
        <p:spPr>
          <a:xfrm>
            <a:off x="4572000" y="2468880"/>
            <a:ext cx="3291840" cy="1280160"/>
          </a:xfrm>
          <a:prstGeom prst="rect">
            <a:avLst/>
          </a:prstGeom>
          <a:noFill/>
          <a:ln/>
        </p:spPr>
        <p:txBody>
          <a:bodyPr wrap="square" lIns="0" tIns="0" rIns="0" bIns="0" rtlCol="0" anchor="t"/>
          <a:lstStyle/>
          <a:p>
            <a:pPr indent="0" marL="0">
              <a:buNone/>
            </a:pPr>
            <a:r>
              <a:rPr lang="en-US" sz="1550" dirty="0">
                <a:solidFill>
                  <a:srgbClr val="FFFFFF"/>
                </a:solidFill>
                <a:latin typeface="Palatino Linotype" pitchFamily="34" charset="0"/>
                <a:ea typeface="Palatino Linotype" pitchFamily="34" charset="-122"/>
                <a:cs typeface="Palatino Linotype" pitchFamily="34" charset="-120"/>
              </a:rPr>
              <a:t>Al doilea val: heroina.</a:t>
            </a:r>
            <a:endParaRPr lang="en-US" sz="1550" dirty="0"/>
          </a:p>
        </p:txBody>
      </p:sp>
      <p:sp>
        <p:nvSpPr>
          <p:cNvPr id="11" name="Shape 9"/>
          <p:cNvSpPr/>
          <p:nvPr/>
        </p:nvSpPr>
        <p:spPr>
          <a:xfrm>
            <a:off x="7863840" y="1965960"/>
            <a:ext cx="310896" cy="310896"/>
          </a:xfrm>
          <a:prstGeom prst="ellipse">
            <a:avLst/>
          </a:prstGeom>
          <a:solidFill>
            <a:srgbClr val="27D3BE"/>
          </a:solidFill>
          <a:ln w="25400">
            <a:solidFill>
              <a:srgbClr val="11121A"/>
            </a:solidFill>
            <a:prstDash val="solid"/>
          </a:ln>
        </p:spPr>
        <p:txBody>
          <a:bodyPr/>
          <a:p/>
        </p:txBody>
      </p:sp>
      <p:sp>
        <p:nvSpPr>
          <p:cNvPr id="12" name="Text 10"/>
          <p:cNvSpPr/>
          <p:nvPr/>
        </p:nvSpPr>
        <p:spPr>
          <a:xfrm>
            <a:off x="7863840" y="1463040"/>
            <a:ext cx="3200400" cy="411480"/>
          </a:xfrm>
          <a:prstGeom prst="rect">
            <a:avLst/>
          </a:prstGeom>
          <a:noFill/>
          <a:ln/>
        </p:spPr>
        <p:txBody>
          <a:bodyPr wrap="square" lIns="0" tIns="0" rIns="0" bIns="0" rtlCol="0" anchor="t"/>
          <a:lstStyle/>
          <a:p>
            <a:pPr indent="0" marL="0">
              <a:buNone/>
            </a:pPr>
            <a:r>
              <a:rPr lang="en-US" sz="2000" b="1" dirty="0">
                <a:solidFill>
                  <a:srgbClr val="27D3BE"/>
                </a:solidFill>
                <a:latin typeface="Palatino Linotype" pitchFamily="34" charset="0"/>
                <a:ea typeface="Palatino Linotype" pitchFamily="34" charset="-122"/>
                <a:cs typeface="Palatino Linotype" pitchFamily="34" charset="-120"/>
              </a:rPr>
              <a:t>2013</a:t>
            </a:r>
            <a:endParaRPr lang="en-US" sz="2000" dirty="0"/>
          </a:p>
        </p:txBody>
      </p:sp>
      <p:sp>
        <p:nvSpPr>
          <p:cNvPr id="13" name="Text 11"/>
          <p:cNvSpPr/>
          <p:nvPr/>
        </p:nvSpPr>
        <p:spPr>
          <a:xfrm>
            <a:off x="7863840" y="2468880"/>
            <a:ext cx="3291840" cy="1280160"/>
          </a:xfrm>
          <a:prstGeom prst="rect">
            <a:avLst/>
          </a:prstGeom>
          <a:noFill/>
          <a:ln/>
        </p:spPr>
        <p:txBody>
          <a:bodyPr wrap="square" lIns="0" tIns="0" rIns="0" bIns="0" rtlCol="0" anchor="t"/>
          <a:lstStyle/>
          <a:p>
            <a:pPr indent="0" marL="0">
              <a:buNone/>
            </a:pPr>
            <a:r>
              <a:rPr lang="en-US" sz="1550" dirty="0">
                <a:solidFill>
                  <a:srgbClr val="FFFFFF"/>
                </a:solidFill>
                <a:latin typeface="Palatino Linotype" pitchFamily="34" charset="0"/>
                <a:ea typeface="Palatino Linotype" pitchFamily="34" charset="-122"/>
                <a:cs typeface="Palatino Linotype" pitchFamily="34" charset="-120"/>
              </a:rPr>
              <a:t>Al treilea val: opioidele sintetice, mai ales fentanilul produs ilegal.</a:t>
            </a:r>
            <a:endParaRPr lang="en-US" sz="1550" dirty="0"/>
          </a:p>
        </p:txBody>
      </p:sp>
      <p:sp>
        <p:nvSpPr>
          <p:cNvPr id="14" name="Shape 12"/>
          <p:cNvSpPr/>
          <p:nvPr/>
        </p:nvSpPr>
        <p:spPr>
          <a:xfrm>
            <a:off x="594360" y="4023360"/>
            <a:ext cx="5349240" cy="1783080"/>
          </a:xfrm>
          <a:prstGeom prst="roundRect">
            <a:avLst>
              <a:gd name="adj" fmla="val 4615"/>
            </a:avLst>
          </a:prstGeom>
          <a:solidFill>
            <a:srgbClr val="1D1F2B"/>
          </a:solidFill>
          <a:ln w="12700">
            <a:solidFill>
              <a:srgbClr val="1D1F2B"/>
            </a:solidFill>
            <a:prstDash val="solid"/>
          </a:ln>
        </p:spPr>
        <p:txBody>
          <a:bodyPr/>
          <a:p/>
        </p:txBody>
      </p:sp>
      <p:sp>
        <p:nvSpPr>
          <p:cNvPr id="15" name="Text 13"/>
          <p:cNvSpPr/>
          <p:nvPr/>
        </p:nvSpPr>
        <p:spPr>
          <a:xfrm>
            <a:off x="868680" y="4133088"/>
            <a:ext cx="4800600" cy="891540"/>
          </a:xfrm>
          <a:prstGeom prst="rect">
            <a:avLst/>
          </a:prstGeom>
          <a:noFill/>
          <a:ln/>
        </p:spPr>
        <p:txBody>
          <a:bodyPr wrap="square" lIns="0" tIns="0" rIns="0" bIns="0" rtlCol="0" anchor="ctr"/>
          <a:lstStyle/>
          <a:p>
            <a:pPr indent="0" marL="0">
              <a:buNone/>
            </a:pPr>
            <a:r>
              <a:rPr lang="en-US" sz="4200" b="1" dirty="0">
                <a:solidFill>
                  <a:srgbClr val="FFC24B"/>
                </a:solidFill>
                <a:latin typeface="Palatino Linotype" pitchFamily="34" charset="0"/>
                <a:ea typeface="Palatino Linotype" pitchFamily="34" charset="-122"/>
                <a:cs typeface="Palatino Linotype" pitchFamily="34" charset="-120"/>
              </a:rPr>
              <a:t>806 000</a:t>
            </a:r>
            <a:endParaRPr lang="en-US" sz="4200" dirty="0"/>
          </a:p>
        </p:txBody>
      </p:sp>
      <p:sp>
        <p:nvSpPr>
          <p:cNvPr id="16" name="Text 14"/>
          <p:cNvSpPr/>
          <p:nvPr/>
        </p:nvSpPr>
        <p:spPr>
          <a:xfrm>
            <a:off x="868680" y="4933188"/>
            <a:ext cx="4800600" cy="820217"/>
          </a:xfrm>
          <a:prstGeom prst="rect">
            <a:avLst/>
          </a:prstGeom>
          <a:noFill/>
          <a:ln/>
        </p:spPr>
        <p:txBody>
          <a:bodyPr wrap="square" lIns="0" tIns="0" rIns="0" bIns="0" rtlCol="0" anchor="t"/>
          <a:lstStyle/>
          <a:p>
            <a:pPr indent="0" marL="0">
              <a:buNone/>
            </a:pPr>
            <a:r>
              <a:rPr lang="en-US" sz="1200" dirty="0">
                <a:solidFill>
                  <a:srgbClr val="FFFFFF"/>
                </a:solidFill>
                <a:latin typeface="Palatino Linotype" pitchFamily="34" charset="0"/>
                <a:ea typeface="Palatino Linotype" pitchFamily="34" charset="-122"/>
                <a:cs typeface="Palatino Linotype" pitchFamily="34" charset="-120"/>
              </a:rPr>
              <a:t>de decese prin supradoză de opioide în Statele Unite, între 1999 și 2023</a:t>
            </a:r>
            <a:endParaRPr lang="en-US" sz="1200" dirty="0"/>
          </a:p>
        </p:txBody>
      </p:sp>
      <p:sp>
        <p:nvSpPr>
          <p:cNvPr id="17" name="Shape 15"/>
          <p:cNvSpPr/>
          <p:nvPr/>
        </p:nvSpPr>
        <p:spPr>
          <a:xfrm>
            <a:off x="6217920" y="4023360"/>
            <a:ext cx="5349240" cy="1783080"/>
          </a:xfrm>
          <a:prstGeom prst="roundRect">
            <a:avLst>
              <a:gd name="adj" fmla="val 4615"/>
            </a:avLst>
          </a:prstGeom>
          <a:solidFill>
            <a:srgbClr val="1D1F2B"/>
          </a:solidFill>
          <a:ln w="12700">
            <a:solidFill>
              <a:srgbClr val="1D1F2B"/>
            </a:solidFill>
            <a:prstDash val="solid"/>
          </a:ln>
        </p:spPr>
        <p:txBody>
          <a:bodyPr/>
          <a:p/>
        </p:txBody>
      </p:sp>
      <p:sp>
        <p:nvSpPr>
          <p:cNvPr id="18" name="Text 16"/>
          <p:cNvSpPr/>
          <p:nvPr/>
        </p:nvSpPr>
        <p:spPr>
          <a:xfrm>
            <a:off x="6492240" y="4133088"/>
            <a:ext cx="4800600" cy="891540"/>
          </a:xfrm>
          <a:prstGeom prst="rect">
            <a:avLst/>
          </a:prstGeom>
          <a:noFill/>
          <a:ln/>
        </p:spPr>
        <p:txBody>
          <a:bodyPr wrap="square" lIns="0" tIns="0" rIns="0" bIns="0" rtlCol="0" anchor="ctr"/>
          <a:lstStyle/>
          <a:p>
            <a:pPr indent="0" marL="0">
              <a:buNone/>
            </a:pPr>
            <a:r>
              <a:rPr lang="en-US" sz="4200" b="1" dirty="0">
                <a:solidFill>
                  <a:srgbClr val="FF4757"/>
                </a:solidFill>
                <a:latin typeface="Palatino Linotype" pitchFamily="34" charset="0"/>
                <a:ea typeface="Palatino Linotype" pitchFamily="34" charset="-122"/>
                <a:cs typeface="Palatino Linotype" pitchFamily="34" charset="-120"/>
              </a:rPr>
              <a:t>3 din 4</a:t>
            </a:r>
            <a:endParaRPr lang="en-US" sz="4200" dirty="0"/>
          </a:p>
        </p:txBody>
      </p:sp>
      <p:sp>
        <p:nvSpPr>
          <p:cNvPr id="19" name="Text 17"/>
          <p:cNvSpPr/>
          <p:nvPr/>
        </p:nvSpPr>
        <p:spPr>
          <a:xfrm>
            <a:off x="6492240" y="4933188"/>
            <a:ext cx="4800600" cy="820217"/>
          </a:xfrm>
          <a:prstGeom prst="rect">
            <a:avLst/>
          </a:prstGeom>
          <a:noFill/>
          <a:ln/>
        </p:spPr>
        <p:txBody>
          <a:bodyPr wrap="square" lIns="0" tIns="0" rIns="0" bIns="0" rtlCol="0" anchor="t"/>
          <a:lstStyle/>
          <a:p>
            <a:pPr indent="0" marL="0">
              <a:buNone/>
            </a:pPr>
            <a:r>
              <a:rPr lang="en-US" sz="1200" dirty="0">
                <a:solidFill>
                  <a:srgbClr val="FFFFFF"/>
                </a:solidFill>
                <a:latin typeface="Palatino Linotype" pitchFamily="34" charset="0"/>
                <a:ea typeface="Palatino Linotype" pitchFamily="34" charset="-122"/>
                <a:cs typeface="Palatino Linotype" pitchFamily="34" charset="-120"/>
              </a:rPr>
              <a:t>decese prin supradoză au implicat un opioid în 2023</a:t>
            </a:r>
            <a:endParaRPr lang="en-US" sz="1200" dirty="0"/>
          </a:p>
        </p:txBody>
      </p:sp>
      <p:sp>
        <p:nvSpPr>
          <p:cNvPr id="20" name="Text 18"/>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Sursa: CDC, pagina despre epidemia de opioide, actualizată în 2026.</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DINCOLO DE STATELE UNITE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spune OMS și ce se combină</a:t>
            </a:r>
            <a:endParaRPr lang="en-US" sz="3200" dirty="0"/>
          </a:p>
        </p:txBody>
      </p:sp>
      <p:sp>
        <p:nvSpPr>
          <p:cNvPr id="4" name="Shape 2"/>
          <p:cNvSpPr/>
          <p:nvPr/>
        </p:nvSpPr>
        <p:spPr>
          <a:xfrm>
            <a:off x="594360" y="1463040"/>
            <a:ext cx="5349240" cy="3108960"/>
          </a:xfrm>
          <a:prstGeom prst="roundRect">
            <a:avLst>
              <a:gd name="adj" fmla="val 2647"/>
            </a:avLst>
          </a:prstGeom>
          <a:solidFill>
            <a:srgbClr val="ECEAE4"/>
          </a:solidFill>
          <a:ln w="12700">
            <a:solidFill>
              <a:srgbClr val="ECEAE4"/>
            </a:solidFill>
            <a:prstDash val="solid"/>
          </a:ln>
        </p:spPr>
        <p:txBody>
          <a:bodyPr/>
          <a:p/>
        </p:txBody>
      </p:sp>
      <p:sp>
        <p:nvSpPr>
          <p:cNvPr id="5" name="Text 3"/>
          <p:cNvSpPr/>
          <p:nvPr/>
        </p:nvSpPr>
        <p:spPr>
          <a:xfrm>
            <a:off x="868680" y="1627632"/>
            <a:ext cx="4846320" cy="292608"/>
          </a:xfrm>
          <a:prstGeom prst="rect">
            <a:avLst/>
          </a:prstGeom>
          <a:noFill/>
          <a:ln/>
        </p:spPr>
        <p:txBody>
          <a:bodyPr wrap="square" lIns="0" tIns="0" rIns="0" bIns="0" rtlCol="0" anchor="t"/>
          <a:lstStyle/>
          <a:p>
            <a:pPr indent="0" marL="0">
              <a:buNone/>
            </a:pPr>
            <a:r>
              <a:rPr lang="en-US" sz="1250" b="1" spc="200" kern="0" dirty="0">
                <a:solidFill>
                  <a:srgbClr val="B02532"/>
                </a:solidFill>
                <a:latin typeface="Palatino Linotype" pitchFamily="34" charset="0"/>
                <a:ea typeface="Palatino Linotype" pitchFamily="34" charset="-122"/>
                <a:cs typeface="Palatino Linotype" pitchFamily="34" charset="-120"/>
              </a:rPr>
              <a:t>DE CE AU CRESCUT SUPRADOZELE</a:t>
            </a:r>
            <a:endParaRPr lang="en-US" sz="1250" dirty="0"/>
          </a:p>
        </p:txBody>
      </p:sp>
      <p:sp>
        <p:nvSpPr>
          <p:cNvPr id="6" name="Text 4"/>
          <p:cNvSpPr/>
          <p:nvPr/>
        </p:nvSpPr>
        <p:spPr>
          <a:xfrm>
            <a:off x="868680" y="2011680"/>
            <a:ext cx="4846320" cy="2377440"/>
          </a:xfrm>
          <a:prstGeom prst="rect">
            <a:avLst/>
          </a:prstGeom>
          <a:noFill/>
          <a:ln/>
        </p:spPr>
        <p:txBody>
          <a:bodyPr wrap="square" lIns="0" tIns="0" rIns="0" bIns="0" rtlCol="0" anchor="t"/>
          <a:lstStyle/>
          <a:p>
            <a:pPr marL="342900" indent="-342900">
              <a:spcAft>
                <a:spcPts val="800"/>
              </a:spcAft>
              <a:buSzPct val="100000"/>
              <a:buChar char="•"/>
            </a:pPr>
            <a:r>
              <a:rPr lang="en-US" sz="1650" dirty="0">
                <a:solidFill>
                  <a:srgbClr val="11121A"/>
                </a:solidFill>
                <a:latin typeface="Palatino Linotype" pitchFamily="34" charset="0"/>
                <a:ea typeface="Palatino Linotype" pitchFamily="34" charset="-122"/>
                <a:cs typeface="Palatino Linotype" pitchFamily="34" charset="-120"/>
              </a:rPr>
              <a:t>opioidele folosite în durerea cronică, mai disponibile;</a:t>
            </a:r>
            <a:endParaRPr lang="en-US" sz="1650" dirty="0"/>
          </a:p>
          <a:p>
            <a:pPr marL="342900" indent="-342900">
              <a:spcAft>
                <a:spcPts val="800"/>
              </a:spcAft>
              <a:buSzPct val="100000"/>
              <a:buChar char="•"/>
            </a:pPr>
            <a:r>
              <a:rPr lang="en-US" sz="1650" dirty="0">
                <a:solidFill>
                  <a:srgbClr val="11121A"/>
                </a:solidFill>
                <a:latin typeface="Palatino Linotype" pitchFamily="34" charset="0"/>
                <a:ea typeface="Palatino Linotype" pitchFamily="34" charset="-122"/>
                <a:cs typeface="Palatino Linotype" pitchFamily="34" charset="-120"/>
              </a:rPr>
              <a:t>opioidele foarte puternice apărute pe piața ilegală.</a:t>
            </a:r>
            <a:endParaRPr lang="en-US" sz="1650" dirty="0"/>
          </a:p>
        </p:txBody>
      </p:sp>
      <p:sp>
        <p:nvSpPr>
          <p:cNvPr id="7" name="Shape 5"/>
          <p:cNvSpPr/>
          <p:nvPr/>
        </p:nvSpPr>
        <p:spPr>
          <a:xfrm>
            <a:off x="6217920" y="1463040"/>
            <a:ext cx="5349240" cy="3108960"/>
          </a:xfrm>
          <a:prstGeom prst="roundRect">
            <a:avLst>
              <a:gd name="adj" fmla="val 2647"/>
            </a:avLst>
          </a:prstGeom>
          <a:solidFill>
            <a:srgbClr val="ECEAE4"/>
          </a:solidFill>
          <a:ln w="12700">
            <a:solidFill>
              <a:srgbClr val="ECEAE4"/>
            </a:solidFill>
            <a:prstDash val="solid"/>
          </a:ln>
        </p:spPr>
        <p:txBody>
          <a:bodyPr/>
          <a:p/>
        </p:txBody>
      </p:sp>
      <p:sp>
        <p:nvSpPr>
          <p:cNvPr id="8" name="Text 6"/>
          <p:cNvSpPr/>
          <p:nvPr/>
        </p:nvSpPr>
        <p:spPr>
          <a:xfrm>
            <a:off x="6492240" y="1627632"/>
            <a:ext cx="4846320" cy="292608"/>
          </a:xfrm>
          <a:prstGeom prst="rect">
            <a:avLst/>
          </a:prstGeom>
          <a:noFill/>
          <a:ln/>
        </p:spPr>
        <p:txBody>
          <a:bodyPr wrap="square" lIns="0" tIns="0" rIns="0" bIns="0" rtlCol="0" anchor="t"/>
          <a:lstStyle/>
          <a:p>
            <a:pPr indent="0" marL="0">
              <a:buNone/>
            </a:pPr>
            <a:r>
              <a:rPr lang="en-US" sz="1250" b="1" spc="200" kern="0" dirty="0">
                <a:solidFill>
                  <a:srgbClr val="0E7C6B"/>
                </a:solidFill>
                <a:latin typeface="Palatino Linotype" pitchFamily="34" charset="0"/>
                <a:ea typeface="Palatino Linotype" pitchFamily="34" charset="-122"/>
                <a:cs typeface="Palatino Linotype" pitchFamily="34" charset="-120"/>
              </a:rPr>
              <a:t>FACTORI DE RISC</a:t>
            </a:r>
            <a:endParaRPr lang="en-US" sz="1250" dirty="0"/>
          </a:p>
        </p:txBody>
      </p:sp>
      <p:sp>
        <p:nvSpPr>
          <p:cNvPr id="9" name="Text 7"/>
          <p:cNvSpPr/>
          <p:nvPr/>
        </p:nvSpPr>
        <p:spPr>
          <a:xfrm>
            <a:off x="6492240" y="2011680"/>
            <a:ext cx="4846320" cy="2377440"/>
          </a:xfrm>
          <a:prstGeom prst="rect">
            <a:avLst/>
          </a:prstGeom>
          <a:noFill/>
          <a:ln/>
        </p:spPr>
        <p:txBody>
          <a:bodyPr wrap="square" lIns="0" tIns="0" rIns="0" bIns="0" rtlCol="0" anchor="t"/>
          <a:lstStyle/>
          <a:p>
            <a:pPr marL="342900" indent="-342900">
              <a:spcAft>
                <a:spcPts val="800"/>
              </a:spcAft>
              <a:buSzPct val="100000"/>
              <a:buChar char="•"/>
            </a:pPr>
            <a:r>
              <a:rPr lang="en-US" sz="1650" dirty="0">
                <a:solidFill>
                  <a:srgbClr val="11121A"/>
                </a:solidFill>
                <a:latin typeface="Palatino Linotype" pitchFamily="34" charset="0"/>
                <a:ea typeface="Palatino Linotype" pitchFamily="34" charset="-122"/>
                <a:cs typeface="Palatino Linotype" pitchFamily="34" charset="-120"/>
              </a:rPr>
              <a:t>opioide pe rețetă, fără supraveghere medicală;</a:t>
            </a:r>
            <a:endParaRPr lang="en-US" sz="1650" dirty="0"/>
          </a:p>
          <a:p>
            <a:pPr marL="342900" indent="-342900">
              <a:spcAft>
                <a:spcPts val="800"/>
              </a:spcAft>
              <a:buSzPct val="100000"/>
              <a:buChar char="•"/>
            </a:pPr>
            <a:r>
              <a:rPr lang="en-US" sz="1650" dirty="0">
                <a:solidFill>
                  <a:srgbClr val="11121A"/>
                </a:solidFill>
                <a:latin typeface="Palatino Linotype" pitchFamily="34" charset="0"/>
                <a:ea typeface="Palatino Linotype" pitchFamily="34" charset="-122"/>
                <a:cs typeface="Palatino Linotype" pitchFamily="34" charset="-120"/>
              </a:rPr>
              <a:t>o doză prescrisă de peste 100 mg de morfină sau echivalent, pe zi;</a:t>
            </a:r>
            <a:endParaRPr lang="en-US" sz="1650" dirty="0"/>
          </a:p>
          <a:p>
            <a:pPr marL="342900" indent="-342900">
              <a:spcAft>
                <a:spcPts val="800"/>
              </a:spcAft>
              <a:buSzPct val="100000"/>
              <a:buChar char="•"/>
            </a:pPr>
            <a:r>
              <a:rPr lang="en-US" sz="1650" dirty="0">
                <a:solidFill>
                  <a:srgbClr val="11121A"/>
                </a:solidFill>
                <a:latin typeface="Palatino Linotype" pitchFamily="34" charset="0"/>
                <a:ea typeface="Palatino Linotype" pitchFamily="34" charset="-122"/>
                <a:cs typeface="Palatino Linotype" pitchFamily="34" charset="-120"/>
              </a:rPr>
              <a:t>opioide împreună cu alcool sau cu benzodiazepine.</a:t>
            </a:r>
            <a:endParaRPr lang="en-US" sz="1650" dirty="0"/>
          </a:p>
        </p:txBody>
      </p:sp>
      <p:sp>
        <p:nvSpPr>
          <p:cNvPr id="10" name="Text 8"/>
          <p:cNvSpPr/>
          <p:nvPr/>
        </p:nvSpPr>
        <p:spPr>
          <a:xfrm>
            <a:off x="594360" y="4800600"/>
            <a:ext cx="10972800" cy="914400"/>
          </a:xfrm>
          <a:prstGeom prst="rect">
            <a:avLst/>
          </a:prstGeom>
          <a:noFill/>
          <a:ln/>
        </p:spPr>
        <p:txBody>
          <a:bodyPr wrap="square" lIns="0" tIns="0" rIns="0" bIns="0" rtlCol="0" anchor="t"/>
          <a:lstStyle/>
          <a:p>
            <a:pPr indent="0" marL="0">
              <a:buNone/>
            </a:pPr>
            <a:r>
              <a:rPr lang="en-US" sz="1650" b="1" dirty="0">
                <a:solidFill>
                  <a:srgbClr val="B02532"/>
                </a:solidFill>
                <a:latin typeface="Palatino Linotype" pitchFamily="34" charset="0"/>
                <a:ea typeface="Palatino Linotype" pitchFamily="34" charset="-122"/>
                <a:cs typeface="Palatino Linotype" pitchFamily="34" charset="-120"/>
              </a:rPr>
              <a:t>În România, opiaceele au cauzat cele mai multe decese directe, uneori cu benzodiazepine. CDC: prudență la opioid plus benzodiazepină.</a:t>
            </a:r>
            <a:endParaRPr lang="en-US" sz="1650" dirty="0"/>
          </a:p>
        </p:txBody>
      </p:sp>
      <p:sp>
        <p:nvSpPr>
          <p:cNvPr id="11" name="Text 9"/>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Surse: OMS, fișa despre supradoza de opioide, 2025; CDC, 2022; raportul național privind situația drogurilor.</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AȚI CREDE ACEST TITLU?</a:t>
            </a:r>
            <a:endParaRPr lang="en-US" sz="1300" dirty="0"/>
          </a:p>
        </p:txBody>
      </p:sp>
      <p:sp>
        <p:nvSpPr>
          <p:cNvPr id="5" name="Shape 3"/>
          <p:cNvSpPr/>
          <p:nvPr/>
        </p:nvSpPr>
        <p:spPr>
          <a:xfrm>
            <a:off x="822960" y="1005840"/>
            <a:ext cx="10515600" cy="2331720"/>
          </a:xfrm>
          <a:prstGeom prst="rect">
            <a:avLst/>
          </a:prstGeom>
          <a:solidFill>
            <a:srgbClr val="FBF8F1"/>
          </a:solidFill>
          <a:ln w="9525">
            <a:solidFill>
              <a:srgbClr val="D6D2C8"/>
            </a:solidFill>
            <a:prstDash val="solid"/>
          </a:ln>
          <a:effectLst>
            <a:outerShdw sx="100000" sy="100000" kx="0" ky="0" algn="bl" rotWithShape="0" blurRad="127000" dist="63500" dir="3600000">
              <a:srgbClr val="000000">
                <a:alpha val="45000"/>
              </a:srgbClr>
            </a:outerShdw>
          </a:effectLst>
        </p:spPr>
        <p:txBody>
          <a:bodyPr/>
          <a:p/>
        </p:txBody>
      </p:sp>
      <p:sp>
        <p:nvSpPr>
          <p:cNvPr id="6" name="Shape 4"/>
          <p:cNvSpPr/>
          <p:nvPr/>
        </p:nvSpPr>
        <p:spPr>
          <a:xfrm>
            <a:off x="1234440" y="1417320"/>
            <a:ext cx="9692640" cy="27432"/>
          </a:xfrm>
          <a:prstGeom prst="rect">
            <a:avLst/>
          </a:prstGeom>
          <a:solidFill>
            <a:srgbClr val="11121A"/>
          </a:solidFill>
          <a:ln w="12700">
            <a:solidFill>
              <a:srgbClr val="11121A"/>
            </a:solidFill>
            <a:prstDash val="solid"/>
          </a:ln>
        </p:spPr>
        <p:txBody>
          <a:bodyPr/>
          <a:p/>
        </p:txBody>
      </p:sp>
      <p:sp>
        <p:nvSpPr>
          <p:cNvPr id="7" name="Text 5"/>
          <p:cNvSpPr/>
          <p:nvPr/>
        </p:nvSpPr>
        <p:spPr>
          <a:xfrm>
            <a:off x="1234440" y="1536192"/>
            <a:ext cx="9692640" cy="274320"/>
          </a:xfrm>
          <a:prstGeom prst="rect">
            <a:avLst/>
          </a:prstGeom>
          <a:noFill/>
          <a:ln/>
        </p:spPr>
        <p:txBody>
          <a:bodyPr wrap="square" lIns="0" tIns="0" rIns="0" bIns="0" rtlCol="0" anchor="t"/>
          <a:lstStyle/>
          <a:p>
            <a:pPr indent="0" marL="0">
              <a:buNone/>
            </a:pPr>
            <a:r>
              <a:rPr lang="en-US" sz="1100" b="1" spc="300" kern="0" dirty="0">
                <a:solidFill>
                  <a:srgbClr val="B02532"/>
                </a:solidFill>
                <a:latin typeface="Palatino Linotype" pitchFamily="34" charset="0"/>
                <a:ea typeface="Palatino Linotype" pitchFamily="34" charset="-122"/>
                <a:cs typeface="Palatino Linotype" pitchFamily="34" charset="-120"/>
              </a:rPr>
              <a:t>AFP, PRELUAT DE ARAB NEWS · 10 AUGUST 2017</a:t>
            </a:r>
            <a:endParaRPr lang="en-US" sz="1100" dirty="0"/>
          </a:p>
        </p:txBody>
      </p:sp>
      <p:sp>
        <p:nvSpPr>
          <p:cNvPr id="8" name="Text 6"/>
          <p:cNvSpPr/>
          <p:nvPr/>
        </p:nvSpPr>
        <p:spPr>
          <a:xfrm>
            <a:off x="1234440" y="1920240"/>
            <a:ext cx="9692640" cy="1234440"/>
          </a:xfrm>
          <a:prstGeom prst="rect">
            <a:avLst/>
          </a:prstGeom>
          <a:noFill/>
          <a:ln/>
        </p:spPr>
        <p:txBody>
          <a:bodyPr wrap="square" lIns="0" tIns="0" rIns="0" bIns="0" rtlCol="0" anchor="t"/>
          <a:lstStyle/>
          <a:p>
            <a:pPr indent="0" marL="0">
              <a:buNone/>
            </a:pPr>
            <a:r>
              <a:rPr lang="en-US" sz="3800" b="1" dirty="0">
                <a:solidFill>
                  <a:srgbClr val="11121A"/>
                </a:solidFill>
                <a:latin typeface="Palatino Linotype" pitchFamily="34" charset="0"/>
                <a:ea typeface="Palatino Linotype" pitchFamily="34" charset="-122"/>
                <a:cs typeface="Palatino Linotype" pitchFamily="34" charset="-120"/>
              </a:rPr>
              <a:t>Doctors at heart of US opioid crisis</a:t>
            </a:r>
            <a:endParaRPr lang="en-US" sz="3800" dirty="0"/>
          </a:p>
        </p:txBody>
      </p:sp>
      <p:sp>
        <p:nvSpPr>
          <p:cNvPr id="9" name="Text 7"/>
          <p:cNvSpPr/>
          <p:nvPr/>
        </p:nvSpPr>
        <p:spPr>
          <a:xfrm>
            <a:off x="822960" y="3520440"/>
            <a:ext cx="10515600" cy="548640"/>
          </a:xfrm>
          <a:prstGeom prst="rect">
            <a:avLst/>
          </a:prstGeom>
          <a:noFill/>
          <a:ln/>
        </p:spPr>
        <p:txBody>
          <a:bodyPr wrap="square" lIns="0" tIns="0" rIns="0" bIns="0" rtlCol="0" anchor="t"/>
          <a:lstStyle/>
          <a:p>
            <a:pPr indent="0" marL="0">
              <a:buNone/>
            </a:pPr>
            <a:r>
              <a:rPr lang="en-US" sz="2000" i="1" dirty="0">
                <a:solidFill>
                  <a:srgbClr val="959BB0"/>
                </a:solidFill>
                <a:latin typeface="Palatino Linotype" pitchFamily="34" charset="0"/>
                <a:ea typeface="Palatino Linotype" pitchFamily="34" charset="-122"/>
                <a:cs typeface="Palatino Linotype" pitchFamily="34" charset="-120"/>
              </a:rPr>
              <a:t>„Medicii, în centrul crizei opioidelor din SUA”</a:t>
            </a:r>
            <a:endParaRPr lang="en-US" sz="2000" dirty="0"/>
          </a:p>
        </p:txBody>
      </p:sp>
      <p:sp>
        <p:nvSpPr>
          <p:cNvPr id="10" name="Shape 8"/>
          <p:cNvSpPr/>
          <p:nvPr/>
        </p:nvSpPr>
        <p:spPr>
          <a:xfrm>
            <a:off x="822960" y="4251960"/>
            <a:ext cx="2148840" cy="329184"/>
          </a:xfrm>
          <a:prstGeom prst="roundRect">
            <a:avLst>
              <a:gd name="adj" fmla="val 50000"/>
            </a:avLst>
          </a:prstGeom>
          <a:solidFill>
            <a:srgbClr val="272A38"/>
          </a:solidFill>
          <a:ln w="12700">
            <a:solidFill>
              <a:srgbClr val="272A38"/>
            </a:solidFill>
            <a:prstDash val="solid"/>
          </a:ln>
        </p:spPr>
        <p:txBody>
          <a:bodyPr/>
          <a:p/>
        </p:txBody>
      </p:sp>
      <p:sp>
        <p:nvSpPr>
          <p:cNvPr id="11" name="Text 9"/>
          <p:cNvSpPr/>
          <p:nvPr/>
        </p:nvSpPr>
        <p:spPr>
          <a:xfrm>
            <a:off x="822960" y="4251960"/>
            <a:ext cx="214884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Da</a:t>
            </a:r>
            <a:endParaRPr lang="en-US" sz="1500" dirty="0"/>
          </a:p>
        </p:txBody>
      </p:sp>
      <p:sp>
        <p:nvSpPr>
          <p:cNvPr id="12" name="Shape 10"/>
          <p:cNvSpPr/>
          <p:nvPr/>
        </p:nvSpPr>
        <p:spPr>
          <a:xfrm>
            <a:off x="3200400" y="4251960"/>
            <a:ext cx="2148840" cy="329184"/>
          </a:xfrm>
          <a:prstGeom prst="roundRect">
            <a:avLst>
              <a:gd name="adj" fmla="val 50000"/>
            </a:avLst>
          </a:prstGeom>
          <a:solidFill>
            <a:srgbClr val="272A38"/>
          </a:solidFill>
          <a:ln w="12700">
            <a:solidFill>
              <a:srgbClr val="272A38"/>
            </a:solidFill>
            <a:prstDash val="solid"/>
          </a:ln>
        </p:spPr>
        <p:txBody>
          <a:bodyPr/>
          <a:p/>
        </p:txBody>
      </p:sp>
      <p:sp>
        <p:nvSpPr>
          <p:cNvPr id="13" name="Text 11"/>
          <p:cNvSpPr/>
          <p:nvPr/>
        </p:nvSpPr>
        <p:spPr>
          <a:xfrm>
            <a:off x="3200400" y="4251960"/>
            <a:ext cx="214884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Nu</a:t>
            </a:r>
            <a:endParaRPr lang="en-US" sz="1500" dirty="0"/>
          </a:p>
        </p:txBody>
      </p:sp>
      <p:sp>
        <p:nvSpPr>
          <p:cNvPr id="14" name="Shape 12"/>
          <p:cNvSpPr/>
          <p:nvPr/>
        </p:nvSpPr>
        <p:spPr>
          <a:xfrm>
            <a:off x="5577840" y="4251960"/>
            <a:ext cx="2148840" cy="329184"/>
          </a:xfrm>
          <a:prstGeom prst="roundRect">
            <a:avLst>
              <a:gd name="adj" fmla="val 50000"/>
            </a:avLst>
          </a:prstGeom>
          <a:solidFill>
            <a:srgbClr val="272A38"/>
          </a:solidFill>
          <a:ln w="12700">
            <a:solidFill>
              <a:srgbClr val="272A38"/>
            </a:solidFill>
            <a:prstDash val="solid"/>
          </a:ln>
        </p:spPr>
        <p:txBody>
          <a:bodyPr/>
          <a:p/>
        </p:txBody>
      </p:sp>
      <p:sp>
        <p:nvSpPr>
          <p:cNvPr id="15" name="Text 13"/>
          <p:cNvSpPr/>
          <p:nvPr/>
        </p:nvSpPr>
        <p:spPr>
          <a:xfrm>
            <a:off x="5577840" y="4251960"/>
            <a:ext cx="214884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Depinde</a:t>
            </a:r>
            <a:endParaRPr lang="en-US" sz="1500" dirty="0"/>
          </a:p>
        </p:txBody>
      </p:sp>
      <p:sp>
        <p:nvSpPr>
          <p:cNvPr id="16" name="Text 14"/>
          <p:cNvSpPr/>
          <p:nvPr/>
        </p:nvSpPr>
        <p:spPr>
          <a:xfrm>
            <a:off x="594360" y="4846320"/>
            <a:ext cx="8686800" cy="731520"/>
          </a:xfrm>
          <a:prstGeom prst="rect">
            <a:avLst/>
          </a:prstGeom>
          <a:noFill/>
          <a:ln/>
        </p:spPr>
        <p:txBody>
          <a:bodyPr wrap="square" lIns="0" tIns="0" rIns="0" bIns="0" rtlCol="0" anchor="t"/>
          <a:lstStyle/>
          <a:p>
            <a:pPr indent="0" marL="0">
              <a:buNone/>
            </a:pPr>
            <a:r>
              <a:rPr lang="en-US" sz="1800" b="1" dirty="0">
                <a:solidFill>
                  <a:srgbClr val="FFFFFF"/>
                </a:solidFill>
                <a:latin typeface="Palatino Linotype" pitchFamily="34" charset="0"/>
                <a:ea typeface="Palatino Linotype" pitchFamily="34" charset="-122"/>
                <a:cs typeface="Palatino Linotype" pitchFamily="34" charset="-120"/>
              </a:rPr>
              <a:t>Titlu real. După vot, trei răspunsuri din sală: ce cuvinte din titlu depășesc datele?</a:t>
            </a:r>
            <a:endParaRPr lang="en-US" sz="1800" dirty="0"/>
          </a:p>
        </p:txBody>
      </p:sp>
      <p:sp>
        <p:nvSpPr>
          <p:cNvPr id="17" name="Text 15"/>
          <p:cNvSpPr/>
          <p:nvPr/>
        </p:nvSpPr>
        <p:spPr>
          <a:xfrm>
            <a:off x="594360" y="5669280"/>
            <a:ext cx="8595360" cy="411480"/>
          </a:xfrm>
          <a:prstGeom prst="rect">
            <a:avLst/>
          </a:prstGeom>
          <a:noFill/>
          <a:ln/>
        </p:spPr>
        <p:txBody>
          <a:bodyPr wrap="square" lIns="0" tIns="0" rIns="0" bIns="0" rtlCol="0" anchor="t"/>
          <a:lstStyle/>
          <a:p>
            <a:pPr indent="0" marL="0">
              <a:buNone/>
            </a:pPr>
            <a:r>
              <a:rPr lang="en-US" sz="1600" b="1" dirty="0">
                <a:solidFill>
                  <a:srgbClr val="FFC24B"/>
                </a:solidFill>
                <a:latin typeface="Palatino Linotype" pitchFamily="34" charset="0"/>
                <a:ea typeface="Palatino Linotype" pitchFamily="34" charset="-122"/>
                <a:cs typeface="Palatino Linotype" pitchFamily="34" charset="-120"/>
              </a:rPr>
              <a:t>Răspundeți pe telefon, la codul afișat.</a:t>
            </a:r>
            <a:endParaRPr lang="en-US" sz="1600" dirty="0"/>
          </a:p>
        </p:txBody>
      </p:sp>
      <p:sp>
        <p:nvSpPr>
          <p:cNvPr id="18" name="Shape 16"/>
          <p:cNvSpPr/>
          <p:nvPr/>
        </p:nvSpPr>
        <p:spPr>
          <a:xfrm>
            <a:off x="9738360" y="4709160"/>
            <a:ext cx="1828800" cy="1783080"/>
          </a:xfrm>
          <a:prstGeom prst="roundRect">
            <a:avLst>
              <a:gd name="adj" fmla="val 4615"/>
            </a:avLst>
          </a:prstGeom>
          <a:solidFill>
            <a:srgbClr val="FFFFFF"/>
          </a:solidFill>
          <a:ln w="12700">
            <a:solidFill>
              <a:srgbClr val="FFFFFF"/>
            </a:solidFill>
            <a:prstDash val="solid"/>
          </a:ln>
        </p:spPr>
        <p:txBody>
          <a:bodyPr/>
          <a:p/>
        </p:txBody>
      </p:sp>
      <p:pic>
        <p:nvPicPr>
          <p:cNvPr id="19" name="Picture 18" descr="Mentimeter_OPT_DROGURI_C04.png"/>
          <p:cNvPicPr>
            <a:picLocks noChangeAspect="1"/>
          </p:cNvPicPr>
          <p:nvPr/>
        </p:nvPicPr>
        <p:blipFill>
          <a:blip r:embed="rId3"/>
          <a:stretch>
            <a:fillRect/>
          </a:stretch>
        </p:blipFill>
        <p:spPr>
          <a:xfrm>
            <a:off x="9978389" y="4709160"/>
            <a:ext cx="1348741" cy="1348741"/>
          </a:xfrm>
          <a:prstGeom prst="rect">
            <a:avLst/>
          </a:prstGeom>
        </p:spPr>
      </p:pic>
      <p:sp>
        <p:nvSpPr>
          <p:cNvPr id="20" name="TextBox 19"/>
          <p:cNvSpPr txBox="1"/>
          <p:nvPr/>
        </p:nvSpPr>
        <p:spPr>
          <a:xfrm>
            <a:off x="9738360" y="6096001"/>
            <a:ext cx="1828800" cy="434339"/>
          </a:xfrm>
          <a:prstGeom prst="rect">
            <a:avLst/>
          </a:prstGeom>
          <a:noFill/>
        </p:spPr>
        <p:txBody>
          <a:bodyPr wrap="square" lIns="0" rIns="0" tIns="0" bIns="0" anchor="t">
            <a:spAutoFit/>
          </a:bodyPr>
          <a:lstStyle/>
          <a:p>
            <a:pPr algn="ctr"/>
            <a:r>
              <a:rPr sz="900" b="1">
                <a:solidFill>
                  <a:srgbClr val="B02532"/>
                </a:solidFill>
                <a:latin typeface="Palatino Linotype"/>
              </a:rPr>
              <a:t>menti.com</a:t>
            </a:r>
          </a:p>
          <a:p>
            <a:pPr algn="ctr"/>
            <a:r>
              <a:rPr sz="900" b="1">
                <a:solidFill>
                  <a:srgbClr val="B02532"/>
                </a:solidFill>
                <a:latin typeface="Palatino Linotype"/>
              </a:rPr>
              <a:t>anonim, fără cont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CUVINTELE CARE DEPĂȘESC DATELE</a:t>
            </a:r>
            <a:endParaRPr lang="en-US" sz="1300" dirty="0"/>
          </a:p>
        </p:txBody>
      </p:sp>
      <p:sp>
        <p:nvSpPr>
          <p:cNvPr id="3" name="Text 1"/>
          <p:cNvSpPr/>
          <p:nvPr/>
        </p:nvSpPr>
        <p:spPr>
          <a:xfrm>
            <a:off x="594360" y="868680"/>
            <a:ext cx="10972800" cy="868680"/>
          </a:xfrm>
          <a:prstGeom prst="rect">
            <a:avLst/>
          </a:prstGeom>
          <a:noFill/>
          <a:ln/>
        </p:spPr>
        <p:txBody>
          <a:bodyPr wrap="square" lIns="0" tIns="0" rIns="0" bIns="0" rtlCol="0" anchor="t"/>
          <a:lstStyle/>
          <a:p>
            <a:pPr indent="0" marL="0">
              <a:buNone/>
            </a:pPr>
            <a:r>
              <a:rPr lang="en-US" sz="3400" b="1" dirty="0">
                <a:solidFill>
                  <a:srgbClr val="8A8F9E"/>
                </a:solidFill>
                <a:latin typeface="Palatino Linotype" pitchFamily="34" charset="0"/>
                <a:ea typeface="Palatino Linotype" pitchFamily="34" charset="-122"/>
                <a:cs typeface="Palatino Linotype" pitchFamily="34" charset="-120"/>
              </a:rPr>
              <a:t>„Medicii, </a:t>
            </a:r>
            <a:pPr indent="0" marL="0">
              <a:buNone/>
            </a:pPr>
            <a:r>
              <a:rPr lang="en-US" sz="3400" b="1" u="sng" dirty="0">
                <a:solidFill>
                  <a:srgbClr val="B02532"/>
                </a:solidFill>
                <a:latin typeface="Palatino Linotype" pitchFamily="34" charset="0"/>
                <a:ea typeface="Palatino Linotype" pitchFamily="34" charset="-122"/>
                <a:cs typeface="Palatino Linotype" pitchFamily="34" charset="-120"/>
              </a:rPr>
              <a:t>în centrul</a:t>
            </a:r>
            <a:pPr indent="0" marL="0">
              <a:buNone/>
            </a:pPr>
            <a:r>
              <a:rPr lang="en-US" sz="3400" b="1" dirty="0">
                <a:solidFill>
                  <a:srgbClr val="8A8F9E"/>
                </a:solidFill>
                <a:latin typeface="Palatino Linotype" pitchFamily="34" charset="0"/>
                <a:ea typeface="Palatino Linotype" pitchFamily="34" charset="-122"/>
                <a:cs typeface="Palatino Linotype" pitchFamily="34" charset="-120"/>
              </a:rPr>
              <a:t> crizei opioidelor din SUA”</a:t>
            </a:r>
            <a:endParaRPr lang="en-US" sz="3400" dirty="0"/>
          </a:p>
        </p:txBody>
      </p:sp>
      <p:sp>
        <p:nvSpPr>
          <p:cNvPr id="4" name="Shape 2"/>
          <p:cNvSpPr/>
          <p:nvPr/>
        </p:nvSpPr>
        <p:spPr>
          <a:xfrm>
            <a:off x="594360" y="1874520"/>
            <a:ext cx="10972800" cy="694944"/>
          </a:xfrm>
          <a:prstGeom prst="roundRect">
            <a:avLst>
              <a:gd name="adj" fmla="val 11842"/>
            </a:avLst>
          </a:prstGeom>
          <a:solidFill>
            <a:srgbClr val="ECEAE4"/>
          </a:solidFill>
          <a:ln w="12700">
            <a:solidFill>
              <a:srgbClr val="ECEAE4"/>
            </a:solidFill>
            <a:prstDash val="solid"/>
          </a:ln>
        </p:spPr>
        <p:txBody>
          <a:bodyPr/>
          <a:p/>
        </p:txBody>
      </p:sp>
      <p:sp>
        <p:nvSpPr>
          <p:cNvPr id="5" name="Shape 3"/>
          <p:cNvSpPr/>
          <p:nvPr/>
        </p:nvSpPr>
        <p:spPr>
          <a:xfrm>
            <a:off x="914400" y="2011680"/>
            <a:ext cx="420624" cy="420624"/>
          </a:xfrm>
          <a:prstGeom prst="ellipse">
            <a:avLst/>
          </a:prstGeom>
          <a:solidFill>
            <a:srgbClr val="B02532"/>
          </a:solidFill>
          <a:ln/>
        </p:spPr>
        <p:txBody>
          <a:bodyPr/>
          <a:p/>
        </p:txBody>
      </p:sp>
      <p:sp>
        <p:nvSpPr>
          <p:cNvPr id="6" name="Text 4"/>
          <p:cNvSpPr/>
          <p:nvPr/>
        </p:nvSpPr>
        <p:spPr>
          <a:xfrm>
            <a:off x="914400" y="20116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a:t>
            </a:r>
            <a:endParaRPr lang="en-US" sz="1400" dirty="0"/>
          </a:p>
        </p:txBody>
      </p:sp>
      <p:sp>
        <p:nvSpPr>
          <p:cNvPr id="7" name="Text 5"/>
          <p:cNvSpPr/>
          <p:nvPr/>
        </p:nvSpPr>
        <p:spPr>
          <a:xfrm>
            <a:off x="1600200" y="1874520"/>
            <a:ext cx="9692640" cy="694944"/>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Adevărat: primul val a început cu creșterea prescrierii.</a:t>
            </a:r>
            <a:endParaRPr lang="en-US" sz="1550" dirty="0"/>
          </a:p>
        </p:txBody>
      </p:sp>
      <p:sp>
        <p:nvSpPr>
          <p:cNvPr id="8" name="Shape 6"/>
          <p:cNvSpPr/>
          <p:nvPr/>
        </p:nvSpPr>
        <p:spPr>
          <a:xfrm>
            <a:off x="594360" y="2660904"/>
            <a:ext cx="10972800" cy="694944"/>
          </a:xfrm>
          <a:prstGeom prst="roundRect">
            <a:avLst>
              <a:gd name="adj" fmla="val 11842"/>
            </a:avLst>
          </a:prstGeom>
          <a:solidFill>
            <a:srgbClr val="ECEAE4"/>
          </a:solidFill>
          <a:ln w="12700">
            <a:solidFill>
              <a:srgbClr val="ECEAE4"/>
            </a:solidFill>
            <a:prstDash val="solid"/>
          </a:ln>
        </p:spPr>
        <p:txBody>
          <a:bodyPr/>
          <a:p/>
        </p:txBody>
      </p:sp>
      <p:sp>
        <p:nvSpPr>
          <p:cNvPr id="9" name="Shape 7"/>
          <p:cNvSpPr/>
          <p:nvPr/>
        </p:nvSpPr>
        <p:spPr>
          <a:xfrm>
            <a:off x="914400" y="2798064"/>
            <a:ext cx="420624" cy="420624"/>
          </a:xfrm>
          <a:prstGeom prst="ellipse">
            <a:avLst/>
          </a:prstGeom>
          <a:solidFill>
            <a:srgbClr val="B02532"/>
          </a:solidFill>
          <a:ln/>
        </p:spPr>
        <p:txBody>
          <a:bodyPr/>
          <a:p/>
        </p:txBody>
      </p:sp>
      <p:sp>
        <p:nvSpPr>
          <p:cNvPr id="10" name="Text 8"/>
          <p:cNvSpPr/>
          <p:nvPr/>
        </p:nvSpPr>
        <p:spPr>
          <a:xfrm>
            <a:off x="914400" y="27980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a:t>
            </a:r>
            <a:endParaRPr lang="en-US" sz="1400" dirty="0"/>
          </a:p>
        </p:txBody>
      </p:sp>
      <p:sp>
        <p:nvSpPr>
          <p:cNvPr id="11" name="Text 9"/>
          <p:cNvSpPr/>
          <p:nvPr/>
        </p:nvSpPr>
        <p:spPr>
          <a:xfrm>
            <a:off x="1600200" y="2660904"/>
            <a:ext cx="9692640" cy="694944"/>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Valurile doi și trei: heroina și fentanilul produs ilegal.</a:t>
            </a:r>
            <a:endParaRPr lang="en-US" sz="1550" dirty="0"/>
          </a:p>
        </p:txBody>
      </p:sp>
      <p:sp>
        <p:nvSpPr>
          <p:cNvPr id="12" name="Shape 10"/>
          <p:cNvSpPr/>
          <p:nvPr/>
        </p:nvSpPr>
        <p:spPr>
          <a:xfrm>
            <a:off x="594360" y="3447288"/>
            <a:ext cx="10972800" cy="694944"/>
          </a:xfrm>
          <a:prstGeom prst="roundRect">
            <a:avLst>
              <a:gd name="adj" fmla="val 11842"/>
            </a:avLst>
          </a:prstGeom>
          <a:solidFill>
            <a:srgbClr val="ECEAE4"/>
          </a:solidFill>
          <a:ln w="12700">
            <a:solidFill>
              <a:srgbClr val="ECEAE4"/>
            </a:solidFill>
            <a:prstDash val="solid"/>
          </a:ln>
        </p:spPr>
        <p:txBody>
          <a:bodyPr/>
          <a:p/>
        </p:txBody>
      </p:sp>
      <p:sp>
        <p:nvSpPr>
          <p:cNvPr id="13" name="Shape 11"/>
          <p:cNvSpPr/>
          <p:nvPr/>
        </p:nvSpPr>
        <p:spPr>
          <a:xfrm>
            <a:off x="914400" y="3584448"/>
            <a:ext cx="420624" cy="420624"/>
          </a:xfrm>
          <a:prstGeom prst="ellipse">
            <a:avLst/>
          </a:prstGeom>
          <a:solidFill>
            <a:srgbClr val="B02532"/>
          </a:solidFill>
          <a:ln/>
        </p:spPr>
        <p:txBody>
          <a:bodyPr/>
          <a:p/>
        </p:txBody>
      </p:sp>
      <p:sp>
        <p:nvSpPr>
          <p:cNvPr id="14" name="Text 12"/>
          <p:cNvSpPr/>
          <p:nvPr/>
        </p:nvSpPr>
        <p:spPr>
          <a:xfrm>
            <a:off x="914400" y="358444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a:t>
            </a:r>
            <a:endParaRPr lang="en-US" sz="1400" dirty="0"/>
          </a:p>
        </p:txBody>
      </p:sp>
      <p:sp>
        <p:nvSpPr>
          <p:cNvPr id="15" name="Text 13"/>
          <p:cNvSpPr/>
          <p:nvPr/>
        </p:nvSpPr>
        <p:spPr>
          <a:xfrm>
            <a:off x="1600200" y="3447288"/>
            <a:ext cx="9692640" cy="694944"/>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Decesele cu opioide pe rețetă au scăzut cu aproape 12% între 2022 și 2023; în 2023, aproape 80 000 de decese prin supradoză au implicat opioide.</a:t>
            </a:r>
            <a:endParaRPr lang="en-US" sz="1550" dirty="0"/>
          </a:p>
        </p:txBody>
      </p:sp>
      <p:sp>
        <p:nvSpPr>
          <p:cNvPr id="16" name="Shape 14"/>
          <p:cNvSpPr/>
          <p:nvPr/>
        </p:nvSpPr>
        <p:spPr>
          <a:xfrm>
            <a:off x="594360" y="4233672"/>
            <a:ext cx="10972800" cy="694944"/>
          </a:xfrm>
          <a:prstGeom prst="roundRect">
            <a:avLst>
              <a:gd name="adj" fmla="val 11842"/>
            </a:avLst>
          </a:prstGeom>
          <a:solidFill>
            <a:srgbClr val="ECEAE4"/>
          </a:solidFill>
          <a:ln w="12700">
            <a:solidFill>
              <a:srgbClr val="ECEAE4"/>
            </a:solidFill>
            <a:prstDash val="solid"/>
          </a:ln>
        </p:spPr>
        <p:txBody>
          <a:bodyPr/>
          <a:p/>
        </p:txBody>
      </p:sp>
      <p:sp>
        <p:nvSpPr>
          <p:cNvPr id="17" name="Shape 15"/>
          <p:cNvSpPr/>
          <p:nvPr/>
        </p:nvSpPr>
        <p:spPr>
          <a:xfrm>
            <a:off x="914400" y="4370832"/>
            <a:ext cx="420624" cy="420624"/>
          </a:xfrm>
          <a:prstGeom prst="ellipse">
            <a:avLst/>
          </a:prstGeom>
          <a:solidFill>
            <a:srgbClr val="B02532"/>
          </a:solidFill>
          <a:ln/>
        </p:spPr>
        <p:txBody>
          <a:bodyPr/>
          <a:p/>
        </p:txBody>
      </p:sp>
      <p:sp>
        <p:nvSpPr>
          <p:cNvPr id="18" name="Text 16"/>
          <p:cNvSpPr/>
          <p:nvPr/>
        </p:nvSpPr>
        <p:spPr>
          <a:xfrm>
            <a:off x="914400" y="437083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a:t>
            </a:r>
            <a:endParaRPr lang="en-US" sz="1400" dirty="0"/>
          </a:p>
        </p:txBody>
      </p:sp>
      <p:sp>
        <p:nvSpPr>
          <p:cNvPr id="19" name="Text 17"/>
          <p:cNvSpPr/>
          <p:nvPr/>
        </p:nvSpPr>
        <p:spPr>
          <a:xfrm>
            <a:off x="1600200" y="4233672"/>
            <a:ext cx="9692640" cy="694944"/>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Articolul însuși spune, mai jos, că medicii nu sunt singurii vinovați.</a:t>
            </a:r>
            <a:endParaRPr lang="en-US" sz="1550" dirty="0"/>
          </a:p>
        </p:txBody>
      </p:sp>
      <p:sp>
        <p:nvSpPr>
          <p:cNvPr id="20" name="Shape 18"/>
          <p:cNvSpPr/>
          <p:nvPr/>
        </p:nvSpPr>
        <p:spPr>
          <a:xfrm>
            <a:off x="594360" y="5074920"/>
            <a:ext cx="10972800" cy="868680"/>
          </a:xfrm>
          <a:prstGeom prst="roundRect">
            <a:avLst>
              <a:gd name="adj" fmla="val 9474"/>
            </a:avLst>
          </a:prstGeom>
          <a:solidFill>
            <a:srgbClr val="E1F0EC"/>
          </a:solidFill>
          <a:ln w="12700">
            <a:solidFill>
              <a:srgbClr val="E1F0EC"/>
            </a:solidFill>
            <a:prstDash val="solid"/>
          </a:ln>
        </p:spPr>
        <p:txBody>
          <a:bodyPr/>
          <a:p/>
        </p:txBody>
      </p:sp>
      <p:sp>
        <p:nvSpPr>
          <p:cNvPr id="21" name="Text 19"/>
          <p:cNvSpPr/>
          <p:nvPr/>
        </p:nvSpPr>
        <p:spPr>
          <a:xfrm>
            <a:off x="868680" y="5074920"/>
            <a:ext cx="10424160" cy="868680"/>
          </a:xfrm>
          <a:prstGeom prst="rect">
            <a:avLst/>
          </a:prstGeom>
          <a:noFill/>
          <a:ln/>
        </p:spPr>
        <p:txBody>
          <a:bodyPr wrap="square" lIns="0" tIns="0" rIns="0" bIns="0" rtlCol="0" anchor="ctr"/>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Mai aproape de date: „Prescrierea largă a opioidelor a deschis prima etapă a crizei.”</a:t>
            </a:r>
            <a:endParaRPr lang="en-US" sz="1700" dirty="0"/>
          </a:p>
        </p:txBody>
      </p:sp>
      <p:sp>
        <p:nvSpPr>
          <p:cNvPr id="22" name="Text 20"/>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Surse: CDC; AFP, preluat de Arab News, 10 august 2017.</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ÎN ULTIMII DOI ANI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Ce s-a schimbat la noi și în Europa</a:t>
            </a:r>
            <a:endParaRPr lang="en-US" sz="3200" dirty="0"/>
          </a:p>
        </p:txBody>
      </p:sp>
      <p:sp>
        <p:nvSpPr>
          <p:cNvPr id="4" name="Text 2"/>
          <p:cNvSpPr/>
          <p:nvPr/>
        </p:nvSpPr>
        <p:spPr>
          <a:xfrm>
            <a:off x="594360" y="1417320"/>
            <a:ext cx="5303520" cy="320040"/>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ROMÂNIA</a:t>
            </a:r>
            <a:endParaRPr lang="en-US" sz="1300" dirty="0"/>
          </a:p>
        </p:txBody>
      </p:sp>
      <p:sp>
        <p:nvSpPr>
          <p:cNvPr id="5" name="Shape 3"/>
          <p:cNvSpPr/>
          <p:nvPr/>
        </p:nvSpPr>
        <p:spPr>
          <a:xfrm>
            <a:off x="594360" y="1828800"/>
            <a:ext cx="5349240" cy="1234440"/>
          </a:xfrm>
          <a:prstGeom prst="roundRect">
            <a:avLst>
              <a:gd name="adj" fmla="val 6667"/>
            </a:avLst>
          </a:prstGeom>
          <a:solidFill>
            <a:srgbClr val="1D1F2B"/>
          </a:solidFill>
          <a:ln w="12700">
            <a:solidFill>
              <a:srgbClr val="1D1F2B"/>
            </a:solidFill>
            <a:prstDash val="solid"/>
          </a:ln>
        </p:spPr>
        <p:txBody>
          <a:bodyPr/>
          <a:p/>
        </p:txBody>
      </p:sp>
      <p:sp>
        <p:nvSpPr>
          <p:cNvPr id="6" name="Text 4"/>
          <p:cNvSpPr/>
          <p:nvPr/>
        </p:nvSpPr>
        <p:spPr>
          <a:xfrm>
            <a:off x="868680" y="1965960"/>
            <a:ext cx="4846320" cy="411480"/>
          </a:xfrm>
          <a:prstGeom prst="rect">
            <a:avLst/>
          </a:prstGeom>
          <a:noFill/>
          <a:ln/>
        </p:spPr>
        <p:txBody>
          <a:bodyPr wrap="square" lIns="0" tIns="0" rIns="0" bIns="0" rtlCol="0" anchor="t"/>
          <a:lstStyle/>
          <a:p>
            <a:pPr indent="0" marL="0">
              <a:buNone/>
            </a:pPr>
            <a:r>
              <a:rPr lang="en-US" sz="1800" b="1" dirty="0">
                <a:solidFill>
                  <a:srgbClr val="27D3BE"/>
                </a:solidFill>
                <a:latin typeface="Palatino Linotype" pitchFamily="34" charset="0"/>
                <a:ea typeface="Palatino Linotype" pitchFamily="34" charset="-122"/>
                <a:cs typeface="Palatino Linotype" pitchFamily="34" charset="-120"/>
              </a:rPr>
              <a:t>Ordonanța nr. 42/2024</a:t>
            </a:r>
            <a:endParaRPr lang="en-US" sz="1800" dirty="0"/>
          </a:p>
        </p:txBody>
      </p:sp>
      <p:sp>
        <p:nvSpPr>
          <p:cNvPr id="7" name="Text 5"/>
          <p:cNvSpPr/>
          <p:nvPr/>
        </p:nvSpPr>
        <p:spPr>
          <a:xfrm>
            <a:off x="868680" y="2377440"/>
            <a:ext cx="4846320" cy="640080"/>
          </a:xfrm>
          <a:prstGeom prst="rect">
            <a:avLst/>
          </a:prstGeom>
          <a:noFill/>
          <a:ln/>
        </p:spPr>
        <p:txBody>
          <a:bodyPr wrap="square" lIns="0" tIns="0" rIns="0" bIns="0" rtlCol="0" anchor="t"/>
          <a:lstStyle/>
          <a:p>
            <a:pPr indent="0" marL="0">
              <a:buNone/>
            </a:pPr>
            <a:r>
              <a:rPr lang="en-US" sz="1450" dirty="0">
                <a:solidFill>
                  <a:srgbClr val="FFFFFF"/>
                </a:solidFill>
                <a:latin typeface="Palatino Linotype" pitchFamily="34" charset="0"/>
                <a:ea typeface="Palatino Linotype" pitchFamily="34" charset="-122"/>
                <a:cs typeface="Palatino Linotype" pitchFamily="34" charset="-120"/>
              </a:rPr>
              <a:t>prescriere, înregistrare și raportare electronice; trasabilitate mai bună</a:t>
            </a:r>
            <a:endParaRPr lang="en-US" sz="1450" dirty="0"/>
          </a:p>
        </p:txBody>
      </p:sp>
      <p:sp>
        <p:nvSpPr>
          <p:cNvPr id="8" name="Shape 6"/>
          <p:cNvSpPr/>
          <p:nvPr/>
        </p:nvSpPr>
        <p:spPr>
          <a:xfrm>
            <a:off x="594360" y="3246120"/>
            <a:ext cx="5349240" cy="1234440"/>
          </a:xfrm>
          <a:prstGeom prst="roundRect">
            <a:avLst>
              <a:gd name="adj" fmla="val 6667"/>
            </a:avLst>
          </a:prstGeom>
          <a:solidFill>
            <a:srgbClr val="1D1F2B"/>
          </a:solidFill>
          <a:ln w="12700">
            <a:solidFill>
              <a:srgbClr val="1D1F2B"/>
            </a:solidFill>
            <a:prstDash val="solid"/>
          </a:ln>
        </p:spPr>
        <p:txBody>
          <a:bodyPr/>
          <a:p/>
        </p:txBody>
      </p:sp>
      <p:sp>
        <p:nvSpPr>
          <p:cNvPr id="9" name="Text 7"/>
          <p:cNvSpPr/>
          <p:nvPr/>
        </p:nvSpPr>
        <p:spPr>
          <a:xfrm>
            <a:off x="868680" y="3383280"/>
            <a:ext cx="4846320" cy="411480"/>
          </a:xfrm>
          <a:prstGeom prst="rect">
            <a:avLst/>
          </a:prstGeom>
          <a:noFill/>
          <a:ln/>
        </p:spPr>
        <p:txBody>
          <a:bodyPr wrap="square" lIns="0" tIns="0" rIns="0" bIns="0" rtlCol="0" anchor="t"/>
          <a:lstStyle/>
          <a:p>
            <a:pPr indent="0" marL="0">
              <a:buNone/>
            </a:pPr>
            <a:r>
              <a:rPr lang="en-US" sz="1800" b="1" dirty="0">
                <a:solidFill>
                  <a:srgbClr val="27D3BE"/>
                </a:solidFill>
                <a:latin typeface="Palatino Linotype" pitchFamily="34" charset="0"/>
                <a:ea typeface="Palatino Linotype" pitchFamily="34" charset="-122"/>
                <a:cs typeface="Palatino Linotype" pitchFamily="34" charset="-120"/>
              </a:rPr>
              <a:t>Martie 2025</a:t>
            </a:r>
            <a:endParaRPr lang="en-US" sz="1800" dirty="0"/>
          </a:p>
        </p:txBody>
      </p:sp>
      <p:sp>
        <p:nvSpPr>
          <p:cNvPr id="10" name="Text 8"/>
          <p:cNvSpPr/>
          <p:nvPr/>
        </p:nvSpPr>
        <p:spPr>
          <a:xfrm>
            <a:off x="868680" y="3794760"/>
            <a:ext cx="4846320" cy="640080"/>
          </a:xfrm>
          <a:prstGeom prst="rect">
            <a:avLst/>
          </a:prstGeom>
          <a:noFill/>
          <a:ln/>
        </p:spPr>
        <p:txBody>
          <a:bodyPr wrap="square" lIns="0" tIns="0" rIns="0" bIns="0" rtlCol="0" anchor="t"/>
          <a:lstStyle/>
          <a:p>
            <a:pPr indent="0" marL="0">
              <a:buNone/>
            </a:pPr>
            <a:r>
              <a:rPr lang="en-US" sz="1450" dirty="0">
                <a:solidFill>
                  <a:srgbClr val="FFFFFF"/>
                </a:solidFill>
                <a:latin typeface="Palatino Linotype" pitchFamily="34" charset="0"/>
                <a:ea typeface="Palatino Linotype" pitchFamily="34" charset="-122"/>
                <a:cs typeface="Palatino Linotype" pitchFamily="34" charset="-120"/>
              </a:rPr>
              <a:t>tramadolul, un analgezic opioid, intră în tabelele substanțelor controlate</a:t>
            </a:r>
            <a:endParaRPr lang="en-US" sz="1450" dirty="0"/>
          </a:p>
        </p:txBody>
      </p:sp>
      <p:sp>
        <p:nvSpPr>
          <p:cNvPr id="11" name="Text 9"/>
          <p:cNvSpPr/>
          <p:nvPr/>
        </p:nvSpPr>
        <p:spPr>
          <a:xfrm>
            <a:off x="6217920" y="1417320"/>
            <a:ext cx="5303520" cy="320040"/>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EUROPA, 2024</a:t>
            </a:r>
            <a:endParaRPr lang="en-US" sz="1300" dirty="0"/>
          </a:p>
        </p:txBody>
      </p:sp>
      <p:sp>
        <p:nvSpPr>
          <p:cNvPr id="12" name="Text 10"/>
          <p:cNvSpPr/>
          <p:nvPr/>
        </p:nvSpPr>
        <p:spPr>
          <a:xfrm>
            <a:off x="6217920" y="1783080"/>
            <a:ext cx="5303520" cy="914400"/>
          </a:xfrm>
          <a:prstGeom prst="rect">
            <a:avLst/>
          </a:prstGeom>
          <a:noFill/>
          <a:ln/>
        </p:spPr>
        <p:txBody>
          <a:bodyPr wrap="square" lIns="0" tIns="0" rIns="0" bIns="0" rtlCol="0" anchor="t"/>
          <a:lstStyle/>
          <a:p>
            <a:pPr indent="0" marL="0">
              <a:buNone/>
            </a:pPr>
            <a:r>
              <a:rPr lang="en-US" sz="5800" b="1" dirty="0">
                <a:solidFill>
                  <a:srgbClr val="FFC24B"/>
                </a:solidFill>
                <a:latin typeface="Palatino Linotype" pitchFamily="34" charset="0"/>
                <a:ea typeface="Palatino Linotype" pitchFamily="34" charset="-122"/>
                <a:cs typeface="Palatino Linotype" pitchFamily="34" charset="-120"/>
              </a:rPr>
              <a:t>50 000</a:t>
            </a:r>
            <a:endParaRPr lang="en-US" sz="5800" dirty="0"/>
          </a:p>
        </p:txBody>
      </p:sp>
      <p:sp>
        <p:nvSpPr>
          <p:cNvPr id="13" name="Text 11"/>
          <p:cNvSpPr/>
          <p:nvPr/>
        </p:nvSpPr>
        <p:spPr>
          <a:xfrm>
            <a:off x="6217920" y="2743200"/>
            <a:ext cx="5349240" cy="868680"/>
          </a:xfrm>
          <a:prstGeom prst="rect">
            <a:avLst/>
          </a:prstGeom>
          <a:noFill/>
          <a:ln/>
        </p:spPr>
        <p:txBody>
          <a:bodyPr wrap="square" lIns="0" tIns="0" rIns="0" bIns="0" rtlCol="0" anchor="t"/>
          <a:lstStyle/>
          <a:p>
            <a:pPr indent="0" marL="0">
              <a:buNone/>
            </a:pPr>
            <a:r>
              <a:rPr lang="en-US" sz="1550" dirty="0">
                <a:solidFill>
                  <a:srgbClr val="FFFFFF"/>
                </a:solidFill>
                <a:latin typeface="Palatino Linotype" pitchFamily="34" charset="0"/>
                <a:ea typeface="Palatino Linotype" pitchFamily="34" charset="-122"/>
                <a:cs typeface="Palatino Linotype" pitchFamily="34" charset="-120"/>
              </a:rPr>
              <a:t>de comprimate cu nitazene, opioide sintetice foarte puternice, găsite în 10 țări (23 000 în 2023).</a:t>
            </a:r>
            <a:endParaRPr lang="en-US" sz="1550" dirty="0"/>
          </a:p>
        </p:txBody>
      </p:sp>
      <p:sp>
        <p:nvSpPr>
          <p:cNvPr id="14" name="Text 12"/>
          <p:cNvSpPr/>
          <p:nvPr/>
        </p:nvSpPr>
        <p:spPr>
          <a:xfrm>
            <a:off x="6217920" y="3657600"/>
            <a:ext cx="5349240" cy="822960"/>
          </a:xfrm>
          <a:prstGeom prst="rect">
            <a:avLst/>
          </a:prstGeom>
          <a:noFill/>
          <a:ln/>
        </p:spPr>
        <p:txBody>
          <a:bodyPr wrap="square" lIns="0" tIns="0" rIns="0" bIns="0" rtlCol="0" anchor="t"/>
          <a:lstStyle/>
          <a:p>
            <a:pPr indent="0" marL="0">
              <a:buNone/>
            </a:pPr>
            <a:r>
              <a:rPr lang="en-US" sz="1550" i="1" dirty="0">
                <a:solidFill>
                  <a:srgbClr val="959BB0"/>
                </a:solidFill>
                <a:latin typeface="Palatino Linotype" pitchFamily="34" charset="0"/>
                <a:ea typeface="Palatino Linotype" pitchFamily="34" charset="-122"/>
                <a:cs typeface="Palatino Linotype" pitchFamily="34" charset="-120"/>
              </a:rPr>
              <a:t>Medicamentele false par legitime: un fals sentiment de siguranță.</a:t>
            </a:r>
            <a:endParaRPr lang="en-US" sz="1550" dirty="0"/>
          </a:p>
        </p:txBody>
      </p:sp>
      <p:sp>
        <p:nvSpPr>
          <p:cNvPr id="15" name="Text 13"/>
          <p:cNvSpPr/>
          <p:nvPr/>
        </p:nvSpPr>
        <p:spPr>
          <a:xfrm>
            <a:off x="594360" y="4846320"/>
            <a:ext cx="10972800" cy="822960"/>
          </a:xfrm>
          <a:prstGeom prst="rect">
            <a:avLst/>
          </a:prstGeom>
          <a:noFill/>
          <a:ln/>
        </p:spPr>
        <p:txBody>
          <a:bodyPr wrap="square" lIns="0" tIns="0" rIns="0" bIns="0" rtlCol="0" anchor="t"/>
          <a:lstStyle/>
          <a:p>
            <a:pPr indent="0" marL="0">
              <a:buNone/>
            </a:pPr>
            <a:r>
              <a:rPr lang="en-US" sz="1800" b="1" dirty="0">
                <a:solidFill>
                  <a:srgbClr val="FF4757"/>
                </a:solidFill>
                <a:latin typeface="Palatino Linotype" pitchFamily="34" charset="0"/>
                <a:ea typeface="Palatino Linotype" pitchFamily="34" charset="-122"/>
                <a:cs typeface="Palatino Linotype" pitchFamily="34" charset="-120"/>
              </a:rPr>
              <a:t>Un pacient care nu mai primește rețeta și își caută pastilele pe internet poate cumpăra altceva decât crede.</a:t>
            </a:r>
            <a:endParaRPr lang="en-US" sz="1800" dirty="0"/>
          </a:p>
        </p:txBody>
      </p:sp>
      <p:sp>
        <p:nvSpPr>
          <p:cNvPr id="16" name="Text 14"/>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Surse: Ordonanța nr. 42/2024; EUDA, European Drug Report 2026.</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 · JUMĂTATE DE MINUT</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PARTEA A DOUA · ÎNCHEIERE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Ce îi spuneți mâine unui coleg</a:t>
            </a:r>
            <a:endParaRPr lang="en-US" sz="3400" dirty="0"/>
          </a:p>
        </p:txBody>
      </p:sp>
      <p:sp>
        <p:nvSpPr>
          <p:cNvPr id="6" name="Shape 4"/>
          <p:cNvSpPr/>
          <p:nvPr/>
        </p:nvSpPr>
        <p:spPr>
          <a:xfrm>
            <a:off x="594360" y="1828800"/>
            <a:ext cx="73152" cy="3291840"/>
          </a:xfrm>
          <a:prstGeom prst="rect">
            <a:avLst/>
          </a:prstGeom>
          <a:solidFill>
            <a:srgbClr val="27D3BE"/>
          </a:solidFill>
          <a:ln w="12700">
            <a:solidFill>
              <a:srgbClr val="27D3BE"/>
            </a:solidFill>
            <a:prstDash val="solid"/>
          </a:ln>
        </p:spPr>
        <p:txBody>
          <a:bodyPr/>
          <a:p/>
        </p:txBody>
      </p:sp>
      <p:sp>
        <p:nvSpPr>
          <p:cNvPr id="7" name="Text 5"/>
          <p:cNvSpPr/>
          <p:nvPr/>
        </p:nvSpPr>
        <p:spPr>
          <a:xfrm>
            <a:off x="960120" y="1828800"/>
            <a:ext cx="10515600" cy="3291840"/>
          </a:xfrm>
          <a:prstGeom prst="rect">
            <a:avLst/>
          </a:prstGeom>
          <a:noFill/>
          <a:ln/>
        </p:spPr>
        <p:txBody>
          <a:bodyPr wrap="square" lIns="0" tIns="0" rIns="0" bIns="0" rtlCol="0" anchor="ctr"/>
          <a:lstStyle/>
          <a:p>
            <a:pPr indent="0" marL="0">
              <a:buNone/>
            </a:pPr>
            <a:r>
              <a:rPr lang="en-US" sz="2300" i="1" dirty="0">
                <a:solidFill>
                  <a:srgbClr val="FFFFFF"/>
                </a:solidFill>
                <a:latin typeface="Palatino Linotype" pitchFamily="34" charset="0"/>
                <a:ea typeface="Palatino Linotype" pitchFamily="34" charset="-122"/>
                <a:cs typeface="Palatino Linotype" pitchFamily="34" charset="-120"/>
              </a:rPr>
              <a:t>„Criza americană a opioidelor a început cu rețete. Înainte să scrii un opioid pentru o durere care durează de luni de zile, încearcă tratamentele fără opioide, stabilește cu pacientul ce vreți să obțineți și cât durează. Și nu combina, fără un motiv bun, opioidul cu o benzodiazepină.”</a:t>
            </a:r>
            <a:endParaRPr lang="en-US" sz="2300" dirty="0"/>
          </a:p>
        </p:txBody>
      </p:sp>
      <p:sp>
        <p:nvSpPr>
          <p:cNvPr id="8" name="Text 6"/>
          <p:cNvSpPr/>
          <p:nvPr/>
        </p:nvSpPr>
        <p:spPr>
          <a:xfrm>
            <a:off x="594360" y="5486400"/>
            <a:ext cx="10972800" cy="41148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Spuneți-o, cu cuvintele voastre, colegului de bancă.</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2103120"/>
            <a:ext cx="10972800" cy="1280160"/>
          </a:xfrm>
          <a:prstGeom prst="rect">
            <a:avLst/>
          </a:prstGeom>
          <a:noFill/>
          <a:ln/>
        </p:spPr>
        <p:txBody>
          <a:bodyPr wrap="square" lIns="0" tIns="0" rIns="0" bIns="0" rtlCol="0" anchor="ctr"/>
          <a:lstStyle/>
          <a:p>
            <a:pPr algn="ctr" indent="0" marL="0">
              <a:buNone/>
            </a:pPr>
            <a:r>
              <a:rPr lang="en-US" sz="6600" b="1" dirty="0">
                <a:solidFill>
                  <a:srgbClr val="FFFFFF"/>
                </a:solidFill>
                <a:latin typeface="Palatino Linotype" pitchFamily="34" charset="0"/>
                <a:ea typeface="Palatino Linotype" pitchFamily="34" charset="-122"/>
                <a:cs typeface="Palatino Linotype" pitchFamily="34" charset="-120"/>
              </a:rPr>
              <a:t>Zece minute</a:t>
            </a:r>
            <a:endParaRPr lang="en-US" sz="6600" dirty="0"/>
          </a:p>
        </p:txBody>
      </p:sp>
      <p:sp>
        <p:nvSpPr>
          <p:cNvPr id="3" name="Text 1"/>
          <p:cNvSpPr/>
          <p:nvPr/>
        </p:nvSpPr>
        <p:spPr>
          <a:xfrm>
            <a:off x="1371600" y="3566160"/>
            <a:ext cx="9418320" cy="822960"/>
          </a:xfrm>
          <a:prstGeom prst="rect">
            <a:avLst/>
          </a:prstGeom>
          <a:noFill/>
          <a:ln/>
        </p:spPr>
        <p:txBody>
          <a:bodyPr wrap="square" lIns="0" tIns="0" rIns="0" bIns="0" rtlCol="0" anchor="t"/>
          <a:lstStyle/>
          <a:p>
            <a:pPr algn="ctr" indent="0" marL="0">
              <a:buNone/>
            </a:pPr>
            <a:r>
              <a:rPr lang="en-US" sz="2000" dirty="0">
                <a:solidFill>
                  <a:srgbClr val="959BB0"/>
                </a:solidFill>
                <a:latin typeface="Palatino Linotype" pitchFamily="34" charset="0"/>
                <a:ea typeface="Palatino Linotype" pitchFamily="34" charset="-122"/>
                <a:cs typeface="Palatino Linotype" pitchFamily="34" charset="-120"/>
              </a:rPr>
              <a:t>Urmează seringa curată: București, 2010.</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PARTEA A TREIA · SERINGA CURATĂ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București, la câțiva ani după aderare</a:t>
            </a:r>
            <a:endParaRPr lang="en-US" sz="3200" dirty="0"/>
          </a:p>
        </p:txBody>
      </p:sp>
      <p:sp>
        <p:nvSpPr>
          <p:cNvPr id="4" name="Shape 2"/>
          <p:cNvSpPr/>
          <p:nvPr/>
        </p:nvSpPr>
        <p:spPr>
          <a:xfrm>
            <a:off x="594360" y="1463040"/>
            <a:ext cx="6766560" cy="3566160"/>
          </a:xfrm>
          <a:prstGeom prst="roundRect">
            <a:avLst>
              <a:gd name="adj" fmla="val 2308"/>
            </a:avLst>
          </a:prstGeom>
          <a:solidFill>
            <a:srgbClr val="1D1F2B"/>
          </a:solidFill>
          <a:ln w="12700">
            <a:solidFill>
              <a:srgbClr val="1D1F2B"/>
            </a:solidFill>
            <a:prstDash val="solid"/>
          </a:ln>
        </p:spPr>
        <p:txBody>
          <a:bodyPr/>
          <a:p/>
        </p:txBody>
      </p:sp>
      <p:sp>
        <p:nvSpPr>
          <p:cNvPr id="5" name="Shape 3"/>
          <p:cNvSpPr/>
          <p:nvPr/>
        </p:nvSpPr>
        <p:spPr>
          <a:xfrm>
            <a:off x="594360" y="1463040"/>
            <a:ext cx="73152" cy="3566160"/>
          </a:xfrm>
          <a:prstGeom prst="rect">
            <a:avLst/>
          </a:prstGeom>
          <a:solidFill>
            <a:srgbClr val="27D3BE"/>
          </a:solidFill>
          <a:ln w="12700">
            <a:solidFill>
              <a:srgbClr val="27D3BE"/>
            </a:solidFill>
            <a:prstDash val="solid"/>
          </a:ln>
        </p:spPr>
        <p:txBody>
          <a:bodyPr/>
          <a:p/>
        </p:txBody>
      </p:sp>
      <p:sp>
        <p:nvSpPr>
          <p:cNvPr id="6" name="Text 4"/>
          <p:cNvSpPr/>
          <p:nvPr/>
        </p:nvSpPr>
        <p:spPr>
          <a:xfrm>
            <a:off x="914400" y="1645920"/>
            <a:ext cx="6217920" cy="292608"/>
          </a:xfrm>
          <a:prstGeom prst="rect">
            <a:avLst/>
          </a:prstGeom>
          <a:noFill/>
          <a:ln/>
        </p:spPr>
        <p:txBody>
          <a:bodyPr wrap="square" lIns="0" tIns="0" rIns="0" bIns="0" rtlCol="0" anchor="t"/>
          <a:lstStyle/>
          <a:p>
            <a:pPr indent="0" marL="0">
              <a:buNone/>
            </a:pPr>
            <a:r>
              <a:rPr lang="en-US" sz="1250" b="1" spc="200" kern="0" dirty="0">
                <a:solidFill>
                  <a:srgbClr val="27D3BE"/>
                </a:solidFill>
                <a:latin typeface="Palatino Linotype" pitchFamily="34" charset="0"/>
                <a:ea typeface="Palatino Linotype" pitchFamily="34" charset="-122"/>
                <a:cs typeface="Palatino Linotype" pitchFamily="34" charset="-120"/>
              </a:rPr>
              <a:t>SPITALUL DE BOLI INFECȚIOASE</a:t>
            </a:r>
            <a:endParaRPr lang="en-US" sz="1250" dirty="0"/>
          </a:p>
        </p:txBody>
      </p:sp>
      <p:sp>
        <p:nvSpPr>
          <p:cNvPr id="7" name="Text 5"/>
          <p:cNvSpPr/>
          <p:nvPr/>
        </p:nvSpPr>
        <p:spPr>
          <a:xfrm>
            <a:off x="914400" y="2057400"/>
            <a:ext cx="6217920" cy="2834640"/>
          </a:xfrm>
          <a:prstGeom prst="rect">
            <a:avLst/>
          </a:prstGeom>
          <a:noFill/>
          <a:ln/>
        </p:spPr>
        <p:txBody>
          <a:bodyPr wrap="square" lIns="0" tIns="0" rIns="0" bIns="0" rtlCol="0" anchor="t"/>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Numărul tinerilor care își injectează droguri și primesc un diagnostic nou de infecție HIV crește de la o lună la alta. Mulți nu mai injectează heroină, ci o pulbere vândută legal, ca „sare de baie” sau „îngrășământ pentru plante”.</a:t>
            </a:r>
            <a:endParaRPr lang="en-US" sz="1700" dirty="0"/>
          </a:p>
        </p:txBody>
      </p:sp>
      <p:sp>
        <p:nvSpPr>
          <p:cNvPr id="8" name="Shape 6"/>
          <p:cNvSpPr/>
          <p:nvPr/>
        </p:nvSpPr>
        <p:spPr>
          <a:xfrm>
            <a:off x="7635240" y="1463040"/>
            <a:ext cx="3931920" cy="3566160"/>
          </a:xfrm>
          <a:prstGeom prst="roundRect">
            <a:avLst>
              <a:gd name="adj" fmla="val 2308"/>
            </a:avLst>
          </a:prstGeom>
          <a:solidFill>
            <a:srgbClr val="272A38"/>
          </a:solidFill>
          <a:ln w="12700">
            <a:solidFill>
              <a:srgbClr val="272A38"/>
            </a:solidFill>
            <a:prstDash val="solid"/>
          </a:ln>
        </p:spPr>
        <p:txBody>
          <a:bodyPr/>
          <a:p/>
        </p:txBody>
      </p:sp>
      <p:sp>
        <p:nvSpPr>
          <p:cNvPr id="9" name="Text 7"/>
          <p:cNvSpPr/>
          <p:nvPr/>
        </p:nvSpPr>
        <p:spPr>
          <a:xfrm>
            <a:off x="7909560" y="1645920"/>
            <a:ext cx="3474720" cy="292608"/>
          </a:xfrm>
          <a:prstGeom prst="rect">
            <a:avLst/>
          </a:prstGeom>
          <a:noFill/>
          <a:ln/>
        </p:spPr>
        <p:txBody>
          <a:bodyPr wrap="square" lIns="0" tIns="0" rIns="0" bIns="0" rtlCol="0" anchor="t"/>
          <a:lstStyle/>
          <a:p>
            <a:pPr indent="0" marL="0">
              <a:buNone/>
            </a:pPr>
            <a:r>
              <a:rPr lang="en-US" sz="1250" b="1" spc="200" kern="0" dirty="0">
                <a:solidFill>
                  <a:srgbClr val="FFC24B"/>
                </a:solidFill>
                <a:latin typeface="Palatino Linotype" pitchFamily="34" charset="0"/>
                <a:ea typeface="Palatino Linotype" pitchFamily="34" charset="-122"/>
                <a:cs typeface="Palatino Linotype" pitchFamily="34" charset="-120"/>
              </a:rPr>
              <a:t>UN MEDIC REZIDENT</a:t>
            </a:r>
            <a:endParaRPr lang="en-US" sz="1250" dirty="0"/>
          </a:p>
        </p:txBody>
      </p:sp>
      <p:sp>
        <p:nvSpPr>
          <p:cNvPr id="10" name="Text 8"/>
          <p:cNvSpPr/>
          <p:nvPr/>
        </p:nvSpPr>
        <p:spPr>
          <a:xfrm>
            <a:off x="7909560" y="2103120"/>
            <a:ext cx="3474720" cy="2651760"/>
          </a:xfrm>
          <a:prstGeom prst="rect">
            <a:avLst/>
          </a:prstGeom>
          <a:noFill/>
          <a:ln/>
        </p:spPr>
        <p:txBody>
          <a:bodyPr wrap="square" lIns="0" tIns="0" rIns="0" bIns="0" rtlCol="0" anchor="ctr"/>
          <a:lstStyle/>
          <a:p>
            <a:pPr indent="0" marL="0">
              <a:buNone/>
            </a:pPr>
            <a:r>
              <a:rPr lang="en-US" sz="2400" b="1" i="1" dirty="0">
                <a:solidFill>
                  <a:srgbClr val="FFFFFF"/>
                </a:solidFill>
                <a:latin typeface="Palatino Linotype" pitchFamily="34" charset="0"/>
                <a:ea typeface="Palatino Linotype" pitchFamily="34" charset="-122"/>
                <a:cs typeface="Palatino Linotype" pitchFamily="34" charset="-120"/>
              </a:rPr>
              <a:t>„Cum s-a putut întâmpla asta atât de repede?”</a:t>
            </a:r>
            <a:endParaRPr lang="en-US" sz="2400" dirty="0"/>
          </a:p>
        </p:txBody>
      </p:sp>
      <p:sp>
        <p:nvSpPr>
          <p:cNvPr id="11" name="Text 9"/>
          <p:cNvSpPr/>
          <p:nvPr/>
        </p:nvSpPr>
        <p:spPr>
          <a:xfrm>
            <a:off x="594360" y="6309360"/>
            <a:ext cx="7315200" cy="256032"/>
          </a:xfrm>
          <a:prstGeom prst="rect">
            <a:avLst/>
          </a:prstGeom>
          <a:noFill/>
          <a:ln/>
        </p:spPr>
        <p:txBody>
          <a:bodyPr wrap="square" lIns="0" tIns="0" rIns="0" bIns="0" rtlCol="0" anchor="t"/>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Cazul este o reconstituire; cifrele care urmează nu sunt.</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COMISIA THE LANCET · 2016</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Două schimbări în același timp</a:t>
            </a:r>
            <a:endParaRPr lang="en-US" sz="3200" dirty="0"/>
          </a:p>
        </p:txBody>
      </p:sp>
      <p:sp>
        <p:nvSpPr>
          <p:cNvPr id="4" name="Shape 2"/>
          <p:cNvSpPr/>
          <p:nvPr/>
        </p:nvSpPr>
        <p:spPr>
          <a:xfrm>
            <a:off x="594360" y="1463040"/>
            <a:ext cx="5120640" cy="1737360"/>
          </a:xfrm>
          <a:prstGeom prst="roundRect">
            <a:avLst>
              <a:gd name="adj" fmla="val 4737"/>
            </a:avLst>
          </a:prstGeom>
          <a:solidFill>
            <a:srgbClr val="ECEAE4"/>
          </a:solidFill>
          <a:ln w="12700">
            <a:solidFill>
              <a:srgbClr val="ECEAE4"/>
            </a:solidFill>
            <a:prstDash val="solid"/>
          </a:ln>
        </p:spPr>
        <p:txBody>
          <a:bodyPr/>
          <a:p/>
        </p:txBody>
      </p:sp>
      <p:sp>
        <p:nvSpPr>
          <p:cNvPr id="5" name="Text 3"/>
          <p:cNvSpPr/>
          <p:nvPr/>
        </p:nvSpPr>
        <p:spPr>
          <a:xfrm>
            <a:off x="868680" y="1572768"/>
            <a:ext cx="4572000" cy="868680"/>
          </a:xfrm>
          <a:prstGeom prst="rect">
            <a:avLst/>
          </a:prstGeom>
          <a:noFill/>
          <a:ln/>
        </p:spPr>
        <p:txBody>
          <a:bodyPr wrap="square" lIns="0" tIns="0" rIns="0" bIns="0" rtlCol="0" anchor="ctr"/>
          <a:lstStyle/>
          <a:p>
            <a:pPr indent="0" marL="0">
              <a:buNone/>
            </a:pPr>
            <a:r>
              <a:rPr lang="en-US" sz="3600" b="1" dirty="0">
                <a:solidFill>
                  <a:srgbClr val="B02532"/>
                </a:solidFill>
                <a:latin typeface="Palatino Linotype" pitchFamily="34" charset="0"/>
                <a:ea typeface="Palatino Linotype" pitchFamily="34" charset="-122"/>
                <a:cs typeface="Palatino Linotype" pitchFamily="34" charset="-120"/>
              </a:rPr>
              <a:t>de 20 de ori</a:t>
            </a:r>
            <a:endParaRPr lang="en-US" sz="3600" dirty="0"/>
          </a:p>
        </p:txBody>
      </p:sp>
      <p:sp>
        <p:nvSpPr>
          <p:cNvPr id="6" name="Text 4"/>
          <p:cNvSpPr/>
          <p:nvPr/>
        </p:nvSpPr>
        <p:spPr>
          <a:xfrm>
            <a:off x="868680" y="2350008"/>
            <a:ext cx="4572000" cy="799186"/>
          </a:xfrm>
          <a:prstGeom prst="rect">
            <a:avLst/>
          </a:prstGeom>
          <a:noFill/>
          <a:ln/>
        </p:spPr>
        <p:txBody>
          <a:bodyPr wrap="square" lIns="0" tIns="0" rIns="0" bIns="0" rtlCol="0" anchor="t"/>
          <a:lstStyle/>
          <a:p>
            <a:pPr indent="0" marL="0">
              <a:buNone/>
            </a:pPr>
            <a:r>
              <a:rPr lang="en-US" sz="1200" dirty="0">
                <a:solidFill>
                  <a:srgbClr val="11121A"/>
                </a:solidFill>
                <a:latin typeface="Palatino Linotype" pitchFamily="34" charset="0"/>
                <a:ea typeface="Palatino Linotype" pitchFamily="34" charset="-122"/>
                <a:cs typeface="Palatino Linotype" pitchFamily="34" charset="-120"/>
              </a:rPr>
              <a:t>creșterea diagnosticelor noi de HIV prin injectare</a:t>
            </a:r>
            <a:endParaRPr lang="en-US" sz="1200" dirty="0"/>
          </a:p>
        </p:txBody>
      </p:sp>
      <p:sp>
        <p:nvSpPr>
          <p:cNvPr id="7" name="Shape 5"/>
          <p:cNvSpPr/>
          <p:nvPr/>
        </p:nvSpPr>
        <p:spPr>
          <a:xfrm>
            <a:off x="594360" y="3383280"/>
            <a:ext cx="5120640" cy="1737360"/>
          </a:xfrm>
          <a:prstGeom prst="roundRect">
            <a:avLst>
              <a:gd name="adj" fmla="val 4737"/>
            </a:avLst>
          </a:prstGeom>
          <a:solidFill>
            <a:srgbClr val="ECEAE4"/>
          </a:solidFill>
          <a:ln w="12700">
            <a:solidFill>
              <a:srgbClr val="ECEAE4"/>
            </a:solidFill>
            <a:prstDash val="solid"/>
          </a:ln>
        </p:spPr>
        <p:txBody>
          <a:bodyPr/>
          <a:p/>
        </p:txBody>
      </p:sp>
      <p:sp>
        <p:nvSpPr>
          <p:cNvPr id="8" name="Text 6"/>
          <p:cNvSpPr/>
          <p:nvPr/>
        </p:nvSpPr>
        <p:spPr>
          <a:xfrm>
            <a:off x="868680" y="3493008"/>
            <a:ext cx="4572000" cy="868680"/>
          </a:xfrm>
          <a:prstGeom prst="rect">
            <a:avLst/>
          </a:prstGeom>
          <a:noFill/>
          <a:ln/>
        </p:spPr>
        <p:txBody>
          <a:bodyPr wrap="square" lIns="0" tIns="0" rIns="0" bIns="0" rtlCol="0" anchor="ctr"/>
          <a:lstStyle/>
          <a:p>
            <a:pPr indent="0" marL="0">
              <a:buNone/>
            </a:pPr>
            <a:r>
              <a:rPr lang="en-US" sz="3600" b="1" dirty="0">
                <a:solidFill>
                  <a:srgbClr val="B02532"/>
                </a:solidFill>
                <a:latin typeface="Palatino Linotype" pitchFamily="34" charset="0"/>
                <a:ea typeface="Palatino Linotype" pitchFamily="34" charset="-122"/>
                <a:cs typeface="Palatino Linotype" pitchFamily="34" charset="-120"/>
              </a:rPr>
              <a:t>o treime</a:t>
            </a:r>
            <a:endParaRPr lang="en-US" sz="3600" dirty="0"/>
          </a:p>
        </p:txBody>
      </p:sp>
      <p:sp>
        <p:nvSpPr>
          <p:cNvPr id="9" name="Text 7"/>
          <p:cNvSpPr/>
          <p:nvPr/>
        </p:nvSpPr>
        <p:spPr>
          <a:xfrm>
            <a:off x="868680" y="4270248"/>
            <a:ext cx="4572000" cy="799186"/>
          </a:xfrm>
          <a:prstGeom prst="rect">
            <a:avLst/>
          </a:prstGeom>
          <a:noFill/>
          <a:ln/>
        </p:spPr>
        <p:txBody>
          <a:bodyPr wrap="square" lIns="0" tIns="0" rIns="0" bIns="0" rtlCol="0" anchor="t"/>
          <a:lstStyle/>
          <a:p>
            <a:pPr indent="0" marL="0">
              <a:buNone/>
            </a:pPr>
            <a:r>
              <a:rPr lang="en-US" sz="1200" dirty="0">
                <a:solidFill>
                  <a:srgbClr val="11121A"/>
                </a:solidFill>
                <a:latin typeface="Palatino Linotype" pitchFamily="34" charset="0"/>
                <a:ea typeface="Palatino Linotype" pitchFamily="34" charset="-122"/>
                <a:cs typeface="Palatino Linotype" pitchFamily="34" charset="-120"/>
              </a:rPr>
              <a:t>din HIV prin injectare în UE de atunci, Norvegia, Islanda și Turcia, 2010–2012: România și Grecia, împreună</a:t>
            </a:r>
            <a:endParaRPr lang="en-US" sz="1200" dirty="0"/>
          </a:p>
        </p:txBody>
      </p:sp>
      <p:sp>
        <p:nvSpPr>
          <p:cNvPr id="10" name="Shape 8"/>
          <p:cNvSpPr/>
          <p:nvPr/>
        </p:nvSpPr>
        <p:spPr>
          <a:xfrm>
            <a:off x="5989320" y="1463040"/>
            <a:ext cx="5577840" cy="1737360"/>
          </a:xfrm>
          <a:prstGeom prst="roundRect">
            <a:avLst>
              <a:gd name="adj" fmla="val 4737"/>
            </a:avLst>
          </a:prstGeom>
          <a:solidFill>
            <a:srgbClr val="E1F0EC"/>
          </a:solidFill>
          <a:ln w="12700">
            <a:solidFill>
              <a:srgbClr val="E1F0EC"/>
            </a:solidFill>
            <a:prstDash val="solid"/>
          </a:ln>
        </p:spPr>
        <p:txBody>
          <a:bodyPr/>
          <a:p/>
        </p:txBody>
      </p:sp>
      <p:sp>
        <p:nvSpPr>
          <p:cNvPr id="11" name="Shape 9"/>
          <p:cNvSpPr/>
          <p:nvPr/>
        </p:nvSpPr>
        <p:spPr>
          <a:xfrm>
            <a:off x="6263640" y="2121408"/>
            <a:ext cx="420624" cy="420624"/>
          </a:xfrm>
          <a:prstGeom prst="ellipse">
            <a:avLst/>
          </a:prstGeom>
          <a:solidFill>
            <a:srgbClr val="0E7C6B"/>
          </a:solidFill>
          <a:ln/>
        </p:spPr>
        <p:txBody>
          <a:bodyPr/>
          <a:p/>
        </p:txBody>
      </p:sp>
      <p:sp>
        <p:nvSpPr>
          <p:cNvPr id="12" name="Text 10"/>
          <p:cNvSpPr/>
          <p:nvPr/>
        </p:nvSpPr>
        <p:spPr>
          <a:xfrm>
            <a:off x="6263640" y="21214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13" name="Text 11"/>
          <p:cNvSpPr/>
          <p:nvPr/>
        </p:nvSpPr>
        <p:spPr>
          <a:xfrm>
            <a:off x="6903720" y="1463040"/>
            <a:ext cx="4480560" cy="173736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Reducerea riscurilor, slăbită în 2010: finanțarea Fondului Global s-a pierdut odată cu aderarea.</a:t>
            </a:r>
            <a:endParaRPr lang="en-US" sz="1550" dirty="0"/>
          </a:p>
        </p:txBody>
      </p:sp>
      <p:sp>
        <p:nvSpPr>
          <p:cNvPr id="14" name="Shape 12"/>
          <p:cNvSpPr/>
          <p:nvPr/>
        </p:nvSpPr>
        <p:spPr>
          <a:xfrm>
            <a:off x="5989320" y="3383280"/>
            <a:ext cx="5577840" cy="1737360"/>
          </a:xfrm>
          <a:prstGeom prst="roundRect">
            <a:avLst>
              <a:gd name="adj" fmla="val 4737"/>
            </a:avLst>
          </a:prstGeom>
          <a:solidFill>
            <a:srgbClr val="E1F0EC"/>
          </a:solidFill>
          <a:ln w="12700">
            <a:solidFill>
              <a:srgbClr val="E1F0EC"/>
            </a:solidFill>
            <a:prstDash val="solid"/>
          </a:ln>
        </p:spPr>
        <p:txBody>
          <a:bodyPr/>
          <a:p/>
        </p:txBody>
      </p:sp>
      <p:sp>
        <p:nvSpPr>
          <p:cNvPr id="15" name="Shape 13"/>
          <p:cNvSpPr/>
          <p:nvPr/>
        </p:nvSpPr>
        <p:spPr>
          <a:xfrm>
            <a:off x="6263640" y="4041648"/>
            <a:ext cx="420624" cy="420624"/>
          </a:xfrm>
          <a:prstGeom prst="ellipse">
            <a:avLst/>
          </a:prstGeom>
          <a:solidFill>
            <a:srgbClr val="0E7C6B"/>
          </a:solidFill>
          <a:ln/>
        </p:spPr>
        <p:txBody>
          <a:bodyPr/>
          <a:p/>
        </p:txBody>
      </p:sp>
      <p:sp>
        <p:nvSpPr>
          <p:cNvPr id="16" name="Text 14"/>
          <p:cNvSpPr/>
          <p:nvPr/>
        </p:nvSpPr>
        <p:spPr>
          <a:xfrm>
            <a:off x="6263640" y="404164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7" name="Text 15"/>
          <p:cNvSpPr/>
          <p:nvPr/>
        </p:nvSpPr>
        <p:spPr>
          <a:xfrm>
            <a:off x="6903720" y="3383280"/>
            <a:ext cx="4480560" cy="173736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Stimulante ieftine, încă necontrolate: șase până la zece injectări pe zi, față de două sau trei la heroină.</a:t>
            </a:r>
            <a:endParaRPr lang="en-US" sz="1550" dirty="0"/>
          </a:p>
        </p:txBody>
      </p:sp>
      <p:sp>
        <p:nvSpPr>
          <p:cNvPr id="18" name="Text 16"/>
          <p:cNvSpPr/>
          <p:nvPr/>
        </p:nvSpPr>
        <p:spPr>
          <a:xfrm>
            <a:off x="594360" y="5349240"/>
            <a:ext cx="10972800" cy="731520"/>
          </a:xfrm>
          <a:prstGeom prst="rect">
            <a:avLst/>
          </a:prstGeom>
          <a:noFill/>
          <a:ln/>
        </p:spPr>
        <p:txBody>
          <a:bodyPr wrap="square" lIns="0" tIns="0" rIns="0" bIns="0" rtlCol="0" anchor="t"/>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Problema atribuirii: ambele cauze sunt numite, fără ponderea fiecăreia.</a:t>
            </a:r>
            <a:endParaRPr lang="en-US" sz="1600" dirty="0"/>
          </a:p>
        </p:txBody>
      </p:sp>
      <p:sp>
        <p:nvSpPr>
          <p:cNvPr id="19" name="Text 17"/>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comisia The Lancet pentru sănătate publică și politica drogurilor, 2016.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AL DOILEA TERMEN NOU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Reducerea riscurilor</a:t>
            </a:r>
            <a:endParaRPr lang="en-US" sz="3400" dirty="0"/>
          </a:p>
        </p:txBody>
      </p:sp>
      <p:sp>
        <p:nvSpPr>
          <p:cNvPr id="4" name="Text 2"/>
          <p:cNvSpPr/>
          <p:nvPr/>
        </p:nvSpPr>
        <p:spPr>
          <a:xfrm>
            <a:off x="594360" y="1417320"/>
            <a:ext cx="5852160" cy="1645920"/>
          </a:xfrm>
          <a:prstGeom prst="rect">
            <a:avLst/>
          </a:prstGeom>
          <a:noFill/>
          <a:ln/>
        </p:spPr>
        <p:txBody>
          <a:bodyPr wrap="square" lIns="0" tIns="0" rIns="0" bIns="0" rtlCol="0" anchor="t"/>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Politicile, programele și intervențiile care reduc efectele sanitare, sociale, juridice și economice ale consumului de droguri. Obiectivul principal nu este încetarea totală a consumului.</a:t>
            </a:r>
            <a:endParaRPr lang="en-US" sz="1700" dirty="0"/>
          </a:p>
        </p:txBody>
      </p:sp>
      <p:sp>
        <p:nvSpPr>
          <p:cNvPr id="5" name="Text 3"/>
          <p:cNvSpPr/>
          <p:nvPr/>
        </p:nvSpPr>
        <p:spPr>
          <a:xfrm>
            <a:off x="594360" y="3200400"/>
            <a:ext cx="5852160" cy="914400"/>
          </a:xfrm>
          <a:prstGeom prst="rect">
            <a:avLst/>
          </a:prstGeom>
          <a:noFill/>
          <a:ln/>
        </p:spPr>
        <p:txBody>
          <a:bodyPr wrap="square" lIns="0" tIns="0" rIns="0" bIns="0" rtlCol="0" anchor="t"/>
          <a:lstStyle/>
          <a:p>
            <a:pPr indent="0" marL="0">
              <a:buNone/>
            </a:pPr>
            <a:r>
              <a:rPr lang="en-US" sz="1900" b="1" i="1" dirty="0">
                <a:solidFill>
                  <a:srgbClr val="FFC24B"/>
                </a:solidFill>
                <a:latin typeface="Palatino Linotype" pitchFamily="34" charset="0"/>
                <a:ea typeface="Palatino Linotype" pitchFamily="34" charset="-122"/>
                <a:cs typeface="Palatino Linotype" pitchFamily="34" charset="-120"/>
              </a:rPr>
              <a:t>„Dacă tot consumi, să nu mori și să nu te îmbolnăvești din asta.”</a:t>
            </a:r>
            <a:endParaRPr lang="en-US" sz="1900" dirty="0"/>
          </a:p>
        </p:txBody>
      </p:sp>
      <p:sp>
        <p:nvSpPr>
          <p:cNvPr id="6" name="Shape 4"/>
          <p:cNvSpPr/>
          <p:nvPr/>
        </p:nvSpPr>
        <p:spPr>
          <a:xfrm>
            <a:off x="6720840" y="1463040"/>
            <a:ext cx="4846320" cy="3840480"/>
          </a:xfrm>
          <a:prstGeom prst="roundRect">
            <a:avLst>
              <a:gd name="adj" fmla="val 2143"/>
            </a:avLst>
          </a:prstGeom>
          <a:solidFill>
            <a:srgbClr val="1D1F2B"/>
          </a:solidFill>
          <a:ln w="12700">
            <a:solidFill>
              <a:srgbClr val="1D1F2B"/>
            </a:solidFill>
            <a:prstDash val="solid"/>
          </a:ln>
        </p:spPr>
        <p:txBody>
          <a:bodyPr/>
          <a:p/>
        </p:txBody>
      </p:sp>
      <p:sp>
        <p:nvSpPr>
          <p:cNvPr id="7" name="Text 5"/>
          <p:cNvSpPr/>
          <p:nvPr/>
        </p:nvSpPr>
        <p:spPr>
          <a:xfrm>
            <a:off x="6995160" y="1645920"/>
            <a:ext cx="4389120" cy="292608"/>
          </a:xfrm>
          <a:prstGeom prst="rect">
            <a:avLst/>
          </a:prstGeom>
          <a:noFill/>
          <a:ln/>
        </p:spPr>
        <p:txBody>
          <a:bodyPr wrap="square" lIns="0" tIns="0" rIns="0" bIns="0" rtlCol="0" anchor="t"/>
          <a:lstStyle/>
          <a:p>
            <a:pPr indent="0" marL="0">
              <a:buNone/>
            </a:pPr>
            <a:r>
              <a:rPr lang="en-US" sz="1250" b="1" spc="200" kern="0" dirty="0">
                <a:solidFill>
                  <a:srgbClr val="27D3BE"/>
                </a:solidFill>
                <a:latin typeface="Palatino Linotype" pitchFamily="34" charset="0"/>
                <a:ea typeface="Palatino Linotype" pitchFamily="34" charset="-122"/>
                <a:cs typeface="Palatino Linotype" pitchFamily="34" charset="-120"/>
              </a:rPr>
              <a:t>EXEMPLE</a:t>
            </a:r>
            <a:endParaRPr lang="en-US" sz="1250" dirty="0"/>
          </a:p>
        </p:txBody>
      </p:sp>
      <p:sp>
        <p:nvSpPr>
          <p:cNvPr id="8" name="Text 6"/>
          <p:cNvSpPr/>
          <p:nvPr/>
        </p:nvSpPr>
        <p:spPr>
          <a:xfrm>
            <a:off x="6995160" y="2057400"/>
            <a:ext cx="4389120" cy="310896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rgbClr val="FFFFFF"/>
                </a:solidFill>
                <a:latin typeface="Palatino Linotype" pitchFamily="34" charset="0"/>
                <a:ea typeface="Palatino Linotype" pitchFamily="34" charset="-122"/>
                <a:cs typeface="Palatino Linotype" pitchFamily="34" charset="-120"/>
              </a:rPr>
              <a:t>schimbul de seringi</a:t>
            </a:r>
            <a:endParaRPr lang="en-US" sz="1550" dirty="0"/>
          </a:p>
          <a:p>
            <a:pPr marL="342900" indent="-342900">
              <a:spcAft>
                <a:spcPts val="600"/>
              </a:spcAft>
              <a:buSzPct val="100000"/>
              <a:buChar char="•"/>
            </a:pPr>
            <a:r>
              <a:rPr lang="en-US" sz="1550" dirty="0">
                <a:solidFill>
                  <a:srgbClr val="FFFFFF"/>
                </a:solidFill>
                <a:latin typeface="Palatino Linotype" pitchFamily="34" charset="0"/>
                <a:ea typeface="Palatino Linotype" pitchFamily="34" charset="-122"/>
                <a:cs typeface="Palatino Linotype" pitchFamily="34" charset="-120"/>
              </a:rPr>
              <a:t>naloxona dată celor care pot fi martori la o supradoză</a:t>
            </a:r>
            <a:endParaRPr lang="en-US" sz="1550" dirty="0"/>
          </a:p>
          <a:p>
            <a:pPr marL="342900" indent="-342900">
              <a:spcAft>
                <a:spcPts val="600"/>
              </a:spcAft>
              <a:buSzPct val="100000"/>
              <a:buChar char="•"/>
            </a:pPr>
            <a:r>
              <a:rPr lang="en-US" sz="1550" dirty="0">
                <a:solidFill>
                  <a:srgbClr val="FFFFFF"/>
                </a:solidFill>
                <a:latin typeface="Palatino Linotype" pitchFamily="34" charset="0"/>
                <a:ea typeface="Palatino Linotype" pitchFamily="34" charset="-122"/>
                <a:cs typeface="Palatino Linotype" pitchFamily="34" charset="-120"/>
              </a:rPr>
              <a:t>camerele de consum supravegheat</a:t>
            </a:r>
            <a:endParaRPr lang="en-US" sz="1550" dirty="0"/>
          </a:p>
          <a:p>
            <a:pPr marL="342900" indent="-342900">
              <a:spcAft>
                <a:spcPts val="600"/>
              </a:spcAft>
              <a:buSzPct val="100000"/>
              <a:buChar char="•"/>
            </a:pPr>
            <a:r>
              <a:rPr lang="en-US" sz="1550" dirty="0">
                <a:solidFill>
                  <a:srgbClr val="FFFFFF"/>
                </a:solidFill>
                <a:latin typeface="Palatino Linotype" pitchFamily="34" charset="0"/>
                <a:ea typeface="Palatino Linotype" pitchFamily="34" charset="-122"/>
                <a:cs typeface="Palatino Linotype" pitchFamily="34" charset="-120"/>
              </a:rPr>
              <a:t>analiza drogurilor cumpărate</a:t>
            </a:r>
            <a:endParaRPr lang="en-US" sz="1550" dirty="0"/>
          </a:p>
          <a:p>
            <a:pPr marL="342900" indent="-342900">
              <a:spcAft>
                <a:spcPts val="600"/>
              </a:spcAft>
              <a:buSzPct val="100000"/>
              <a:buChar char="•"/>
            </a:pPr>
            <a:r>
              <a:rPr lang="en-US" sz="1550" dirty="0">
                <a:solidFill>
                  <a:srgbClr val="FFFFFF"/>
                </a:solidFill>
                <a:latin typeface="Palatino Linotype" pitchFamily="34" charset="0"/>
                <a:ea typeface="Palatino Linotype" pitchFamily="34" charset="-122"/>
                <a:cs typeface="Palatino Linotype" pitchFamily="34" charset="-120"/>
              </a:rPr>
              <a:t>tratamentul de substituție, într-un cadru medical obișnuit</a:t>
            </a:r>
            <a:endParaRPr lang="en-US" sz="1550" dirty="0"/>
          </a:p>
        </p:txBody>
      </p:sp>
      <p:sp>
        <p:nvSpPr>
          <p:cNvPr id="9" name="Text 7"/>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Surse: EUDA, European Drug Report 2026; raportul național privind situația drogurilor.</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NOR DE CUVINTE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UN SINGUR CUVÂNT</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Ce cuvânt vă vine în minte când auziți „schimb de seringi”?</a:t>
            </a:r>
            <a:endParaRPr lang="en-US" sz="3200" dirty="0"/>
          </a:p>
        </p:txBody>
      </p:sp>
      <p:sp>
        <p:nvSpPr>
          <p:cNvPr id="6" name="Text 4"/>
          <p:cNvSpPr/>
          <p:nvPr/>
        </p:nvSpPr>
        <p:spPr>
          <a:xfrm>
            <a:off x="594360" y="2377440"/>
            <a:ext cx="8229600" cy="822960"/>
          </a:xfrm>
          <a:prstGeom prst="rect">
            <a:avLst/>
          </a:prstGeom>
          <a:noFill/>
          <a:ln/>
        </p:spPr>
        <p:txBody>
          <a:bodyPr wrap="square" lIns="0" tIns="0" rIns="0" bIns="0" rtlCol="0" anchor="t"/>
          <a:lstStyle/>
          <a:p>
            <a:pPr indent="0" marL="0">
              <a:buNone/>
            </a:pPr>
            <a:r>
              <a:rPr lang="en-US" sz="1800" dirty="0">
                <a:solidFill>
                  <a:srgbClr val="959BB0"/>
                </a:solidFill>
                <a:latin typeface="Palatino Linotype" pitchFamily="34" charset="0"/>
                <a:ea typeface="Palatino Linotype" pitchFamily="34" charset="-122"/>
                <a:cs typeface="Palatino Linotype" pitchFamily="34" charset="-120"/>
              </a:rPr>
              <a:t>Răspunsurile apar ca nor de cuvinte și rămân pe ecran în timpul explicației.</a:t>
            </a:r>
            <a:endParaRPr lang="en-US" sz="1800" dirty="0"/>
          </a:p>
        </p:txBody>
      </p:sp>
      <p:sp>
        <p:nvSpPr>
          <p:cNvPr id="7" name="Text 5"/>
          <p:cNvSpPr/>
          <p:nvPr/>
        </p:nvSpPr>
        <p:spPr>
          <a:xfrm>
            <a:off x="594360" y="3383280"/>
            <a:ext cx="8595360" cy="411480"/>
          </a:xfrm>
          <a:prstGeom prst="rect">
            <a:avLst/>
          </a:prstGeom>
          <a:noFill/>
          <a:ln/>
        </p:spPr>
        <p:txBody>
          <a:bodyPr wrap="square" lIns="0" tIns="0" rIns="0" bIns="0" rtlCol="0" anchor="t"/>
          <a:lstStyle/>
          <a:p>
            <a:pPr indent="0" marL="0">
              <a:buNone/>
            </a:pPr>
            <a:r>
              <a:rPr lang="en-US" sz="1600" b="1" dirty="0">
                <a:solidFill>
                  <a:srgbClr val="FFC24B"/>
                </a:solidFill>
                <a:latin typeface="Palatino Linotype" pitchFamily="34" charset="0"/>
                <a:ea typeface="Palatino Linotype" pitchFamily="34" charset="-122"/>
                <a:cs typeface="Palatino Linotype" pitchFamily="34" charset="-120"/>
              </a:rPr>
              <a:t>Răspundeți pe telefon, la codul afișat.</a:t>
            </a:r>
            <a:endParaRPr lang="en-US" sz="1600" dirty="0"/>
          </a:p>
        </p:txBody>
      </p:sp>
      <p:sp>
        <p:nvSpPr>
          <p:cNvPr id="8" name="Shape 6"/>
          <p:cNvSpPr/>
          <p:nvPr/>
        </p:nvSpPr>
        <p:spPr>
          <a:xfrm>
            <a:off x="9052560" y="2377440"/>
            <a:ext cx="2514600" cy="2514600"/>
          </a:xfrm>
          <a:prstGeom prst="roundRect">
            <a:avLst>
              <a:gd name="adj" fmla="val 3273"/>
            </a:avLst>
          </a:prstGeom>
          <a:solidFill>
            <a:srgbClr val="FFFFFF"/>
          </a:solidFill>
          <a:ln w="12700">
            <a:solidFill>
              <a:srgbClr val="FFFFFF"/>
            </a:solidFill>
            <a:prstDash val="solid"/>
          </a:ln>
        </p:spPr>
        <p:txBody>
          <a:bodyPr/>
          <a:p/>
        </p:txBody>
      </p:sp>
      <p:pic>
        <p:nvPicPr>
          <p:cNvPr id="9" name="Picture 8" descr="Mentimeter_OPT_DROGURI_C04.png"/>
          <p:cNvPicPr>
            <a:picLocks noChangeAspect="1"/>
          </p:cNvPicPr>
          <p:nvPr/>
        </p:nvPicPr>
        <p:blipFill>
          <a:blip r:embed="rId3"/>
          <a:stretch>
            <a:fillRect/>
          </a:stretch>
        </p:blipFill>
        <p:spPr>
          <a:xfrm>
            <a:off x="9366250" y="2377440"/>
            <a:ext cx="1887220" cy="1887220"/>
          </a:xfrm>
          <a:prstGeom prst="rect">
            <a:avLst/>
          </a:prstGeom>
        </p:spPr>
      </p:pic>
      <p:sp>
        <p:nvSpPr>
          <p:cNvPr id="10" name="TextBox 9"/>
          <p:cNvSpPr txBox="1"/>
          <p:nvPr/>
        </p:nvSpPr>
        <p:spPr>
          <a:xfrm>
            <a:off x="9052560" y="4302760"/>
            <a:ext cx="251460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DOUĂ OBIECȚII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Este etic?</a:t>
            </a:r>
            <a:endParaRPr lang="en-US" sz="3400" dirty="0"/>
          </a:p>
        </p:txBody>
      </p:sp>
      <p:sp>
        <p:nvSpPr>
          <p:cNvPr id="4" name="Shape 2"/>
          <p:cNvSpPr/>
          <p:nvPr/>
        </p:nvSpPr>
        <p:spPr>
          <a:xfrm>
            <a:off x="594360" y="1463040"/>
            <a:ext cx="5349240" cy="3749040"/>
          </a:xfrm>
          <a:prstGeom prst="roundRect">
            <a:avLst>
              <a:gd name="adj" fmla="val 2195"/>
            </a:avLst>
          </a:prstGeom>
          <a:solidFill>
            <a:srgbClr val="1D1F2B"/>
          </a:solidFill>
          <a:ln w="12700">
            <a:solidFill>
              <a:srgbClr val="1D1F2B"/>
            </a:solidFill>
            <a:prstDash val="solid"/>
          </a:ln>
        </p:spPr>
        <p:txBody>
          <a:bodyPr/>
          <a:p/>
        </p:txBody>
      </p:sp>
      <p:sp>
        <p:nvSpPr>
          <p:cNvPr id="5" name="Shape 3"/>
          <p:cNvSpPr/>
          <p:nvPr/>
        </p:nvSpPr>
        <p:spPr>
          <a:xfrm>
            <a:off x="594360" y="1463040"/>
            <a:ext cx="5349240" cy="73152"/>
          </a:xfrm>
          <a:prstGeom prst="rect">
            <a:avLst/>
          </a:prstGeom>
          <a:solidFill>
            <a:srgbClr val="9B7EF7"/>
          </a:solidFill>
          <a:ln w="12700">
            <a:solidFill>
              <a:srgbClr val="9B7EF7"/>
            </a:solidFill>
            <a:prstDash val="solid"/>
          </a:ln>
        </p:spPr>
        <p:txBody>
          <a:bodyPr/>
          <a:p/>
        </p:txBody>
      </p:sp>
      <p:sp>
        <p:nvSpPr>
          <p:cNvPr id="6" name="Text 4"/>
          <p:cNvSpPr/>
          <p:nvPr/>
        </p:nvSpPr>
        <p:spPr>
          <a:xfrm>
            <a:off x="868680" y="1691640"/>
            <a:ext cx="4846320" cy="292608"/>
          </a:xfrm>
          <a:prstGeom prst="rect">
            <a:avLst/>
          </a:prstGeom>
          <a:noFill/>
          <a:ln/>
        </p:spPr>
        <p:txBody>
          <a:bodyPr wrap="square" lIns="0" tIns="0" rIns="0" bIns="0" rtlCol="0" anchor="t"/>
          <a:lstStyle/>
          <a:p>
            <a:pPr indent="0" marL="0">
              <a:buNone/>
            </a:pPr>
            <a:r>
              <a:rPr lang="en-US" sz="1250" b="1" spc="200" kern="0" dirty="0">
                <a:solidFill>
                  <a:srgbClr val="9B7EF7"/>
                </a:solidFill>
                <a:latin typeface="Palatino Linotype" pitchFamily="34" charset="0"/>
                <a:ea typeface="Palatino Linotype" pitchFamily="34" charset="-122"/>
                <a:cs typeface="Palatino Linotype" pitchFamily="34" charset="-120"/>
              </a:rPr>
              <a:t>OBIECȚIA DE VALORI</a:t>
            </a:r>
            <a:endParaRPr lang="en-US" sz="1250" dirty="0"/>
          </a:p>
        </p:txBody>
      </p:sp>
      <p:sp>
        <p:nvSpPr>
          <p:cNvPr id="7" name="Text 5"/>
          <p:cNvSpPr/>
          <p:nvPr/>
        </p:nvSpPr>
        <p:spPr>
          <a:xfrm>
            <a:off x="868680" y="2057400"/>
            <a:ext cx="4846320" cy="914400"/>
          </a:xfrm>
          <a:prstGeom prst="rect">
            <a:avLst/>
          </a:prstGeom>
          <a:noFill/>
          <a:ln/>
        </p:spPr>
        <p:txBody>
          <a:bodyPr wrap="square" lIns="0" tIns="0" rIns="0" bIns="0" rtlCol="0" anchor="t"/>
          <a:lstStyle/>
          <a:p>
            <a:pPr indent="0" marL="0">
              <a:buNone/>
            </a:pPr>
            <a:r>
              <a:rPr lang="en-US" sz="1900" b="1" i="1" dirty="0">
                <a:solidFill>
                  <a:srgbClr val="FFFFFF"/>
                </a:solidFill>
                <a:latin typeface="Palatino Linotype" pitchFamily="34" charset="0"/>
                <a:ea typeface="Palatino Linotype" pitchFamily="34" charset="-122"/>
                <a:cs typeface="Palatino Linotype" pitchFamily="34" charset="-120"/>
              </a:rPr>
              <a:t>„Statul îi ajută pe oameni să se drogheze.”</a:t>
            </a:r>
            <a:endParaRPr lang="en-US" sz="1900" dirty="0"/>
          </a:p>
        </p:txBody>
      </p:sp>
      <p:sp>
        <p:nvSpPr>
          <p:cNvPr id="8" name="Text 6"/>
          <p:cNvSpPr/>
          <p:nvPr/>
        </p:nvSpPr>
        <p:spPr>
          <a:xfrm>
            <a:off x="868680" y="3063240"/>
            <a:ext cx="4846320" cy="2011680"/>
          </a:xfrm>
          <a:prstGeom prst="rect">
            <a:avLst/>
          </a:prstGeom>
          <a:noFill/>
          <a:ln/>
        </p:spPr>
        <p:txBody>
          <a:bodyPr wrap="square" lIns="0" tIns="0" rIns="0" bIns="0" rtlCol="0" anchor="t"/>
          <a:lstStyle/>
          <a:p>
            <a:pPr indent="0" marL="0">
              <a:buNone/>
            </a:pPr>
            <a:r>
              <a:rPr lang="en-US" sz="1550" dirty="0">
                <a:solidFill>
                  <a:srgbClr val="959BB0"/>
                </a:solidFill>
                <a:latin typeface="Palatino Linotype" pitchFamily="34" charset="0"/>
                <a:ea typeface="Palatino Linotype" pitchFamily="34" charset="-122"/>
                <a:cs typeface="Palatino Linotype" pitchFamily="34" charset="-120"/>
              </a:rPr>
              <a:t>Medicul tratează bronșita fumătorului care încă fumează. Medicina nu condiționează îngrijirea de virtutea pacientului: îngrijirea vine înainte de abstinență, nu în locul ei.</a:t>
            </a:r>
            <a:endParaRPr lang="en-US" sz="1550" dirty="0"/>
          </a:p>
        </p:txBody>
      </p:sp>
      <p:sp>
        <p:nvSpPr>
          <p:cNvPr id="9" name="Shape 7"/>
          <p:cNvSpPr/>
          <p:nvPr/>
        </p:nvSpPr>
        <p:spPr>
          <a:xfrm>
            <a:off x="6217920" y="1463040"/>
            <a:ext cx="5349240" cy="3749040"/>
          </a:xfrm>
          <a:prstGeom prst="roundRect">
            <a:avLst>
              <a:gd name="adj" fmla="val 2195"/>
            </a:avLst>
          </a:prstGeom>
          <a:solidFill>
            <a:srgbClr val="1D1F2B"/>
          </a:solidFill>
          <a:ln w="12700">
            <a:solidFill>
              <a:srgbClr val="1D1F2B"/>
            </a:solidFill>
            <a:prstDash val="solid"/>
          </a:ln>
        </p:spPr>
        <p:txBody>
          <a:bodyPr/>
          <a:p/>
        </p:txBody>
      </p:sp>
      <p:sp>
        <p:nvSpPr>
          <p:cNvPr id="10" name="Shape 8"/>
          <p:cNvSpPr/>
          <p:nvPr/>
        </p:nvSpPr>
        <p:spPr>
          <a:xfrm>
            <a:off x="6217920" y="1463040"/>
            <a:ext cx="5349240" cy="73152"/>
          </a:xfrm>
          <a:prstGeom prst="rect">
            <a:avLst/>
          </a:prstGeom>
          <a:solidFill>
            <a:srgbClr val="27D3BE"/>
          </a:solidFill>
          <a:ln w="12700">
            <a:solidFill>
              <a:srgbClr val="27D3BE"/>
            </a:solidFill>
            <a:prstDash val="solid"/>
          </a:ln>
        </p:spPr>
        <p:txBody>
          <a:bodyPr/>
          <a:p/>
        </p:txBody>
      </p:sp>
      <p:sp>
        <p:nvSpPr>
          <p:cNvPr id="11" name="Text 9"/>
          <p:cNvSpPr/>
          <p:nvPr/>
        </p:nvSpPr>
        <p:spPr>
          <a:xfrm>
            <a:off x="6492240" y="1691640"/>
            <a:ext cx="4846320" cy="292608"/>
          </a:xfrm>
          <a:prstGeom prst="rect">
            <a:avLst/>
          </a:prstGeom>
          <a:noFill/>
          <a:ln/>
        </p:spPr>
        <p:txBody>
          <a:bodyPr wrap="square" lIns="0" tIns="0" rIns="0" bIns="0" rtlCol="0" anchor="t"/>
          <a:lstStyle/>
          <a:p>
            <a:pPr indent="0" marL="0">
              <a:buNone/>
            </a:pPr>
            <a:r>
              <a:rPr lang="en-US" sz="1250" b="1" spc="200" kern="0" dirty="0">
                <a:solidFill>
                  <a:srgbClr val="27D3BE"/>
                </a:solidFill>
                <a:latin typeface="Palatino Linotype" pitchFamily="34" charset="0"/>
                <a:ea typeface="Palatino Linotype" pitchFamily="34" charset="-122"/>
                <a:cs typeface="Palatino Linotype" pitchFamily="34" charset="-120"/>
              </a:rPr>
              <a:t>OBIECȚIA DE FAPT</a:t>
            </a:r>
            <a:endParaRPr lang="en-US" sz="1250" dirty="0"/>
          </a:p>
        </p:txBody>
      </p:sp>
      <p:sp>
        <p:nvSpPr>
          <p:cNvPr id="12" name="Text 10"/>
          <p:cNvSpPr/>
          <p:nvPr/>
        </p:nvSpPr>
        <p:spPr>
          <a:xfrm>
            <a:off x="6492240" y="2057400"/>
            <a:ext cx="4846320" cy="914400"/>
          </a:xfrm>
          <a:prstGeom prst="rect">
            <a:avLst/>
          </a:prstGeom>
          <a:noFill/>
          <a:ln/>
        </p:spPr>
        <p:txBody>
          <a:bodyPr wrap="square" lIns="0" tIns="0" rIns="0" bIns="0" rtlCol="0" anchor="t"/>
          <a:lstStyle/>
          <a:p>
            <a:pPr indent="0" marL="0">
              <a:buNone/>
            </a:pPr>
            <a:r>
              <a:rPr lang="en-US" sz="1900" b="1" i="1" dirty="0">
                <a:solidFill>
                  <a:srgbClr val="FFFFFF"/>
                </a:solidFill>
                <a:latin typeface="Palatino Linotype" pitchFamily="34" charset="0"/>
                <a:ea typeface="Palatino Linotype" pitchFamily="34" charset="-122"/>
                <a:cs typeface="Palatino Linotype" pitchFamily="34" charset="-120"/>
              </a:rPr>
              <a:t>„Serviciile acestea cresc consumul.”</a:t>
            </a:r>
            <a:endParaRPr lang="en-US" sz="1900" dirty="0"/>
          </a:p>
        </p:txBody>
      </p:sp>
      <p:sp>
        <p:nvSpPr>
          <p:cNvPr id="13" name="Text 11"/>
          <p:cNvSpPr/>
          <p:nvPr/>
        </p:nvSpPr>
        <p:spPr>
          <a:xfrm>
            <a:off x="6492240" y="3063240"/>
            <a:ext cx="4846320" cy="2011680"/>
          </a:xfrm>
          <a:prstGeom prst="rect">
            <a:avLst/>
          </a:prstGeom>
          <a:noFill/>
          <a:ln/>
        </p:spPr>
        <p:txBody>
          <a:bodyPr wrap="square" lIns="0" tIns="0" rIns="0" bIns="0" rtlCol="0" anchor="t"/>
          <a:lstStyle/>
          <a:p>
            <a:pPr indent="0" marL="0">
              <a:buNone/>
            </a:pPr>
            <a:r>
              <a:rPr lang="en-US" sz="1550" dirty="0">
                <a:solidFill>
                  <a:srgbClr val="959BB0"/>
                </a:solidFill>
                <a:latin typeface="Palatino Linotype" pitchFamily="34" charset="0"/>
                <a:ea typeface="Palatino Linotype" pitchFamily="34" charset="-122"/>
                <a:cs typeface="Palatino Linotype" pitchFamily="34" charset="-120"/>
              </a:rPr>
              <a:t>Se poate verifica. Pentru schimbul de seringi, notele nu citează un studiu care să măsoare efectul asupra consumului.</a:t>
            </a:r>
            <a:endParaRPr lang="en-US" sz="1550" dirty="0"/>
          </a:p>
        </p:txBody>
      </p:sp>
      <p:sp>
        <p:nvSpPr>
          <p:cNvPr id="14" name="Text 12"/>
          <p:cNvSpPr/>
          <p:nvPr/>
        </p:nvSpPr>
        <p:spPr>
          <a:xfrm>
            <a:off x="594360" y="5440680"/>
            <a:ext cx="10972800" cy="457200"/>
          </a:xfrm>
          <a:prstGeom prst="rect">
            <a:avLst/>
          </a:prstGeom>
          <a:noFill/>
          <a:ln/>
        </p:spPr>
        <p:txBody>
          <a:bodyPr wrap="square" lIns="0" tIns="0" rIns="0" bIns="0" rtlCol="0" anchor="t"/>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Prima se discută cu valori, a doua cu date.</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RAPORTUL EUROPEAN DIN 2026</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funcționează: observați verbele</a:t>
            </a:r>
            <a:endParaRPr lang="en-US" sz="3200" dirty="0"/>
          </a:p>
        </p:txBody>
      </p:sp>
      <p:sp>
        <p:nvSpPr>
          <p:cNvPr id="4" name="Shape 2"/>
          <p:cNvSpPr/>
          <p:nvPr/>
        </p:nvSpPr>
        <p:spPr>
          <a:xfrm>
            <a:off x="594360" y="1463040"/>
            <a:ext cx="10972800" cy="804672"/>
          </a:xfrm>
          <a:prstGeom prst="roundRect">
            <a:avLst>
              <a:gd name="adj" fmla="val 10227"/>
            </a:avLst>
          </a:prstGeom>
          <a:solidFill>
            <a:srgbClr val="ECEAE4"/>
          </a:solidFill>
          <a:ln w="12700">
            <a:solidFill>
              <a:srgbClr val="ECEAE4"/>
            </a:solidFill>
            <a:prstDash val="solid"/>
          </a:ln>
        </p:spPr>
        <p:txBody>
          <a:bodyPr/>
          <a:p/>
        </p:txBody>
      </p:sp>
      <p:sp>
        <p:nvSpPr>
          <p:cNvPr id="5" name="Shape 3"/>
          <p:cNvSpPr/>
          <p:nvPr/>
        </p:nvSpPr>
        <p:spPr>
          <a:xfrm>
            <a:off x="594360" y="1463040"/>
            <a:ext cx="73152" cy="804672"/>
          </a:xfrm>
          <a:prstGeom prst="rect">
            <a:avLst/>
          </a:prstGeom>
          <a:solidFill>
            <a:srgbClr val="0E7C6B"/>
          </a:solidFill>
          <a:ln w="12700">
            <a:solidFill>
              <a:srgbClr val="0E7C6B"/>
            </a:solidFill>
            <a:prstDash val="solid"/>
          </a:ln>
        </p:spPr>
        <p:txBody>
          <a:bodyPr/>
          <a:p/>
        </p:txBody>
      </p:sp>
      <p:sp>
        <p:nvSpPr>
          <p:cNvPr id="6" name="Text 4"/>
          <p:cNvSpPr/>
          <p:nvPr/>
        </p:nvSpPr>
        <p:spPr>
          <a:xfrm>
            <a:off x="914400" y="1463040"/>
            <a:ext cx="4023360" cy="804672"/>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Schimbul de ace și seringi</a:t>
            </a:r>
            <a:endParaRPr lang="en-US" sz="1700" dirty="0"/>
          </a:p>
        </p:txBody>
      </p:sp>
      <p:sp>
        <p:nvSpPr>
          <p:cNvPr id="7" name="Text 5"/>
          <p:cNvSpPr/>
          <p:nvPr/>
        </p:nvSpPr>
        <p:spPr>
          <a:xfrm>
            <a:off x="5029200" y="1463040"/>
            <a:ext cx="6400800" cy="804672"/>
          </a:xfrm>
          <a:prstGeom prst="rect">
            <a:avLst/>
          </a:prstGeom>
          <a:noFill/>
          <a:ln/>
        </p:spPr>
        <p:txBody>
          <a:bodyPr wrap="square" lIns="0" tIns="0" rIns="0" bIns="0" rtlCol="0" anchor="ctr"/>
          <a:lstStyle/>
          <a:p>
            <a:pPr indent="0" marL="0">
              <a:buNone/>
            </a:pPr>
            <a:r>
              <a:rPr lang="en-US" sz="1700" b="1" i="1" dirty="0">
                <a:solidFill>
                  <a:srgbClr val="0E7C6B"/>
                </a:solidFill>
                <a:latin typeface="Palatino Linotype" pitchFamily="34" charset="0"/>
                <a:ea typeface="Palatino Linotype" pitchFamily="34" charset="-122"/>
                <a:cs typeface="Palatino Linotype" pitchFamily="34" charset="-120"/>
              </a:rPr>
              <a:t>arată eficacitate</a:t>
            </a:r>
            <a:endParaRPr lang="en-US" sz="1700" dirty="0"/>
          </a:p>
        </p:txBody>
      </p:sp>
      <p:sp>
        <p:nvSpPr>
          <p:cNvPr id="8" name="Shape 6"/>
          <p:cNvSpPr/>
          <p:nvPr/>
        </p:nvSpPr>
        <p:spPr>
          <a:xfrm>
            <a:off x="594360" y="2423160"/>
            <a:ext cx="10972800" cy="804672"/>
          </a:xfrm>
          <a:prstGeom prst="roundRect">
            <a:avLst>
              <a:gd name="adj" fmla="val 10227"/>
            </a:avLst>
          </a:prstGeom>
          <a:solidFill>
            <a:srgbClr val="ECEAE4"/>
          </a:solidFill>
          <a:ln w="12700">
            <a:solidFill>
              <a:srgbClr val="ECEAE4"/>
            </a:solidFill>
            <a:prstDash val="solid"/>
          </a:ln>
        </p:spPr>
        <p:txBody>
          <a:bodyPr/>
          <a:p/>
        </p:txBody>
      </p:sp>
      <p:sp>
        <p:nvSpPr>
          <p:cNvPr id="9" name="Shape 7"/>
          <p:cNvSpPr/>
          <p:nvPr/>
        </p:nvSpPr>
        <p:spPr>
          <a:xfrm>
            <a:off x="594360" y="2423160"/>
            <a:ext cx="73152" cy="804672"/>
          </a:xfrm>
          <a:prstGeom prst="rect">
            <a:avLst/>
          </a:prstGeom>
          <a:solidFill>
            <a:srgbClr val="0E7C6B"/>
          </a:solidFill>
          <a:ln w="12700">
            <a:solidFill>
              <a:srgbClr val="0E7C6B"/>
            </a:solidFill>
            <a:prstDash val="solid"/>
          </a:ln>
        </p:spPr>
        <p:txBody>
          <a:bodyPr/>
          <a:p/>
        </p:txBody>
      </p:sp>
      <p:sp>
        <p:nvSpPr>
          <p:cNvPr id="10" name="Text 8"/>
          <p:cNvSpPr/>
          <p:nvPr/>
        </p:nvSpPr>
        <p:spPr>
          <a:xfrm>
            <a:off x="914400" y="2423160"/>
            <a:ext cx="4023360" cy="804672"/>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Naloxona dată acasă</a:t>
            </a:r>
            <a:endParaRPr lang="en-US" sz="1700" dirty="0"/>
          </a:p>
        </p:txBody>
      </p:sp>
      <p:sp>
        <p:nvSpPr>
          <p:cNvPr id="11" name="Text 9"/>
          <p:cNvSpPr/>
          <p:nvPr/>
        </p:nvSpPr>
        <p:spPr>
          <a:xfrm>
            <a:off x="5029200" y="2423160"/>
            <a:ext cx="6400800" cy="804672"/>
          </a:xfrm>
          <a:prstGeom prst="rect">
            <a:avLst/>
          </a:prstGeom>
          <a:noFill/>
          <a:ln/>
        </p:spPr>
        <p:txBody>
          <a:bodyPr wrap="square" lIns="0" tIns="0" rIns="0" bIns="0" rtlCol="0" anchor="ctr"/>
          <a:lstStyle/>
          <a:p>
            <a:pPr indent="0" marL="0">
              <a:buNone/>
            </a:pPr>
            <a:r>
              <a:rPr lang="en-US" sz="1700" b="1" i="1" dirty="0">
                <a:solidFill>
                  <a:srgbClr val="0E7C6B"/>
                </a:solidFill>
                <a:latin typeface="Palatino Linotype" pitchFamily="34" charset="0"/>
                <a:ea typeface="Palatino Linotype" pitchFamily="34" charset="-122"/>
                <a:cs typeface="Palatino Linotype" pitchFamily="34" charset="-120"/>
              </a:rPr>
              <a:t>arată eficacitate</a:t>
            </a:r>
            <a:endParaRPr lang="en-US" sz="1700" dirty="0"/>
          </a:p>
        </p:txBody>
      </p:sp>
      <p:sp>
        <p:nvSpPr>
          <p:cNvPr id="12" name="Shape 10"/>
          <p:cNvSpPr/>
          <p:nvPr/>
        </p:nvSpPr>
        <p:spPr>
          <a:xfrm>
            <a:off x="594360" y="3383280"/>
            <a:ext cx="10972800" cy="804672"/>
          </a:xfrm>
          <a:prstGeom prst="roundRect">
            <a:avLst>
              <a:gd name="adj" fmla="val 10227"/>
            </a:avLst>
          </a:prstGeom>
          <a:solidFill>
            <a:srgbClr val="ECEAE4"/>
          </a:solidFill>
          <a:ln w="12700">
            <a:solidFill>
              <a:srgbClr val="ECEAE4"/>
            </a:solidFill>
            <a:prstDash val="solid"/>
          </a:ln>
        </p:spPr>
        <p:txBody>
          <a:bodyPr/>
          <a:p/>
        </p:txBody>
      </p:sp>
      <p:sp>
        <p:nvSpPr>
          <p:cNvPr id="13" name="Shape 11"/>
          <p:cNvSpPr/>
          <p:nvPr/>
        </p:nvSpPr>
        <p:spPr>
          <a:xfrm>
            <a:off x="594360" y="3383280"/>
            <a:ext cx="73152" cy="804672"/>
          </a:xfrm>
          <a:prstGeom prst="rect">
            <a:avLst/>
          </a:prstGeom>
          <a:solidFill>
            <a:srgbClr val="8A6100"/>
          </a:solidFill>
          <a:ln w="12700">
            <a:solidFill>
              <a:srgbClr val="8A6100"/>
            </a:solidFill>
            <a:prstDash val="solid"/>
          </a:ln>
        </p:spPr>
        <p:txBody>
          <a:bodyPr/>
          <a:p/>
        </p:txBody>
      </p:sp>
      <p:sp>
        <p:nvSpPr>
          <p:cNvPr id="14" name="Text 12"/>
          <p:cNvSpPr/>
          <p:nvPr/>
        </p:nvSpPr>
        <p:spPr>
          <a:xfrm>
            <a:off x="914400" y="3383280"/>
            <a:ext cx="4023360" cy="804672"/>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Camerele de consum</a:t>
            </a:r>
            <a:endParaRPr lang="en-US" sz="1700" dirty="0"/>
          </a:p>
        </p:txBody>
      </p:sp>
      <p:sp>
        <p:nvSpPr>
          <p:cNvPr id="15" name="Text 13"/>
          <p:cNvSpPr/>
          <p:nvPr/>
        </p:nvSpPr>
        <p:spPr>
          <a:xfrm>
            <a:off x="5029200" y="3383280"/>
            <a:ext cx="6400800" cy="804672"/>
          </a:xfrm>
          <a:prstGeom prst="rect">
            <a:avLst/>
          </a:prstGeom>
          <a:noFill/>
          <a:ln/>
        </p:spPr>
        <p:txBody>
          <a:bodyPr wrap="square" lIns="0" tIns="0" rIns="0" bIns="0" rtlCol="0" anchor="ctr"/>
          <a:lstStyle/>
          <a:p>
            <a:pPr indent="0" marL="0">
              <a:buNone/>
            </a:pPr>
            <a:r>
              <a:rPr lang="en-US" sz="1700" b="1" i="1" dirty="0">
                <a:solidFill>
                  <a:srgbClr val="8A6100"/>
                </a:solidFill>
                <a:latin typeface="Palatino Linotype" pitchFamily="34" charset="0"/>
                <a:ea typeface="Palatino Linotype" pitchFamily="34" charset="-122"/>
                <a:cs typeface="Palatino Linotype" pitchFamily="34" charset="-120"/>
              </a:rPr>
              <a:t>pot contribui la reducerea deceselor; dovezile sunt încă în dezvoltare</a:t>
            </a:r>
            <a:endParaRPr lang="en-US" sz="1700" dirty="0"/>
          </a:p>
        </p:txBody>
      </p:sp>
      <p:sp>
        <p:nvSpPr>
          <p:cNvPr id="16" name="Shape 14"/>
          <p:cNvSpPr/>
          <p:nvPr/>
        </p:nvSpPr>
        <p:spPr>
          <a:xfrm>
            <a:off x="594360" y="4480560"/>
            <a:ext cx="10972800" cy="1280160"/>
          </a:xfrm>
          <a:prstGeom prst="roundRect">
            <a:avLst>
              <a:gd name="adj" fmla="val 6429"/>
            </a:avLst>
          </a:prstGeom>
          <a:solidFill>
            <a:srgbClr val="E1F0EC"/>
          </a:solidFill>
          <a:ln w="12700">
            <a:solidFill>
              <a:srgbClr val="E1F0EC"/>
            </a:solidFill>
            <a:prstDash val="solid"/>
          </a:ln>
        </p:spPr>
        <p:txBody>
          <a:bodyPr/>
          <a:p/>
        </p:txBody>
      </p:sp>
      <p:sp>
        <p:nvSpPr>
          <p:cNvPr id="17" name="Text 15"/>
          <p:cNvSpPr/>
          <p:nvPr/>
        </p:nvSpPr>
        <p:spPr>
          <a:xfrm>
            <a:off x="868680" y="4480560"/>
            <a:ext cx="10424160" cy="128016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Naloxona, după OMS (2025): nu are, practic, niciun efect la cine nu a luat opioide. Dată din greșeală cuiva care a leșinat din alt motiv, nu are, practic, niciun efect.</a:t>
            </a:r>
            <a:endParaRPr lang="en-US" sz="1700" dirty="0"/>
          </a:p>
        </p:txBody>
      </p:sp>
      <p:sp>
        <p:nvSpPr>
          <p:cNvPr id="18" name="Text 16"/>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Surse: EUDA, European Drug Report 2026; OMS, fișa despre supradoza de opioide, 2025.</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EUROPA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există în Europa</a:t>
            </a:r>
            <a:endParaRPr lang="en-US" sz="3200" dirty="0"/>
          </a:p>
        </p:txBody>
      </p:sp>
      <p:sp>
        <p:nvSpPr>
          <p:cNvPr id="4" name="Shape 2"/>
          <p:cNvSpPr/>
          <p:nvPr/>
        </p:nvSpPr>
        <p:spPr>
          <a:xfrm>
            <a:off x="594360" y="1463040"/>
            <a:ext cx="10972800" cy="731520"/>
          </a:xfrm>
          <a:prstGeom prst="roundRect">
            <a:avLst>
              <a:gd name="adj" fmla="val 11250"/>
            </a:avLst>
          </a:prstGeom>
          <a:solidFill>
            <a:srgbClr val="ECEAE4"/>
          </a:solidFill>
          <a:ln w="12700">
            <a:solidFill>
              <a:srgbClr val="ECEAE4"/>
            </a:solidFill>
            <a:prstDash val="solid"/>
          </a:ln>
        </p:spPr>
        <p:txBody>
          <a:bodyPr/>
          <a:p/>
        </p:txBody>
      </p:sp>
      <p:sp>
        <p:nvSpPr>
          <p:cNvPr id="5" name="Text 3"/>
          <p:cNvSpPr/>
          <p:nvPr/>
        </p:nvSpPr>
        <p:spPr>
          <a:xfrm>
            <a:off x="868680" y="1463040"/>
            <a:ext cx="3840480" cy="731520"/>
          </a:xfrm>
          <a:prstGeom prst="rect">
            <a:avLst/>
          </a:prstGeom>
          <a:noFill/>
          <a:ln/>
        </p:spPr>
        <p:txBody>
          <a:bodyPr wrap="square" lIns="0" tIns="0" rIns="0" bIns="0" rtlCol="0" anchor="ctr"/>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Schimbul de ace și seringi</a:t>
            </a:r>
            <a:endParaRPr lang="en-US" sz="1600" dirty="0"/>
          </a:p>
        </p:txBody>
      </p:sp>
      <p:sp>
        <p:nvSpPr>
          <p:cNvPr id="6" name="Text 4"/>
          <p:cNvSpPr/>
          <p:nvPr/>
        </p:nvSpPr>
        <p:spPr>
          <a:xfrm>
            <a:off x="4800600" y="1463040"/>
            <a:ext cx="6583680" cy="731520"/>
          </a:xfrm>
          <a:prstGeom prst="rect">
            <a:avLst/>
          </a:prstGeom>
          <a:noFill/>
          <a:ln/>
        </p:spPr>
        <p:txBody>
          <a:bodyPr wrap="square" lIns="0" tIns="0" rIns="0" bIns="0" rtlCol="0" anchor="ctr"/>
          <a:lstStyle/>
          <a:p>
            <a:pPr indent="0" marL="0">
              <a:buNone/>
            </a:pPr>
            <a:r>
              <a:rPr lang="en-US" sz="1550" dirty="0">
                <a:solidFill>
                  <a:srgbClr val="3A3C44"/>
                </a:solidFill>
                <a:latin typeface="Palatino Linotype" pitchFamily="34" charset="0"/>
                <a:ea typeface="Palatino Linotype" pitchFamily="34" charset="-122"/>
                <a:cs typeface="Palatino Linotype" pitchFamily="34" charset="-120"/>
              </a:rPr>
              <a:t>în toate statele UE și în Norvegia, 2024; ținta OMS pentru 2025: 7 din 25 de țări cu date</a:t>
            </a:r>
            <a:endParaRPr lang="en-US" sz="1550" dirty="0"/>
          </a:p>
        </p:txBody>
      </p:sp>
      <p:sp>
        <p:nvSpPr>
          <p:cNvPr id="7" name="Shape 5"/>
          <p:cNvSpPr/>
          <p:nvPr/>
        </p:nvSpPr>
        <p:spPr>
          <a:xfrm>
            <a:off x="594360" y="2286000"/>
            <a:ext cx="10972800" cy="731520"/>
          </a:xfrm>
          <a:prstGeom prst="roundRect">
            <a:avLst>
              <a:gd name="adj" fmla="val 11250"/>
            </a:avLst>
          </a:prstGeom>
          <a:solidFill>
            <a:srgbClr val="F9F8F5"/>
          </a:solidFill>
          <a:ln w="12700">
            <a:solidFill>
              <a:srgbClr val="F9F8F5"/>
            </a:solidFill>
            <a:prstDash val="solid"/>
          </a:ln>
        </p:spPr>
        <p:txBody>
          <a:bodyPr/>
          <a:p/>
        </p:txBody>
      </p:sp>
      <p:sp>
        <p:nvSpPr>
          <p:cNvPr id="8" name="Text 6"/>
          <p:cNvSpPr/>
          <p:nvPr/>
        </p:nvSpPr>
        <p:spPr>
          <a:xfrm>
            <a:off x="868680" y="2286000"/>
            <a:ext cx="3840480" cy="731520"/>
          </a:xfrm>
          <a:prstGeom prst="rect">
            <a:avLst/>
          </a:prstGeom>
          <a:noFill/>
          <a:ln/>
        </p:spPr>
        <p:txBody>
          <a:bodyPr wrap="square" lIns="0" tIns="0" rIns="0" bIns="0" rtlCol="0" anchor="ctr"/>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Naloxona dată acasă</a:t>
            </a:r>
            <a:endParaRPr lang="en-US" sz="1600" dirty="0"/>
          </a:p>
        </p:txBody>
      </p:sp>
      <p:sp>
        <p:nvSpPr>
          <p:cNvPr id="9" name="Text 7"/>
          <p:cNvSpPr/>
          <p:nvPr/>
        </p:nvSpPr>
        <p:spPr>
          <a:xfrm>
            <a:off x="4800600" y="2286000"/>
            <a:ext cx="6583680" cy="731520"/>
          </a:xfrm>
          <a:prstGeom prst="rect">
            <a:avLst/>
          </a:prstGeom>
          <a:noFill/>
          <a:ln/>
        </p:spPr>
        <p:txBody>
          <a:bodyPr wrap="square" lIns="0" tIns="0" rIns="0" bIns="0" rtlCol="0" anchor="ctr"/>
          <a:lstStyle/>
          <a:p>
            <a:pPr indent="0" marL="0">
              <a:buNone/>
            </a:pPr>
            <a:r>
              <a:rPr lang="en-US" sz="1550" dirty="0">
                <a:solidFill>
                  <a:srgbClr val="3A3C44"/>
                </a:solidFill>
                <a:latin typeface="Palatino Linotype" pitchFamily="34" charset="0"/>
                <a:ea typeface="Palatino Linotype" pitchFamily="34" charset="-122"/>
                <a:cs typeface="Palatino Linotype" pitchFamily="34" charset="-120"/>
              </a:rPr>
              <a:t>în 19 țări europene, până în 2025</a:t>
            </a:r>
            <a:endParaRPr lang="en-US" sz="1550" dirty="0"/>
          </a:p>
        </p:txBody>
      </p:sp>
      <p:sp>
        <p:nvSpPr>
          <p:cNvPr id="10" name="Shape 8"/>
          <p:cNvSpPr/>
          <p:nvPr/>
        </p:nvSpPr>
        <p:spPr>
          <a:xfrm>
            <a:off x="594360" y="3108960"/>
            <a:ext cx="10972800" cy="731520"/>
          </a:xfrm>
          <a:prstGeom prst="roundRect">
            <a:avLst>
              <a:gd name="adj" fmla="val 11250"/>
            </a:avLst>
          </a:prstGeom>
          <a:solidFill>
            <a:srgbClr val="ECEAE4"/>
          </a:solidFill>
          <a:ln w="12700">
            <a:solidFill>
              <a:srgbClr val="ECEAE4"/>
            </a:solidFill>
            <a:prstDash val="solid"/>
          </a:ln>
        </p:spPr>
        <p:txBody>
          <a:bodyPr/>
          <a:p/>
        </p:txBody>
      </p:sp>
      <p:sp>
        <p:nvSpPr>
          <p:cNvPr id="11" name="Text 9"/>
          <p:cNvSpPr/>
          <p:nvPr/>
        </p:nvSpPr>
        <p:spPr>
          <a:xfrm>
            <a:off x="868680" y="3108960"/>
            <a:ext cx="3840480" cy="731520"/>
          </a:xfrm>
          <a:prstGeom prst="rect">
            <a:avLst/>
          </a:prstGeom>
          <a:noFill/>
          <a:ln/>
        </p:spPr>
        <p:txBody>
          <a:bodyPr wrap="square" lIns="0" tIns="0" rIns="0" bIns="0" rtlCol="0" anchor="ctr"/>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Naloxona fără prescripție</a:t>
            </a:r>
            <a:endParaRPr lang="en-US" sz="1600" dirty="0"/>
          </a:p>
        </p:txBody>
      </p:sp>
      <p:sp>
        <p:nvSpPr>
          <p:cNvPr id="12" name="Text 10"/>
          <p:cNvSpPr/>
          <p:nvPr/>
        </p:nvSpPr>
        <p:spPr>
          <a:xfrm>
            <a:off x="4800600" y="3108960"/>
            <a:ext cx="6583680" cy="731520"/>
          </a:xfrm>
          <a:prstGeom prst="rect">
            <a:avLst/>
          </a:prstGeom>
          <a:noFill/>
          <a:ln/>
        </p:spPr>
        <p:txBody>
          <a:bodyPr wrap="square" lIns="0" tIns="0" rIns="0" bIns="0" rtlCol="0" anchor="ctr"/>
          <a:lstStyle/>
          <a:p>
            <a:pPr indent="0" marL="0">
              <a:buNone/>
            </a:pPr>
            <a:r>
              <a:rPr lang="en-US" sz="1550" dirty="0">
                <a:solidFill>
                  <a:srgbClr val="3A3C44"/>
                </a:solidFill>
                <a:latin typeface="Palatino Linotype" pitchFamily="34" charset="0"/>
                <a:ea typeface="Palatino Linotype" pitchFamily="34" charset="-122"/>
                <a:cs typeface="Palatino Linotype" pitchFamily="34" charset="-120"/>
              </a:rPr>
              <a:t>în Danemarca, Franța, Italia, Suedia și Norvegia</a:t>
            </a:r>
            <a:endParaRPr lang="en-US" sz="1550" dirty="0"/>
          </a:p>
        </p:txBody>
      </p:sp>
      <p:sp>
        <p:nvSpPr>
          <p:cNvPr id="13" name="Shape 11"/>
          <p:cNvSpPr/>
          <p:nvPr/>
        </p:nvSpPr>
        <p:spPr>
          <a:xfrm>
            <a:off x="594360" y="3931920"/>
            <a:ext cx="10972800" cy="731520"/>
          </a:xfrm>
          <a:prstGeom prst="roundRect">
            <a:avLst>
              <a:gd name="adj" fmla="val 11250"/>
            </a:avLst>
          </a:prstGeom>
          <a:solidFill>
            <a:srgbClr val="F9F8F5"/>
          </a:solidFill>
          <a:ln w="12700">
            <a:solidFill>
              <a:srgbClr val="F9F8F5"/>
            </a:solidFill>
            <a:prstDash val="solid"/>
          </a:ln>
        </p:spPr>
        <p:txBody>
          <a:bodyPr/>
          <a:p/>
        </p:txBody>
      </p:sp>
      <p:sp>
        <p:nvSpPr>
          <p:cNvPr id="14" name="Text 12"/>
          <p:cNvSpPr/>
          <p:nvPr/>
        </p:nvSpPr>
        <p:spPr>
          <a:xfrm>
            <a:off x="868680" y="3931920"/>
            <a:ext cx="3840480" cy="731520"/>
          </a:xfrm>
          <a:prstGeom prst="rect">
            <a:avLst/>
          </a:prstGeom>
          <a:noFill/>
          <a:ln/>
        </p:spPr>
        <p:txBody>
          <a:bodyPr wrap="square" lIns="0" tIns="0" rIns="0" bIns="0" rtlCol="0" anchor="ctr"/>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Camerele de consum</a:t>
            </a:r>
            <a:endParaRPr lang="en-US" sz="1600" dirty="0"/>
          </a:p>
        </p:txBody>
      </p:sp>
      <p:sp>
        <p:nvSpPr>
          <p:cNvPr id="15" name="Text 13"/>
          <p:cNvSpPr/>
          <p:nvPr/>
        </p:nvSpPr>
        <p:spPr>
          <a:xfrm>
            <a:off x="4800600" y="3931920"/>
            <a:ext cx="6583680" cy="731520"/>
          </a:xfrm>
          <a:prstGeom prst="rect">
            <a:avLst/>
          </a:prstGeom>
          <a:noFill/>
          <a:ln/>
        </p:spPr>
        <p:txBody>
          <a:bodyPr wrap="square" lIns="0" tIns="0" rIns="0" bIns="0" rtlCol="0" anchor="ctr"/>
          <a:lstStyle/>
          <a:p>
            <a:pPr indent="0" marL="0">
              <a:buNone/>
            </a:pPr>
            <a:r>
              <a:rPr lang="en-US" sz="1550" dirty="0">
                <a:solidFill>
                  <a:srgbClr val="3A3C44"/>
                </a:solidFill>
                <a:latin typeface="Palatino Linotype" pitchFamily="34" charset="0"/>
                <a:ea typeface="Palatino Linotype" pitchFamily="34" charset="-122"/>
                <a:cs typeface="Palatino Linotype" pitchFamily="34" charset="-120"/>
              </a:rPr>
              <a:t>100, în 13 state UE și în Norvegia, în 2025</a:t>
            </a:r>
            <a:endParaRPr lang="en-US" sz="1550" dirty="0"/>
          </a:p>
        </p:txBody>
      </p:sp>
      <p:sp>
        <p:nvSpPr>
          <p:cNvPr id="16" name="Text 14"/>
          <p:cNvSpPr/>
          <p:nvPr/>
        </p:nvSpPr>
        <p:spPr>
          <a:xfrm>
            <a:off x="594360" y="4892040"/>
            <a:ext cx="10972800" cy="777240"/>
          </a:xfrm>
          <a:prstGeom prst="rect">
            <a:avLst/>
          </a:prstGeom>
          <a:noFill/>
          <a:ln/>
        </p:spPr>
        <p:txBody>
          <a:bodyPr wrap="square" lIns="0" tIns="0" rIns="0" bIns="0" rtlCol="0" anchor="t"/>
          <a:lstStyle/>
          <a:p>
            <a:pPr indent="0" marL="0">
              <a:buNone/>
            </a:pPr>
            <a:r>
              <a:rPr lang="en-US" sz="1650" b="1" dirty="0">
                <a:solidFill>
                  <a:srgbClr val="0E7C6B"/>
                </a:solidFill>
                <a:latin typeface="Palatino Linotype" pitchFamily="34" charset="0"/>
                <a:ea typeface="Palatino Linotype" pitchFamily="34" charset="-122"/>
                <a:cs typeface="Palatino Linotype" pitchFamily="34" charset="-120"/>
              </a:rPr>
              <a:t>La nivel mondial (OMS, 2025): naloxonă fără prescripție în Australia, Canada, Italia, Regatul Unit și Ucraina.</a:t>
            </a:r>
            <a:endParaRPr lang="en-US" sz="1650" dirty="0"/>
          </a:p>
        </p:txBody>
      </p:sp>
      <p:sp>
        <p:nvSpPr>
          <p:cNvPr id="17" name="Text 15"/>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Surse: EUDA, European Drug Report 2026, modulul „Harm reduction”; OMS, fișa din 2025.</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ROMÂNIA, 2024</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Ce există în România</a:t>
            </a:r>
            <a:endParaRPr lang="en-US" sz="3200" dirty="0"/>
          </a:p>
        </p:txBody>
      </p:sp>
      <p:sp>
        <p:nvSpPr>
          <p:cNvPr id="4" name="Shape 2"/>
          <p:cNvSpPr/>
          <p:nvPr/>
        </p:nvSpPr>
        <p:spPr>
          <a:xfrm>
            <a:off x="594360" y="1463040"/>
            <a:ext cx="5349240" cy="1783080"/>
          </a:xfrm>
          <a:prstGeom prst="roundRect">
            <a:avLst>
              <a:gd name="adj" fmla="val 4615"/>
            </a:avLst>
          </a:prstGeom>
          <a:solidFill>
            <a:srgbClr val="1D1F2B"/>
          </a:solidFill>
          <a:ln w="12700">
            <a:solidFill>
              <a:srgbClr val="1D1F2B"/>
            </a:solidFill>
            <a:prstDash val="solid"/>
          </a:ln>
        </p:spPr>
        <p:txBody>
          <a:bodyPr/>
          <a:p/>
        </p:txBody>
      </p:sp>
      <p:sp>
        <p:nvSpPr>
          <p:cNvPr id="5" name="Text 3"/>
          <p:cNvSpPr/>
          <p:nvPr/>
        </p:nvSpPr>
        <p:spPr>
          <a:xfrm>
            <a:off x="868680" y="1572768"/>
            <a:ext cx="4800600" cy="891540"/>
          </a:xfrm>
          <a:prstGeom prst="rect">
            <a:avLst/>
          </a:prstGeom>
          <a:noFill/>
          <a:ln/>
        </p:spPr>
        <p:txBody>
          <a:bodyPr wrap="square" lIns="0" tIns="0" rIns="0" bIns="0" rtlCol="0" anchor="ctr"/>
          <a:lstStyle/>
          <a:p>
            <a:pPr indent="0" marL="0">
              <a:buNone/>
            </a:pPr>
            <a:r>
              <a:rPr lang="en-US" sz="4400" b="1" dirty="0">
                <a:solidFill>
                  <a:srgbClr val="27D3BE"/>
                </a:solidFill>
                <a:latin typeface="Palatino Linotype" pitchFamily="34" charset="0"/>
                <a:ea typeface="Palatino Linotype" pitchFamily="34" charset="-122"/>
                <a:cs typeface="Palatino Linotype" pitchFamily="34" charset="-120"/>
              </a:rPr>
              <a:t>2 571</a:t>
            </a:r>
            <a:endParaRPr lang="en-US" sz="4400" dirty="0"/>
          </a:p>
        </p:txBody>
      </p:sp>
      <p:sp>
        <p:nvSpPr>
          <p:cNvPr id="6" name="Text 4"/>
          <p:cNvSpPr/>
          <p:nvPr/>
        </p:nvSpPr>
        <p:spPr>
          <a:xfrm>
            <a:off x="868680" y="2372868"/>
            <a:ext cx="4800600" cy="820217"/>
          </a:xfrm>
          <a:prstGeom prst="rect">
            <a:avLst/>
          </a:prstGeom>
          <a:noFill/>
          <a:ln/>
        </p:spPr>
        <p:txBody>
          <a:bodyPr wrap="square" lIns="0" tIns="0" rIns="0" bIns="0" rtlCol="0" anchor="t"/>
          <a:lstStyle/>
          <a:p>
            <a:pPr indent="0" marL="0">
              <a:buNone/>
            </a:pPr>
            <a:r>
              <a:rPr lang="en-US" sz="1200" dirty="0">
                <a:solidFill>
                  <a:srgbClr val="FFFFFF"/>
                </a:solidFill>
                <a:latin typeface="Palatino Linotype" pitchFamily="34" charset="0"/>
                <a:ea typeface="Palatino Linotype" pitchFamily="34" charset="-122"/>
                <a:cs typeface="Palatino Linotype" pitchFamily="34" charset="-120"/>
              </a:rPr>
              <a:t>de beneficiari care își injectează droguri, numai în București (asociația ARAS și echipa mobilă a Sectorului cinci)</a:t>
            </a:r>
            <a:endParaRPr lang="en-US" sz="1200" dirty="0"/>
          </a:p>
        </p:txBody>
      </p:sp>
      <p:sp>
        <p:nvSpPr>
          <p:cNvPr id="7" name="Shape 5"/>
          <p:cNvSpPr/>
          <p:nvPr/>
        </p:nvSpPr>
        <p:spPr>
          <a:xfrm>
            <a:off x="594360" y="3429000"/>
            <a:ext cx="5349240" cy="1783080"/>
          </a:xfrm>
          <a:prstGeom prst="roundRect">
            <a:avLst>
              <a:gd name="adj" fmla="val 4615"/>
            </a:avLst>
          </a:prstGeom>
          <a:solidFill>
            <a:srgbClr val="1D1F2B"/>
          </a:solidFill>
          <a:ln w="12700">
            <a:solidFill>
              <a:srgbClr val="1D1F2B"/>
            </a:solidFill>
            <a:prstDash val="solid"/>
          </a:ln>
        </p:spPr>
        <p:txBody>
          <a:bodyPr/>
          <a:p/>
        </p:txBody>
      </p:sp>
      <p:sp>
        <p:nvSpPr>
          <p:cNvPr id="8" name="Text 6"/>
          <p:cNvSpPr/>
          <p:nvPr/>
        </p:nvSpPr>
        <p:spPr>
          <a:xfrm>
            <a:off x="868680" y="3538728"/>
            <a:ext cx="4800600" cy="891540"/>
          </a:xfrm>
          <a:prstGeom prst="rect">
            <a:avLst/>
          </a:prstGeom>
          <a:noFill/>
          <a:ln/>
        </p:spPr>
        <p:txBody>
          <a:bodyPr wrap="square" lIns="0" tIns="0" rIns="0" bIns="0" rtlCol="0" anchor="ctr"/>
          <a:lstStyle/>
          <a:p>
            <a:pPr indent="0" marL="0">
              <a:buNone/>
            </a:pPr>
            <a:r>
              <a:rPr lang="en-US" sz="4400" b="1" dirty="0">
                <a:solidFill>
                  <a:srgbClr val="27D3BE"/>
                </a:solidFill>
                <a:latin typeface="Palatino Linotype" pitchFamily="34" charset="0"/>
                <a:ea typeface="Palatino Linotype" pitchFamily="34" charset="-122"/>
                <a:cs typeface="Palatino Linotype" pitchFamily="34" charset="-120"/>
              </a:rPr>
              <a:t>514 760</a:t>
            </a:r>
            <a:endParaRPr lang="en-US" sz="4400" dirty="0"/>
          </a:p>
        </p:txBody>
      </p:sp>
      <p:sp>
        <p:nvSpPr>
          <p:cNvPr id="9" name="Text 7"/>
          <p:cNvSpPr/>
          <p:nvPr/>
        </p:nvSpPr>
        <p:spPr>
          <a:xfrm>
            <a:off x="868680" y="4338828"/>
            <a:ext cx="4800600" cy="820217"/>
          </a:xfrm>
          <a:prstGeom prst="rect">
            <a:avLst/>
          </a:prstGeom>
          <a:noFill/>
          <a:ln/>
        </p:spPr>
        <p:txBody>
          <a:bodyPr wrap="square" lIns="0" tIns="0" rIns="0" bIns="0" rtlCol="0" anchor="t"/>
          <a:lstStyle/>
          <a:p>
            <a:pPr indent="0" marL="0">
              <a:buNone/>
            </a:pPr>
            <a:r>
              <a:rPr lang="en-US" sz="1200" dirty="0">
                <a:solidFill>
                  <a:srgbClr val="FFFFFF"/>
                </a:solidFill>
                <a:latin typeface="Palatino Linotype" pitchFamily="34" charset="0"/>
                <a:ea typeface="Palatino Linotype" pitchFamily="34" charset="-122"/>
                <a:cs typeface="Palatino Linotype" pitchFamily="34" charset="-120"/>
              </a:rPr>
              <a:t>de seringi distribuite; 301 pe beneficiar, față de 446 în anul precedent</a:t>
            </a:r>
            <a:endParaRPr lang="en-US" sz="1200" dirty="0"/>
          </a:p>
        </p:txBody>
      </p:sp>
      <p:sp>
        <p:nvSpPr>
          <p:cNvPr id="10" name="Shape 8"/>
          <p:cNvSpPr/>
          <p:nvPr/>
        </p:nvSpPr>
        <p:spPr>
          <a:xfrm>
            <a:off x="6217920" y="1463040"/>
            <a:ext cx="5349240" cy="3749040"/>
          </a:xfrm>
          <a:prstGeom prst="roundRect">
            <a:avLst>
              <a:gd name="adj" fmla="val 2195"/>
            </a:avLst>
          </a:prstGeom>
          <a:solidFill>
            <a:srgbClr val="272A38"/>
          </a:solidFill>
          <a:ln w="12700">
            <a:solidFill>
              <a:srgbClr val="272A38"/>
            </a:solidFill>
            <a:prstDash val="solid"/>
          </a:ln>
        </p:spPr>
        <p:txBody>
          <a:bodyPr/>
          <a:p/>
        </p:txBody>
      </p:sp>
      <p:sp>
        <p:nvSpPr>
          <p:cNvPr id="11" name="Shape 9"/>
          <p:cNvSpPr/>
          <p:nvPr/>
        </p:nvSpPr>
        <p:spPr>
          <a:xfrm>
            <a:off x="6217920" y="1463040"/>
            <a:ext cx="5349240" cy="73152"/>
          </a:xfrm>
          <a:prstGeom prst="rect">
            <a:avLst/>
          </a:prstGeom>
          <a:solidFill>
            <a:srgbClr val="FF4757"/>
          </a:solidFill>
          <a:ln w="12700">
            <a:solidFill>
              <a:srgbClr val="FF4757"/>
            </a:solidFill>
            <a:prstDash val="solid"/>
          </a:ln>
        </p:spPr>
        <p:txBody>
          <a:bodyPr/>
          <a:p/>
        </p:txBody>
      </p:sp>
      <p:sp>
        <p:nvSpPr>
          <p:cNvPr id="12" name="Text 10"/>
          <p:cNvSpPr/>
          <p:nvPr/>
        </p:nvSpPr>
        <p:spPr>
          <a:xfrm>
            <a:off x="6492240" y="1691640"/>
            <a:ext cx="4846320" cy="292608"/>
          </a:xfrm>
          <a:prstGeom prst="rect">
            <a:avLst/>
          </a:prstGeom>
          <a:noFill/>
          <a:ln/>
        </p:spPr>
        <p:txBody>
          <a:bodyPr wrap="square" lIns="0" tIns="0" rIns="0" bIns="0" rtlCol="0" anchor="t"/>
          <a:lstStyle/>
          <a:p>
            <a:pPr indent="0" marL="0">
              <a:buNone/>
            </a:pPr>
            <a:r>
              <a:rPr lang="en-US" sz="1250" b="1" spc="200" kern="0" dirty="0">
                <a:solidFill>
                  <a:srgbClr val="FF4757"/>
                </a:solidFill>
                <a:latin typeface="Palatino Linotype" pitchFamily="34" charset="0"/>
                <a:ea typeface="Palatino Linotype" pitchFamily="34" charset="-122"/>
                <a:cs typeface="Palatino Linotype" pitchFamily="34" charset="-120"/>
              </a:rPr>
              <a:t>CE LIPSEȘTE</a:t>
            </a:r>
            <a:endParaRPr lang="en-US" sz="1250" dirty="0"/>
          </a:p>
        </p:txBody>
      </p:sp>
      <p:sp>
        <p:nvSpPr>
          <p:cNvPr id="13" name="Text 11"/>
          <p:cNvSpPr/>
          <p:nvPr/>
        </p:nvSpPr>
        <p:spPr>
          <a:xfrm>
            <a:off x="6492240" y="2103120"/>
            <a:ext cx="4846320" cy="2926080"/>
          </a:xfrm>
          <a:prstGeom prst="rect">
            <a:avLst/>
          </a:prstGeom>
          <a:noFill/>
          <a:ln/>
        </p:spPr>
        <p:txBody>
          <a:bodyPr wrap="square" lIns="0" tIns="0" rIns="0" bIns="0" rtlCol="0" anchor="t"/>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Naloxona: </a:t>
            </a:r>
            <a:pPr indent="0" marL="0">
              <a:buNone/>
            </a:pPr>
            <a:r>
              <a:rPr lang="en-US" sz="1700" dirty="0">
                <a:solidFill>
                  <a:srgbClr val="FFFFFF"/>
                </a:solidFill>
                <a:latin typeface="Palatino Linotype" pitchFamily="34" charset="0"/>
                <a:ea typeface="Palatino Linotype" pitchFamily="34" charset="-122"/>
                <a:cs typeface="Palatino Linotype" pitchFamily="34" charset="-120"/>
              </a:rPr>
              <a:t>numai în urgențe și în ambulanțe. Martorul unei supradoze nu o are în buzunar.</a:t>
            </a:r>
            <a:endParaRPr lang="en-US" sz="1700" dirty="0"/>
          </a:p>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 </a:t>
            </a:r>
            <a:endParaRPr lang="en-US" sz="1700" dirty="0"/>
          </a:p>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Camerele de consum: </a:t>
            </a:r>
            <a:pPr indent="0" marL="0">
              <a:buNone/>
            </a:pPr>
            <a:r>
              <a:rPr lang="en-US" sz="1700" dirty="0">
                <a:solidFill>
                  <a:srgbClr val="FFFFFF"/>
                </a:solidFill>
                <a:latin typeface="Palatino Linotype" pitchFamily="34" charset="0"/>
                <a:ea typeface="Palatino Linotype" pitchFamily="34" charset="-122"/>
                <a:cs typeface="Palatino Linotype" pitchFamily="34" charset="-120"/>
              </a:rPr>
              <a:t>nu există; nu au fost inițiate demersuri pentru înființarea lor.</a:t>
            </a:r>
            <a:endParaRPr lang="en-US" sz="1700" dirty="0"/>
          </a:p>
        </p:txBody>
      </p:sp>
      <p:sp>
        <p:nvSpPr>
          <p:cNvPr id="14" name="Text 12"/>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Sursa: raportul național privind situația drogurilor, datele pentru 2024.</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ÎNAINTE DE CIFRĂ</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2500" b="1" dirty="0">
                <a:solidFill>
                  <a:srgbClr val="FFFFFF"/>
                </a:solidFill>
                <a:latin typeface="Palatino Linotype" pitchFamily="34" charset="0"/>
                <a:ea typeface="Palatino Linotype" pitchFamily="34" charset="-122"/>
                <a:cs typeface="Palatino Linotype" pitchFamily="34" charset="-120"/>
              </a:rPr>
              <a:t>Din o sută de persoane care își injectează droguri, testate în programele din București, câte aveau hepatita C?</a:t>
            </a:r>
            <a:endParaRPr lang="en-US" sz="2500" dirty="0"/>
          </a:p>
        </p:txBody>
      </p:sp>
      <p:sp>
        <p:nvSpPr>
          <p:cNvPr id="6" name="Shape 4"/>
          <p:cNvSpPr/>
          <p:nvPr/>
        </p:nvSpPr>
        <p:spPr>
          <a:xfrm>
            <a:off x="594360" y="2011680"/>
            <a:ext cx="8046720" cy="603504"/>
          </a:xfrm>
          <a:prstGeom prst="roundRect">
            <a:avLst>
              <a:gd name="adj" fmla="val 13636"/>
            </a:avLst>
          </a:prstGeom>
          <a:solidFill>
            <a:srgbClr val="1D1F2B"/>
          </a:solidFill>
          <a:ln w="12700">
            <a:solidFill>
              <a:srgbClr val="1D1F2B"/>
            </a:solidFill>
            <a:prstDash val="solid"/>
          </a:ln>
        </p:spPr>
        <p:txBody>
          <a:bodyPr/>
          <a:p/>
        </p:txBody>
      </p:sp>
      <p:sp>
        <p:nvSpPr>
          <p:cNvPr id="7" name="Shape 5"/>
          <p:cNvSpPr/>
          <p:nvPr/>
        </p:nvSpPr>
        <p:spPr>
          <a:xfrm>
            <a:off x="914400" y="2103120"/>
            <a:ext cx="420624" cy="420624"/>
          </a:xfrm>
          <a:prstGeom prst="ellipse">
            <a:avLst/>
          </a:prstGeom>
          <a:solidFill>
            <a:srgbClr val="FFC24B"/>
          </a:solidFill>
          <a:ln/>
        </p:spPr>
        <p:txBody>
          <a:bodyPr/>
          <a:p/>
        </p:txBody>
      </p:sp>
      <p:sp>
        <p:nvSpPr>
          <p:cNvPr id="8" name="Text 6"/>
          <p:cNvSpPr/>
          <p:nvPr/>
        </p:nvSpPr>
        <p:spPr>
          <a:xfrm>
            <a:off x="914400" y="210312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2011680"/>
            <a:ext cx="6766560" cy="603504"/>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trei</a:t>
            </a:r>
            <a:endParaRPr lang="en-US" sz="1800" dirty="0"/>
          </a:p>
        </p:txBody>
      </p:sp>
      <p:sp>
        <p:nvSpPr>
          <p:cNvPr id="10" name="Shape 8"/>
          <p:cNvSpPr/>
          <p:nvPr/>
        </p:nvSpPr>
        <p:spPr>
          <a:xfrm>
            <a:off x="594360" y="2743200"/>
            <a:ext cx="8046720" cy="603504"/>
          </a:xfrm>
          <a:prstGeom prst="roundRect">
            <a:avLst>
              <a:gd name="adj" fmla="val 13636"/>
            </a:avLst>
          </a:prstGeom>
          <a:solidFill>
            <a:srgbClr val="1D1F2B"/>
          </a:solidFill>
          <a:ln w="12700">
            <a:solidFill>
              <a:srgbClr val="1D1F2B"/>
            </a:solidFill>
            <a:prstDash val="solid"/>
          </a:ln>
        </p:spPr>
        <p:txBody>
          <a:bodyPr/>
          <a:p/>
        </p:txBody>
      </p:sp>
      <p:sp>
        <p:nvSpPr>
          <p:cNvPr id="11" name="Shape 9"/>
          <p:cNvSpPr/>
          <p:nvPr/>
        </p:nvSpPr>
        <p:spPr>
          <a:xfrm>
            <a:off x="914400" y="2834640"/>
            <a:ext cx="420624" cy="420624"/>
          </a:xfrm>
          <a:prstGeom prst="ellipse">
            <a:avLst/>
          </a:prstGeom>
          <a:solidFill>
            <a:srgbClr val="FFC24B"/>
          </a:solidFill>
          <a:ln/>
        </p:spPr>
        <p:txBody>
          <a:bodyPr/>
          <a:p/>
        </p:txBody>
      </p:sp>
      <p:sp>
        <p:nvSpPr>
          <p:cNvPr id="12" name="Text 10"/>
          <p:cNvSpPr/>
          <p:nvPr/>
        </p:nvSpPr>
        <p:spPr>
          <a:xfrm>
            <a:off x="914400" y="283464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2743200"/>
            <a:ext cx="6766560" cy="603504"/>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zece</a:t>
            </a:r>
            <a:endParaRPr lang="en-US" sz="1800" dirty="0"/>
          </a:p>
        </p:txBody>
      </p:sp>
      <p:sp>
        <p:nvSpPr>
          <p:cNvPr id="14" name="Shape 12"/>
          <p:cNvSpPr/>
          <p:nvPr/>
        </p:nvSpPr>
        <p:spPr>
          <a:xfrm>
            <a:off x="594360" y="3474720"/>
            <a:ext cx="8046720" cy="603504"/>
          </a:xfrm>
          <a:prstGeom prst="roundRect">
            <a:avLst>
              <a:gd name="adj" fmla="val 13636"/>
            </a:avLst>
          </a:prstGeom>
          <a:solidFill>
            <a:srgbClr val="1D1F2B"/>
          </a:solidFill>
          <a:ln w="12700">
            <a:solidFill>
              <a:srgbClr val="1D1F2B"/>
            </a:solidFill>
            <a:prstDash val="solid"/>
          </a:ln>
        </p:spPr>
        <p:txBody>
          <a:bodyPr/>
          <a:p/>
        </p:txBody>
      </p:sp>
      <p:sp>
        <p:nvSpPr>
          <p:cNvPr id="15" name="Shape 13"/>
          <p:cNvSpPr/>
          <p:nvPr/>
        </p:nvSpPr>
        <p:spPr>
          <a:xfrm>
            <a:off x="914400" y="3566160"/>
            <a:ext cx="420624" cy="420624"/>
          </a:xfrm>
          <a:prstGeom prst="ellipse">
            <a:avLst/>
          </a:prstGeom>
          <a:solidFill>
            <a:srgbClr val="FFC24B"/>
          </a:solidFill>
          <a:ln/>
        </p:spPr>
        <p:txBody>
          <a:bodyPr/>
          <a:p/>
        </p:txBody>
      </p:sp>
      <p:sp>
        <p:nvSpPr>
          <p:cNvPr id="16" name="Text 14"/>
          <p:cNvSpPr/>
          <p:nvPr/>
        </p:nvSpPr>
        <p:spPr>
          <a:xfrm>
            <a:off x="914400" y="356616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3474720"/>
            <a:ext cx="6766560" cy="603504"/>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treizeci și două</a:t>
            </a:r>
            <a:endParaRPr lang="en-US" sz="1800" dirty="0"/>
          </a:p>
        </p:txBody>
      </p:sp>
      <p:sp>
        <p:nvSpPr>
          <p:cNvPr id="18" name="Shape 16"/>
          <p:cNvSpPr/>
          <p:nvPr/>
        </p:nvSpPr>
        <p:spPr>
          <a:xfrm>
            <a:off x="594360" y="4206240"/>
            <a:ext cx="8046720" cy="603504"/>
          </a:xfrm>
          <a:prstGeom prst="roundRect">
            <a:avLst>
              <a:gd name="adj" fmla="val 13636"/>
            </a:avLst>
          </a:prstGeom>
          <a:solidFill>
            <a:srgbClr val="1D1F2B"/>
          </a:solidFill>
          <a:ln w="12700">
            <a:solidFill>
              <a:srgbClr val="1D1F2B"/>
            </a:solidFill>
            <a:prstDash val="solid"/>
          </a:ln>
        </p:spPr>
        <p:txBody>
          <a:bodyPr/>
          <a:p/>
        </p:txBody>
      </p:sp>
      <p:sp>
        <p:nvSpPr>
          <p:cNvPr id="19" name="Shape 17"/>
          <p:cNvSpPr/>
          <p:nvPr/>
        </p:nvSpPr>
        <p:spPr>
          <a:xfrm>
            <a:off x="914400" y="4297680"/>
            <a:ext cx="420624" cy="420624"/>
          </a:xfrm>
          <a:prstGeom prst="ellipse">
            <a:avLst/>
          </a:prstGeom>
          <a:solidFill>
            <a:srgbClr val="FFC24B"/>
          </a:solidFill>
          <a:ln/>
        </p:spPr>
        <p:txBody>
          <a:bodyPr/>
          <a:p/>
        </p:txBody>
      </p:sp>
      <p:sp>
        <p:nvSpPr>
          <p:cNvPr id="20" name="Text 18"/>
          <p:cNvSpPr/>
          <p:nvPr/>
        </p:nvSpPr>
        <p:spPr>
          <a:xfrm>
            <a:off x="914400" y="429768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600200" y="4206240"/>
            <a:ext cx="6766560" cy="603504"/>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șaizeci</a:t>
            </a:r>
            <a:endParaRPr lang="en-US" sz="1800" dirty="0"/>
          </a:p>
        </p:txBody>
      </p:sp>
      <p:sp>
        <p:nvSpPr>
          <p:cNvPr id="22" name="Text 20"/>
          <p:cNvSpPr/>
          <p:nvPr/>
        </p:nvSpPr>
        <p:spPr>
          <a:xfrm>
            <a:off x="594360" y="5029200"/>
            <a:ext cx="8686800" cy="45720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Apoi două minute cu colegul: de ce v-ați gândit la o cifră mai mică sau mai mare?</a:t>
            </a:r>
            <a:endParaRPr lang="en-US" sz="1600" dirty="0"/>
          </a:p>
        </p:txBody>
      </p:sp>
      <p:sp>
        <p:nvSpPr>
          <p:cNvPr id="23" name="Text 21"/>
          <p:cNvSpPr/>
          <p:nvPr/>
        </p:nvSpPr>
        <p:spPr>
          <a:xfrm>
            <a:off x="594360" y="5577840"/>
            <a:ext cx="8595360" cy="411480"/>
          </a:xfrm>
          <a:prstGeom prst="rect">
            <a:avLst/>
          </a:prstGeom>
          <a:noFill/>
          <a:ln/>
        </p:spPr>
        <p:txBody>
          <a:bodyPr wrap="square" lIns="0" tIns="0" rIns="0" bIns="0" rtlCol="0" anchor="t"/>
          <a:lstStyle/>
          <a:p>
            <a:pPr indent="0" marL="0">
              <a:buNone/>
            </a:pPr>
            <a:r>
              <a:rPr lang="en-US" sz="1600" b="1" dirty="0">
                <a:solidFill>
                  <a:srgbClr val="FFC24B"/>
                </a:solidFill>
                <a:latin typeface="Palatino Linotype" pitchFamily="34" charset="0"/>
                <a:ea typeface="Palatino Linotype" pitchFamily="34" charset="-122"/>
                <a:cs typeface="Palatino Linotype" pitchFamily="34" charset="-120"/>
              </a:rPr>
              <a:t>Răspundeți pe telefon, la codul afișat.</a:t>
            </a:r>
            <a:endParaRPr lang="en-US" sz="1600" dirty="0"/>
          </a:p>
        </p:txBody>
      </p:sp>
      <p:sp>
        <p:nvSpPr>
          <p:cNvPr id="24" name="Shape 22"/>
          <p:cNvSpPr/>
          <p:nvPr/>
        </p:nvSpPr>
        <p:spPr>
          <a:xfrm>
            <a:off x="9144000" y="2011680"/>
            <a:ext cx="2423160" cy="2286000"/>
          </a:xfrm>
          <a:prstGeom prst="roundRect">
            <a:avLst>
              <a:gd name="adj" fmla="val 3600"/>
            </a:avLst>
          </a:prstGeom>
          <a:solidFill>
            <a:srgbClr val="FFFFFF"/>
          </a:solidFill>
          <a:ln w="12700">
            <a:solidFill>
              <a:srgbClr val="FFFFFF"/>
            </a:solidFill>
            <a:prstDash val="solid"/>
          </a:ln>
        </p:spPr>
        <p:txBody>
          <a:bodyPr/>
          <a:p/>
        </p:txBody>
      </p:sp>
      <p:pic>
        <p:nvPicPr>
          <p:cNvPr id="25" name="Picture 24" descr="Mentimeter_OPT_DROGURI_C04.png"/>
          <p:cNvPicPr>
            <a:picLocks noChangeAspect="1"/>
          </p:cNvPicPr>
          <p:nvPr/>
        </p:nvPicPr>
        <p:blipFill>
          <a:blip r:embed="rId3"/>
          <a:stretch>
            <a:fillRect/>
          </a:stretch>
        </p:blipFill>
        <p:spPr>
          <a:xfrm>
            <a:off x="9526270" y="2011680"/>
            <a:ext cx="1658620" cy="1658620"/>
          </a:xfrm>
          <a:prstGeom prst="rect">
            <a:avLst/>
          </a:prstGeom>
        </p:spPr>
      </p:pic>
      <p:sp>
        <p:nvSpPr>
          <p:cNvPr id="26" name="TextBox 25"/>
          <p:cNvSpPr txBox="1"/>
          <p:nvPr/>
        </p:nvSpPr>
        <p:spPr>
          <a:xfrm>
            <a:off x="9144000" y="3708400"/>
            <a:ext cx="242316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HEPATITA C ȘI HIV, 2024</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Varianta C: aproximativ o treime</a:t>
            </a:r>
            <a:endParaRPr lang="en-US" sz="3200" dirty="0"/>
          </a:p>
        </p:txBody>
      </p:sp>
      <p:sp>
        <p:nvSpPr>
          <p:cNvPr id="4" name="Text 2"/>
          <p:cNvSpPr/>
          <p:nvPr/>
        </p:nvSpPr>
        <p:spPr>
          <a:xfrm>
            <a:off x="594360" y="1463040"/>
            <a:ext cx="5394960" cy="1371600"/>
          </a:xfrm>
          <a:prstGeom prst="rect">
            <a:avLst/>
          </a:prstGeom>
          <a:noFill/>
          <a:ln/>
        </p:spPr>
        <p:txBody>
          <a:bodyPr wrap="square" lIns="0" tIns="0" rIns="0" bIns="0" rtlCol="0" anchor="t"/>
          <a:lstStyle/>
          <a:p>
            <a:pPr indent="0" marL="0">
              <a:buNone/>
            </a:pPr>
            <a:r>
              <a:rPr lang="en-US" sz="8800" b="1" dirty="0">
                <a:solidFill>
                  <a:srgbClr val="B02532"/>
                </a:solidFill>
                <a:latin typeface="Palatino Linotype" pitchFamily="34" charset="0"/>
                <a:ea typeface="Palatino Linotype" pitchFamily="34" charset="-122"/>
                <a:cs typeface="Palatino Linotype" pitchFamily="34" charset="-120"/>
              </a:rPr>
              <a:t>1 din 3</a:t>
            </a:r>
            <a:endParaRPr lang="en-US" sz="8800" dirty="0"/>
          </a:p>
        </p:txBody>
      </p:sp>
      <p:sp>
        <p:nvSpPr>
          <p:cNvPr id="5" name="Text 3"/>
          <p:cNvSpPr/>
          <p:nvPr/>
        </p:nvSpPr>
        <p:spPr>
          <a:xfrm>
            <a:off x="594360" y="2926080"/>
            <a:ext cx="5394960" cy="91440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32,19%: 132 de teste rapide pozitive din 410, la beneficiarii programelor testați în 2024.</a:t>
            </a:r>
            <a:endParaRPr lang="en-US" sz="1650" dirty="0"/>
          </a:p>
        </p:txBody>
      </p:sp>
      <p:sp>
        <p:nvSpPr>
          <p:cNvPr id="6" name="Shape 4"/>
          <p:cNvSpPr/>
          <p:nvPr/>
        </p:nvSpPr>
        <p:spPr>
          <a:xfrm>
            <a:off x="6309360" y="1463040"/>
            <a:ext cx="5257800" cy="2377440"/>
          </a:xfrm>
          <a:prstGeom prst="roundRect">
            <a:avLst>
              <a:gd name="adj" fmla="val 3462"/>
            </a:avLst>
          </a:prstGeom>
          <a:solidFill>
            <a:srgbClr val="ECEAE4"/>
          </a:solidFill>
          <a:ln w="12700">
            <a:solidFill>
              <a:srgbClr val="ECEAE4"/>
            </a:solidFill>
            <a:prstDash val="solid"/>
          </a:ln>
        </p:spPr>
        <p:txBody>
          <a:bodyPr/>
          <a:p/>
        </p:txBody>
      </p:sp>
      <p:sp>
        <p:nvSpPr>
          <p:cNvPr id="7" name="Text 5"/>
          <p:cNvSpPr/>
          <p:nvPr/>
        </p:nvSpPr>
        <p:spPr>
          <a:xfrm>
            <a:off x="6583680" y="1627632"/>
            <a:ext cx="4754880" cy="365760"/>
          </a:xfrm>
          <a:prstGeom prst="rect">
            <a:avLst/>
          </a:prstGeom>
          <a:noFill/>
          <a:ln/>
        </p:spPr>
        <p:txBody>
          <a:bodyPr wrap="square" lIns="0" tIns="0" rIns="0" bIns="0" rtlCol="0" anchor="t"/>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HIV, 2024</a:t>
            </a:r>
            <a:endParaRPr lang="en-US" sz="1600" dirty="0"/>
          </a:p>
        </p:txBody>
      </p:sp>
      <p:sp>
        <p:nvSpPr>
          <p:cNvPr id="8" name="Text 6"/>
          <p:cNvSpPr/>
          <p:nvPr/>
        </p:nvSpPr>
        <p:spPr>
          <a:xfrm>
            <a:off x="6583680" y="2057400"/>
            <a:ext cx="4754880" cy="169164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810 cazuri noi în România; la 59 de persoane, adică la 7,28%, calea probabilă de transmitere a fost injectarea de droguri.</a:t>
            </a:r>
            <a:endParaRPr lang="en-US" sz="1600" dirty="0"/>
          </a:p>
        </p:txBody>
      </p:sp>
      <p:sp>
        <p:nvSpPr>
          <p:cNvPr id="9" name="Shape 7"/>
          <p:cNvSpPr/>
          <p:nvPr/>
        </p:nvSpPr>
        <p:spPr>
          <a:xfrm>
            <a:off x="594360" y="4160520"/>
            <a:ext cx="10972800" cy="1188720"/>
          </a:xfrm>
          <a:prstGeom prst="roundRect">
            <a:avLst>
              <a:gd name="adj" fmla="val 6923"/>
            </a:avLst>
          </a:prstGeom>
          <a:solidFill>
            <a:srgbClr val="F4E0E2"/>
          </a:solidFill>
          <a:ln w="12700">
            <a:solidFill>
              <a:srgbClr val="F4E0E2"/>
            </a:solidFill>
            <a:prstDash val="solid"/>
          </a:ln>
        </p:spPr>
        <p:txBody>
          <a:bodyPr/>
          <a:p/>
        </p:txBody>
      </p:sp>
      <p:sp>
        <p:nvSpPr>
          <p:cNvPr id="10" name="Text 8"/>
          <p:cNvSpPr/>
          <p:nvPr/>
        </p:nvSpPr>
        <p:spPr>
          <a:xfrm>
            <a:off x="868680" y="4160520"/>
            <a:ext cx="10424160" cy="1188720"/>
          </a:xfrm>
          <a:prstGeom prst="rect">
            <a:avLst/>
          </a:prstGeom>
          <a:noFill/>
          <a:ln/>
        </p:spPr>
        <p:txBody>
          <a:bodyPr wrap="square" lIns="0" tIns="0" rIns="0" bIns="0" rtlCol="0" anchor="ctr"/>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Hepatita C nu se vede: un risc rămâne invizibil până când cineva îl măsoară.</a:t>
            </a:r>
            <a:endParaRPr lang="en-US" sz="2000" dirty="0"/>
          </a:p>
        </p:txBody>
      </p:sp>
      <p:sp>
        <p:nvSpPr>
          <p:cNvPr id="11" name="Text 9"/>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raportul național privind situația drogurilor, datele pentru 2024.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TABERE · 3 MINUTE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CELE DOUĂ TABERE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Moțiunea și cele două tabere</a:t>
            </a:r>
            <a:endParaRPr lang="en-US" sz="3200" dirty="0"/>
          </a:p>
        </p:txBody>
      </p:sp>
      <p:sp>
        <p:nvSpPr>
          <p:cNvPr id="6" name="Text 4"/>
          <p:cNvSpPr/>
          <p:nvPr/>
        </p:nvSpPr>
        <p:spPr>
          <a:xfrm>
            <a:off x="594360" y="1417320"/>
            <a:ext cx="10972800" cy="868680"/>
          </a:xfrm>
          <a:prstGeom prst="rect">
            <a:avLst/>
          </a:prstGeom>
          <a:noFill/>
          <a:ln/>
        </p:spPr>
        <p:txBody>
          <a:bodyPr wrap="square" lIns="0" tIns="0" rIns="0" bIns="0" rtlCol="0" anchor="t"/>
          <a:lstStyle/>
          <a:p>
            <a:pPr indent="0" marL="0">
              <a:buNone/>
            </a:pPr>
            <a:r>
              <a:rPr lang="en-US" sz="2100" i="1" dirty="0">
                <a:solidFill>
                  <a:srgbClr val="FFFFFF"/>
                </a:solidFill>
                <a:latin typeface="Palatino Linotype" pitchFamily="34" charset="0"/>
                <a:ea typeface="Palatino Linotype" pitchFamily="34" charset="-122"/>
                <a:cs typeface="Palatino Linotype" pitchFamily="34" charset="-120"/>
              </a:rPr>
              <a:t>„Clujul ar trebui să aibă o cameră de consum supravegheat de droguri.”</a:t>
            </a:r>
            <a:endParaRPr lang="en-US" sz="2100" dirty="0"/>
          </a:p>
        </p:txBody>
      </p:sp>
      <p:sp>
        <p:nvSpPr>
          <p:cNvPr id="7" name="Shape 5"/>
          <p:cNvSpPr/>
          <p:nvPr/>
        </p:nvSpPr>
        <p:spPr>
          <a:xfrm>
            <a:off x="594360" y="2468880"/>
            <a:ext cx="5349240" cy="1554480"/>
          </a:xfrm>
          <a:prstGeom prst="roundRect">
            <a:avLst>
              <a:gd name="adj" fmla="val 5294"/>
            </a:avLst>
          </a:prstGeom>
          <a:solidFill>
            <a:srgbClr val="27D3BE"/>
          </a:solidFill>
          <a:ln w="12700">
            <a:solidFill>
              <a:srgbClr val="27D3BE"/>
            </a:solidFill>
            <a:prstDash val="solid"/>
          </a:ln>
        </p:spPr>
        <p:txBody>
          <a:bodyPr/>
          <a:p/>
        </p:txBody>
      </p:sp>
      <p:sp>
        <p:nvSpPr>
          <p:cNvPr id="8" name="Text 6"/>
          <p:cNvSpPr/>
          <p:nvPr/>
        </p:nvSpPr>
        <p:spPr>
          <a:xfrm>
            <a:off x="868680" y="2651760"/>
            <a:ext cx="4754880" cy="457200"/>
          </a:xfrm>
          <a:prstGeom prst="rect">
            <a:avLst/>
          </a:prstGeom>
          <a:noFill/>
          <a:ln/>
        </p:spPr>
        <p:txBody>
          <a:bodyPr wrap="square" lIns="0" tIns="0" rIns="0" bIns="0" rtlCol="0" anchor="t"/>
          <a:lstStyle/>
          <a:p>
            <a:pPr indent="0" marL="0">
              <a:buNone/>
            </a:pPr>
            <a:r>
              <a:rPr lang="en-US" sz="2200" b="1" spc="200" kern="0" dirty="0">
                <a:solidFill>
                  <a:srgbClr val="073B34"/>
                </a:solidFill>
                <a:latin typeface="Palatino Linotype" pitchFamily="34" charset="0"/>
                <a:ea typeface="Palatino Linotype" pitchFamily="34" charset="-122"/>
                <a:cs typeface="Palatino Linotype" pitchFamily="34" charset="-120"/>
              </a:rPr>
              <a:t>STÂNGA SĂLII</a:t>
            </a:r>
            <a:endParaRPr lang="en-US" sz="2200" dirty="0"/>
          </a:p>
        </p:txBody>
      </p:sp>
      <p:sp>
        <p:nvSpPr>
          <p:cNvPr id="9" name="Text 7"/>
          <p:cNvSpPr/>
          <p:nvPr/>
        </p:nvSpPr>
        <p:spPr>
          <a:xfrm>
            <a:off x="868680" y="3200400"/>
            <a:ext cx="4754880" cy="548640"/>
          </a:xfrm>
          <a:prstGeom prst="rect">
            <a:avLst/>
          </a:prstGeom>
          <a:noFill/>
          <a:ln/>
        </p:spPr>
        <p:txBody>
          <a:bodyPr wrap="square" lIns="0" tIns="0" rIns="0" bIns="0" rtlCol="0" anchor="t"/>
          <a:lstStyle/>
          <a:p>
            <a:pPr indent="0" marL="0">
              <a:buNone/>
            </a:pPr>
            <a:r>
              <a:rPr lang="en-US" sz="1900" dirty="0">
                <a:solidFill>
                  <a:srgbClr val="073B34"/>
                </a:solidFill>
                <a:latin typeface="Palatino Linotype" pitchFamily="34" charset="0"/>
                <a:ea typeface="Palatino Linotype" pitchFamily="34" charset="-122"/>
                <a:cs typeface="Palatino Linotype" pitchFamily="34" charset="-120"/>
              </a:rPr>
              <a:t>pentru moțiune</a:t>
            </a:r>
            <a:endParaRPr lang="en-US" sz="1900" dirty="0"/>
          </a:p>
        </p:txBody>
      </p:sp>
      <p:sp>
        <p:nvSpPr>
          <p:cNvPr id="10" name="Shape 8"/>
          <p:cNvSpPr/>
          <p:nvPr/>
        </p:nvSpPr>
        <p:spPr>
          <a:xfrm>
            <a:off x="6217920" y="2468880"/>
            <a:ext cx="5349240" cy="1554480"/>
          </a:xfrm>
          <a:prstGeom prst="roundRect">
            <a:avLst>
              <a:gd name="adj" fmla="val 5294"/>
            </a:avLst>
          </a:prstGeom>
          <a:solidFill>
            <a:srgbClr val="FF4757"/>
          </a:solidFill>
          <a:ln w="12700">
            <a:solidFill>
              <a:srgbClr val="FF4757"/>
            </a:solidFill>
            <a:prstDash val="solid"/>
          </a:ln>
        </p:spPr>
        <p:txBody>
          <a:bodyPr/>
          <a:p/>
        </p:txBody>
      </p:sp>
      <p:sp>
        <p:nvSpPr>
          <p:cNvPr id="11" name="Text 9"/>
          <p:cNvSpPr/>
          <p:nvPr/>
        </p:nvSpPr>
        <p:spPr>
          <a:xfrm>
            <a:off x="6492240" y="2651760"/>
            <a:ext cx="4754880" cy="457200"/>
          </a:xfrm>
          <a:prstGeom prst="rect">
            <a:avLst/>
          </a:prstGeom>
          <a:noFill/>
          <a:ln/>
        </p:spPr>
        <p:txBody>
          <a:bodyPr wrap="square" lIns="0" tIns="0" rIns="0" bIns="0" rtlCol="0" anchor="t"/>
          <a:lstStyle/>
          <a:p>
            <a:pPr indent="0" marL="0">
              <a:buNone/>
            </a:pPr>
            <a:r>
              <a:rPr lang="en-US" sz="2200" b="1" spc="200" kern="0" dirty="0">
                <a:solidFill>
                  <a:srgbClr val="2E060B"/>
                </a:solidFill>
                <a:latin typeface="Palatino Linotype" pitchFamily="34" charset="0"/>
                <a:ea typeface="Palatino Linotype" pitchFamily="34" charset="-122"/>
                <a:cs typeface="Palatino Linotype" pitchFamily="34" charset="-120"/>
              </a:rPr>
              <a:t>DREAPTA SĂLII</a:t>
            </a:r>
            <a:endParaRPr lang="en-US" sz="2200" dirty="0"/>
          </a:p>
        </p:txBody>
      </p:sp>
      <p:sp>
        <p:nvSpPr>
          <p:cNvPr id="12" name="Text 10"/>
          <p:cNvSpPr/>
          <p:nvPr/>
        </p:nvSpPr>
        <p:spPr>
          <a:xfrm>
            <a:off x="6492240" y="3200400"/>
            <a:ext cx="4754880" cy="548640"/>
          </a:xfrm>
          <a:prstGeom prst="rect">
            <a:avLst/>
          </a:prstGeom>
          <a:noFill/>
          <a:ln/>
        </p:spPr>
        <p:txBody>
          <a:bodyPr wrap="square" lIns="0" tIns="0" rIns="0" bIns="0" rtlCol="0" anchor="t"/>
          <a:lstStyle/>
          <a:p>
            <a:pPr indent="0" marL="0">
              <a:buNone/>
            </a:pPr>
            <a:r>
              <a:rPr lang="en-US" sz="1900" dirty="0">
                <a:solidFill>
                  <a:srgbClr val="2E060B"/>
                </a:solidFill>
                <a:latin typeface="Palatino Linotype" pitchFamily="34" charset="0"/>
                <a:ea typeface="Palatino Linotype" pitchFamily="34" charset="-122"/>
                <a:cs typeface="Palatino Linotype" pitchFamily="34" charset="-120"/>
              </a:rPr>
              <a:t>împotriva moțiunii</a:t>
            </a:r>
            <a:endParaRPr lang="en-US" sz="1900" dirty="0"/>
          </a:p>
        </p:txBody>
      </p:sp>
      <p:sp>
        <p:nvSpPr>
          <p:cNvPr id="13" name="Text 11"/>
          <p:cNvSpPr/>
          <p:nvPr/>
        </p:nvSpPr>
        <p:spPr>
          <a:xfrm>
            <a:off x="594360" y="4297680"/>
            <a:ext cx="10972800" cy="822960"/>
          </a:xfrm>
          <a:prstGeom prst="rect">
            <a:avLst/>
          </a:prstGeom>
          <a:noFill/>
          <a:ln/>
        </p:spPr>
        <p:txBody>
          <a:bodyPr wrap="square" lIns="0" tIns="0" rIns="0" bIns="0" rtlCol="0" anchor="t"/>
          <a:lstStyle/>
          <a:p>
            <a:pPr indent="0" marL="0">
              <a:buNone/>
            </a:pPr>
            <a:r>
              <a:rPr lang="en-US" sz="1800" b="1" dirty="0">
                <a:solidFill>
                  <a:srgbClr val="FFC24B"/>
                </a:solidFill>
                <a:latin typeface="Palatino Linotype" pitchFamily="34" charset="0"/>
                <a:ea typeface="Palatino Linotype" pitchFamily="34" charset="-122"/>
                <a:cs typeface="Palatino Linotype" pitchFamily="34" charset="-120"/>
              </a:rPr>
              <a:t>Indiferent de opinia fiecăruia. Trei minute pentru argumente, apoi doi voluntari din fiecare tabără, câte un minut.</a:t>
            </a:r>
            <a:endParaRPr lang="en-US" sz="1800" dirty="0"/>
          </a:p>
        </p:txBody>
      </p:sp>
      <p:sp>
        <p:nvSpPr>
          <p:cNvPr id="14" name="Text 12"/>
          <p:cNvSpPr/>
          <p:nvPr/>
        </p:nvSpPr>
        <p:spPr>
          <a:xfrm>
            <a:off x="594360" y="5212080"/>
            <a:ext cx="10972800" cy="73152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Scopul nu e să câștige cineva, ci să vedeți unde se termină faptul și unde începe valoarea.</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TABERE · A DOUA RUNDĂ</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A DOUA RUNDĂ</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Dovada care vă contrazice</a:t>
            </a:r>
            <a:endParaRPr lang="en-US" sz="3400" dirty="0"/>
          </a:p>
        </p:txBody>
      </p:sp>
      <p:sp>
        <p:nvSpPr>
          <p:cNvPr id="6" name="Shape 4"/>
          <p:cNvSpPr/>
          <p:nvPr/>
        </p:nvSpPr>
        <p:spPr>
          <a:xfrm>
            <a:off x="594360" y="1600200"/>
            <a:ext cx="5349240" cy="2651760"/>
          </a:xfrm>
          <a:prstGeom prst="roundRect">
            <a:avLst>
              <a:gd name="adj" fmla="val 3103"/>
            </a:avLst>
          </a:prstGeom>
          <a:solidFill>
            <a:srgbClr val="1D1F2B"/>
          </a:solidFill>
          <a:ln w="12700">
            <a:solidFill>
              <a:srgbClr val="1D1F2B"/>
            </a:solidFill>
            <a:prstDash val="solid"/>
          </a:ln>
        </p:spPr>
        <p:txBody>
          <a:bodyPr/>
          <a:p/>
        </p:txBody>
      </p:sp>
      <p:sp>
        <p:nvSpPr>
          <p:cNvPr id="7" name="Shape 5"/>
          <p:cNvSpPr/>
          <p:nvPr/>
        </p:nvSpPr>
        <p:spPr>
          <a:xfrm>
            <a:off x="594360" y="1600200"/>
            <a:ext cx="5349240" cy="73152"/>
          </a:xfrm>
          <a:prstGeom prst="rect">
            <a:avLst/>
          </a:prstGeom>
          <a:solidFill>
            <a:srgbClr val="27D3BE"/>
          </a:solidFill>
          <a:ln w="12700">
            <a:solidFill>
              <a:srgbClr val="27D3BE"/>
            </a:solidFill>
            <a:prstDash val="solid"/>
          </a:ln>
        </p:spPr>
        <p:txBody>
          <a:bodyPr/>
          <a:p/>
        </p:txBody>
      </p:sp>
      <p:sp>
        <p:nvSpPr>
          <p:cNvPr id="8" name="Text 6"/>
          <p:cNvSpPr/>
          <p:nvPr/>
        </p:nvSpPr>
        <p:spPr>
          <a:xfrm>
            <a:off x="868680" y="1810512"/>
            <a:ext cx="4846320" cy="365760"/>
          </a:xfrm>
          <a:prstGeom prst="rect">
            <a:avLst/>
          </a:prstGeom>
          <a:noFill/>
          <a:ln/>
        </p:spPr>
        <p:txBody>
          <a:bodyPr wrap="square" lIns="0" tIns="0" rIns="0" bIns="0" rtlCol="0" anchor="t"/>
          <a:lstStyle/>
          <a:p>
            <a:pPr indent="0" marL="0">
              <a:buNone/>
            </a:pPr>
            <a:r>
              <a:rPr lang="en-US" sz="1400" b="1" spc="200" kern="0" dirty="0">
                <a:solidFill>
                  <a:srgbClr val="27D3BE"/>
                </a:solidFill>
                <a:latin typeface="Palatino Linotype" pitchFamily="34" charset="0"/>
                <a:ea typeface="Palatino Linotype" pitchFamily="34" charset="-122"/>
                <a:cs typeface="Palatino Linotype" pitchFamily="34" charset="-120"/>
              </a:rPr>
              <a:t>TABĂRA „PENTRU” PRIMEȘTE</a:t>
            </a:r>
            <a:endParaRPr lang="en-US" sz="1400" dirty="0"/>
          </a:p>
        </p:txBody>
      </p:sp>
      <p:sp>
        <p:nvSpPr>
          <p:cNvPr id="9" name="Text 7"/>
          <p:cNvSpPr/>
          <p:nvPr/>
        </p:nvSpPr>
        <p:spPr>
          <a:xfrm>
            <a:off x="868680" y="2286000"/>
            <a:ext cx="4846320" cy="1828800"/>
          </a:xfrm>
          <a:prstGeom prst="rect">
            <a:avLst/>
          </a:prstGeom>
          <a:noFill/>
          <a:ln/>
        </p:spPr>
        <p:txBody>
          <a:bodyPr wrap="square" lIns="0" tIns="0" rIns="0" bIns="0" rtlCol="0" anchor="t"/>
          <a:lstStyle/>
          <a:p>
            <a:pPr indent="0" marL="0">
              <a:buNone/>
            </a:pPr>
            <a:r>
              <a:rPr lang="en-US" sz="1800" i="1" dirty="0">
                <a:solidFill>
                  <a:srgbClr val="FFFFFF"/>
                </a:solidFill>
                <a:latin typeface="Palatino Linotype" pitchFamily="34" charset="0"/>
                <a:ea typeface="Palatino Linotype" pitchFamily="34" charset="-122"/>
                <a:cs typeface="Palatino Linotype" pitchFamily="34" charset="-120"/>
              </a:rPr>
              <a:t>„Dovezile despre camerele de consum sunt încă în dezvoltare, iar evaluarea este dificilă…”</a:t>
            </a:r>
            <a:endParaRPr lang="en-US" sz="1800" dirty="0"/>
          </a:p>
        </p:txBody>
      </p:sp>
      <p:sp>
        <p:nvSpPr>
          <p:cNvPr id="10" name="Shape 8"/>
          <p:cNvSpPr/>
          <p:nvPr/>
        </p:nvSpPr>
        <p:spPr>
          <a:xfrm>
            <a:off x="6217920" y="1600200"/>
            <a:ext cx="5349240" cy="2651760"/>
          </a:xfrm>
          <a:prstGeom prst="roundRect">
            <a:avLst>
              <a:gd name="adj" fmla="val 3103"/>
            </a:avLst>
          </a:prstGeom>
          <a:solidFill>
            <a:srgbClr val="1D1F2B"/>
          </a:solidFill>
          <a:ln w="12700">
            <a:solidFill>
              <a:srgbClr val="1D1F2B"/>
            </a:solidFill>
            <a:prstDash val="solid"/>
          </a:ln>
        </p:spPr>
        <p:txBody>
          <a:bodyPr/>
          <a:p/>
        </p:txBody>
      </p:sp>
      <p:sp>
        <p:nvSpPr>
          <p:cNvPr id="11" name="Shape 9"/>
          <p:cNvSpPr/>
          <p:nvPr/>
        </p:nvSpPr>
        <p:spPr>
          <a:xfrm>
            <a:off x="6217920" y="1600200"/>
            <a:ext cx="5349240" cy="73152"/>
          </a:xfrm>
          <a:prstGeom prst="rect">
            <a:avLst/>
          </a:prstGeom>
          <a:solidFill>
            <a:srgbClr val="FF4757"/>
          </a:solidFill>
          <a:ln w="12700">
            <a:solidFill>
              <a:srgbClr val="FF4757"/>
            </a:solidFill>
            <a:prstDash val="solid"/>
          </a:ln>
        </p:spPr>
        <p:txBody>
          <a:bodyPr/>
          <a:p/>
        </p:txBody>
      </p:sp>
      <p:sp>
        <p:nvSpPr>
          <p:cNvPr id="12" name="Text 10"/>
          <p:cNvSpPr/>
          <p:nvPr/>
        </p:nvSpPr>
        <p:spPr>
          <a:xfrm>
            <a:off x="6492240" y="1810512"/>
            <a:ext cx="4846320" cy="365760"/>
          </a:xfrm>
          <a:prstGeom prst="rect">
            <a:avLst/>
          </a:prstGeom>
          <a:noFill/>
          <a:ln/>
        </p:spPr>
        <p:txBody>
          <a:bodyPr wrap="square" lIns="0" tIns="0" rIns="0" bIns="0" rtlCol="0" anchor="t"/>
          <a:lstStyle/>
          <a:p>
            <a:pPr indent="0" marL="0">
              <a:buNone/>
            </a:pPr>
            <a:r>
              <a:rPr lang="en-US" sz="1400" b="1" spc="200" kern="0" dirty="0">
                <a:solidFill>
                  <a:srgbClr val="FF4757"/>
                </a:solidFill>
                <a:latin typeface="Palatino Linotype" pitchFamily="34" charset="0"/>
                <a:ea typeface="Palatino Linotype" pitchFamily="34" charset="-122"/>
                <a:cs typeface="Palatino Linotype" pitchFamily="34" charset="-120"/>
              </a:rPr>
              <a:t>TABĂRA „ÎMPOTRIVĂ” PRIMEȘTE</a:t>
            </a:r>
            <a:endParaRPr lang="en-US" sz="1400" dirty="0"/>
          </a:p>
        </p:txBody>
      </p:sp>
      <p:sp>
        <p:nvSpPr>
          <p:cNvPr id="13" name="Text 11"/>
          <p:cNvSpPr/>
          <p:nvPr/>
        </p:nvSpPr>
        <p:spPr>
          <a:xfrm>
            <a:off x="6492240" y="2286000"/>
            <a:ext cx="4846320" cy="1828800"/>
          </a:xfrm>
          <a:prstGeom prst="rect">
            <a:avLst/>
          </a:prstGeom>
          <a:noFill/>
          <a:ln/>
        </p:spPr>
        <p:txBody>
          <a:bodyPr wrap="square" lIns="0" tIns="0" rIns="0" bIns="0" rtlCol="0" anchor="t"/>
          <a:lstStyle/>
          <a:p>
            <a:pPr indent="0" marL="0">
              <a:buNone/>
            </a:pPr>
            <a:r>
              <a:rPr lang="en-US" sz="1800" i="1" dirty="0">
                <a:solidFill>
                  <a:srgbClr val="FFFFFF"/>
                </a:solidFill>
                <a:latin typeface="Palatino Linotype" pitchFamily="34" charset="0"/>
                <a:ea typeface="Palatino Linotype" pitchFamily="34" charset="-122"/>
                <a:cs typeface="Palatino Linotype" pitchFamily="34" charset="-120"/>
              </a:rPr>
              <a:t>„… dar datele disponibile arată că ele pot contribui la reducerea deceselor legate de droguri.”</a:t>
            </a:r>
            <a:endParaRPr lang="en-US" sz="1800" dirty="0"/>
          </a:p>
        </p:txBody>
      </p:sp>
      <p:sp>
        <p:nvSpPr>
          <p:cNvPr id="14" name="Text 12"/>
          <p:cNvSpPr/>
          <p:nvPr/>
        </p:nvSpPr>
        <p:spPr>
          <a:xfrm>
            <a:off x="594360" y="4480560"/>
            <a:ext cx="10972800" cy="457200"/>
          </a:xfrm>
          <a:prstGeom prst="rect">
            <a:avLst/>
          </a:prstGeom>
          <a:noFill/>
          <a:ln/>
        </p:spPr>
        <p:txBody>
          <a:bodyPr wrap="square" lIns="0" tIns="0" rIns="0" bIns="0" rtlCol="0" anchor="t"/>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Includeți dovada în argument. Câte un voluntar pe tabără, un minut.</a:t>
            </a:r>
            <a:endParaRPr lang="en-US" sz="1900" dirty="0"/>
          </a:p>
        </p:txBody>
      </p:sp>
      <p:sp>
        <p:nvSpPr>
          <p:cNvPr id="15" name="Text 13"/>
          <p:cNvSpPr/>
          <p:nvPr/>
        </p:nvSpPr>
        <p:spPr>
          <a:xfrm>
            <a:off x="594360" y="5074920"/>
            <a:ext cx="10972800" cy="82296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Aceeași propoziție, tăiată în două. Cine plătește, unde se deschide, ce spun vecinii și legea: datele informează, dar nu decid.</a:t>
            </a:r>
            <a:endParaRPr lang="en-US" sz="1600" dirty="0"/>
          </a:p>
        </p:txBody>
      </p:sp>
      <p:sp>
        <p:nvSpPr>
          <p:cNvPr id="16" name="Text 14"/>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Sursa: EUDA, European Drug Report 2026.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 · JUMĂTATE DE MINUT</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PARTEA A TREIA · ÎNCHEIERE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Ce îi spuneți mâine unui coleg</a:t>
            </a:r>
            <a:endParaRPr lang="en-US" sz="3400" dirty="0"/>
          </a:p>
        </p:txBody>
      </p:sp>
      <p:sp>
        <p:nvSpPr>
          <p:cNvPr id="6" name="Shape 4"/>
          <p:cNvSpPr/>
          <p:nvPr/>
        </p:nvSpPr>
        <p:spPr>
          <a:xfrm>
            <a:off x="594360" y="1828800"/>
            <a:ext cx="73152" cy="3291840"/>
          </a:xfrm>
          <a:prstGeom prst="rect">
            <a:avLst/>
          </a:prstGeom>
          <a:solidFill>
            <a:srgbClr val="27D3BE"/>
          </a:solidFill>
          <a:ln w="12700">
            <a:solidFill>
              <a:srgbClr val="27D3BE"/>
            </a:solidFill>
            <a:prstDash val="solid"/>
          </a:ln>
        </p:spPr>
        <p:txBody>
          <a:bodyPr/>
          <a:p/>
        </p:txBody>
      </p:sp>
      <p:sp>
        <p:nvSpPr>
          <p:cNvPr id="7" name="Text 5"/>
          <p:cNvSpPr/>
          <p:nvPr/>
        </p:nvSpPr>
        <p:spPr>
          <a:xfrm>
            <a:off x="960120" y="1828800"/>
            <a:ext cx="10515600" cy="3291840"/>
          </a:xfrm>
          <a:prstGeom prst="rect">
            <a:avLst/>
          </a:prstGeom>
          <a:noFill/>
          <a:ln/>
        </p:spPr>
        <p:txBody>
          <a:bodyPr wrap="square" lIns="0" tIns="0" rIns="0" bIns="0" rtlCol="0" anchor="ctr"/>
          <a:lstStyle/>
          <a:p>
            <a:pPr indent="0" marL="0">
              <a:buNone/>
            </a:pPr>
            <a:r>
              <a:rPr lang="en-US" sz="2300" i="1" dirty="0">
                <a:solidFill>
                  <a:srgbClr val="FFFFFF"/>
                </a:solidFill>
                <a:latin typeface="Palatino Linotype" pitchFamily="34" charset="0"/>
                <a:ea typeface="Palatino Linotype" pitchFamily="34" charset="-122"/>
                <a:cs typeface="Palatino Linotype" pitchFamily="34" charset="-120"/>
              </a:rPr>
              <a:t>„Reducerea riscurilor nu înseamnă că aprobi consumul, ci că nu condiționezi îngrijirea de abstinență. Pentru seringile sterile și pentru naloxonă, dovezile sunt solide. În România, programul există doar în București, iar naloxona doar în ambulanțe și în urgențe.”</a:t>
            </a:r>
            <a:endParaRPr lang="en-US" sz="2300" dirty="0"/>
          </a:p>
        </p:txBody>
      </p:sp>
      <p:sp>
        <p:nvSpPr>
          <p:cNvPr id="8" name="Text 6"/>
          <p:cNvSpPr/>
          <p:nvPr/>
        </p:nvSpPr>
        <p:spPr>
          <a:xfrm>
            <a:off x="594360" y="5486400"/>
            <a:ext cx="10972800" cy="41148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Spuneți-o, cu cuvintele voastre, colegului de bancă.</a:t>
            </a:r>
            <a:endParaRPr lang="en-US" sz="1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PARTEA A PATRA · AL TREILEA TERMEN NOU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Tratamentul de substituție</a:t>
            </a:r>
            <a:endParaRPr lang="en-US" sz="3400" dirty="0"/>
          </a:p>
        </p:txBody>
      </p:sp>
      <p:sp>
        <p:nvSpPr>
          <p:cNvPr id="4" name="Text 2"/>
          <p:cNvSpPr/>
          <p:nvPr/>
        </p:nvSpPr>
        <p:spPr>
          <a:xfrm>
            <a:off x="594360" y="1463040"/>
            <a:ext cx="6400800" cy="1554480"/>
          </a:xfrm>
          <a:prstGeom prst="rect">
            <a:avLst/>
          </a:prstGeom>
          <a:noFill/>
          <a:ln/>
        </p:spPr>
        <p:txBody>
          <a:bodyPr wrap="square" lIns="0" tIns="0" rIns="0" bIns="0" rtlCol="0" anchor="t"/>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Tratamentul de întreținere al dependenței de opioide cu un medicament opioid, de obicei metadonă sau buprenorfină. Se numește și tratament cu agoniști opioizi.</a:t>
            </a:r>
            <a:endParaRPr lang="en-US" sz="1900" dirty="0"/>
          </a:p>
        </p:txBody>
      </p:sp>
      <p:sp>
        <p:nvSpPr>
          <p:cNvPr id="5" name="Text 3"/>
          <p:cNvSpPr/>
          <p:nvPr/>
        </p:nvSpPr>
        <p:spPr>
          <a:xfrm>
            <a:off x="594360" y="3200400"/>
            <a:ext cx="6400800" cy="1005840"/>
          </a:xfrm>
          <a:prstGeom prst="rect">
            <a:avLst/>
          </a:prstGeom>
          <a:noFill/>
          <a:ln/>
        </p:spPr>
        <p:txBody>
          <a:bodyPr wrap="square" lIns="0" tIns="0" rIns="0" bIns="0" rtlCol="0" anchor="t"/>
          <a:lstStyle/>
          <a:p>
            <a:pPr indent="0" marL="0">
              <a:buNone/>
            </a:pPr>
            <a:r>
              <a:rPr lang="en-US" sz="2000" b="1" i="1" dirty="0">
                <a:solidFill>
                  <a:srgbClr val="FFC24B"/>
                </a:solidFill>
                <a:latin typeface="Palatino Linotype" pitchFamily="34" charset="0"/>
                <a:ea typeface="Palatino Linotype" pitchFamily="34" charset="-122"/>
                <a:cs typeface="Palatino Linotype" pitchFamily="34" charset="-120"/>
              </a:rPr>
              <a:t>„Un medicament luat zilnic, controlat, în locul drogului luat de pe stradă.”</a:t>
            </a:r>
            <a:endParaRPr lang="en-US" sz="2000" dirty="0"/>
          </a:p>
        </p:txBody>
      </p:sp>
      <p:sp>
        <p:nvSpPr>
          <p:cNvPr id="6" name="Shape 4"/>
          <p:cNvSpPr/>
          <p:nvPr/>
        </p:nvSpPr>
        <p:spPr>
          <a:xfrm>
            <a:off x="7315200" y="1463040"/>
            <a:ext cx="4251960" cy="2743200"/>
          </a:xfrm>
          <a:prstGeom prst="roundRect">
            <a:avLst>
              <a:gd name="adj" fmla="val 3000"/>
            </a:avLst>
          </a:prstGeom>
          <a:solidFill>
            <a:srgbClr val="1D1F2B"/>
          </a:solidFill>
          <a:ln w="12700">
            <a:solidFill>
              <a:srgbClr val="1D1F2B"/>
            </a:solidFill>
            <a:prstDash val="solid"/>
          </a:ln>
        </p:spPr>
        <p:txBody>
          <a:bodyPr/>
          <a:p/>
        </p:txBody>
      </p:sp>
      <p:sp>
        <p:nvSpPr>
          <p:cNvPr id="7" name="Text 5"/>
          <p:cNvSpPr/>
          <p:nvPr/>
        </p:nvSpPr>
        <p:spPr>
          <a:xfrm>
            <a:off x="7589520" y="1600200"/>
            <a:ext cx="3749040" cy="246888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Este și el o formă de reducere a riscurilor, dar se face într-un cadru medical obișnuit.</a:t>
            </a:r>
            <a:endParaRPr lang="en-US" sz="1700" dirty="0"/>
          </a:p>
        </p:txBody>
      </p:sp>
      <p:sp>
        <p:nvSpPr>
          <p:cNvPr id="8" name="Text 6"/>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Surse: EUDA, European Drug Report 2026; notele ședinței.</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ÎNAINTE DE CIFRE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2600" b="1" dirty="0">
                <a:solidFill>
                  <a:srgbClr val="FFFFFF"/>
                </a:solidFill>
                <a:latin typeface="Palatino Linotype" pitchFamily="34" charset="0"/>
                <a:ea typeface="Palatino Linotype" pitchFamily="34" charset="-122"/>
                <a:cs typeface="Palatino Linotype" pitchFamily="34" charset="-120"/>
              </a:rPr>
              <a:t>Din zece persoane care au nevoie, în lume, de tratament pentru dependența de opioide, câte îl primesc?</a:t>
            </a:r>
            <a:endParaRPr lang="en-US" sz="2600" dirty="0"/>
          </a:p>
        </p:txBody>
      </p:sp>
      <p:sp>
        <p:nvSpPr>
          <p:cNvPr id="6" name="Shape 4"/>
          <p:cNvSpPr/>
          <p:nvPr/>
        </p:nvSpPr>
        <p:spPr>
          <a:xfrm>
            <a:off x="594360" y="2011680"/>
            <a:ext cx="8046720" cy="603504"/>
          </a:xfrm>
          <a:prstGeom prst="roundRect">
            <a:avLst>
              <a:gd name="adj" fmla="val 13636"/>
            </a:avLst>
          </a:prstGeom>
          <a:solidFill>
            <a:srgbClr val="1D1F2B"/>
          </a:solidFill>
          <a:ln w="12700">
            <a:solidFill>
              <a:srgbClr val="1D1F2B"/>
            </a:solidFill>
            <a:prstDash val="solid"/>
          </a:ln>
        </p:spPr>
        <p:txBody>
          <a:bodyPr/>
          <a:p/>
        </p:txBody>
      </p:sp>
      <p:sp>
        <p:nvSpPr>
          <p:cNvPr id="7" name="Shape 5"/>
          <p:cNvSpPr/>
          <p:nvPr/>
        </p:nvSpPr>
        <p:spPr>
          <a:xfrm>
            <a:off x="914400" y="2103120"/>
            <a:ext cx="420624" cy="420624"/>
          </a:xfrm>
          <a:prstGeom prst="ellipse">
            <a:avLst/>
          </a:prstGeom>
          <a:solidFill>
            <a:srgbClr val="FFC24B"/>
          </a:solidFill>
          <a:ln/>
        </p:spPr>
        <p:txBody>
          <a:bodyPr/>
          <a:p/>
        </p:txBody>
      </p:sp>
      <p:sp>
        <p:nvSpPr>
          <p:cNvPr id="8" name="Text 6"/>
          <p:cNvSpPr/>
          <p:nvPr/>
        </p:nvSpPr>
        <p:spPr>
          <a:xfrm>
            <a:off x="914400" y="210312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2011680"/>
            <a:ext cx="6766560" cy="603504"/>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mai puțin de una</a:t>
            </a:r>
            <a:endParaRPr lang="en-US" sz="1800" dirty="0"/>
          </a:p>
        </p:txBody>
      </p:sp>
      <p:sp>
        <p:nvSpPr>
          <p:cNvPr id="10" name="Shape 8"/>
          <p:cNvSpPr/>
          <p:nvPr/>
        </p:nvSpPr>
        <p:spPr>
          <a:xfrm>
            <a:off x="594360" y="2743200"/>
            <a:ext cx="8046720" cy="603504"/>
          </a:xfrm>
          <a:prstGeom prst="roundRect">
            <a:avLst>
              <a:gd name="adj" fmla="val 13636"/>
            </a:avLst>
          </a:prstGeom>
          <a:solidFill>
            <a:srgbClr val="1D1F2B"/>
          </a:solidFill>
          <a:ln w="12700">
            <a:solidFill>
              <a:srgbClr val="1D1F2B"/>
            </a:solidFill>
            <a:prstDash val="solid"/>
          </a:ln>
        </p:spPr>
        <p:txBody>
          <a:bodyPr/>
          <a:p/>
        </p:txBody>
      </p:sp>
      <p:sp>
        <p:nvSpPr>
          <p:cNvPr id="11" name="Shape 9"/>
          <p:cNvSpPr/>
          <p:nvPr/>
        </p:nvSpPr>
        <p:spPr>
          <a:xfrm>
            <a:off x="914400" y="2834640"/>
            <a:ext cx="420624" cy="420624"/>
          </a:xfrm>
          <a:prstGeom prst="ellipse">
            <a:avLst/>
          </a:prstGeom>
          <a:solidFill>
            <a:srgbClr val="FFC24B"/>
          </a:solidFill>
          <a:ln/>
        </p:spPr>
        <p:txBody>
          <a:bodyPr/>
          <a:p/>
        </p:txBody>
      </p:sp>
      <p:sp>
        <p:nvSpPr>
          <p:cNvPr id="12" name="Text 10"/>
          <p:cNvSpPr/>
          <p:nvPr/>
        </p:nvSpPr>
        <p:spPr>
          <a:xfrm>
            <a:off x="914400" y="283464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2743200"/>
            <a:ext cx="6766560" cy="603504"/>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trei</a:t>
            </a:r>
            <a:endParaRPr lang="en-US" sz="1800" dirty="0"/>
          </a:p>
        </p:txBody>
      </p:sp>
      <p:sp>
        <p:nvSpPr>
          <p:cNvPr id="14" name="Shape 12"/>
          <p:cNvSpPr/>
          <p:nvPr/>
        </p:nvSpPr>
        <p:spPr>
          <a:xfrm>
            <a:off x="594360" y="3474720"/>
            <a:ext cx="8046720" cy="603504"/>
          </a:xfrm>
          <a:prstGeom prst="roundRect">
            <a:avLst>
              <a:gd name="adj" fmla="val 13636"/>
            </a:avLst>
          </a:prstGeom>
          <a:solidFill>
            <a:srgbClr val="1D1F2B"/>
          </a:solidFill>
          <a:ln w="12700">
            <a:solidFill>
              <a:srgbClr val="1D1F2B"/>
            </a:solidFill>
            <a:prstDash val="solid"/>
          </a:ln>
        </p:spPr>
        <p:txBody>
          <a:bodyPr/>
          <a:p/>
        </p:txBody>
      </p:sp>
      <p:sp>
        <p:nvSpPr>
          <p:cNvPr id="15" name="Shape 13"/>
          <p:cNvSpPr/>
          <p:nvPr/>
        </p:nvSpPr>
        <p:spPr>
          <a:xfrm>
            <a:off x="914400" y="3566160"/>
            <a:ext cx="420624" cy="420624"/>
          </a:xfrm>
          <a:prstGeom prst="ellipse">
            <a:avLst/>
          </a:prstGeom>
          <a:solidFill>
            <a:srgbClr val="FFC24B"/>
          </a:solidFill>
          <a:ln/>
        </p:spPr>
        <p:txBody>
          <a:bodyPr/>
          <a:p/>
        </p:txBody>
      </p:sp>
      <p:sp>
        <p:nvSpPr>
          <p:cNvPr id="16" name="Text 14"/>
          <p:cNvSpPr/>
          <p:nvPr/>
        </p:nvSpPr>
        <p:spPr>
          <a:xfrm>
            <a:off x="914400" y="356616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3474720"/>
            <a:ext cx="6766560" cy="603504"/>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cinci</a:t>
            </a:r>
            <a:endParaRPr lang="en-US" sz="1800" dirty="0"/>
          </a:p>
        </p:txBody>
      </p:sp>
      <p:sp>
        <p:nvSpPr>
          <p:cNvPr id="18" name="Shape 16"/>
          <p:cNvSpPr/>
          <p:nvPr/>
        </p:nvSpPr>
        <p:spPr>
          <a:xfrm>
            <a:off x="594360" y="4206240"/>
            <a:ext cx="8046720" cy="603504"/>
          </a:xfrm>
          <a:prstGeom prst="roundRect">
            <a:avLst>
              <a:gd name="adj" fmla="val 13636"/>
            </a:avLst>
          </a:prstGeom>
          <a:solidFill>
            <a:srgbClr val="1D1F2B"/>
          </a:solidFill>
          <a:ln w="12700">
            <a:solidFill>
              <a:srgbClr val="1D1F2B"/>
            </a:solidFill>
            <a:prstDash val="solid"/>
          </a:ln>
        </p:spPr>
        <p:txBody>
          <a:bodyPr/>
          <a:p/>
        </p:txBody>
      </p:sp>
      <p:sp>
        <p:nvSpPr>
          <p:cNvPr id="19" name="Shape 17"/>
          <p:cNvSpPr/>
          <p:nvPr/>
        </p:nvSpPr>
        <p:spPr>
          <a:xfrm>
            <a:off x="914400" y="4297680"/>
            <a:ext cx="420624" cy="420624"/>
          </a:xfrm>
          <a:prstGeom prst="ellipse">
            <a:avLst/>
          </a:prstGeom>
          <a:solidFill>
            <a:srgbClr val="FFC24B"/>
          </a:solidFill>
          <a:ln/>
        </p:spPr>
        <p:txBody>
          <a:bodyPr/>
          <a:p/>
        </p:txBody>
      </p:sp>
      <p:sp>
        <p:nvSpPr>
          <p:cNvPr id="20" name="Text 18"/>
          <p:cNvSpPr/>
          <p:nvPr/>
        </p:nvSpPr>
        <p:spPr>
          <a:xfrm>
            <a:off x="914400" y="429768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600200" y="4206240"/>
            <a:ext cx="6766560" cy="603504"/>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opt</a:t>
            </a:r>
            <a:endParaRPr lang="en-US" sz="1800" dirty="0"/>
          </a:p>
        </p:txBody>
      </p:sp>
      <p:sp>
        <p:nvSpPr>
          <p:cNvPr id="22" name="Text 20"/>
          <p:cNvSpPr/>
          <p:nvPr/>
        </p:nvSpPr>
        <p:spPr>
          <a:xfrm>
            <a:off x="594360" y="5029200"/>
            <a:ext cx="8686800" cy="45720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Apoi trei minute cu colegul: ce ar putea ține un om departe de tratament?</a:t>
            </a:r>
            <a:endParaRPr lang="en-US" sz="1600" dirty="0"/>
          </a:p>
        </p:txBody>
      </p:sp>
      <p:sp>
        <p:nvSpPr>
          <p:cNvPr id="23" name="Text 21"/>
          <p:cNvSpPr/>
          <p:nvPr/>
        </p:nvSpPr>
        <p:spPr>
          <a:xfrm>
            <a:off x="594360" y="5577840"/>
            <a:ext cx="8595360" cy="411480"/>
          </a:xfrm>
          <a:prstGeom prst="rect">
            <a:avLst/>
          </a:prstGeom>
          <a:noFill/>
          <a:ln/>
        </p:spPr>
        <p:txBody>
          <a:bodyPr wrap="square" lIns="0" tIns="0" rIns="0" bIns="0" rtlCol="0" anchor="t"/>
          <a:lstStyle/>
          <a:p>
            <a:pPr indent="0" marL="0">
              <a:buNone/>
            </a:pPr>
            <a:r>
              <a:rPr lang="en-US" sz="1600" b="1" dirty="0">
                <a:solidFill>
                  <a:srgbClr val="FFC24B"/>
                </a:solidFill>
                <a:latin typeface="Palatino Linotype" pitchFamily="34" charset="0"/>
                <a:ea typeface="Palatino Linotype" pitchFamily="34" charset="-122"/>
                <a:cs typeface="Palatino Linotype" pitchFamily="34" charset="-120"/>
              </a:rPr>
              <a:t>Răspundeți pe telefon, la codul afișat.</a:t>
            </a:r>
            <a:endParaRPr lang="en-US" sz="1600" dirty="0"/>
          </a:p>
        </p:txBody>
      </p:sp>
      <p:sp>
        <p:nvSpPr>
          <p:cNvPr id="24" name="Shape 22"/>
          <p:cNvSpPr/>
          <p:nvPr/>
        </p:nvSpPr>
        <p:spPr>
          <a:xfrm>
            <a:off x="9144000" y="2011680"/>
            <a:ext cx="2423160" cy="2286000"/>
          </a:xfrm>
          <a:prstGeom prst="roundRect">
            <a:avLst>
              <a:gd name="adj" fmla="val 3600"/>
            </a:avLst>
          </a:prstGeom>
          <a:solidFill>
            <a:srgbClr val="FFFFFF"/>
          </a:solidFill>
          <a:ln w="12700">
            <a:solidFill>
              <a:srgbClr val="FFFFFF"/>
            </a:solidFill>
            <a:prstDash val="solid"/>
          </a:ln>
        </p:spPr>
        <p:txBody>
          <a:bodyPr/>
          <a:p/>
        </p:txBody>
      </p:sp>
      <p:pic>
        <p:nvPicPr>
          <p:cNvPr id="25" name="Picture 24" descr="Mentimeter_OPT_DROGURI_C04.png"/>
          <p:cNvPicPr>
            <a:picLocks noChangeAspect="1"/>
          </p:cNvPicPr>
          <p:nvPr/>
        </p:nvPicPr>
        <p:blipFill>
          <a:blip r:embed="rId3"/>
          <a:stretch>
            <a:fillRect/>
          </a:stretch>
        </p:blipFill>
        <p:spPr>
          <a:xfrm>
            <a:off x="9526270" y="2011680"/>
            <a:ext cx="1658620" cy="1658620"/>
          </a:xfrm>
          <a:prstGeom prst="rect">
            <a:avLst/>
          </a:prstGeom>
        </p:spPr>
      </p:pic>
      <p:sp>
        <p:nvSpPr>
          <p:cNvPr id="26" name="TextBox 25"/>
          <p:cNvSpPr txBox="1"/>
          <p:nvPr/>
        </p:nvSpPr>
        <p:spPr>
          <a:xfrm>
            <a:off x="9144000" y="3708400"/>
            <a:ext cx="242316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OMS · FIȘA DIN 2025</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Varianta A: mai puțin de una din zece</a:t>
            </a:r>
            <a:endParaRPr lang="en-US" sz="3200" dirty="0"/>
          </a:p>
        </p:txBody>
      </p:sp>
      <p:sp>
        <p:nvSpPr>
          <p:cNvPr id="4" name="Shape 2"/>
          <p:cNvSpPr/>
          <p:nvPr/>
        </p:nvSpPr>
        <p:spPr>
          <a:xfrm>
            <a:off x="685800" y="1600200"/>
            <a:ext cx="438912" cy="438912"/>
          </a:xfrm>
          <a:prstGeom prst="ellipse">
            <a:avLst/>
          </a:prstGeom>
          <a:solidFill>
            <a:srgbClr val="D9D6CE"/>
          </a:solidFill>
          <a:ln w="12700">
            <a:solidFill>
              <a:srgbClr val="D9D6CE"/>
            </a:solidFill>
            <a:prstDash val="solid"/>
          </a:ln>
        </p:spPr>
        <p:txBody>
          <a:bodyPr/>
          <a:p/>
        </p:txBody>
      </p:sp>
      <p:sp>
        <p:nvSpPr>
          <p:cNvPr id="5" name="Shape 3"/>
          <p:cNvSpPr/>
          <p:nvPr/>
        </p:nvSpPr>
        <p:spPr>
          <a:xfrm>
            <a:off x="1252728" y="1600200"/>
            <a:ext cx="438912" cy="438912"/>
          </a:xfrm>
          <a:prstGeom prst="ellipse">
            <a:avLst/>
          </a:prstGeom>
          <a:solidFill>
            <a:srgbClr val="D9D6CE"/>
          </a:solidFill>
          <a:ln w="12700">
            <a:solidFill>
              <a:srgbClr val="D9D6CE"/>
            </a:solidFill>
            <a:prstDash val="solid"/>
          </a:ln>
        </p:spPr>
        <p:txBody>
          <a:bodyPr/>
          <a:p/>
        </p:txBody>
      </p:sp>
      <p:sp>
        <p:nvSpPr>
          <p:cNvPr id="6" name="Shape 4"/>
          <p:cNvSpPr/>
          <p:nvPr/>
        </p:nvSpPr>
        <p:spPr>
          <a:xfrm>
            <a:off x="1819656" y="1600200"/>
            <a:ext cx="438912" cy="438912"/>
          </a:xfrm>
          <a:prstGeom prst="ellipse">
            <a:avLst/>
          </a:prstGeom>
          <a:solidFill>
            <a:srgbClr val="D9D6CE"/>
          </a:solidFill>
          <a:ln w="12700">
            <a:solidFill>
              <a:srgbClr val="D9D6CE"/>
            </a:solidFill>
            <a:prstDash val="solid"/>
          </a:ln>
        </p:spPr>
        <p:txBody>
          <a:bodyPr/>
          <a:p/>
        </p:txBody>
      </p:sp>
      <p:sp>
        <p:nvSpPr>
          <p:cNvPr id="7" name="Shape 5"/>
          <p:cNvSpPr/>
          <p:nvPr/>
        </p:nvSpPr>
        <p:spPr>
          <a:xfrm>
            <a:off x="2386584" y="1600200"/>
            <a:ext cx="438912" cy="438912"/>
          </a:xfrm>
          <a:prstGeom prst="ellipse">
            <a:avLst/>
          </a:prstGeom>
          <a:solidFill>
            <a:srgbClr val="D9D6CE"/>
          </a:solidFill>
          <a:ln w="12700">
            <a:solidFill>
              <a:srgbClr val="D9D6CE"/>
            </a:solidFill>
            <a:prstDash val="solid"/>
          </a:ln>
        </p:spPr>
        <p:txBody>
          <a:bodyPr/>
          <a:p/>
        </p:txBody>
      </p:sp>
      <p:sp>
        <p:nvSpPr>
          <p:cNvPr id="8" name="Shape 6"/>
          <p:cNvSpPr/>
          <p:nvPr/>
        </p:nvSpPr>
        <p:spPr>
          <a:xfrm>
            <a:off x="2953512" y="1600200"/>
            <a:ext cx="438912" cy="438912"/>
          </a:xfrm>
          <a:prstGeom prst="ellipse">
            <a:avLst/>
          </a:prstGeom>
          <a:solidFill>
            <a:srgbClr val="D9D6CE"/>
          </a:solidFill>
          <a:ln w="12700">
            <a:solidFill>
              <a:srgbClr val="D9D6CE"/>
            </a:solidFill>
            <a:prstDash val="solid"/>
          </a:ln>
        </p:spPr>
        <p:txBody>
          <a:bodyPr/>
          <a:p/>
        </p:txBody>
      </p:sp>
      <p:sp>
        <p:nvSpPr>
          <p:cNvPr id="9" name="Shape 7"/>
          <p:cNvSpPr/>
          <p:nvPr/>
        </p:nvSpPr>
        <p:spPr>
          <a:xfrm>
            <a:off x="3520440" y="1600200"/>
            <a:ext cx="438912" cy="438912"/>
          </a:xfrm>
          <a:prstGeom prst="ellipse">
            <a:avLst/>
          </a:prstGeom>
          <a:solidFill>
            <a:srgbClr val="D9D6CE"/>
          </a:solidFill>
          <a:ln w="12700">
            <a:solidFill>
              <a:srgbClr val="D9D6CE"/>
            </a:solidFill>
            <a:prstDash val="solid"/>
          </a:ln>
        </p:spPr>
        <p:txBody>
          <a:bodyPr/>
          <a:p/>
        </p:txBody>
      </p:sp>
      <p:sp>
        <p:nvSpPr>
          <p:cNvPr id="10" name="Shape 8"/>
          <p:cNvSpPr/>
          <p:nvPr/>
        </p:nvSpPr>
        <p:spPr>
          <a:xfrm>
            <a:off x="4087368" y="1600200"/>
            <a:ext cx="438912" cy="438912"/>
          </a:xfrm>
          <a:prstGeom prst="ellipse">
            <a:avLst/>
          </a:prstGeom>
          <a:solidFill>
            <a:srgbClr val="D9D6CE"/>
          </a:solidFill>
          <a:ln w="12700">
            <a:solidFill>
              <a:srgbClr val="D9D6CE"/>
            </a:solidFill>
            <a:prstDash val="solid"/>
          </a:ln>
        </p:spPr>
        <p:txBody>
          <a:bodyPr/>
          <a:p/>
        </p:txBody>
      </p:sp>
      <p:sp>
        <p:nvSpPr>
          <p:cNvPr id="11" name="Shape 9"/>
          <p:cNvSpPr/>
          <p:nvPr/>
        </p:nvSpPr>
        <p:spPr>
          <a:xfrm>
            <a:off x="4654296" y="1600200"/>
            <a:ext cx="438912" cy="438912"/>
          </a:xfrm>
          <a:prstGeom prst="ellipse">
            <a:avLst/>
          </a:prstGeom>
          <a:solidFill>
            <a:srgbClr val="D9D6CE"/>
          </a:solidFill>
          <a:ln w="12700">
            <a:solidFill>
              <a:srgbClr val="D9D6CE"/>
            </a:solidFill>
            <a:prstDash val="solid"/>
          </a:ln>
        </p:spPr>
        <p:txBody>
          <a:bodyPr/>
          <a:p/>
        </p:txBody>
      </p:sp>
      <p:sp>
        <p:nvSpPr>
          <p:cNvPr id="12" name="Shape 10"/>
          <p:cNvSpPr/>
          <p:nvPr/>
        </p:nvSpPr>
        <p:spPr>
          <a:xfrm>
            <a:off x="5221224" y="1600200"/>
            <a:ext cx="438912" cy="438912"/>
          </a:xfrm>
          <a:prstGeom prst="ellipse">
            <a:avLst/>
          </a:prstGeom>
          <a:solidFill>
            <a:srgbClr val="D9D6CE"/>
          </a:solidFill>
          <a:ln w="12700">
            <a:solidFill>
              <a:srgbClr val="D9D6CE"/>
            </a:solidFill>
            <a:prstDash val="solid"/>
          </a:ln>
        </p:spPr>
        <p:txBody>
          <a:bodyPr/>
          <a:p/>
        </p:txBody>
      </p:sp>
      <p:sp>
        <p:nvSpPr>
          <p:cNvPr id="13" name="Shape 11"/>
          <p:cNvSpPr/>
          <p:nvPr/>
        </p:nvSpPr>
        <p:spPr>
          <a:xfrm>
            <a:off x="5788152" y="1600200"/>
            <a:ext cx="438912" cy="438912"/>
          </a:xfrm>
          <a:prstGeom prst="ellipse">
            <a:avLst/>
          </a:prstGeom>
          <a:solidFill>
            <a:srgbClr val="D9D6CE"/>
          </a:solidFill>
          <a:ln w="12700">
            <a:solidFill>
              <a:srgbClr val="D9D6CE"/>
            </a:solidFill>
            <a:prstDash val="solid"/>
          </a:ln>
        </p:spPr>
        <p:txBody>
          <a:bodyPr/>
          <a:p/>
        </p:txBody>
      </p:sp>
      <p:sp>
        <p:nvSpPr>
          <p:cNvPr id="14" name="Shape 12"/>
          <p:cNvSpPr/>
          <p:nvPr/>
        </p:nvSpPr>
        <p:spPr>
          <a:xfrm>
            <a:off x="795528" y="1709928"/>
            <a:ext cx="219456" cy="219456"/>
          </a:xfrm>
          <a:prstGeom prst="ellipse">
            <a:avLst/>
          </a:prstGeom>
          <a:solidFill>
            <a:srgbClr val="B02532"/>
          </a:solidFill>
          <a:ln w="12700">
            <a:solidFill>
              <a:srgbClr val="B02532"/>
            </a:solidFill>
            <a:prstDash val="solid"/>
          </a:ln>
        </p:spPr>
        <p:txBody>
          <a:bodyPr/>
          <a:p/>
        </p:txBody>
      </p:sp>
      <p:sp>
        <p:nvSpPr>
          <p:cNvPr id="15" name="Text 13"/>
          <p:cNvSpPr/>
          <p:nvPr/>
        </p:nvSpPr>
        <p:spPr>
          <a:xfrm>
            <a:off x="594360" y="2240280"/>
            <a:ext cx="5760720" cy="82296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La nivel global, mai puțin de 10% dintre cei care au nevoie de tratament îl primesc.</a:t>
            </a:r>
            <a:endParaRPr lang="en-US" sz="1650" dirty="0"/>
          </a:p>
        </p:txBody>
      </p:sp>
      <p:sp>
        <p:nvSpPr>
          <p:cNvPr id="16" name="Shape 14"/>
          <p:cNvSpPr/>
          <p:nvPr/>
        </p:nvSpPr>
        <p:spPr>
          <a:xfrm>
            <a:off x="594360" y="3291840"/>
            <a:ext cx="5349240" cy="1737360"/>
          </a:xfrm>
          <a:prstGeom prst="roundRect">
            <a:avLst>
              <a:gd name="adj" fmla="val 4737"/>
            </a:avLst>
          </a:prstGeom>
          <a:solidFill>
            <a:srgbClr val="ECEAE4"/>
          </a:solidFill>
          <a:ln w="12700">
            <a:solidFill>
              <a:srgbClr val="ECEAE4"/>
            </a:solidFill>
            <a:prstDash val="solid"/>
          </a:ln>
        </p:spPr>
        <p:txBody>
          <a:bodyPr/>
          <a:p/>
        </p:txBody>
      </p:sp>
      <p:sp>
        <p:nvSpPr>
          <p:cNvPr id="17" name="Text 15"/>
          <p:cNvSpPr/>
          <p:nvPr/>
        </p:nvSpPr>
        <p:spPr>
          <a:xfrm>
            <a:off x="868680" y="3401568"/>
            <a:ext cx="4800600" cy="868680"/>
          </a:xfrm>
          <a:prstGeom prst="rect">
            <a:avLst/>
          </a:prstGeom>
          <a:noFill/>
          <a:ln/>
        </p:spPr>
        <p:txBody>
          <a:bodyPr wrap="square" lIns="0" tIns="0" rIns="0" bIns="0" rtlCol="0" anchor="ctr"/>
          <a:lstStyle/>
          <a:p>
            <a:pPr indent="0" marL="0">
              <a:buNone/>
            </a:pPr>
            <a:r>
              <a:rPr lang="en-US" sz="4000" b="1" dirty="0">
                <a:solidFill>
                  <a:srgbClr val="0E7C6B"/>
                </a:solidFill>
                <a:latin typeface="Palatino Linotype" pitchFamily="34" charset="0"/>
                <a:ea typeface="Palatino Linotype" pitchFamily="34" charset="-122"/>
                <a:cs typeface="Palatino Linotype" pitchFamily="34" charset="-120"/>
              </a:rPr>
              <a:t>505 000</a:t>
            </a:r>
            <a:endParaRPr lang="en-US" sz="4000" dirty="0"/>
          </a:p>
        </p:txBody>
      </p:sp>
      <p:sp>
        <p:nvSpPr>
          <p:cNvPr id="18" name="Text 16"/>
          <p:cNvSpPr/>
          <p:nvPr/>
        </p:nvSpPr>
        <p:spPr>
          <a:xfrm>
            <a:off x="868680" y="4178808"/>
            <a:ext cx="4800600" cy="799186"/>
          </a:xfrm>
          <a:prstGeom prst="rect">
            <a:avLst/>
          </a:prstGeom>
          <a:noFill/>
          <a:ln/>
        </p:spPr>
        <p:txBody>
          <a:bodyPr wrap="square" lIns="0" tIns="0" rIns="0" bIns="0" rtlCol="0" anchor="t"/>
          <a:lstStyle/>
          <a:p>
            <a:pPr indent="0" marL="0">
              <a:buNone/>
            </a:pPr>
            <a:r>
              <a:rPr lang="en-US" sz="1200" dirty="0">
                <a:solidFill>
                  <a:srgbClr val="11121A"/>
                </a:solidFill>
                <a:latin typeface="Palatino Linotype" pitchFamily="34" charset="0"/>
                <a:ea typeface="Palatino Linotype" pitchFamily="34" charset="-122"/>
                <a:cs typeface="Palatino Linotype" pitchFamily="34" charset="-120"/>
              </a:rPr>
              <a:t>de persoane în UE, în 2024, au primit o formă de tratament cu agoniști opioizi</a:t>
            </a:r>
            <a:endParaRPr lang="en-US" sz="1200" dirty="0"/>
          </a:p>
        </p:txBody>
      </p:sp>
      <p:sp>
        <p:nvSpPr>
          <p:cNvPr id="19" name="Shape 17"/>
          <p:cNvSpPr/>
          <p:nvPr/>
        </p:nvSpPr>
        <p:spPr>
          <a:xfrm>
            <a:off x="6217920" y="3291840"/>
            <a:ext cx="5349240" cy="1737360"/>
          </a:xfrm>
          <a:prstGeom prst="roundRect">
            <a:avLst>
              <a:gd name="adj" fmla="val 4737"/>
            </a:avLst>
          </a:prstGeom>
          <a:solidFill>
            <a:srgbClr val="ECEAE4"/>
          </a:solidFill>
          <a:ln w="12700">
            <a:solidFill>
              <a:srgbClr val="ECEAE4"/>
            </a:solidFill>
            <a:prstDash val="solid"/>
          </a:ln>
        </p:spPr>
        <p:txBody>
          <a:bodyPr/>
          <a:p/>
        </p:txBody>
      </p:sp>
      <p:sp>
        <p:nvSpPr>
          <p:cNvPr id="20" name="Text 18"/>
          <p:cNvSpPr/>
          <p:nvPr/>
        </p:nvSpPr>
        <p:spPr>
          <a:xfrm>
            <a:off x="6492240" y="3401568"/>
            <a:ext cx="4800600" cy="868680"/>
          </a:xfrm>
          <a:prstGeom prst="rect">
            <a:avLst/>
          </a:prstGeom>
          <a:noFill/>
          <a:ln/>
        </p:spPr>
        <p:txBody>
          <a:bodyPr wrap="square" lIns="0" tIns="0" rIns="0" bIns="0" rtlCol="0" anchor="ctr"/>
          <a:lstStyle/>
          <a:p>
            <a:pPr indent="0" marL="0">
              <a:buNone/>
            </a:pPr>
            <a:r>
              <a:rPr lang="en-US" sz="4000" b="1" dirty="0">
                <a:solidFill>
                  <a:srgbClr val="B02532"/>
                </a:solidFill>
                <a:latin typeface="Palatino Linotype" pitchFamily="34" charset="0"/>
                <a:ea typeface="Palatino Linotype" pitchFamily="34" charset="-122"/>
                <a:cs typeface="Palatino Linotype" pitchFamily="34" charset="-120"/>
              </a:rPr>
              <a:t>1 686</a:t>
            </a:r>
            <a:endParaRPr lang="en-US" sz="4000" dirty="0"/>
          </a:p>
        </p:txBody>
      </p:sp>
      <p:sp>
        <p:nvSpPr>
          <p:cNvPr id="21" name="Text 19"/>
          <p:cNvSpPr/>
          <p:nvPr/>
        </p:nvSpPr>
        <p:spPr>
          <a:xfrm>
            <a:off x="6492240" y="4178808"/>
            <a:ext cx="4800600" cy="799186"/>
          </a:xfrm>
          <a:prstGeom prst="rect">
            <a:avLst/>
          </a:prstGeom>
          <a:noFill/>
          <a:ln/>
        </p:spPr>
        <p:txBody>
          <a:bodyPr wrap="square" lIns="0" tIns="0" rIns="0" bIns="0" rtlCol="0" anchor="t"/>
          <a:lstStyle/>
          <a:p>
            <a:pPr indent="0" marL="0">
              <a:buNone/>
            </a:pPr>
            <a:r>
              <a:rPr lang="en-US" sz="1200" dirty="0">
                <a:solidFill>
                  <a:srgbClr val="11121A"/>
                </a:solidFill>
                <a:latin typeface="Palatino Linotype" pitchFamily="34" charset="0"/>
                <a:ea typeface="Palatino Linotype" pitchFamily="34" charset="-122"/>
                <a:cs typeface="Palatino Linotype" pitchFamily="34" charset="-120"/>
              </a:rPr>
              <a:t>de persoane în România, în 2024, cu metadonă; 311 (18,5%) admise în acel an</a:t>
            </a:r>
            <a:endParaRPr lang="en-US" sz="1200" dirty="0"/>
          </a:p>
        </p:txBody>
      </p:sp>
      <p:sp>
        <p:nvSpPr>
          <p:cNvPr id="22" name="Text 20"/>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Surse: OMS, fișa din 2025; EUDA, European Drug Report 2026; raportul național privind situația drogurilor.</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ROMÂNIA, 2024</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Metadona este și ea un opioid</a:t>
            </a:r>
            <a:endParaRPr lang="en-US" sz="3200" dirty="0"/>
          </a:p>
        </p:txBody>
      </p:sp>
      <p:sp>
        <p:nvSpPr>
          <p:cNvPr id="4" name="Shape 2"/>
          <p:cNvSpPr/>
          <p:nvPr/>
        </p:nvSpPr>
        <p:spPr>
          <a:xfrm>
            <a:off x="594360" y="1463040"/>
            <a:ext cx="5349240" cy="1828800"/>
          </a:xfrm>
          <a:prstGeom prst="roundRect">
            <a:avLst>
              <a:gd name="adj" fmla="val 4500"/>
            </a:avLst>
          </a:prstGeom>
          <a:solidFill>
            <a:srgbClr val="1D1F2B"/>
          </a:solidFill>
          <a:ln w="12700">
            <a:solidFill>
              <a:srgbClr val="1D1F2B"/>
            </a:solidFill>
            <a:prstDash val="solid"/>
          </a:ln>
        </p:spPr>
        <p:txBody>
          <a:bodyPr/>
          <a:p/>
        </p:txBody>
      </p:sp>
      <p:sp>
        <p:nvSpPr>
          <p:cNvPr id="5" name="Text 3"/>
          <p:cNvSpPr/>
          <p:nvPr/>
        </p:nvSpPr>
        <p:spPr>
          <a:xfrm>
            <a:off x="868680" y="1572768"/>
            <a:ext cx="4800600" cy="914400"/>
          </a:xfrm>
          <a:prstGeom prst="rect">
            <a:avLst/>
          </a:prstGeom>
          <a:noFill/>
          <a:ln/>
        </p:spPr>
        <p:txBody>
          <a:bodyPr wrap="square" lIns="0" tIns="0" rIns="0" bIns="0" rtlCol="0" anchor="ctr"/>
          <a:lstStyle/>
          <a:p>
            <a:pPr indent="0" marL="0">
              <a:buNone/>
            </a:pPr>
            <a:r>
              <a:rPr lang="en-US" sz="5600" b="1" dirty="0">
                <a:solidFill>
                  <a:srgbClr val="FF4757"/>
                </a:solidFill>
                <a:latin typeface="Palatino Linotype" pitchFamily="34" charset="0"/>
                <a:ea typeface="Palatino Linotype" pitchFamily="34" charset="-122"/>
                <a:cs typeface="Palatino Linotype" pitchFamily="34" charset="-120"/>
              </a:rPr>
              <a:t>10</a:t>
            </a:r>
            <a:endParaRPr lang="en-US" sz="5600" dirty="0"/>
          </a:p>
        </p:txBody>
      </p:sp>
      <p:sp>
        <p:nvSpPr>
          <p:cNvPr id="6" name="Text 4"/>
          <p:cNvSpPr/>
          <p:nvPr/>
        </p:nvSpPr>
        <p:spPr>
          <a:xfrm>
            <a:off x="868680" y="2395728"/>
            <a:ext cx="4800600" cy="841248"/>
          </a:xfrm>
          <a:prstGeom prst="rect">
            <a:avLst/>
          </a:prstGeom>
          <a:noFill/>
          <a:ln/>
        </p:spPr>
        <p:txBody>
          <a:bodyPr wrap="square" lIns="0" tIns="0" rIns="0" bIns="0" rtlCol="0" anchor="t"/>
          <a:lstStyle/>
          <a:p>
            <a:pPr indent="0" marL="0">
              <a:buNone/>
            </a:pPr>
            <a:r>
              <a:rPr lang="en-US" sz="1200" dirty="0">
                <a:solidFill>
                  <a:srgbClr val="FFFFFF"/>
                </a:solidFill>
                <a:latin typeface="Palatino Linotype" pitchFamily="34" charset="0"/>
                <a:ea typeface="Palatino Linotype" pitchFamily="34" charset="-122"/>
                <a:cs typeface="Palatino Linotype" pitchFamily="34" charset="-120"/>
              </a:rPr>
              <a:t>decese asociate direct consumului de droguri cu metadonă prezentă; într-unul, și benzodiazepine sau alte sedative</a:t>
            </a:r>
            <a:endParaRPr lang="en-US" sz="1200" dirty="0"/>
          </a:p>
        </p:txBody>
      </p:sp>
      <p:sp>
        <p:nvSpPr>
          <p:cNvPr id="7" name="Shape 5"/>
          <p:cNvSpPr/>
          <p:nvPr/>
        </p:nvSpPr>
        <p:spPr>
          <a:xfrm>
            <a:off x="6217920" y="1463040"/>
            <a:ext cx="5349240" cy="1828800"/>
          </a:xfrm>
          <a:prstGeom prst="roundRect">
            <a:avLst>
              <a:gd name="adj" fmla="val 4500"/>
            </a:avLst>
          </a:prstGeom>
          <a:solidFill>
            <a:srgbClr val="1D1F2B"/>
          </a:solidFill>
          <a:ln w="12700">
            <a:solidFill>
              <a:srgbClr val="1D1F2B"/>
            </a:solidFill>
            <a:prstDash val="solid"/>
          </a:ln>
        </p:spPr>
        <p:txBody>
          <a:bodyPr/>
          <a:p/>
        </p:txBody>
      </p:sp>
      <p:sp>
        <p:nvSpPr>
          <p:cNvPr id="8" name="Text 6"/>
          <p:cNvSpPr/>
          <p:nvPr/>
        </p:nvSpPr>
        <p:spPr>
          <a:xfrm>
            <a:off x="6492240" y="1572768"/>
            <a:ext cx="4800600" cy="914400"/>
          </a:xfrm>
          <a:prstGeom prst="rect">
            <a:avLst/>
          </a:prstGeom>
          <a:noFill/>
          <a:ln/>
        </p:spPr>
        <p:txBody>
          <a:bodyPr wrap="square" lIns="0" tIns="0" rIns="0" bIns="0" rtlCol="0" anchor="ctr"/>
          <a:lstStyle/>
          <a:p>
            <a:pPr indent="0" marL="0">
              <a:buNone/>
            </a:pPr>
            <a:r>
              <a:rPr lang="en-US" sz="4800" b="1" dirty="0">
                <a:solidFill>
                  <a:srgbClr val="FFC24B"/>
                </a:solidFill>
                <a:latin typeface="Palatino Linotype" pitchFamily="34" charset="0"/>
                <a:ea typeface="Palatino Linotype" pitchFamily="34" charset="-122"/>
                <a:cs typeface="Palatino Linotype" pitchFamily="34" charset="-120"/>
              </a:rPr>
              <a:t>18 din 40</a:t>
            </a:r>
            <a:endParaRPr lang="en-US" sz="4800" dirty="0"/>
          </a:p>
        </p:txBody>
      </p:sp>
      <p:sp>
        <p:nvSpPr>
          <p:cNvPr id="9" name="Text 7"/>
          <p:cNvSpPr/>
          <p:nvPr/>
        </p:nvSpPr>
        <p:spPr>
          <a:xfrm>
            <a:off x="6492240" y="2395728"/>
            <a:ext cx="4800600" cy="841248"/>
          </a:xfrm>
          <a:prstGeom prst="rect">
            <a:avLst/>
          </a:prstGeom>
          <a:noFill/>
          <a:ln/>
        </p:spPr>
        <p:txBody>
          <a:bodyPr wrap="square" lIns="0" tIns="0" rIns="0" bIns="0" rtlCol="0" anchor="t"/>
          <a:lstStyle/>
          <a:p>
            <a:pPr indent="0" marL="0">
              <a:buNone/>
            </a:pPr>
            <a:r>
              <a:rPr lang="en-US" sz="1200" dirty="0">
                <a:solidFill>
                  <a:srgbClr val="FFFFFF"/>
                </a:solidFill>
                <a:latin typeface="Palatino Linotype" pitchFamily="34" charset="0"/>
                <a:ea typeface="Palatino Linotype" pitchFamily="34" charset="-122"/>
                <a:cs typeface="Palatino Linotype" pitchFamily="34" charset="-120"/>
              </a:rPr>
              <a:t>decese directe explicate, împreună, de metadonă și heroină</a:t>
            </a:r>
            <a:endParaRPr lang="en-US" sz="1200" dirty="0"/>
          </a:p>
        </p:txBody>
      </p:sp>
      <p:sp>
        <p:nvSpPr>
          <p:cNvPr id="10" name="Shape 8"/>
          <p:cNvSpPr/>
          <p:nvPr/>
        </p:nvSpPr>
        <p:spPr>
          <a:xfrm>
            <a:off x="594360" y="3566160"/>
            <a:ext cx="10972800" cy="1463040"/>
          </a:xfrm>
          <a:prstGeom prst="roundRect">
            <a:avLst>
              <a:gd name="adj" fmla="val 5625"/>
            </a:avLst>
          </a:prstGeom>
          <a:solidFill>
            <a:srgbClr val="272A38"/>
          </a:solidFill>
          <a:ln w="12700">
            <a:solidFill>
              <a:srgbClr val="272A38"/>
            </a:solidFill>
            <a:prstDash val="solid"/>
          </a:ln>
        </p:spPr>
        <p:txBody>
          <a:bodyPr/>
          <a:p/>
        </p:txBody>
      </p:sp>
      <p:sp>
        <p:nvSpPr>
          <p:cNvPr id="11" name="Text 9"/>
          <p:cNvSpPr/>
          <p:nvPr/>
        </p:nvSpPr>
        <p:spPr>
          <a:xfrm>
            <a:off x="868680" y="3566160"/>
            <a:ext cx="10424160" cy="1463040"/>
          </a:xfrm>
          <a:prstGeom prst="rect">
            <a:avLst/>
          </a:prstGeom>
          <a:noFill/>
          <a:ln/>
        </p:spPr>
        <p:txBody>
          <a:bodyPr wrap="square" lIns="0" tIns="0" rIns="0" bIns="0" rtlCol="0" anchor="ctr"/>
          <a:lstStyle/>
          <a:p>
            <a:pPr indent="0" marL="0">
              <a:buNone/>
            </a:pPr>
            <a:r>
              <a:rPr lang="en-US" sz="1750" i="1" dirty="0">
                <a:solidFill>
                  <a:srgbClr val="FFFFFF"/>
                </a:solidFill>
                <a:latin typeface="Palatino Linotype" pitchFamily="34" charset="0"/>
                <a:ea typeface="Palatino Linotype" pitchFamily="34" charset="-122"/>
                <a:cs typeface="Palatino Linotype" pitchFamily="34" charset="-120"/>
              </a:rPr>
              <a:t>Raportul nu spune câte dintre aceste persoane erau în tratament și câte foloseau metadonă obținută altfel. Cifra nu se poate citi ca o evaluare a programului.</a:t>
            </a:r>
            <a:endParaRPr lang="en-US" sz="1750" dirty="0"/>
          </a:p>
        </p:txBody>
      </p:sp>
      <p:sp>
        <p:nvSpPr>
          <p:cNvPr id="12" name="Text 10"/>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Sursa: raportul național privind situația drogurilor, datele pentru 2024.</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 · JUMĂTATE DE MINUT</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PARTEA A PATRA · ÎNCHEIERE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Ce îi spuneți mâine unui coleg</a:t>
            </a:r>
            <a:endParaRPr lang="en-US" sz="3400" dirty="0"/>
          </a:p>
        </p:txBody>
      </p:sp>
      <p:sp>
        <p:nvSpPr>
          <p:cNvPr id="6" name="Shape 4"/>
          <p:cNvSpPr/>
          <p:nvPr/>
        </p:nvSpPr>
        <p:spPr>
          <a:xfrm>
            <a:off x="594360" y="1828800"/>
            <a:ext cx="73152" cy="3291840"/>
          </a:xfrm>
          <a:prstGeom prst="rect">
            <a:avLst/>
          </a:prstGeom>
          <a:solidFill>
            <a:srgbClr val="27D3BE"/>
          </a:solidFill>
          <a:ln w="12700">
            <a:solidFill>
              <a:srgbClr val="27D3BE"/>
            </a:solidFill>
            <a:prstDash val="solid"/>
          </a:ln>
        </p:spPr>
        <p:txBody>
          <a:bodyPr/>
          <a:p/>
        </p:txBody>
      </p:sp>
      <p:sp>
        <p:nvSpPr>
          <p:cNvPr id="7" name="Text 5"/>
          <p:cNvSpPr/>
          <p:nvPr/>
        </p:nvSpPr>
        <p:spPr>
          <a:xfrm>
            <a:off x="960120" y="1828800"/>
            <a:ext cx="10515600" cy="3291840"/>
          </a:xfrm>
          <a:prstGeom prst="rect">
            <a:avLst/>
          </a:prstGeom>
          <a:noFill/>
          <a:ln/>
        </p:spPr>
        <p:txBody>
          <a:bodyPr wrap="square" lIns="0" tIns="0" rIns="0" bIns="0" rtlCol="0" anchor="ctr"/>
          <a:lstStyle/>
          <a:p>
            <a:pPr indent="0" marL="0">
              <a:buNone/>
            </a:pPr>
            <a:r>
              <a:rPr lang="en-US" sz="2300" i="1" dirty="0">
                <a:solidFill>
                  <a:srgbClr val="FFFFFF"/>
                </a:solidFill>
                <a:latin typeface="Palatino Linotype" pitchFamily="34" charset="0"/>
                <a:ea typeface="Palatino Linotype" pitchFamily="34" charset="-122"/>
                <a:cs typeface="Palatino Linotype" pitchFamily="34" charset="-120"/>
              </a:rPr>
              <a:t>„Tratamentul de substituție ține omul în viață și în legătură cu medicul. În România îl primesc puțin peste o mie și jumătate de oameni. Iar metadona rămâne un opioid: combinată cu o benzodiazepină, crește riscul.”</a:t>
            </a:r>
            <a:endParaRPr lang="en-US" sz="2300" dirty="0"/>
          </a:p>
        </p:txBody>
      </p:sp>
      <p:sp>
        <p:nvSpPr>
          <p:cNvPr id="8" name="Text 6"/>
          <p:cNvSpPr/>
          <p:nvPr/>
        </p:nvSpPr>
        <p:spPr>
          <a:xfrm>
            <a:off x="594360" y="5486400"/>
            <a:ext cx="10972800" cy="41148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Spuneți-o, cu cuvintele voastre, colegului de bancă.</a:t>
            </a:r>
            <a:endParaRPr lang="en-US" sz="1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ÎN PRACTICĂ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faceți diferit de mâine</a:t>
            </a:r>
            <a:endParaRPr lang="en-US" sz="3200" dirty="0"/>
          </a:p>
        </p:txBody>
      </p:sp>
      <p:sp>
        <p:nvSpPr>
          <p:cNvPr id="4" name="Shape 2"/>
          <p:cNvSpPr/>
          <p:nvPr/>
        </p:nvSpPr>
        <p:spPr>
          <a:xfrm>
            <a:off x="685800" y="1517904"/>
            <a:ext cx="420624" cy="420624"/>
          </a:xfrm>
          <a:prstGeom prst="ellipse">
            <a:avLst/>
          </a:prstGeom>
          <a:solidFill>
            <a:srgbClr val="FF4757"/>
          </a:solidFill>
          <a:ln/>
        </p:spPr>
        <p:txBody>
          <a:bodyPr/>
          <a:p/>
        </p:txBody>
      </p:sp>
      <p:sp>
        <p:nvSpPr>
          <p:cNvPr id="5" name="Text 3"/>
          <p:cNvSpPr/>
          <p:nvPr/>
        </p:nvSpPr>
        <p:spPr>
          <a:xfrm>
            <a:off x="685800" y="151790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6" name="Text 4"/>
          <p:cNvSpPr/>
          <p:nvPr/>
        </p:nvSpPr>
        <p:spPr>
          <a:xfrm>
            <a:off x="1325880" y="1417320"/>
            <a:ext cx="1024128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Prima rețetă de benzodiazepină sau de somn: programați pacientul înapoi în cel mult o lună.</a:t>
            </a:r>
            <a:endParaRPr lang="en-US" sz="1550" dirty="0"/>
          </a:p>
        </p:txBody>
      </p:sp>
      <p:sp>
        <p:nvSpPr>
          <p:cNvPr id="7" name="Shape 5"/>
          <p:cNvSpPr/>
          <p:nvPr/>
        </p:nvSpPr>
        <p:spPr>
          <a:xfrm>
            <a:off x="685800" y="2249424"/>
            <a:ext cx="420624" cy="420624"/>
          </a:xfrm>
          <a:prstGeom prst="ellipse">
            <a:avLst/>
          </a:prstGeom>
          <a:solidFill>
            <a:srgbClr val="FF4757"/>
          </a:solidFill>
          <a:ln/>
        </p:spPr>
        <p:txBody>
          <a:bodyPr/>
          <a:p/>
        </p:txBody>
      </p:sp>
      <p:sp>
        <p:nvSpPr>
          <p:cNvPr id="8" name="Text 6"/>
          <p:cNvSpPr/>
          <p:nvPr/>
        </p:nvSpPr>
        <p:spPr>
          <a:xfrm>
            <a:off x="685800" y="224942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9" name="Text 7"/>
          <p:cNvSpPr/>
          <p:nvPr/>
        </p:nvSpPr>
        <p:spPr>
          <a:xfrm>
            <a:off x="1325880" y="2148840"/>
            <a:ext cx="1024128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Ani de benzodiazepină: nu o opriți brusc și nu certați; reducere treptată, cu întâlniri programate.</a:t>
            </a:r>
            <a:endParaRPr lang="en-US" sz="1550" dirty="0"/>
          </a:p>
        </p:txBody>
      </p:sp>
      <p:sp>
        <p:nvSpPr>
          <p:cNvPr id="10" name="Shape 8"/>
          <p:cNvSpPr/>
          <p:nvPr/>
        </p:nvSpPr>
        <p:spPr>
          <a:xfrm>
            <a:off x="685800" y="2980944"/>
            <a:ext cx="420624" cy="420624"/>
          </a:xfrm>
          <a:prstGeom prst="ellipse">
            <a:avLst/>
          </a:prstGeom>
          <a:solidFill>
            <a:srgbClr val="FF4757"/>
          </a:solidFill>
          <a:ln/>
        </p:spPr>
        <p:txBody>
          <a:bodyPr/>
          <a:p/>
        </p:txBody>
      </p:sp>
      <p:sp>
        <p:nvSpPr>
          <p:cNvPr id="11" name="Text 9"/>
          <p:cNvSpPr/>
          <p:nvPr/>
        </p:nvSpPr>
        <p:spPr>
          <a:xfrm>
            <a:off x="685800" y="298094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12" name="Text 10"/>
          <p:cNvSpPr/>
          <p:nvPr/>
        </p:nvSpPr>
        <p:spPr>
          <a:xfrm>
            <a:off x="1325880" y="2880360"/>
            <a:ext cx="1024128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Durere de luni de zile: întâi tratamentele fără opioide; ținte de durere și de funcție, împreună.</a:t>
            </a:r>
            <a:endParaRPr lang="en-US" sz="1550" dirty="0"/>
          </a:p>
        </p:txBody>
      </p:sp>
      <p:sp>
        <p:nvSpPr>
          <p:cNvPr id="13" name="Shape 11"/>
          <p:cNvSpPr/>
          <p:nvPr/>
        </p:nvSpPr>
        <p:spPr>
          <a:xfrm>
            <a:off x="685800" y="3712464"/>
            <a:ext cx="420624" cy="420624"/>
          </a:xfrm>
          <a:prstGeom prst="ellipse">
            <a:avLst/>
          </a:prstGeom>
          <a:solidFill>
            <a:srgbClr val="FF4757"/>
          </a:solidFill>
          <a:ln/>
        </p:spPr>
        <p:txBody>
          <a:bodyPr/>
          <a:p/>
        </p:txBody>
      </p:sp>
      <p:sp>
        <p:nvSpPr>
          <p:cNvPr id="14" name="Text 12"/>
          <p:cNvSpPr/>
          <p:nvPr/>
        </p:nvSpPr>
        <p:spPr>
          <a:xfrm>
            <a:off x="685800" y="371246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4</a:t>
            </a:r>
            <a:endParaRPr lang="en-US" sz="1400" dirty="0"/>
          </a:p>
        </p:txBody>
      </p:sp>
      <p:sp>
        <p:nvSpPr>
          <p:cNvPr id="15" name="Text 13"/>
          <p:cNvSpPr/>
          <p:nvPr/>
        </p:nvSpPr>
        <p:spPr>
          <a:xfrm>
            <a:off x="1325880" y="3611880"/>
            <a:ext cx="1024128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Opioid și benzodiazepină pe aceeași fișă: e nevoie de amândouă?</a:t>
            </a:r>
            <a:endParaRPr lang="en-US" sz="1550" dirty="0"/>
          </a:p>
        </p:txBody>
      </p:sp>
      <p:sp>
        <p:nvSpPr>
          <p:cNvPr id="16" name="Shape 14"/>
          <p:cNvSpPr/>
          <p:nvPr/>
        </p:nvSpPr>
        <p:spPr>
          <a:xfrm>
            <a:off x="685800" y="4443984"/>
            <a:ext cx="420624" cy="420624"/>
          </a:xfrm>
          <a:prstGeom prst="ellipse">
            <a:avLst/>
          </a:prstGeom>
          <a:solidFill>
            <a:srgbClr val="FF4757"/>
          </a:solidFill>
          <a:ln/>
        </p:spPr>
        <p:txBody>
          <a:bodyPr/>
          <a:p/>
        </p:txBody>
      </p:sp>
      <p:sp>
        <p:nvSpPr>
          <p:cNvPr id="17" name="Text 15"/>
          <p:cNvSpPr/>
          <p:nvPr/>
        </p:nvSpPr>
        <p:spPr>
          <a:xfrm>
            <a:off x="685800" y="444398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5</a:t>
            </a:r>
            <a:endParaRPr lang="en-US" sz="1400" dirty="0"/>
          </a:p>
        </p:txBody>
      </p:sp>
      <p:sp>
        <p:nvSpPr>
          <p:cNvPr id="18" name="Text 16"/>
          <p:cNvSpPr/>
          <p:nvPr/>
        </p:nvSpPr>
        <p:spPr>
          <a:xfrm>
            <a:off x="1325880" y="4343400"/>
            <a:ext cx="1024128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„Statul îi ajută să se drogheze”: valorile se discută, faptele se verifică.</a:t>
            </a:r>
            <a:endParaRPr lang="en-US" sz="1550" dirty="0"/>
          </a:p>
        </p:txBody>
      </p:sp>
      <p:sp>
        <p:nvSpPr>
          <p:cNvPr id="19" name="Shape 17"/>
          <p:cNvSpPr/>
          <p:nvPr/>
        </p:nvSpPr>
        <p:spPr>
          <a:xfrm>
            <a:off x="685800" y="5175504"/>
            <a:ext cx="420624" cy="420624"/>
          </a:xfrm>
          <a:prstGeom prst="ellipse">
            <a:avLst/>
          </a:prstGeom>
          <a:solidFill>
            <a:srgbClr val="FF4757"/>
          </a:solidFill>
          <a:ln/>
        </p:spPr>
        <p:txBody>
          <a:bodyPr/>
          <a:p/>
        </p:txBody>
      </p:sp>
      <p:sp>
        <p:nvSpPr>
          <p:cNvPr id="20" name="Text 18"/>
          <p:cNvSpPr/>
          <p:nvPr/>
        </p:nvSpPr>
        <p:spPr>
          <a:xfrm>
            <a:off x="685800" y="517550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6</a:t>
            </a:r>
            <a:endParaRPr lang="en-US" sz="1400" dirty="0"/>
          </a:p>
        </p:txBody>
      </p:sp>
      <p:sp>
        <p:nvSpPr>
          <p:cNvPr id="21" name="Text 19"/>
          <p:cNvSpPr/>
          <p:nvPr/>
        </p:nvSpPr>
        <p:spPr>
          <a:xfrm>
            <a:off x="1325880" y="5074920"/>
            <a:ext cx="1024128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Martor la o supradoză: sunați imediat la numărul unic de urgență.</a:t>
            </a:r>
            <a:endParaRPr lang="en-US" sz="15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KAHOOT</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RECAPITULARE</a:t>
            </a:r>
            <a:endParaRPr lang="en-US" sz="1300" dirty="0"/>
          </a:p>
        </p:txBody>
      </p:sp>
      <p:sp>
        <p:nvSpPr>
          <p:cNvPr id="5" name="Text 3"/>
          <p:cNvSpPr/>
          <p:nvPr/>
        </p:nvSpPr>
        <p:spPr>
          <a:xfrm>
            <a:off x="594360" y="1280160"/>
            <a:ext cx="10972800" cy="91440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Rețeta, durerea, seringa, substituția</a:t>
            </a:r>
            <a:endParaRPr lang="en-US" sz="3800" dirty="0"/>
          </a:p>
        </p:txBody>
      </p:sp>
      <p:sp>
        <p:nvSpPr>
          <p:cNvPr id="6" name="Text 4"/>
          <p:cNvSpPr/>
          <p:nvPr/>
        </p:nvSpPr>
        <p:spPr>
          <a:xfrm>
            <a:off x="594360" y="2331720"/>
            <a:ext cx="10972800" cy="548640"/>
          </a:xfrm>
          <a:prstGeom prst="rect">
            <a:avLst/>
          </a:prstGeom>
          <a:noFill/>
          <a:ln/>
        </p:spPr>
        <p:txBody>
          <a:bodyPr wrap="square" lIns="0" tIns="0" rIns="0" bIns="0" rtlCol="0" anchor="t"/>
          <a:lstStyle/>
          <a:p>
            <a:pPr indent="0" marL="0">
              <a:buNone/>
            </a:pPr>
            <a:r>
              <a:rPr lang="en-US" sz="2200" dirty="0">
                <a:solidFill>
                  <a:srgbClr val="959BB0"/>
                </a:solidFill>
                <a:latin typeface="Palatino Linotype" pitchFamily="34" charset="0"/>
                <a:ea typeface="Palatino Linotype" pitchFamily="34" charset="-122"/>
                <a:cs typeface="Palatino Linotype" pitchFamily="34" charset="-120"/>
              </a:rPr>
              <a:t>Accesați kahoot.it și introduceți codul jocului.</a:t>
            </a:r>
            <a:endParaRPr lang="en-US" sz="2200" dirty="0"/>
          </a:p>
        </p:txBody>
      </p:sp>
      <p:sp>
        <p:nvSpPr>
          <p:cNvPr id="7" name="Text 5"/>
          <p:cNvSpPr/>
          <p:nvPr/>
        </p:nvSpPr>
        <p:spPr>
          <a:xfrm>
            <a:off x="594360" y="3200400"/>
            <a:ext cx="10972800" cy="1097280"/>
          </a:xfrm>
          <a:prstGeom prst="rect">
            <a:avLst/>
          </a:prstGeom>
          <a:noFill/>
          <a:ln/>
        </p:spPr>
        <p:txBody>
          <a:bodyPr wrap="square" lIns="0" tIns="0" rIns="0" bIns="0" rtlCol="0" anchor="ctr"/>
          <a:lstStyle/>
          <a:p>
            <a:pPr indent="0" marL="0">
              <a:buNone/>
            </a:pPr>
            <a:r>
              <a:rPr lang="en-US" sz="2200" i="1" dirty="0">
                <a:solidFill>
                  <a:srgbClr val="FFFFFF"/>
                </a:solidFill>
                <a:latin typeface="Palatino Linotype" pitchFamily="34" charset="0"/>
                <a:ea typeface="Palatino Linotype" pitchFamily="34" charset="-122"/>
                <a:cs typeface="Palatino Linotype" pitchFamily="34" charset="-120"/>
              </a:rPr>
              <a:t>Zece întrebări. Rezultatul nu se notează. După fiecare întrebare: varianta corectă și sursa ei.</a:t>
            </a:r>
            <a:endParaRPr lang="en-US" sz="2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384048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85800" y="822960"/>
            <a:ext cx="384048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ULTIMELE CINCI MINUTE · ANONIM</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Trei întrebări pentru titular</a:t>
            </a:r>
            <a:endParaRPr lang="en-US" sz="4000" dirty="0"/>
          </a:p>
        </p:txBody>
      </p:sp>
      <p:sp>
        <p:nvSpPr>
          <p:cNvPr id="5" name="Shape 3"/>
          <p:cNvSpPr/>
          <p:nvPr/>
        </p:nvSpPr>
        <p:spPr>
          <a:xfrm>
            <a:off x="914400" y="2670048"/>
            <a:ext cx="420624" cy="420624"/>
          </a:xfrm>
          <a:prstGeom prst="ellipse">
            <a:avLst/>
          </a:prstGeom>
          <a:solidFill>
            <a:srgbClr val="FFC24B"/>
          </a:solidFill>
          <a:ln/>
        </p:spPr>
        <p:txBody>
          <a:bodyPr/>
          <a:p/>
        </p:txBody>
      </p:sp>
      <p:sp>
        <p:nvSpPr>
          <p:cNvPr id="6" name="Text 4"/>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251460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 fost util?</a:t>
            </a:r>
            <a:endParaRPr lang="en-US" sz="2000" dirty="0"/>
          </a:p>
        </p:txBody>
      </p:sp>
      <p:sp>
        <p:nvSpPr>
          <p:cNvPr id="8" name="Shape 6"/>
          <p:cNvSpPr/>
          <p:nvPr/>
        </p:nvSpPr>
        <p:spPr>
          <a:xfrm>
            <a:off x="914400" y="3538728"/>
            <a:ext cx="420624" cy="420624"/>
          </a:xfrm>
          <a:prstGeom prst="ellipse">
            <a:avLst/>
          </a:prstGeom>
          <a:solidFill>
            <a:srgbClr val="FFC24B"/>
          </a:solidFill>
          <a:ln/>
        </p:spPr>
        <p:txBody>
          <a:bodyPr/>
          <a:p/>
        </p:txBody>
      </p:sp>
      <p:sp>
        <p:nvSpPr>
          <p:cNvPr id="9" name="Text 7"/>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600200" y="338328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Unde te-am pierdut?</a:t>
            </a:r>
            <a:endParaRPr lang="en-US" sz="2000" dirty="0"/>
          </a:p>
        </p:txBody>
      </p:sp>
      <p:sp>
        <p:nvSpPr>
          <p:cNvPr id="11" name="Shape 9"/>
          <p:cNvSpPr/>
          <p:nvPr/>
        </p:nvSpPr>
        <p:spPr>
          <a:xfrm>
            <a:off x="914400" y="4407408"/>
            <a:ext cx="420624" cy="420624"/>
          </a:xfrm>
          <a:prstGeom prst="ellipse">
            <a:avLst/>
          </a:prstGeom>
          <a:solidFill>
            <a:srgbClr val="FFC24B"/>
          </a:solidFill>
          <a:ln/>
        </p:spPr>
        <p:txBody>
          <a:bodyPr/>
          <a:p/>
        </p:txBody>
      </p:sp>
      <p:sp>
        <p:nvSpPr>
          <p:cNvPr id="12" name="Text 10"/>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600200" y="425196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ai putea folosi mâine?</a:t>
            </a:r>
            <a:endParaRPr lang="en-US" sz="2000" dirty="0"/>
          </a:p>
        </p:txBody>
      </p:sp>
      <p:sp>
        <p:nvSpPr>
          <p:cNvPr id="14" name="Shape 12"/>
          <p:cNvSpPr/>
          <p:nvPr/>
        </p:nvSpPr>
        <p:spPr>
          <a:xfrm>
            <a:off x="8549640" y="2514600"/>
            <a:ext cx="3017520" cy="2468880"/>
          </a:xfrm>
          <a:prstGeom prst="roundRect">
            <a:avLst>
              <a:gd name="adj" fmla="val 3333"/>
            </a:avLst>
          </a:prstGeom>
          <a:solidFill>
            <a:srgbClr val="FFFFFF"/>
          </a:solidFill>
          <a:ln w="12700">
            <a:solidFill>
              <a:srgbClr val="FFFFFF"/>
            </a:solidFill>
            <a:prstDash val="solid"/>
          </a:ln>
        </p:spPr>
        <p:txBody>
          <a:bodyPr/>
          <a:p/>
        </p:txBody>
      </p:sp>
      <p:sp>
        <p:nvSpPr>
          <p:cNvPr id="16" name="Text 14"/>
          <p:cNvSpPr/>
          <p:nvPr/>
        </p:nvSpPr>
        <p:spPr>
          <a:xfrm>
            <a:off x="594360" y="5212080"/>
            <a:ext cx="7772400" cy="411480"/>
          </a:xfrm>
          <a:prstGeom prst="rect">
            <a:avLst/>
          </a:prstGeom>
          <a:noFill/>
          <a:ln/>
        </p:spPr>
        <p:txBody>
          <a:bodyPr wrap="square" lIns="0" tIns="0" rIns="0" bIns="0" rtlCol="0" anchor="t"/>
          <a:lstStyle/>
          <a:p>
            <a:pPr indent="0" marL="0">
              <a:buNone/>
            </a:pPr>
            <a:r>
              <a:rPr lang="en-US" sz="1600" b="1" dirty="0">
                <a:solidFill>
                  <a:srgbClr val="FFC24B"/>
                </a:solidFill>
                <a:latin typeface="Palatino Linotype" pitchFamily="34" charset="0"/>
                <a:ea typeface="Palatino Linotype" pitchFamily="34" charset="-122"/>
                <a:cs typeface="Palatino Linotype" pitchFamily="34" charset="-120"/>
              </a:rPr>
              <a:t>Răspundeți pe telefon, la codul afișat.</a:t>
            </a:r>
            <a:endParaRPr lang="en-US" sz="1600" dirty="0"/>
          </a:p>
        </p:txBody>
      </p:sp>
      <p:sp>
        <p:nvSpPr>
          <p:cNvPr id="17" name="Text 15"/>
          <p:cNvSpPr/>
          <p:nvPr/>
        </p:nvSpPr>
        <p:spPr>
          <a:xfrm>
            <a:off x="594360" y="5669280"/>
            <a:ext cx="10972800" cy="45720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Luni, pe pagina disciplinei, veți găsi două lucruri schimbate după răspunsuri.</a:t>
            </a:r>
            <a:endParaRPr lang="en-US" sz="1700" dirty="0"/>
          </a:p>
        </p:txBody>
      </p:sp>
      <p:pic>
        <p:nvPicPr>
          <p:cNvPr id="18" name="Picture 17" descr="Mentimeter_OPT_DROGURI_C04.png"/>
          <p:cNvPicPr>
            <a:picLocks noChangeAspect="1"/>
          </p:cNvPicPr>
          <p:nvPr/>
        </p:nvPicPr>
        <p:blipFill>
          <a:blip r:embed="rId3"/>
          <a:stretch>
            <a:fillRect/>
          </a:stretch>
        </p:blipFill>
        <p:spPr>
          <a:xfrm>
            <a:off x="9137650" y="2514600"/>
            <a:ext cx="1841500" cy="1841500"/>
          </a:xfrm>
          <a:prstGeom prst="rect">
            <a:avLst/>
          </a:prstGeom>
        </p:spPr>
      </p:pic>
      <p:sp>
        <p:nvSpPr>
          <p:cNvPr id="19" name="TextBox 18"/>
          <p:cNvSpPr txBox="1"/>
          <p:nvPr/>
        </p:nvSpPr>
        <p:spPr>
          <a:xfrm>
            <a:off x="8549640" y="4394200"/>
            <a:ext cx="301752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Ședința 4 - Reducerea riscurilor și dependența care începe în cabinet</dc:title>
  <dc:subject>PptxGenJS Presentation</dc:subject>
  <dc:creator>Conf. Univ. Dr. Adrian Pana</dc:creator>
  <cp:lastModifiedBy>Conf. Univ. Dr. Adrian Pana</cp:lastModifiedBy>
  <cp:revision>1</cp:revision>
  <dcterms:created xsi:type="dcterms:W3CDTF">2026-10-17T10:53:26Z</dcterms:created>
  <dcterms:modified xsi:type="dcterms:W3CDTF">2026-10-17T10:53:26Z</dcterms:modified>
  <cp:keywords>sursa_amprenta=e396a1d927863d2f; proiectie</cp:keywords>
</cp:coreProperties>
</file>