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10" r:id="rId61"/>
    <p:sldId id="311" r:id="rId62"/>
    <p:sldId id="312" r:id="rId63"/>
    <p:sldId id="293" r:id="rId39"/>
    <p:sldId id="294" r:id="rId40"/>
    <p:sldId id="295" r:id="rId41"/>
    <p:sldId id="296" r:id="rId42"/>
    <p:sldId id="297" r:id="rId43"/>
    <p:sldId id="298" r:id="rId44"/>
    <p:sldId id="313" r:id="rId64"/>
    <p:sldId id="299" r:id="rId45"/>
    <p:sldId id="300" r:id="rId46"/>
    <p:sldId id="301" r:id="rId47"/>
    <p:sldId id="302" r:id="rId48"/>
    <p:sldId id="303" r:id="rId49"/>
    <p:sldId id="304" r:id="rId50"/>
    <p:sldId id="305" r:id="rId51"/>
    <p:sldId id="306" r:id="rId52"/>
    <p:sldId id="307" r:id="rId53"/>
    <p:sldId id="314" r:id="rId65"/>
    <p:sldId id="308" r:id="rId54"/>
    <p:sldId id="309" r:id="rId5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5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41.xml"/><Relationship Id="rId40" Type="http://schemas.openxmlformats.org/officeDocument/2006/relationships/slide" Target="slides/slide42.xml"/><Relationship Id="rId41" Type="http://schemas.openxmlformats.org/officeDocument/2006/relationships/slide" Target="slides/slide43.xml"/><Relationship Id="rId42" Type="http://schemas.openxmlformats.org/officeDocument/2006/relationships/slide" Target="slides/slide44.xml"/><Relationship Id="rId43" Type="http://schemas.openxmlformats.org/officeDocument/2006/relationships/slide" Target="slides/slide45.xml"/><Relationship Id="rId44" Type="http://schemas.openxmlformats.org/officeDocument/2006/relationships/slide" Target="slides/slide46.xml"/><Relationship Id="rId45" Type="http://schemas.openxmlformats.org/officeDocument/2006/relationships/slide" Target="slides/slide48.xml"/><Relationship Id="rId46" Type="http://schemas.openxmlformats.org/officeDocument/2006/relationships/slide" Target="slides/slide49.xml"/><Relationship Id="rId47" Type="http://schemas.openxmlformats.org/officeDocument/2006/relationships/slide" Target="slides/slide50.xml"/><Relationship Id="rId48" Type="http://schemas.openxmlformats.org/officeDocument/2006/relationships/slide" Target="slides/slide51.xml"/><Relationship Id="rId49" Type="http://schemas.openxmlformats.org/officeDocument/2006/relationships/slide" Target="slides/slide52.xml"/><Relationship Id="rId50" Type="http://schemas.openxmlformats.org/officeDocument/2006/relationships/slide" Target="slides/slide53.xml"/><Relationship Id="rId51" Type="http://schemas.openxmlformats.org/officeDocument/2006/relationships/slide" Target="slides/slide54.xml"/><Relationship Id="rId52" Type="http://schemas.openxmlformats.org/officeDocument/2006/relationships/slide" Target="slides/slide55.xml"/><Relationship Id="rId53" Type="http://schemas.openxmlformats.org/officeDocument/2006/relationships/slide" Target="slides/slide56.xml"/><Relationship Id="rId54" Type="http://schemas.openxmlformats.org/officeDocument/2006/relationships/slide" Target="slides/slide58.xml"/><Relationship Id="rId55" Type="http://schemas.openxmlformats.org/officeDocument/2006/relationships/slide" Target="slides/slide59.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 Id="rId61" Type="http://schemas.openxmlformats.org/officeDocument/2006/relationships/slide" Target="slides/slide38.xml"/><Relationship Id="rId62" Type="http://schemas.openxmlformats.org/officeDocument/2006/relationships/slide" Target="slides/slide39.xml"/><Relationship Id="rId63" Type="http://schemas.openxmlformats.org/officeDocument/2006/relationships/slide" Target="slides/slide40.xml"/><Relationship Id="rId64" Type="http://schemas.openxmlformats.org/officeDocument/2006/relationships/slide" Target="slides/slide47.xml"/><Relationship Id="rId65" Type="http://schemas.openxmlformats.org/officeDocument/2006/relationships/slide" Target="slides/slide5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De câte ori crește dopamina față de nivelul bazal</c:v>
                </c:pt>
              </c:strCache>
            </c:strRef>
          </c:tx>
          <c:spPr>
            <a:solidFill>
              <a:srgbClr val="B02532"/>
            </a:solidFill>
            <a:effectLst/>
          </c:spPr>
          <c:invertIfNegative val="0"/>
          <c:dLbls>
            <c:dLbl>
              <c:idx val="0"/>
              <c:tx>
                <c:rich>
                  <a:bodyPr/>
                  <a:lstStyle/>
                  <a:p>
                    <a:r>
                      <a:t>×10</a:t>
                    </a:r>
                  </a:p>
                </c:rich>
              </c:tx>
              <c:showLegendKey val="0"/>
              <c:showVal val="1"/>
              <c:showCatName val="0"/>
              <c:showSerName val="0"/>
              <c:showPercent val="0"/>
              <c:showBubbleSize val="0"/>
            </c:dLbl>
            <c:dLbl>
              <c:idx val="1"/>
              <c:tx>
                <c:rich>
                  <a:bodyPr/>
                  <a:lstStyle/>
                  <a:p>
                    <a:r>
                      <a:t>×3,5</a:t>
                    </a:r>
                  </a:p>
                </c:rich>
              </c:tx>
              <c:showLegendKey val="0"/>
              <c:showVal val="1"/>
              <c:showCatName val="0"/>
              <c:showSerName val="0"/>
              <c:showPercent val="0"/>
              <c:showBubbleSize val="0"/>
            </c:dLbl>
            <c:dLbl>
              <c:idx val="2"/>
              <c:tx>
                <c:rich>
                  <a:bodyPr/>
                  <a:lstStyle/>
                  <a:p>
                    <a:r>
                      <a:t>≈ ×2</a:t>
                    </a:r>
                  </a:p>
                </c:rich>
              </c:tx>
              <c:showLegendKey val="0"/>
              <c:showVal val="1"/>
              <c:showCatName val="0"/>
              <c:showSerName val="0"/>
              <c:showPercent val="0"/>
              <c:showBubbleSize val="0"/>
            </c:dLbl>
            <c:numFmt formatCode="[$-418]0&quot;%&quot;" sourceLinked="0"/>
            <c:spPr>
              <a:noFill/>
              <a:ln>
                <a:noFill/>
              </a:ln>
              <a:effectLst/>
            </c:spPr>
            <c:txPr>
              <a:bodyPr/>
              <a:lstStyle/>
              <a:p>
                <a:pPr>
                  <a:defRPr sz="1300" b="0" i="0" u="none" strike="noStrike">
                    <a:solidFill>
                      <a:srgbClr val="11121A"/>
                    </a:solidFill>
                    <a:latin typeface="Palatino Linotype"/>
                  </a:defRPr>
                </a:pPr>
                <a:endParaRPr lang="en-R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Amfetamină
1 mg/kg</c:v>
                </c:pt>
                <c:pt idx="1">
                  <c:v>Cocaină
5,0 mg/kg</c:v>
                </c:pt>
                <c:pt idx="2">
                  <c:v>Nicotină
0,6 mg/kg</c:v>
                </c:pt>
              </c:strCache>
            </c:strRef>
          </c:cat>
          <c:val>
            <c:numRef>
              <c:f>Sheet1!$B$2:$B$4</c:f>
              <c:numCache>
                <c:formatCode>General</c:formatCode>
                <c:ptCount val="3"/>
                <c:pt idx="0">
                  <c:v>10</c:v>
                </c:pt>
                <c:pt idx="1">
                  <c:v>3.5</c:v>
                </c:pt>
                <c:pt idx="2">
                  <c:v>2</c:v>
                </c:pt>
              </c:numCache>
            </c:numRef>
          </c:val>
          <c:extLst>
            <c:ext xmlns:c16="http://schemas.microsoft.com/office/drawing/2014/chart" uri="{C3380CC4-5D6E-409C-BE32-E72D297353CC}">
              <c16:uniqueId val="{00000000-387E-F54A-940D-FCB7006E2E9B}"/>
            </c:ext>
          </c:extLst>
        </c:ser>
        <c:dLbls>
          <c:showLegendKey val="0"/>
          <c:showVal val="1"/>
          <c:showCatName val="0"/>
          <c:showSerName val="0"/>
          <c:showPercent val="0"/>
          <c:showBubbleSize val="0"/>
        </c:dLbls>
        <c:gapWidth val="6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1121A"/>
                </a:solidFill>
                <a:latin typeface="Palatino Linotype"/>
              </a:defRPr>
            </a:pPr>
            <a:endParaRPr lang="en-US"/>
          </a:p>
        </c:txPr>
        <c:crossAx val="2094734552"/>
        <c:crosses val="autoZero"/>
        <c:auto val="1"/>
        <c:lblAlgn val="ctr"/>
        <c:lblOffset val="100"/>
        <c:noMultiLvlLbl val="1"/>
      </c:catAx>
      <c:valAx>
        <c:axId val="2094734552"/>
        <c:scaling>
          <c:orientation val="minMax"/>
          <c:max val="11.0"/>
          <c:min val="0.0"/>
        </c:scaling>
        <c:delete val="0"/>
        <c:axPos val="l"/>
        <c:majorGridlines>
          <c:spPr>
            <a:ln w="12700" cap="flat">
              <a:solidFill>
                <a:srgbClr val="DFDCD4"/>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85A64"/>
                </a:solidFill>
                <a:latin typeface="Palatino Linotype"/>
              </a:defRPr>
            </a:pPr>
            <a:endParaRPr lang="en-US"/>
          </a:p>
        </c:txPr>
        <c:crossAx val="2094734554"/>
        <c:crosses val="autoZero"/>
        <c:crossBetween val="between"/>
        <c:majorUnit val="2.0"/>
      </c:valAx>
      <c:spPr>
        <a:solidFill>
          <a:srgbClr val="F6F5F2"/>
        </a:solidFill>
        <a:ln>
          <a:noFill/>
        </a:ln>
        <a:effectLst/>
      </c:spPr>
    </c:plotArea>
    <c:plotVisOnly val="1"/>
    <c:dispBlanksAs val="span"/>
    <c:showDLblsOverMax val="1"/>
  </c:chart>
  <c:spPr>
    <a:solidFill>
      <a:srgbClr val="F6F5F2"/>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280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 se predă nicio doctrină. Aveți deja opinii despre droguri: vă cer să le suspendați pe durata cursului, nu să renunțați la ele.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 se administrează niciun instrument de screening, nici măcar anonim; lucrăm exclusiv pe viniete clinice fictive. Fișa primită la intrare are patru locuri unde puteți vorbi cu cineva.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Aceasta este harta celor două ore. Revin la ea la fiecare separator, ca să știți unde ne aflăm.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Partea aceasta nu conține niciun mecanism: cifrele despre militarii din Vietnam și cinci întrebări.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Votați fără să căutați nimic: contează estimarea voastră de acum. Nu comentăm rezultatele acum; revenim la ele pe parcursul ședinței și în Kahoot-ul final.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 Vietnam, aproape jumătate dintre militari au încercat narcotice, iar unul din cinci a raportat dependență de opiacee. În primul an după întoarcerea acasă, numai 5% dintre cei dependenți în Vietnam mai erau dependenți: consumul și dependența au scăzut, în esență, la nivelurile dinaintea plecării.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 răspund acum la această întrebare. Răspunsul se construiește pe parcursul celor două ore, iar votul îl reluăm în Sesiunea 7. Un răspuns provizoriu, pe care îl rafinăm în restul ședinței: o tulburare cu un substrat cerebral real, a cărei evoluție depinde de om, de substanță și de context (interpretare).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 vi se cere să mă credeți, vi se cere să verificați. De aici înainte, fiecare cifră are sursa pe același diapozitiv; dacă nu o vedeți, întrebați.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Cinci noțiuni, câte un minut fiecare. Nu facem statistică: învățăm ce facem cu un tabel atunci când îl citim.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Revenim la această regulă de fiecare dată când apare un interval pe ecran: un interval care include 1 nu dovedește absența efectului, doar nu o exclude.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Pentru azi, rețineți poziția valorii 1 față de interval; diferența tehnică dintre raportul șanselor și riscul relativ o lăsăm deoparte.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Veți revedea mărimea efectului într-un grafic despre stigmatizare; atunci îl veți putea citi singuri.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Dintre cele cinci noțiuni, aceasta contează cel mai mult: diferența dintre o fotografie și un film se aplică la tot restul cursului.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Ultima noțiune. De aici încolo, fiecare cifră are sursa afișată dedesubt; dacă nu o vedeți, întrebați.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 partea aceasta nu vorbim despre creier. Vorbim despre istoria unui concept: cum a ajuns dependența să fie descrisă ca boală.</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 aceeași zi, briefingul de presă al Casei Albe a fost susținut de John D. Ehrlichman, Egil Krogh Jr. și dr. Jerome Jaffe. Pe Ehrlichman îl reîntâlnim pe diapozitivul următor.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Primul dintre cele patru titluri pe care le citim critic în ședința de azi: prima dată în acest curs, dar nu ultima.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Cuvântul important este „prin urmare”. Ce premisă lipsește ca să treceți de la mecanism la politică?</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Exemplul ilustrează continuumul: formularea este impersonală, iar pragul este convențional.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Cele trei lucrări obligatorii sunt în bibliografia cursului. Observați că modelul, critica și replica au apărut, în mare parte, în aceleași reviste, la un an distanță.</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Ipoteza acestei părți, formulată de autorii studiului de microdializă, o verificăm la final: circuitul final este comun, calea de intrare nu este. Din confuzia dintre cele două provin mai multe dintre afirmațiile eronate de azi (interpretare).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Acesta este studiul citat pentru „drogurile cresc dopamina”. Ordinea amfetamină, cocaină, nicotină privește dozele unice din studiu, care nu sunt echivalente; o comparăm la final cu alte două ierarhii. Pentru nicotină, +100% înseamnă aproximativ de două ori nivelul bazal.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doilea titlu. Formularea „opioidele cresc dopamina” este falsă ca regulă generală: contează subtipul de receptor. La om, un agonist kappa a produs disforie, într-un studiu din 1986.</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După al doilea tabel vă întreb ce au în comun agoniștii opioizi μ și benzodiazepinele. Pentru fiecare clasă există și o sinteză recentă: Volkow, Michaelides și Baler, 2019.</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Alcoolul demontează orice model „un drog, un receptor”: dacă cineva vă spune că alcoolul acționează pe GABA, întrebați care dintre cele șapte ținte. Pentru benzodiazepine, datele sunt de la șoarece: dezinhibiția din aria tegmentală ventrală depinde de α1, dar recompensa cere și α2, posibil α3 (Engin, 2023), deci nu se separă de efectul anxiolitic pe subunități. Pentru fiecare clasă există și o sinteză recentă: Volkow, Michaelides și Baler, 2019.</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Aici neurobiologia devine relevantă clinic: veți prescrie amândouă clasele. Consecința o vedem pe diapozitivul următor. Pentru benzodiazepine, subunitatea α1 explică dezinhibiția din ATV, la șoarece, nu recompensa în întregime.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Firul „cine semnează” apare aici prima dată. Revine în Sesiunea 4, cu medicul care reînnoiește rețeta, în Sesiunea 6, cu medicul care refuză pacientul, și în Sesiunea 7, cu decidentul care semnează politica.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 sevrajul alcoolic, benzodiazepinele sunt tratamentul de primă linie. Antipsihoticele se pot adăuga când delirul nu este controlat, dar nu ca tratament unic, pentru că scad pragul convulsivant (ghidul ASAM, 2020). Avertismentul FDA: dependența fizică de benzodiazepine poate apărea chiar la administrarea conform prescripției, iar întreruperea bruscă sau reducerea prea rapidă a dozei poate produce reacții de sevraj, inclusiv convulsii, care pot pune viața în pericol. Doza se reduce treptat, după un plan individualizat și cu monitorizarea pacientului. Estimări de mortalitate pentru sevrajul la benzodiazepine nu am identificat: când lipsește cifra, spunem că lipsește.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Până acum am construit o poveste coerentă. Următoarele trei rezultate o pun la încercare.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Canabisul este drogul ilicit cel mai consumat în Europa. Dacă toate drogurile de abuz ar crește dopamina pe aceeași cale finală, ce ar trebui să vedem la om după THC? Studiile de imagistică arată un efect mic și inconstant; autorii din 2009 au sugerat că ar fi o proprietate potențial adictivă comună cu alte droguri.</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Înainte de rezultat, o întrebare: dacă THC deplasează raclopridul de câteva ori mai puțin decât alcoolul, ce ar trebui să însemne asta pentru probabilitatea de dependență?</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treilea titlu, cel mai important din punct de vedere metodologic: distincția dintre transversal și longitudinal se aplică la tot restul cursului. Reducerea disponibilității receptorilor D2 persistă luni după dezintoxicare și a fost observată și la rozătoare și la primate expuse repetat la droguri (Koob și Volkow, 2016): imaginea este reală; ce nu poate spune este ce a fost înainte de expunere.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Cel mai contraintuitiv rezultat al ședinței: cocaina nu a funcționat ca întăritor la animalele dominante. Același drog, aceeași specie, același laborator.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„Dopamina este molecula plăcerii” este una dintre cele mai răspândite simplificări ale neuroștiinței populare (interpretare). Șoarecii fără dopamină preferă în continuare zaharoza; ce fac mai puțin este să inițieze seriile de lins.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Până acum am vorbit despre mecanism. Urmează partea despre destin: cine devine dependent și cine se oprește. Cele două nu se suprapun.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Votați înainte de graficul următor. Discutăm variantele după cele trei ierarhii.</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Articolul nu raportează intervale de încredere pentru aceste probabilități cumulative; orice interval atașat lor ar fi inventat. Este exemplul cel mai clar din curs pentru întrebarea „ce nu conține sursa?”.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Aceleași două cifre, ca suprafață: un procent este o abstracțiune, o sută de pătrate nu este.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Probabil că pacienții voștri nu au auzit aceste date. Ele pot contrabalansa efectul secundar al modelului biogenetic, pe care îl vedeți peste câteva diapozitive (interpretare). Remisia înseamnă dispariția criteriilor, nu neapărat abstinența, iar mulți trec prin perioade de remisie și de recădere (Volkow și Blanco, 2023).</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Să revenim la vot: care explicație rezistă acum? În primul an de consum, ordinea urmează creșterea dopaminei; pe parcursul vieții, se inversează. Cu datele din această ședință, nicio axă nu le înlocuiește pe celelalte (interpretare).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patrulea și ultimul titlu al ședinței. Utilitatea scorului nu e în discuție; precizia lui aparentă, da (interpretare). Critica aparține lui Rolles și Measham (2011). Studiile ulterioare (Europa 2015, Australia 2019, Noua Zeelandă 2023) plasează tot alcoolul pe primul loc, dar limitele metodei rămân; între autorii studiului din Noua Zeelandă se află și Nutt.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 confundați cele două meta-analize ale lui Kvaale și ale colaboratorilor: dacă afirmați că explicația biologică crește pesimismul prognostic, citați meta-analiza din Clinical Psychology Review. O meta-analiză din 2018 (Loughman și Haslam) a găsit că explicațiile neuroștiințifice nu au redus blamarea și au crescut distanța socială dorită, periculozitatea percepută și pesimismul.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Articolele primare există, dar replicarea lui Petrie din 1996 nu a reprodus diferența. Colectarea diferită a datelor între grupuri poate introduce o eroare sistematică; datele despre consumul de apă, fără un tipar identic, oferă o anumită protecție.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Împărțim sala, pe rânduri, în patru zone. Vinieta apare pe ecran; nu se distribuie nimic tipărit. Mai întâi explic sarcina.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 primele șase minute nu răspund la întrebări de conținut: totul este pe ecran. La final se proiectează cele patru distribuții de răspunsuri, una lângă alta; nu comentăm până la încheierea tuturor lecturilor.</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Tabloul clinic era identic. Aplicate corect, criteriile dau același rezultat în toate zonele: șase criterii, tulburare severă. În zona C, regimul juridic depinde de proveniența medicamentului. Evaluarea consumatorului, de la articolul 19, se poate dispune numai când fapta intră sub incidența articolului 4.</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Între formele succesive ale legii nu s-a schimbat farmacologia substanțelor, ci decizia de politică penală (interpretare). Politica este subiectul următoarelor șase sesiuni.</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Reluăm pe scurt ce rămâne din aceste două ore; argumentele le-ați văzut deja.</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Trei reguli pe care le luați cu voi.</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Mesajul clinic nu depinde de subunitate: dependența fizică de benzodiazepine poate apărea chiar conform prescripției (FDA, 2020), iar ghidul din 2025 recomandă întreruperea treptată.</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Kahoot-ul nu are miză de notă. Sursa fiecărui item apare după răspuns. Ultimii cinci itemi verifică dacă ați reținut să întrebați de unde vine cifra.</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Dacă o cifră nu are sursă pe diapozitiv, întrebați. Registrul complet al surselor este în notele de curs de pe site-ul cursului. Evaluarea: policy brief de o pagină, 60%, și chestionar de 15 grile din cazurile din sală, 40%.</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Datele de consum provin din anchete: descriu consumul declarat, nu consumul măsurat. Iar tratamentul ajunge la o persoană din 12 cu tulburări de consum.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 adunăm aceste cifre: decesele atribuite, decesele directe și decesele prin supradoză sunt indicatori diferiți, calculați din surse diferite. Intervalul de 440 000–549 000 este cel raportat de UNODC pentru decesele din lume; intervalele IHME pentru România nu le reproducem.</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Valorile sunt declarate de respondenți, iar decesele provin numai de la instituțiile medico-legale care au raportat.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Comparați cu scorul „alcool 72”: aceeași ordine între alcool și droguri, altă metodă (interpretare).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 nu am putut verifica nu apare pe ecran ca cifră. Când lipsește cifra, spunem că lipsește. Lista completă este în notele de curs.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669280" cy="5669280"/>
          </a:xfrm>
          <a:prstGeom prst="ellipse">
            <a:avLst/>
          </a:prstGeom>
          <a:solidFill>
            <a:srgbClr val="19202E"/>
          </a:solidFill>
          <a:ln w="12700">
            <a:solidFill>
              <a:srgbClr val="333333"/>
            </a:solidFill>
            <a:prstDash val="solid"/>
          </a:ln>
        </p:spPr>
        <p:txBody>
          <a:bodyPr/>
          <a:lstStyle/>
          <a:p>
            <a:endParaRPr lang="ro-RO"/>
          </a:p>
        </p:txBody>
      </p:sp>
      <p:sp>
        <p:nvSpPr>
          <p:cNvPr id="3" name="Shape 1"/>
          <p:cNvSpPr/>
          <p:nvPr/>
        </p:nvSpPr>
        <p:spPr>
          <a:xfrm>
            <a:off x="10332720" y="3840480"/>
            <a:ext cx="3291840" cy="3291840"/>
          </a:xfrm>
          <a:prstGeom prst="ellipse">
            <a:avLst/>
          </a:prstGeom>
          <a:solidFill>
            <a:srgbClr val="1A1D2A"/>
          </a:solidFill>
          <a:ln w="12700">
            <a:solidFill>
              <a:srgbClr val="333333"/>
            </a:solidFill>
            <a:prstDash val="solid"/>
          </a:ln>
        </p:spPr>
        <p:txBody>
          <a:bodyPr/>
          <a:lstStyle/>
          <a:p>
            <a:endParaRPr lang="ro-RO"/>
          </a:p>
        </p:txBody>
      </p:sp>
      <p:sp>
        <p:nvSpPr>
          <p:cNvPr id="4" name="Shape 2"/>
          <p:cNvSpPr/>
          <p:nvPr/>
        </p:nvSpPr>
        <p:spPr>
          <a:xfrm>
            <a:off x="685800" y="777240"/>
            <a:ext cx="2286000" cy="310896"/>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5" name="Text 3"/>
          <p:cNvSpPr/>
          <p:nvPr/>
        </p:nvSpPr>
        <p:spPr>
          <a:xfrm>
            <a:off x="685800" y="777240"/>
            <a:ext cx="228600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SESIUNEA 1 / 7</a:t>
            </a:r>
            <a:endParaRPr lang="en-US" sz="1100" dirty="0"/>
          </a:p>
        </p:txBody>
      </p:sp>
      <p:sp>
        <p:nvSpPr>
          <p:cNvPr id="6" name="Text 4"/>
          <p:cNvSpPr/>
          <p:nvPr/>
        </p:nvSpPr>
        <p:spPr>
          <a:xfrm>
            <a:off x="685800" y="1298448"/>
            <a:ext cx="9601200" cy="868680"/>
          </a:xfrm>
          <a:prstGeom prst="rect">
            <a:avLst/>
          </a:prstGeom>
          <a:noFill/>
          <a:ln/>
        </p:spPr>
        <p:txBody>
          <a:bodyPr wrap="square" lIns="0" tIns="0" rIns="0" bIns="0" rtlCol="0" anchor="ctr"/>
          <a:lstStyle/>
          <a:p>
            <a:pPr marL="0" indent="0">
              <a:buNone/>
            </a:pPr>
            <a:r>
              <a:rPr lang="en-US" sz="5000" b="1" dirty="0">
                <a:solidFill>
                  <a:srgbClr val="FFFFFF"/>
                </a:solidFill>
                <a:latin typeface="Palatino Linotype" pitchFamily="34" charset="0"/>
                <a:ea typeface="Palatino Linotype" pitchFamily="34" charset="-122"/>
                <a:cs typeface="Palatino Linotype" pitchFamily="34" charset="-120"/>
              </a:rPr>
              <a:t>CREIERUL TĂU</a:t>
            </a:r>
            <a:endParaRPr lang="en-US" sz="5000" dirty="0"/>
          </a:p>
        </p:txBody>
      </p:sp>
      <p:sp>
        <p:nvSpPr>
          <p:cNvPr id="7" name="Text 5"/>
          <p:cNvSpPr/>
          <p:nvPr/>
        </p:nvSpPr>
        <p:spPr>
          <a:xfrm>
            <a:off x="685800" y="2103120"/>
            <a:ext cx="9601200" cy="868680"/>
          </a:xfrm>
          <a:prstGeom prst="rect">
            <a:avLst/>
          </a:prstGeom>
          <a:noFill/>
          <a:ln/>
        </p:spPr>
        <p:txBody>
          <a:bodyPr wrap="square" lIns="0" tIns="0" rIns="0" bIns="0" rtlCol="0" anchor="ctr"/>
          <a:lstStyle/>
          <a:p>
            <a:pPr marL="0" indent="0">
              <a:buNone/>
            </a:pPr>
            <a:r>
              <a:rPr lang="en-US" sz="5000" b="1" dirty="0">
                <a:solidFill>
                  <a:srgbClr val="FF4757"/>
                </a:solidFill>
                <a:latin typeface="Palatino Linotype" pitchFamily="34" charset="0"/>
                <a:ea typeface="Palatino Linotype" pitchFamily="34" charset="-122"/>
                <a:cs typeface="Palatino Linotype" pitchFamily="34" charset="-120"/>
              </a:rPr>
              <a:t>PE DROGURI</a:t>
            </a:r>
            <a:endParaRPr lang="en-US" sz="5000" dirty="0"/>
          </a:p>
        </p:txBody>
      </p:sp>
      <p:sp>
        <p:nvSpPr>
          <p:cNvPr id="8" name="Text 6"/>
          <p:cNvSpPr/>
          <p:nvPr/>
        </p:nvSpPr>
        <p:spPr>
          <a:xfrm>
            <a:off x="685800" y="3035808"/>
            <a:ext cx="9601200" cy="402336"/>
          </a:xfrm>
          <a:prstGeom prst="rect">
            <a:avLst/>
          </a:prstGeom>
          <a:noFill/>
          <a:ln/>
        </p:spPr>
        <p:txBody>
          <a:bodyPr wrap="square" lIns="0" tIns="0" rIns="0" bIns="0" rtlCol="0" anchor="ctr"/>
          <a:lstStyle/>
          <a:p>
            <a:pPr marL="0" indent="0">
              <a:buNone/>
            </a:pPr>
            <a:r>
              <a:rPr lang="en-US" sz="2000" dirty="0">
                <a:solidFill>
                  <a:srgbClr val="FFFFFF"/>
                </a:solidFill>
                <a:latin typeface="Palatino Linotype" pitchFamily="34" charset="0"/>
                <a:ea typeface="Palatino Linotype" pitchFamily="34" charset="-122"/>
                <a:cs typeface="Palatino Linotype" pitchFamily="34" charset="-120"/>
              </a:rPr>
              <a:t>Adicția — boală cerebrală sau eșec moral?</a:t>
            </a:r>
            <a:endParaRPr lang="en-US" sz="2000" dirty="0"/>
          </a:p>
        </p:txBody>
      </p:sp>
      <p:sp>
        <p:nvSpPr>
          <p:cNvPr id="9" name="Text 7"/>
          <p:cNvSpPr/>
          <p:nvPr/>
        </p:nvSpPr>
        <p:spPr>
          <a:xfrm>
            <a:off x="685800" y="3456432"/>
            <a:ext cx="9601200" cy="402336"/>
          </a:xfrm>
          <a:prstGeom prst="rect">
            <a:avLst/>
          </a:prstGeom>
          <a:noFill/>
          <a:ln/>
        </p:spPr>
        <p:txBody>
          <a:bodyPr wrap="square" lIns="0" tIns="0" rIns="0" bIns="0" rtlCol="0" anchor="ctr"/>
          <a:lstStyle/>
          <a:p>
            <a:pPr marL="0" indent="0">
              <a:buNone/>
            </a:pPr>
            <a:r>
              <a:rPr lang="en-US" sz="2000" dirty="0">
                <a:solidFill>
                  <a:srgbClr val="27D3BE"/>
                </a:solidFill>
                <a:latin typeface="Palatino Linotype" pitchFamily="34" charset="0"/>
                <a:ea typeface="Palatino Linotype" pitchFamily="34" charset="-122"/>
                <a:cs typeface="Palatino Linotype" pitchFamily="34" charset="-120"/>
              </a:rPr>
              <a:t>Neurobiologia comparată: șase uși, un singur circuit</a:t>
            </a:r>
            <a:endParaRPr lang="en-US" sz="2000" dirty="0"/>
          </a:p>
        </p:txBody>
      </p:sp>
      <p:sp>
        <p:nvSpPr>
          <p:cNvPr id="10" name="Shape 8"/>
          <p:cNvSpPr/>
          <p:nvPr/>
        </p:nvSpPr>
        <p:spPr>
          <a:xfrm>
            <a:off x="685800" y="4096512"/>
            <a:ext cx="1600200" cy="32004"/>
          </a:xfrm>
          <a:prstGeom prst="rect">
            <a:avLst/>
          </a:prstGeom>
          <a:solidFill>
            <a:srgbClr val="FFC24B"/>
          </a:solidFill>
          <a:ln w="12700">
            <a:solidFill>
              <a:srgbClr val="FFC24B"/>
            </a:solidFill>
            <a:prstDash val="solid"/>
          </a:ln>
        </p:spPr>
        <p:txBody>
          <a:bodyPr/>
          <a:lstStyle/>
          <a:p>
            <a:endParaRPr lang="ro-RO"/>
          </a:p>
        </p:txBody>
      </p:sp>
      <p:sp>
        <p:nvSpPr>
          <p:cNvPr id="11" name="Text 9"/>
          <p:cNvSpPr/>
          <p:nvPr/>
        </p:nvSpPr>
        <p:spPr>
          <a:xfrm>
            <a:off x="685800" y="4407408"/>
            <a:ext cx="9601200" cy="274320"/>
          </a:xfrm>
          <a:prstGeom prst="rect">
            <a:avLst/>
          </a:prstGeom>
          <a:noFill/>
          <a:ln/>
        </p:spPr>
        <p:txBody>
          <a:bodyPr wrap="square" lIns="0" tIns="0" rIns="0" bIns="0" rtlCol="0" anchor="ctr"/>
          <a:lstStyle/>
          <a:p>
            <a:pPr marL="0" indent="0">
              <a:buNone/>
            </a:pPr>
            <a:r>
              <a:rPr lang="en-US" sz="1150" b="1" dirty="0">
                <a:solidFill>
                  <a:srgbClr val="FFFFFF"/>
                </a:solidFill>
                <a:latin typeface="Palatino Linotype" pitchFamily="34" charset="0"/>
                <a:ea typeface="Palatino Linotype" pitchFamily="34" charset="-122"/>
                <a:cs typeface="Palatino Linotype" pitchFamily="34" charset="-120"/>
              </a:rPr>
              <a:t>Creierul tău pe droguri: Neuroștiința adicției și 50 de ani de politici eșuate</a:t>
            </a:r>
            <a:endParaRPr lang="en-US" sz="1150" dirty="0"/>
          </a:p>
        </p:txBody>
      </p:sp>
      <p:sp>
        <p:nvSpPr>
          <p:cNvPr id="12" name="Text 10"/>
          <p:cNvSpPr/>
          <p:nvPr/>
        </p:nvSpPr>
        <p:spPr>
          <a:xfrm>
            <a:off x="685800" y="4700016"/>
            <a:ext cx="9601200" cy="274320"/>
          </a:xfrm>
          <a:prstGeom prst="rect">
            <a:avLst/>
          </a:prstGeom>
          <a:noFill/>
          <a:ln/>
        </p:spPr>
        <p:txBody>
          <a:bodyPr wrap="square" lIns="0" tIns="0" rIns="0" bIns="0" rtlCol="0" anchor="ctr"/>
          <a:lstStyle/>
          <a:p>
            <a:pPr marL="0" indent="0">
              <a:buNone/>
            </a:pPr>
            <a:r>
              <a:rPr lang="en-US" sz="1150" dirty="0">
                <a:solidFill>
                  <a:srgbClr val="959BB0"/>
                </a:solidFill>
                <a:latin typeface="Palatino Linotype" pitchFamily="34" charset="0"/>
                <a:ea typeface="Palatino Linotype" pitchFamily="34" charset="-122"/>
                <a:cs typeface="Palatino Linotype" pitchFamily="34" charset="-120"/>
              </a:rPr>
              <a:t>Conf. Univ. Dr. Adrian Pană · Disciplina Sănătate Publică și Management</a:t>
            </a:r>
            <a:endParaRPr lang="en-US" sz="1150" dirty="0"/>
          </a:p>
        </p:txBody>
      </p:sp>
      <p:sp>
        <p:nvSpPr>
          <p:cNvPr id="13" name="Text 11"/>
          <p:cNvSpPr/>
          <p:nvPr/>
        </p:nvSpPr>
        <p:spPr>
          <a:xfrm>
            <a:off x="685800" y="4992624"/>
            <a:ext cx="9601200" cy="274320"/>
          </a:xfrm>
          <a:prstGeom prst="rect">
            <a:avLst/>
          </a:prstGeom>
          <a:noFill/>
          <a:ln/>
        </p:spPr>
        <p:txBody>
          <a:bodyPr wrap="square" lIns="0" tIns="0" rIns="0" bIns="0" rtlCol="0" anchor="ctr"/>
          <a:lstStyle/>
          <a:p>
            <a:pPr marL="0" indent="0">
              <a:buNone/>
            </a:pPr>
            <a:r>
              <a:rPr lang="en-US" sz="1150" dirty="0">
                <a:solidFill>
                  <a:srgbClr val="959BB0"/>
                </a:solidFill>
                <a:latin typeface="Palatino Linotype" pitchFamily="34" charset="0"/>
                <a:ea typeface="Palatino Linotype" pitchFamily="34" charset="-122"/>
                <a:cs typeface="Palatino Linotype" pitchFamily="34" charset="-120"/>
              </a:rPr>
              <a:t>UMF „Iuliu Hațieganu” Cluj-Napoca · An III, Sem. I · ședința din 2 octombrie 2026 · 2 ore · 2 ECTS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ÎNAINTE SĂ ÎNCEPEM</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Ce este și ce nu este acest curs?</a:t>
            </a:r>
            <a:endParaRPr lang="en-US" sz="3000" dirty="0"/>
          </a:p>
        </p:txBody>
      </p:sp>
      <p:sp>
        <p:nvSpPr>
          <p:cNvPr id="4" name="Shape 2"/>
          <p:cNvSpPr/>
          <p:nvPr/>
        </p:nvSpPr>
        <p:spPr>
          <a:xfrm>
            <a:off x="594360" y="1783080"/>
            <a:ext cx="5440680" cy="3977640"/>
          </a:xfrm>
          <a:prstGeom prst="roundRect">
            <a:avLst>
              <a:gd name="adj" fmla="val 2069"/>
            </a:avLst>
          </a:prstGeom>
          <a:solidFill>
            <a:srgbClr val="ECEAE4"/>
          </a:solidFill>
          <a:ln w="12700">
            <a:solidFill>
              <a:srgbClr val="ECEAE4"/>
            </a:solidFill>
            <a:prstDash val="solid"/>
          </a:ln>
        </p:spPr>
        <p:txBody>
          <a:bodyPr/>
          <a:lstStyle/>
          <a:p>
            <a:endParaRPr lang="ro-RO"/>
          </a:p>
        </p:txBody>
      </p:sp>
      <p:sp>
        <p:nvSpPr>
          <p:cNvPr id="5" name="Shape 3"/>
          <p:cNvSpPr/>
          <p:nvPr/>
        </p:nvSpPr>
        <p:spPr>
          <a:xfrm>
            <a:off x="6309360" y="1783080"/>
            <a:ext cx="5257800" cy="3977640"/>
          </a:xfrm>
          <a:prstGeom prst="roundRect">
            <a:avLst>
              <a:gd name="adj" fmla="val 2069"/>
            </a:avLst>
          </a:prstGeom>
          <a:solidFill>
            <a:srgbClr val="11121A"/>
          </a:solidFill>
          <a:ln w="12700">
            <a:solidFill>
              <a:srgbClr val="11121A"/>
            </a:solidFill>
            <a:prstDash val="solid"/>
          </a:ln>
        </p:spPr>
        <p:txBody>
          <a:bodyPr/>
          <a:lstStyle/>
          <a:p>
            <a:endParaRPr lang="ro-RO"/>
          </a:p>
        </p:txBody>
      </p:sp>
      <p:sp>
        <p:nvSpPr>
          <p:cNvPr id="6" name="Text 4"/>
          <p:cNvSpPr/>
          <p:nvPr/>
        </p:nvSpPr>
        <p:spPr>
          <a:xfrm>
            <a:off x="914400" y="1993392"/>
            <a:ext cx="4754880" cy="384048"/>
          </a:xfrm>
          <a:prstGeom prst="rect">
            <a:avLst/>
          </a:prstGeom>
          <a:noFill/>
          <a:ln/>
        </p:spPr>
        <p:txBody>
          <a:bodyPr wrap="square" lIns="0" tIns="0" rIns="0" bIns="0" rtlCol="0" anchor="ctr"/>
          <a:lstStyle/>
          <a:p>
            <a:pPr marL="0" indent="0">
              <a:buNone/>
            </a:pPr>
            <a:r>
              <a:rPr lang="en-US" sz="2100" b="1" dirty="0">
                <a:solidFill>
                  <a:srgbClr val="B02532"/>
                </a:solidFill>
                <a:latin typeface="Palatino Linotype" pitchFamily="34" charset="0"/>
                <a:ea typeface="Palatino Linotype" pitchFamily="34" charset="-122"/>
                <a:cs typeface="Palatino Linotype" pitchFamily="34" charset="-120"/>
              </a:rPr>
              <a:t>NU este</a:t>
            </a:r>
            <a:endParaRPr lang="en-US" sz="2100" dirty="0"/>
          </a:p>
        </p:txBody>
      </p:sp>
      <p:sp>
        <p:nvSpPr>
          <p:cNvPr id="7" name="Text 5"/>
          <p:cNvSpPr/>
          <p:nvPr/>
        </p:nvSpPr>
        <p:spPr>
          <a:xfrm>
            <a:off x="6629400" y="1993392"/>
            <a:ext cx="4572000" cy="384048"/>
          </a:xfrm>
          <a:prstGeom prst="rect">
            <a:avLst/>
          </a:prstGeom>
          <a:noFill/>
          <a:ln/>
        </p:spPr>
        <p:txBody>
          <a:bodyPr wrap="square" lIns="0" tIns="0" rIns="0" bIns="0" rtlCol="0" anchor="ctr"/>
          <a:lstStyle/>
          <a:p>
            <a:pPr marL="0" indent="0">
              <a:buNone/>
            </a:pPr>
            <a:r>
              <a:rPr lang="en-US" sz="2100" b="1" dirty="0">
                <a:solidFill>
                  <a:srgbClr val="27D3BE"/>
                </a:solidFill>
                <a:latin typeface="Palatino Linotype" pitchFamily="34" charset="0"/>
                <a:ea typeface="Palatino Linotype" pitchFamily="34" charset="-122"/>
                <a:cs typeface="Palatino Linotype" pitchFamily="34" charset="-120"/>
              </a:rPr>
              <a:t>ESTE</a:t>
            </a:r>
            <a:endParaRPr lang="en-US" sz="2100" dirty="0"/>
          </a:p>
        </p:txBody>
      </p:sp>
      <p:sp>
        <p:nvSpPr>
          <p:cNvPr id="8" name="Shape 6"/>
          <p:cNvSpPr/>
          <p:nvPr/>
        </p:nvSpPr>
        <p:spPr>
          <a:xfrm>
            <a:off x="914400" y="2542032"/>
            <a:ext cx="365760" cy="365760"/>
          </a:xfrm>
          <a:prstGeom prst="ellipse">
            <a:avLst/>
          </a:prstGeom>
          <a:solidFill>
            <a:srgbClr val="FF4757"/>
          </a:solidFill>
          <a:ln w="12700">
            <a:solidFill>
              <a:srgbClr val="FF4757"/>
            </a:solidFill>
            <a:prstDash val="solid"/>
          </a:ln>
        </p:spPr>
        <p:txBody>
          <a:bodyPr/>
          <a:lstStyle/>
          <a:p>
            <a:endParaRPr lang="ro-RO"/>
          </a:p>
        </p:txBody>
      </p:sp>
      <p:sp>
        <p:nvSpPr>
          <p:cNvPr id="9" name="Text 7"/>
          <p:cNvSpPr/>
          <p:nvPr/>
        </p:nvSpPr>
        <p:spPr>
          <a:xfrm>
            <a:off x="914400" y="25420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a:t>
            </a:r>
            <a:endParaRPr lang="en-US" sz="1300" dirty="0"/>
          </a:p>
        </p:txBody>
      </p:sp>
      <p:sp>
        <p:nvSpPr>
          <p:cNvPr id="10" name="Text 8"/>
          <p:cNvSpPr/>
          <p:nvPr/>
        </p:nvSpPr>
        <p:spPr>
          <a:xfrm>
            <a:off x="1417320" y="2514600"/>
            <a:ext cx="4343400" cy="384048"/>
          </a:xfrm>
          <a:prstGeom prst="rect">
            <a:avLst/>
          </a:prstGeom>
          <a:noFill/>
          <a:ln/>
        </p:spPr>
        <p:txBody>
          <a:bodyPr wrap="square" lIns="0" tIns="0" rIns="0" bIns="0" rtlCol="0" anchor="ctr"/>
          <a:lstStyle/>
          <a:p>
            <a:pPr marL="0" indent="0">
              <a:buNone/>
            </a:pPr>
            <a:r>
              <a:rPr lang="en-US" sz="1450" b="1" dirty="0">
                <a:solidFill>
                  <a:srgbClr val="11121A"/>
                </a:solidFill>
                <a:latin typeface="Palatino Linotype" pitchFamily="34" charset="0"/>
                <a:ea typeface="Palatino Linotype" pitchFamily="34" charset="-122"/>
                <a:cs typeface="Palatino Linotype" pitchFamily="34" charset="-120"/>
              </a:rPr>
              <a:t>O oră de educație antidrog</a:t>
            </a:r>
            <a:endParaRPr lang="en-US" sz="1450" dirty="0"/>
          </a:p>
        </p:txBody>
      </p:sp>
      <p:sp>
        <p:nvSpPr>
          <p:cNvPr id="11" name="Text 9"/>
          <p:cNvSpPr/>
          <p:nvPr/>
        </p:nvSpPr>
        <p:spPr>
          <a:xfrm>
            <a:off x="1417320" y="2926080"/>
            <a:ext cx="4343400" cy="548640"/>
          </a:xfrm>
          <a:prstGeom prst="rect">
            <a:avLst/>
          </a:prstGeom>
          <a:noFill/>
          <a:ln/>
        </p:spPr>
        <p:txBody>
          <a:bodyPr wrap="square" lIns="0" tIns="0" rIns="0" bIns="0" rtlCol="0" anchor="t"/>
          <a:lstStyle/>
          <a:p>
            <a:pPr marL="0" indent="0">
              <a:lnSpc>
                <a:spcPts val="1700"/>
              </a:lnSpc>
              <a:buNone/>
            </a:pPr>
            <a:r>
              <a:rPr lang="en-US" sz="1200" dirty="0">
                <a:solidFill>
                  <a:srgbClr val="585A64"/>
                </a:solidFill>
                <a:latin typeface="Palatino Linotype" pitchFamily="34" charset="0"/>
                <a:ea typeface="Palatino Linotype" pitchFamily="34" charset="-122"/>
                <a:cs typeface="Palatino Linotype" pitchFamily="34" charset="-120"/>
              </a:rPr>
              <a:t>Nu veți primi instrucțiuni despre cum să trăiți.</a:t>
            </a:r>
            <a:endParaRPr lang="en-US" sz="1200" dirty="0"/>
          </a:p>
        </p:txBody>
      </p:sp>
      <p:sp>
        <p:nvSpPr>
          <p:cNvPr id="12" name="Shape 10"/>
          <p:cNvSpPr/>
          <p:nvPr/>
        </p:nvSpPr>
        <p:spPr>
          <a:xfrm>
            <a:off x="914400" y="3593592"/>
            <a:ext cx="365760" cy="365760"/>
          </a:xfrm>
          <a:prstGeom prst="ellipse">
            <a:avLst/>
          </a:prstGeom>
          <a:solidFill>
            <a:srgbClr val="FF4757"/>
          </a:solidFill>
          <a:ln w="12700">
            <a:solidFill>
              <a:srgbClr val="FF4757"/>
            </a:solidFill>
            <a:prstDash val="solid"/>
          </a:ln>
        </p:spPr>
        <p:txBody>
          <a:bodyPr/>
          <a:lstStyle/>
          <a:p>
            <a:endParaRPr lang="ro-RO"/>
          </a:p>
        </p:txBody>
      </p:sp>
      <p:sp>
        <p:nvSpPr>
          <p:cNvPr id="13" name="Text 11"/>
          <p:cNvSpPr/>
          <p:nvPr/>
        </p:nvSpPr>
        <p:spPr>
          <a:xfrm>
            <a:off x="914400" y="359359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a:t>
            </a:r>
            <a:endParaRPr lang="en-US" sz="1300" dirty="0"/>
          </a:p>
        </p:txBody>
      </p:sp>
      <p:sp>
        <p:nvSpPr>
          <p:cNvPr id="14" name="Text 12"/>
          <p:cNvSpPr/>
          <p:nvPr/>
        </p:nvSpPr>
        <p:spPr>
          <a:xfrm>
            <a:off x="1417320" y="3566160"/>
            <a:ext cx="4343400" cy="384048"/>
          </a:xfrm>
          <a:prstGeom prst="rect">
            <a:avLst/>
          </a:prstGeom>
          <a:noFill/>
          <a:ln/>
        </p:spPr>
        <p:txBody>
          <a:bodyPr wrap="square" lIns="0" tIns="0" rIns="0" bIns="0" rtlCol="0" anchor="ctr"/>
          <a:lstStyle/>
          <a:p>
            <a:pPr marL="0" indent="0">
              <a:buNone/>
            </a:pPr>
            <a:r>
              <a:rPr lang="en-US" sz="1450" b="1" dirty="0">
                <a:solidFill>
                  <a:srgbClr val="11121A"/>
                </a:solidFill>
                <a:latin typeface="Palatino Linotype" pitchFamily="34" charset="0"/>
                <a:ea typeface="Palatino Linotype" pitchFamily="34" charset="-122"/>
                <a:cs typeface="Palatino Linotype" pitchFamily="34" charset="-120"/>
              </a:rPr>
              <a:t>O pledoarie pentru sau împotriva legalizării</a:t>
            </a:r>
            <a:endParaRPr lang="en-US" sz="1450" dirty="0"/>
          </a:p>
        </p:txBody>
      </p:sp>
      <p:sp>
        <p:nvSpPr>
          <p:cNvPr id="15" name="Text 13"/>
          <p:cNvSpPr/>
          <p:nvPr/>
        </p:nvSpPr>
        <p:spPr>
          <a:xfrm>
            <a:off x="1417320" y="3977640"/>
            <a:ext cx="4343400" cy="548640"/>
          </a:xfrm>
          <a:prstGeom prst="rect">
            <a:avLst/>
          </a:prstGeom>
          <a:noFill/>
          <a:ln/>
        </p:spPr>
        <p:txBody>
          <a:bodyPr wrap="square" lIns="0" tIns="0" rIns="0" bIns="0" rtlCol="0" anchor="t"/>
          <a:lstStyle/>
          <a:p>
            <a:pPr marL="0" indent="0">
              <a:lnSpc>
                <a:spcPts val="1700"/>
              </a:lnSpc>
              <a:buNone/>
            </a:pPr>
            <a:r>
              <a:rPr lang="en-US" sz="1200" dirty="0">
                <a:solidFill>
                  <a:srgbClr val="585A64"/>
                </a:solidFill>
                <a:latin typeface="Palatino Linotype" pitchFamily="34" charset="0"/>
                <a:ea typeface="Palatino Linotype" pitchFamily="34" charset="-122"/>
                <a:cs typeface="Palatino Linotype" pitchFamily="34" charset="-120"/>
              </a:rPr>
              <a:t>Nu se predă nicio doctrină. Dezbaterea vine în Sesiunea 3.</a:t>
            </a:r>
            <a:endParaRPr lang="en-US" sz="1200" dirty="0"/>
          </a:p>
        </p:txBody>
      </p:sp>
      <p:sp>
        <p:nvSpPr>
          <p:cNvPr id="16" name="Shape 14"/>
          <p:cNvSpPr/>
          <p:nvPr/>
        </p:nvSpPr>
        <p:spPr>
          <a:xfrm>
            <a:off x="914400" y="4645152"/>
            <a:ext cx="365760" cy="365760"/>
          </a:xfrm>
          <a:prstGeom prst="ellipse">
            <a:avLst/>
          </a:prstGeom>
          <a:solidFill>
            <a:srgbClr val="FF4757"/>
          </a:solidFill>
          <a:ln w="12700">
            <a:solidFill>
              <a:srgbClr val="FF4757"/>
            </a:solidFill>
            <a:prstDash val="solid"/>
          </a:ln>
        </p:spPr>
        <p:txBody>
          <a:bodyPr/>
          <a:lstStyle/>
          <a:p>
            <a:endParaRPr lang="ro-RO"/>
          </a:p>
        </p:txBody>
      </p:sp>
      <p:sp>
        <p:nvSpPr>
          <p:cNvPr id="17" name="Text 15"/>
          <p:cNvSpPr/>
          <p:nvPr/>
        </p:nvSpPr>
        <p:spPr>
          <a:xfrm>
            <a:off x="914400" y="46451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a:t>
            </a:r>
            <a:endParaRPr lang="en-US" sz="1300" dirty="0"/>
          </a:p>
        </p:txBody>
      </p:sp>
      <p:sp>
        <p:nvSpPr>
          <p:cNvPr id="18" name="Text 16"/>
          <p:cNvSpPr/>
          <p:nvPr/>
        </p:nvSpPr>
        <p:spPr>
          <a:xfrm>
            <a:off x="1417320" y="4617720"/>
            <a:ext cx="4343400" cy="384048"/>
          </a:xfrm>
          <a:prstGeom prst="rect">
            <a:avLst/>
          </a:prstGeom>
          <a:noFill/>
          <a:ln/>
        </p:spPr>
        <p:txBody>
          <a:bodyPr wrap="square" lIns="0" tIns="0" rIns="0" bIns="0" rtlCol="0" anchor="ctr"/>
          <a:lstStyle/>
          <a:p>
            <a:pPr marL="0" indent="0">
              <a:buNone/>
            </a:pPr>
            <a:r>
              <a:rPr lang="en-US" sz="1450" b="1" dirty="0">
                <a:solidFill>
                  <a:srgbClr val="11121A"/>
                </a:solidFill>
                <a:latin typeface="Palatino Linotype" pitchFamily="34" charset="0"/>
                <a:ea typeface="Palatino Linotype" pitchFamily="34" charset="-122"/>
                <a:cs typeface="Palatino Linotype" pitchFamily="34" charset="-120"/>
              </a:rPr>
              <a:t>O listă de mecanisme de memorat</a:t>
            </a:r>
            <a:endParaRPr lang="en-US" sz="1450" dirty="0"/>
          </a:p>
        </p:txBody>
      </p:sp>
      <p:sp>
        <p:nvSpPr>
          <p:cNvPr id="19" name="Text 17"/>
          <p:cNvSpPr/>
          <p:nvPr/>
        </p:nvSpPr>
        <p:spPr>
          <a:xfrm>
            <a:off x="1417320" y="5029200"/>
            <a:ext cx="4343400" cy="548640"/>
          </a:xfrm>
          <a:prstGeom prst="rect">
            <a:avLst/>
          </a:prstGeom>
          <a:noFill/>
          <a:ln/>
        </p:spPr>
        <p:txBody>
          <a:bodyPr wrap="square" lIns="0" tIns="0" rIns="0" bIns="0" rtlCol="0" anchor="t"/>
          <a:lstStyle/>
          <a:p>
            <a:pPr marL="0" indent="0">
              <a:lnSpc>
                <a:spcPts val="1700"/>
              </a:lnSpc>
              <a:buNone/>
            </a:pPr>
            <a:r>
              <a:rPr lang="en-US" sz="1200" dirty="0">
                <a:solidFill>
                  <a:srgbClr val="585A64"/>
                </a:solidFill>
                <a:latin typeface="Palatino Linotype" pitchFamily="34" charset="0"/>
                <a:ea typeface="Palatino Linotype" pitchFamily="34" charset="-122"/>
                <a:cs typeface="Palatino Linotype" pitchFamily="34" charset="-120"/>
              </a:rPr>
              <a:t>Mecanismele sunt exemple. Raționamentul este materia.</a:t>
            </a:r>
            <a:endParaRPr lang="en-US" sz="1200" dirty="0"/>
          </a:p>
        </p:txBody>
      </p:sp>
      <p:sp>
        <p:nvSpPr>
          <p:cNvPr id="20" name="Shape 18"/>
          <p:cNvSpPr/>
          <p:nvPr/>
        </p:nvSpPr>
        <p:spPr>
          <a:xfrm>
            <a:off x="6629400" y="2542032"/>
            <a:ext cx="365760" cy="365760"/>
          </a:xfrm>
          <a:prstGeom prst="ellipse">
            <a:avLst/>
          </a:prstGeom>
          <a:solidFill>
            <a:srgbClr val="27D3BE"/>
          </a:solidFill>
          <a:ln w="12700">
            <a:solidFill>
              <a:srgbClr val="27D3BE"/>
            </a:solidFill>
            <a:prstDash val="solid"/>
          </a:ln>
        </p:spPr>
        <p:txBody>
          <a:bodyPr/>
          <a:lstStyle/>
          <a:p>
            <a:endParaRPr lang="ro-RO"/>
          </a:p>
        </p:txBody>
      </p:sp>
      <p:sp>
        <p:nvSpPr>
          <p:cNvPr id="21" name="Text 19"/>
          <p:cNvSpPr/>
          <p:nvPr/>
        </p:nvSpPr>
        <p:spPr>
          <a:xfrm>
            <a:off x="6629400" y="2542032"/>
            <a:ext cx="365760" cy="365760"/>
          </a:xfrm>
          <a:prstGeom prst="rect">
            <a:avLst/>
          </a:prstGeom>
          <a:noFill/>
          <a:ln/>
        </p:spPr>
        <p:txBody>
          <a:bodyPr wrap="square" lIns="0" tIns="0" rIns="0" bIns="0" rtlCol="0" anchor="ctr"/>
          <a:lstStyle/>
          <a:p>
            <a:pPr marL="0" indent="0" algn="ctr">
              <a:buNone/>
            </a:pPr>
            <a:r>
              <a:rPr lang="en-US" sz="1300" b="1" dirty="0">
                <a:solidFill>
                  <a:srgbClr val="073B34"/>
                </a:solidFill>
                <a:latin typeface="Palatino Linotype" pitchFamily="34" charset="0"/>
                <a:ea typeface="Palatino Linotype" pitchFamily="34" charset="-122"/>
                <a:cs typeface="Palatino Linotype" pitchFamily="34" charset="-120"/>
              </a:rPr>
              <a:t>✓</a:t>
            </a:r>
            <a:endParaRPr lang="en-US" sz="1300" dirty="0"/>
          </a:p>
        </p:txBody>
      </p:sp>
      <p:sp>
        <p:nvSpPr>
          <p:cNvPr id="22" name="Text 20"/>
          <p:cNvSpPr/>
          <p:nvPr/>
        </p:nvSpPr>
        <p:spPr>
          <a:xfrm>
            <a:off x="7132320" y="2514600"/>
            <a:ext cx="4160520" cy="384048"/>
          </a:xfrm>
          <a:prstGeom prst="rect">
            <a:avLst/>
          </a:prstGeom>
          <a:noFill/>
          <a:ln/>
        </p:spPr>
        <p:txBody>
          <a:bodyPr wrap="square" lIns="0" tIns="0" rIns="0" bIns="0" rtlCol="0" anchor="ctr"/>
          <a:lstStyle/>
          <a:p>
            <a:pPr marL="0" indent="0">
              <a:buNone/>
            </a:pPr>
            <a:r>
              <a:rPr lang="en-US" sz="1450" b="1" dirty="0">
                <a:solidFill>
                  <a:srgbClr val="FFFFFF"/>
                </a:solidFill>
                <a:latin typeface="Palatino Linotype" pitchFamily="34" charset="0"/>
                <a:ea typeface="Palatino Linotype" pitchFamily="34" charset="-122"/>
                <a:cs typeface="Palatino Linotype" pitchFamily="34" charset="-120"/>
              </a:rPr>
              <a:t>Un antrenament de citit cifre</a:t>
            </a:r>
            <a:endParaRPr lang="en-US" sz="1450" dirty="0"/>
          </a:p>
        </p:txBody>
      </p:sp>
      <p:sp>
        <p:nvSpPr>
          <p:cNvPr id="23" name="Text 21"/>
          <p:cNvSpPr/>
          <p:nvPr/>
        </p:nvSpPr>
        <p:spPr>
          <a:xfrm>
            <a:off x="7132320" y="2926080"/>
            <a:ext cx="4160520" cy="548640"/>
          </a:xfrm>
          <a:prstGeom prst="rect">
            <a:avLst/>
          </a:prstGeom>
          <a:noFill/>
          <a:ln/>
        </p:spPr>
        <p:txBody>
          <a:bodyPr wrap="square" lIns="0" tIns="0" rIns="0" bIns="0" rtlCol="0" anchor="t"/>
          <a:lstStyle/>
          <a:p>
            <a:pPr marL="0" indent="0">
              <a:lnSpc>
                <a:spcPts val="1700"/>
              </a:lnSpc>
              <a:buNone/>
            </a:pPr>
            <a:r>
              <a:rPr lang="en-US" sz="1200" dirty="0">
                <a:solidFill>
                  <a:srgbClr val="959BB0"/>
                </a:solidFill>
                <a:latin typeface="Palatino Linotype" pitchFamily="34" charset="0"/>
                <a:ea typeface="Palatino Linotype" pitchFamily="34" charset="-122"/>
                <a:cs typeface="Palatino Linotype" pitchFamily="34" charset="-120"/>
              </a:rPr>
              <a:t>Veți învăța să distingeți o dovadă de o afirmație foarte citată.</a:t>
            </a:r>
            <a:endParaRPr lang="en-US" sz="1200" dirty="0"/>
          </a:p>
        </p:txBody>
      </p:sp>
      <p:sp>
        <p:nvSpPr>
          <p:cNvPr id="24" name="Shape 22"/>
          <p:cNvSpPr/>
          <p:nvPr/>
        </p:nvSpPr>
        <p:spPr>
          <a:xfrm>
            <a:off x="6629400" y="3593592"/>
            <a:ext cx="365760" cy="365760"/>
          </a:xfrm>
          <a:prstGeom prst="ellipse">
            <a:avLst/>
          </a:prstGeom>
          <a:solidFill>
            <a:srgbClr val="27D3BE"/>
          </a:solidFill>
          <a:ln w="12700">
            <a:solidFill>
              <a:srgbClr val="27D3BE"/>
            </a:solidFill>
            <a:prstDash val="solid"/>
          </a:ln>
        </p:spPr>
        <p:txBody>
          <a:bodyPr/>
          <a:lstStyle/>
          <a:p>
            <a:endParaRPr lang="ro-RO"/>
          </a:p>
        </p:txBody>
      </p:sp>
      <p:sp>
        <p:nvSpPr>
          <p:cNvPr id="25" name="Text 23"/>
          <p:cNvSpPr/>
          <p:nvPr/>
        </p:nvSpPr>
        <p:spPr>
          <a:xfrm>
            <a:off x="6629400" y="3593592"/>
            <a:ext cx="365760" cy="365760"/>
          </a:xfrm>
          <a:prstGeom prst="rect">
            <a:avLst/>
          </a:prstGeom>
          <a:noFill/>
          <a:ln/>
        </p:spPr>
        <p:txBody>
          <a:bodyPr wrap="square" lIns="0" tIns="0" rIns="0" bIns="0" rtlCol="0" anchor="ctr"/>
          <a:lstStyle/>
          <a:p>
            <a:pPr marL="0" indent="0" algn="ctr">
              <a:buNone/>
            </a:pPr>
            <a:r>
              <a:rPr lang="en-US" sz="1300" b="1" dirty="0">
                <a:solidFill>
                  <a:srgbClr val="073B34"/>
                </a:solidFill>
                <a:latin typeface="Palatino Linotype" pitchFamily="34" charset="0"/>
                <a:ea typeface="Palatino Linotype" pitchFamily="34" charset="-122"/>
                <a:cs typeface="Palatino Linotype" pitchFamily="34" charset="-120"/>
              </a:rPr>
              <a:t>✓</a:t>
            </a:r>
            <a:endParaRPr lang="en-US" sz="1300" dirty="0"/>
          </a:p>
        </p:txBody>
      </p:sp>
      <p:sp>
        <p:nvSpPr>
          <p:cNvPr id="26" name="Text 24"/>
          <p:cNvSpPr/>
          <p:nvPr/>
        </p:nvSpPr>
        <p:spPr>
          <a:xfrm>
            <a:off x="7132320" y="3566160"/>
            <a:ext cx="4160520" cy="384048"/>
          </a:xfrm>
          <a:prstGeom prst="rect">
            <a:avLst/>
          </a:prstGeom>
          <a:noFill/>
          <a:ln/>
        </p:spPr>
        <p:txBody>
          <a:bodyPr wrap="square" lIns="0" tIns="0" rIns="0" bIns="0" rtlCol="0" anchor="ctr"/>
          <a:lstStyle/>
          <a:p>
            <a:pPr marL="0" indent="0">
              <a:buNone/>
            </a:pPr>
            <a:r>
              <a:rPr lang="en-US" sz="1450" b="1" dirty="0">
                <a:solidFill>
                  <a:srgbClr val="FFFFFF"/>
                </a:solidFill>
                <a:latin typeface="Palatino Linotype" pitchFamily="34" charset="0"/>
                <a:ea typeface="Palatino Linotype" pitchFamily="34" charset="-122"/>
                <a:cs typeface="Palatino Linotype" pitchFamily="34" charset="-120"/>
              </a:rPr>
              <a:t>O pregătire pentru rețeta pe care o veți semna</a:t>
            </a:r>
            <a:endParaRPr lang="en-US" sz="1450" dirty="0"/>
          </a:p>
        </p:txBody>
      </p:sp>
      <p:sp>
        <p:nvSpPr>
          <p:cNvPr id="27" name="Text 25"/>
          <p:cNvSpPr/>
          <p:nvPr/>
        </p:nvSpPr>
        <p:spPr>
          <a:xfrm>
            <a:off x="7132320" y="3977640"/>
            <a:ext cx="4160520" cy="548640"/>
          </a:xfrm>
          <a:prstGeom prst="rect">
            <a:avLst/>
          </a:prstGeom>
          <a:noFill/>
          <a:ln/>
        </p:spPr>
        <p:txBody>
          <a:bodyPr wrap="square" lIns="0" tIns="0" rIns="0" bIns="0" rtlCol="0" anchor="t"/>
          <a:lstStyle/>
          <a:p>
            <a:pPr marL="0" indent="0">
              <a:lnSpc>
                <a:spcPts val="1700"/>
              </a:lnSpc>
              <a:buNone/>
            </a:pPr>
            <a:r>
              <a:rPr lang="en-US" sz="1200" dirty="0">
                <a:solidFill>
                  <a:srgbClr val="959BB0"/>
                </a:solidFill>
                <a:latin typeface="Palatino Linotype" pitchFamily="34" charset="0"/>
                <a:ea typeface="Palatino Linotype" pitchFamily="34" charset="-122"/>
                <a:cs typeface="Palatino Linotype" pitchFamily="34" charset="-120"/>
              </a:rPr>
              <a:t>Peste câțiva ani veți prescrie benzodiazepine și opioide.</a:t>
            </a:r>
            <a:endParaRPr lang="en-US" sz="1200" dirty="0"/>
          </a:p>
        </p:txBody>
      </p:sp>
      <p:sp>
        <p:nvSpPr>
          <p:cNvPr id="28" name="Shape 26"/>
          <p:cNvSpPr/>
          <p:nvPr/>
        </p:nvSpPr>
        <p:spPr>
          <a:xfrm>
            <a:off x="6629400" y="4645152"/>
            <a:ext cx="365760" cy="365760"/>
          </a:xfrm>
          <a:prstGeom prst="ellipse">
            <a:avLst/>
          </a:prstGeom>
          <a:solidFill>
            <a:srgbClr val="27D3BE"/>
          </a:solidFill>
          <a:ln w="12700">
            <a:solidFill>
              <a:srgbClr val="27D3BE"/>
            </a:solidFill>
            <a:prstDash val="solid"/>
          </a:ln>
        </p:spPr>
        <p:txBody>
          <a:bodyPr/>
          <a:lstStyle/>
          <a:p>
            <a:endParaRPr lang="ro-RO"/>
          </a:p>
        </p:txBody>
      </p:sp>
      <p:sp>
        <p:nvSpPr>
          <p:cNvPr id="29" name="Text 27"/>
          <p:cNvSpPr/>
          <p:nvPr/>
        </p:nvSpPr>
        <p:spPr>
          <a:xfrm>
            <a:off x="6629400" y="4645152"/>
            <a:ext cx="365760" cy="365760"/>
          </a:xfrm>
          <a:prstGeom prst="rect">
            <a:avLst/>
          </a:prstGeom>
          <a:noFill/>
          <a:ln/>
        </p:spPr>
        <p:txBody>
          <a:bodyPr wrap="square" lIns="0" tIns="0" rIns="0" bIns="0" rtlCol="0" anchor="ctr"/>
          <a:lstStyle/>
          <a:p>
            <a:pPr marL="0" indent="0" algn="ctr">
              <a:buNone/>
            </a:pPr>
            <a:r>
              <a:rPr lang="en-US" sz="1300" b="1" dirty="0">
                <a:solidFill>
                  <a:srgbClr val="073B34"/>
                </a:solidFill>
                <a:latin typeface="Palatino Linotype" pitchFamily="34" charset="0"/>
                <a:ea typeface="Palatino Linotype" pitchFamily="34" charset="-122"/>
                <a:cs typeface="Palatino Linotype" pitchFamily="34" charset="-120"/>
              </a:rPr>
              <a:t>✓</a:t>
            </a:r>
            <a:endParaRPr lang="en-US" sz="1300" dirty="0"/>
          </a:p>
        </p:txBody>
      </p:sp>
      <p:sp>
        <p:nvSpPr>
          <p:cNvPr id="30" name="Text 28"/>
          <p:cNvSpPr/>
          <p:nvPr/>
        </p:nvSpPr>
        <p:spPr>
          <a:xfrm>
            <a:off x="7132320" y="4617720"/>
            <a:ext cx="4160520" cy="384048"/>
          </a:xfrm>
          <a:prstGeom prst="rect">
            <a:avLst/>
          </a:prstGeom>
          <a:noFill/>
          <a:ln/>
        </p:spPr>
        <p:txBody>
          <a:bodyPr wrap="square" lIns="0" tIns="0" rIns="0" bIns="0" rtlCol="0" anchor="ctr"/>
          <a:lstStyle/>
          <a:p>
            <a:pPr marL="0" indent="0">
              <a:buNone/>
            </a:pPr>
            <a:r>
              <a:rPr lang="en-US" sz="1450" b="1" dirty="0">
                <a:solidFill>
                  <a:srgbClr val="FFFFFF"/>
                </a:solidFill>
                <a:latin typeface="Palatino Linotype" pitchFamily="34" charset="0"/>
                <a:ea typeface="Palatino Linotype" pitchFamily="34" charset="-122"/>
                <a:cs typeface="Palatino Linotype" pitchFamily="34" charset="-120"/>
              </a:rPr>
              <a:t>O verificare a propriilor percepții</a:t>
            </a:r>
            <a:endParaRPr lang="en-US" sz="1450" dirty="0"/>
          </a:p>
        </p:txBody>
      </p:sp>
      <p:sp>
        <p:nvSpPr>
          <p:cNvPr id="31" name="Text 29"/>
          <p:cNvSpPr/>
          <p:nvPr/>
        </p:nvSpPr>
        <p:spPr>
          <a:xfrm>
            <a:off x="7132320" y="5029200"/>
            <a:ext cx="4160520" cy="548640"/>
          </a:xfrm>
          <a:prstGeom prst="rect">
            <a:avLst/>
          </a:prstGeom>
          <a:noFill/>
          <a:ln/>
        </p:spPr>
        <p:txBody>
          <a:bodyPr wrap="square" lIns="0" tIns="0" rIns="0" bIns="0" rtlCol="0" anchor="t"/>
          <a:lstStyle/>
          <a:p>
            <a:pPr marL="0" indent="0">
              <a:lnSpc>
                <a:spcPts val="1700"/>
              </a:lnSpc>
              <a:buNone/>
            </a:pPr>
            <a:r>
              <a:rPr lang="en-US" sz="1200" dirty="0">
                <a:solidFill>
                  <a:srgbClr val="959BB0"/>
                </a:solidFill>
                <a:latin typeface="Palatino Linotype" pitchFamily="34" charset="0"/>
                <a:ea typeface="Palatino Linotype" pitchFamily="34" charset="-122"/>
                <a:cs typeface="Palatino Linotype" pitchFamily="34" charset="-120"/>
              </a:rPr>
              <a:t>Veți afla, anonim, cât de departe sunteți de date.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4A2D8C"/>
                </a:solidFill>
                <a:latin typeface="Palatino Linotype" pitchFamily="34" charset="0"/>
                <a:ea typeface="Palatino Linotype" pitchFamily="34" charset="-122"/>
                <a:cs typeface="Palatino Linotype" pitchFamily="34" charset="-120"/>
              </a:rPr>
              <a:t>REGULILE SĂLII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Contractul didactic</a:t>
            </a:r>
            <a:endParaRPr lang="en-US" sz="3000" dirty="0"/>
          </a:p>
        </p:txBody>
      </p:sp>
      <p:sp>
        <p:nvSpPr>
          <p:cNvPr id="4" name="Shape 2"/>
          <p:cNvSpPr/>
          <p:nvPr/>
        </p:nvSpPr>
        <p:spPr>
          <a:xfrm>
            <a:off x="594360" y="1737360"/>
            <a:ext cx="10972800" cy="950976"/>
          </a:xfrm>
          <a:prstGeom prst="roundRect">
            <a:avLst>
              <a:gd name="adj" fmla="val 8654"/>
            </a:avLst>
          </a:prstGeom>
          <a:solidFill>
            <a:srgbClr val="ECEAE4"/>
          </a:solidFill>
          <a:ln w="12700">
            <a:solidFill>
              <a:srgbClr val="ECEAE4"/>
            </a:solidFill>
            <a:prstDash val="solid"/>
          </a:ln>
        </p:spPr>
        <p:txBody>
          <a:bodyPr/>
          <a:lstStyle/>
          <a:p>
            <a:endParaRPr lang="ro-RO"/>
          </a:p>
        </p:txBody>
      </p:sp>
      <p:sp>
        <p:nvSpPr>
          <p:cNvPr id="5" name="Shape 3"/>
          <p:cNvSpPr/>
          <p:nvPr/>
        </p:nvSpPr>
        <p:spPr>
          <a:xfrm>
            <a:off x="594360" y="1737360"/>
            <a:ext cx="50292" cy="950976"/>
          </a:xfrm>
          <a:prstGeom prst="rect">
            <a:avLst/>
          </a:prstGeom>
          <a:solidFill>
            <a:srgbClr val="4A2D8C"/>
          </a:solidFill>
          <a:ln w="12700">
            <a:solidFill>
              <a:srgbClr val="4A2D8C"/>
            </a:solidFill>
            <a:prstDash val="solid"/>
          </a:ln>
        </p:spPr>
        <p:txBody>
          <a:bodyPr/>
          <a:lstStyle/>
          <a:p>
            <a:endParaRPr lang="ro-RO"/>
          </a:p>
        </p:txBody>
      </p:sp>
      <p:sp>
        <p:nvSpPr>
          <p:cNvPr id="6" name="Shape 4"/>
          <p:cNvSpPr/>
          <p:nvPr/>
        </p:nvSpPr>
        <p:spPr>
          <a:xfrm>
            <a:off x="914400" y="2011680"/>
            <a:ext cx="402336" cy="402336"/>
          </a:xfrm>
          <a:prstGeom prst="ellipse">
            <a:avLst/>
          </a:prstGeom>
          <a:solidFill>
            <a:srgbClr val="4A2D8C"/>
          </a:solidFill>
          <a:ln w="12700">
            <a:solidFill>
              <a:srgbClr val="4A2D8C"/>
            </a:solidFill>
            <a:prstDash val="solid"/>
          </a:ln>
        </p:spPr>
        <p:txBody>
          <a:bodyPr/>
          <a:lstStyle/>
          <a:p>
            <a:endParaRPr lang="ro-RO"/>
          </a:p>
        </p:txBody>
      </p:sp>
      <p:sp>
        <p:nvSpPr>
          <p:cNvPr id="7" name="Text 5"/>
          <p:cNvSpPr/>
          <p:nvPr/>
        </p:nvSpPr>
        <p:spPr>
          <a:xfrm>
            <a:off x="914400" y="20116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1</a:t>
            </a:r>
            <a:endParaRPr lang="en-US" sz="1500" dirty="0"/>
          </a:p>
        </p:txBody>
      </p:sp>
      <p:sp>
        <p:nvSpPr>
          <p:cNvPr id="8" name="Text 6"/>
          <p:cNvSpPr/>
          <p:nvPr/>
        </p:nvSpPr>
        <p:spPr>
          <a:xfrm>
            <a:off x="1481328" y="1865376"/>
            <a:ext cx="9784080" cy="365760"/>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Nu vi se va cere niciodată să spuneți ceva despre voi</a:t>
            </a:r>
            <a:endParaRPr lang="en-US" sz="1500" dirty="0"/>
          </a:p>
        </p:txBody>
      </p:sp>
      <p:sp>
        <p:nvSpPr>
          <p:cNvPr id="9" name="Text 7"/>
          <p:cNvSpPr/>
          <p:nvPr/>
        </p:nvSpPr>
        <p:spPr>
          <a:xfrm>
            <a:off x="1481328" y="2240280"/>
            <a:ext cx="9784080" cy="384048"/>
          </a:xfrm>
          <a:prstGeom prst="rect">
            <a:avLst/>
          </a:prstGeom>
          <a:noFill/>
          <a:ln/>
        </p:spPr>
        <p:txBody>
          <a:bodyPr wrap="square" lIns="0" tIns="0" rIns="0" bIns="0" rtlCol="0" anchor="t"/>
          <a:lstStyle/>
          <a:p>
            <a:pPr marL="0" indent="0">
              <a:lnSpc>
                <a:spcPts val="1700"/>
              </a:lnSpc>
              <a:buNone/>
            </a:pPr>
            <a:r>
              <a:rPr lang="en-US" sz="1200" dirty="0">
                <a:solidFill>
                  <a:srgbClr val="585A64"/>
                </a:solidFill>
                <a:latin typeface="Palatino Linotype" pitchFamily="34" charset="0"/>
                <a:ea typeface="Palatino Linotype" pitchFamily="34" charset="-122"/>
                <a:cs typeface="Palatino Linotype" pitchFamily="34" charset="-120"/>
              </a:rPr>
              <a:t>Fără ridicări de mână la întrebări personale. Voturile Mentimeter sunt anonime.</a:t>
            </a:r>
            <a:endParaRPr lang="en-US" sz="1200" dirty="0"/>
          </a:p>
        </p:txBody>
      </p:sp>
      <p:sp>
        <p:nvSpPr>
          <p:cNvPr id="10" name="Shape 8"/>
          <p:cNvSpPr/>
          <p:nvPr/>
        </p:nvSpPr>
        <p:spPr>
          <a:xfrm>
            <a:off x="594360" y="2798064"/>
            <a:ext cx="10972800" cy="950976"/>
          </a:xfrm>
          <a:prstGeom prst="roundRect">
            <a:avLst>
              <a:gd name="adj" fmla="val 8654"/>
            </a:avLst>
          </a:prstGeom>
          <a:solidFill>
            <a:srgbClr val="F9F8F5"/>
          </a:solidFill>
          <a:ln w="12700">
            <a:solidFill>
              <a:srgbClr val="F9F8F5"/>
            </a:solidFill>
            <a:prstDash val="solid"/>
          </a:ln>
        </p:spPr>
        <p:txBody>
          <a:bodyPr/>
          <a:lstStyle/>
          <a:p>
            <a:endParaRPr lang="ro-RO"/>
          </a:p>
        </p:txBody>
      </p:sp>
      <p:sp>
        <p:nvSpPr>
          <p:cNvPr id="11" name="Shape 9"/>
          <p:cNvSpPr/>
          <p:nvPr/>
        </p:nvSpPr>
        <p:spPr>
          <a:xfrm>
            <a:off x="594360" y="2798064"/>
            <a:ext cx="50292" cy="950976"/>
          </a:xfrm>
          <a:prstGeom prst="rect">
            <a:avLst/>
          </a:prstGeom>
          <a:solidFill>
            <a:srgbClr val="B02532"/>
          </a:solidFill>
          <a:ln w="12700">
            <a:solidFill>
              <a:srgbClr val="B02532"/>
            </a:solidFill>
            <a:prstDash val="solid"/>
          </a:ln>
        </p:spPr>
        <p:txBody>
          <a:bodyPr/>
          <a:lstStyle/>
          <a:p>
            <a:endParaRPr lang="ro-RO"/>
          </a:p>
        </p:txBody>
      </p:sp>
      <p:sp>
        <p:nvSpPr>
          <p:cNvPr id="12" name="Shape 10"/>
          <p:cNvSpPr/>
          <p:nvPr/>
        </p:nvSpPr>
        <p:spPr>
          <a:xfrm>
            <a:off x="914400" y="3072384"/>
            <a:ext cx="402336" cy="402336"/>
          </a:xfrm>
          <a:prstGeom prst="ellipse">
            <a:avLst/>
          </a:prstGeom>
          <a:solidFill>
            <a:srgbClr val="B02532"/>
          </a:solidFill>
          <a:ln w="12700">
            <a:solidFill>
              <a:srgbClr val="B02532"/>
            </a:solidFill>
            <a:prstDash val="solid"/>
          </a:ln>
        </p:spPr>
        <p:txBody>
          <a:bodyPr/>
          <a:lstStyle/>
          <a:p>
            <a:endParaRPr lang="ro-RO"/>
          </a:p>
        </p:txBody>
      </p:sp>
      <p:sp>
        <p:nvSpPr>
          <p:cNvPr id="13" name="Text 11"/>
          <p:cNvSpPr/>
          <p:nvPr/>
        </p:nvSpPr>
        <p:spPr>
          <a:xfrm>
            <a:off x="914400" y="307238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2</a:t>
            </a:r>
            <a:endParaRPr lang="en-US" sz="1500" dirty="0"/>
          </a:p>
        </p:txBody>
      </p:sp>
      <p:sp>
        <p:nvSpPr>
          <p:cNvPr id="14" name="Text 12"/>
          <p:cNvSpPr/>
          <p:nvPr/>
        </p:nvSpPr>
        <p:spPr>
          <a:xfrm>
            <a:off x="1481328" y="2926080"/>
            <a:ext cx="9784080" cy="365760"/>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Nu se administrează niciun instrument de screening</a:t>
            </a:r>
            <a:endParaRPr lang="en-US" sz="1500" dirty="0"/>
          </a:p>
        </p:txBody>
      </p:sp>
      <p:sp>
        <p:nvSpPr>
          <p:cNvPr id="15" name="Text 13"/>
          <p:cNvSpPr/>
          <p:nvPr/>
        </p:nvSpPr>
        <p:spPr>
          <a:xfrm>
            <a:off x="1481328" y="3300984"/>
            <a:ext cx="9784080" cy="384048"/>
          </a:xfrm>
          <a:prstGeom prst="rect">
            <a:avLst/>
          </a:prstGeom>
          <a:noFill/>
          <a:ln/>
        </p:spPr>
        <p:txBody>
          <a:bodyPr wrap="square" lIns="0" tIns="0" rIns="0" bIns="0" rtlCol="0" anchor="t"/>
          <a:lstStyle/>
          <a:p>
            <a:pPr marL="0" indent="0">
              <a:lnSpc>
                <a:spcPts val="1700"/>
              </a:lnSpc>
              <a:buNone/>
            </a:pPr>
            <a:r>
              <a:rPr lang="en-US" sz="1200" dirty="0">
                <a:solidFill>
                  <a:srgbClr val="585A64"/>
                </a:solidFill>
                <a:latin typeface="Palatino Linotype" pitchFamily="34" charset="0"/>
                <a:ea typeface="Palatino Linotype" pitchFamily="34" charset="-122"/>
                <a:cs typeface="Palatino Linotype" pitchFamily="34" charset="-120"/>
              </a:rPr>
              <a:t>Nici AUDIT, nici DAST-10, nici CAGE — nici măcar anonim. Lucrăm exclusiv pe viniete clinice fictive.</a:t>
            </a:r>
            <a:endParaRPr lang="en-US" sz="1200" dirty="0"/>
          </a:p>
        </p:txBody>
      </p:sp>
      <p:sp>
        <p:nvSpPr>
          <p:cNvPr id="16" name="Shape 14"/>
          <p:cNvSpPr/>
          <p:nvPr/>
        </p:nvSpPr>
        <p:spPr>
          <a:xfrm>
            <a:off x="594360" y="3858768"/>
            <a:ext cx="10972800" cy="950976"/>
          </a:xfrm>
          <a:prstGeom prst="roundRect">
            <a:avLst>
              <a:gd name="adj" fmla="val 8654"/>
            </a:avLst>
          </a:prstGeom>
          <a:solidFill>
            <a:srgbClr val="ECEAE4"/>
          </a:solidFill>
          <a:ln w="12700">
            <a:solidFill>
              <a:srgbClr val="ECEAE4"/>
            </a:solidFill>
            <a:prstDash val="solid"/>
          </a:ln>
        </p:spPr>
        <p:txBody>
          <a:bodyPr/>
          <a:lstStyle/>
          <a:p>
            <a:endParaRPr lang="ro-RO"/>
          </a:p>
        </p:txBody>
      </p:sp>
      <p:sp>
        <p:nvSpPr>
          <p:cNvPr id="17" name="Shape 15"/>
          <p:cNvSpPr/>
          <p:nvPr/>
        </p:nvSpPr>
        <p:spPr>
          <a:xfrm>
            <a:off x="594360" y="3858768"/>
            <a:ext cx="50292" cy="950976"/>
          </a:xfrm>
          <a:prstGeom prst="rect">
            <a:avLst/>
          </a:prstGeom>
          <a:solidFill>
            <a:srgbClr val="0E7C6B"/>
          </a:solidFill>
          <a:ln w="12700">
            <a:solidFill>
              <a:srgbClr val="0E7C6B"/>
            </a:solidFill>
            <a:prstDash val="solid"/>
          </a:ln>
        </p:spPr>
        <p:txBody>
          <a:bodyPr/>
          <a:lstStyle/>
          <a:p>
            <a:endParaRPr lang="ro-RO"/>
          </a:p>
        </p:txBody>
      </p:sp>
      <p:sp>
        <p:nvSpPr>
          <p:cNvPr id="18" name="Shape 16"/>
          <p:cNvSpPr/>
          <p:nvPr/>
        </p:nvSpPr>
        <p:spPr>
          <a:xfrm>
            <a:off x="914400" y="4133088"/>
            <a:ext cx="402336" cy="402336"/>
          </a:xfrm>
          <a:prstGeom prst="ellipse">
            <a:avLst/>
          </a:prstGeom>
          <a:solidFill>
            <a:srgbClr val="0E7C6B"/>
          </a:solidFill>
          <a:ln w="12700">
            <a:solidFill>
              <a:srgbClr val="0E7C6B"/>
            </a:solidFill>
            <a:prstDash val="solid"/>
          </a:ln>
        </p:spPr>
        <p:txBody>
          <a:bodyPr/>
          <a:lstStyle/>
          <a:p>
            <a:endParaRPr lang="ro-RO"/>
          </a:p>
        </p:txBody>
      </p:sp>
      <p:sp>
        <p:nvSpPr>
          <p:cNvPr id="19" name="Text 17"/>
          <p:cNvSpPr/>
          <p:nvPr/>
        </p:nvSpPr>
        <p:spPr>
          <a:xfrm>
            <a:off x="914400" y="413308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3</a:t>
            </a:r>
            <a:endParaRPr lang="en-US" sz="1500" dirty="0"/>
          </a:p>
        </p:txBody>
      </p:sp>
      <p:sp>
        <p:nvSpPr>
          <p:cNvPr id="20" name="Text 18"/>
          <p:cNvSpPr/>
          <p:nvPr/>
        </p:nvSpPr>
        <p:spPr>
          <a:xfrm>
            <a:off x="1481328" y="3986784"/>
            <a:ext cx="9784080" cy="365760"/>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Puteți ieși din sală oricând, fără explicații</a:t>
            </a:r>
            <a:endParaRPr lang="en-US" sz="1500" dirty="0"/>
          </a:p>
        </p:txBody>
      </p:sp>
      <p:sp>
        <p:nvSpPr>
          <p:cNvPr id="21" name="Text 19"/>
          <p:cNvSpPr/>
          <p:nvPr/>
        </p:nvSpPr>
        <p:spPr>
          <a:xfrm>
            <a:off x="1481328" y="4361688"/>
            <a:ext cx="9784080" cy="384048"/>
          </a:xfrm>
          <a:prstGeom prst="rect">
            <a:avLst/>
          </a:prstGeom>
          <a:noFill/>
          <a:ln/>
        </p:spPr>
        <p:txBody>
          <a:bodyPr wrap="square" lIns="0" tIns="0" rIns="0" bIns="0" rtlCol="0" anchor="t"/>
          <a:lstStyle/>
          <a:p>
            <a:pPr marL="0" indent="0">
              <a:lnSpc>
                <a:spcPts val="1700"/>
              </a:lnSpc>
              <a:buNone/>
            </a:pPr>
            <a:r>
              <a:rPr lang="en-US" sz="1200" dirty="0">
                <a:solidFill>
                  <a:srgbClr val="585A64"/>
                </a:solidFill>
                <a:latin typeface="Palatino Linotype" pitchFamily="34" charset="0"/>
                <a:ea typeface="Palatino Linotype" pitchFamily="34" charset="-122"/>
                <a:cs typeface="Palatino Linotype" pitchFamily="34" charset="-120"/>
              </a:rPr>
              <a:t>Nu vă afectează prezența și nu trebuie să-mi spuneți de ce.</a:t>
            </a:r>
            <a:endParaRPr lang="en-US" sz="1200" dirty="0"/>
          </a:p>
        </p:txBody>
      </p:sp>
      <p:sp>
        <p:nvSpPr>
          <p:cNvPr id="22" name="Shape 20"/>
          <p:cNvSpPr/>
          <p:nvPr/>
        </p:nvSpPr>
        <p:spPr>
          <a:xfrm>
            <a:off x="594360" y="4919472"/>
            <a:ext cx="10972800" cy="950976"/>
          </a:xfrm>
          <a:prstGeom prst="roundRect">
            <a:avLst>
              <a:gd name="adj" fmla="val 8654"/>
            </a:avLst>
          </a:prstGeom>
          <a:solidFill>
            <a:srgbClr val="F9F8F5"/>
          </a:solidFill>
          <a:ln w="12700">
            <a:solidFill>
              <a:srgbClr val="F9F8F5"/>
            </a:solidFill>
            <a:prstDash val="solid"/>
          </a:ln>
        </p:spPr>
        <p:txBody>
          <a:bodyPr/>
          <a:lstStyle/>
          <a:p>
            <a:endParaRPr lang="ro-RO"/>
          </a:p>
        </p:txBody>
      </p:sp>
      <p:sp>
        <p:nvSpPr>
          <p:cNvPr id="23" name="Shape 21"/>
          <p:cNvSpPr/>
          <p:nvPr/>
        </p:nvSpPr>
        <p:spPr>
          <a:xfrm>
            <a:off x="594360" y="4919472"/>
            <a:ext cx="50292" cy="950976"/>
          </a:xfrm>
          <a:prstGeom prst="rect">
            <a:avLst/>
          </a:prstGeom>
          <a:solidFill>
            <a:srgbClr val="8A6100"/>
          </a:solidFill>
          <a:ln w="12700">
            <a:solidFill>
              <a:srgbClr val="8A6100"/>
            </a:solidFill>
            <a:prstDash val="solid"/>
          </a:ln>
        </p:spPr>
        <p:txBody>
          <a:bodyPr/>
          <a:lstStyle/>
          <a:p>
            <a:endParaRPr lang="ro-RO"/>
          </a:p>
        </p:txBody>
      </p:sp>
      <p:sp>
        <p:nvSpPr>
          <p:cNvPr id="24" name="Shape 22"/>
          <p:cNvSpPr/>
          <p:nvPr/>
        </p:nvSpPr>
        <p:spPr>
          <a:xfrm>
            <a:off x="914400" y="5193792"/>
            <a:ext cx="402336" cy="402336"/>
          </a:xfrm>
          <a:prstGeom prst="ellipse">
            <a:avLst/>
          </a:prstGeom>
          <a:solidFill>
            <a:srgbClr val="8A6100"/>
          </a:solidFill>
          <a:ln w="12700">
            <a:solidFill>
              <a:srgbClr val="8A6100"/>
            </a:solidFill>
            <a:prstDash val="solid"/>
          </a:ln>
        </p:spPr>
        <p:txBody>
          <a:bodyPr/>
          <a:lstStyle/>
          <a:p>
            <a:endParaRPr lang="ro-RO"/>
          </a:p>
        </p:txBody>
      </p:sp>
      <p:sp>
        <p:nvSpPr>
          <p:cNvPr id="25" name="Text 23"/>
          <p:cNvSpPr/>
          <p:nvPr/>
        </p:nvSpPr>
        <p:spPr>
          <a:xfrm>
            <a:off x="914400" y="519379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4</a:t>
            </a:r>
            <a:endParaRPr lang="en-US" sz="1500" dirty="0"/>
          </a:p>
        </p:txBody>
      </p:sp>
      <p:sp>
        <p:nvSpPr>
          <p:cNvPr id="26" name="Text 24"/>
          <p:cNvSpPr/>
          <p:nvPr/>
        </p:nvSpPr>
        <p:spPr>
          <a:xfrm>
            <a:off x="1481328" y="5047488"/>
            <a:ext cx="9784080" cy="365760"/>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Fișa de resurse a fost distribuită la intrare</a:t>
            </a:r>
            <a:endParaRPr lang="en-US" sz="1500" dirty="0"/>
          </a:p>
        </p:txBody>
      </p:sp>
      <p:sp>
        <p:nvSpPr>
          <p:cNvPr id="27" name="Text 25"/>
          <p:cNvSpPr/>
          <p:nvPr/>
        </p:nvSpPr>
        <p:spPr>
          <a:xfrm>
            <a:off x="1481328" y="5422392"/>
            <a:ext cx="9784080" cy="384048"/>
          </a:xfrm>
          <a:prstGeom prst="rect">
            <a:avLst/>
          </a:prstGeom>
          <a:noFill/>
          <a:ln/>
        </p:spPr>
        <p:txBody>
          <a:bodyPr wrap="square" lIns="0" tIns="0" rIns="0" bIns="0" rtlCol="0" anchor="t"/>
          <a:lstStyle/>
          <a:p>
            <a:pPr marL="0" indent="0">
              <a:lnSpc>
                <a:spcPts val="1700"/>
              </a:lnSpc>
              <a:buNone/>
            </a:pPr>
            <a:r>
              <a:rPr lang="en-US" sz="1200" dirty="0">
                <a:solidFill>
                  <a:srgbClr val="585A64"/>
                </a:solidFill>
                <a:latin typeface="Palatino Linotype" pitchFamily="34" charset="0"/>
                <a:ea typeface="Palatino Linotype" pitchFamily="34" charset="-122"/>
                <a:cs typeface="Palatino Linotype" pitchFamily="34" charset="-120"/>
              </a:rPr>
              <a:t>Patru locuri unde puteți vorbi cu cineva. Înainte de primul diapozitiv cu cifre — deliberat.</a:t>
            </a:r>
            <a:endParaRPr lang="en-US" sz="1200" dirty="0"/>
          </a:p>
        </p:txBody>
      </p:sp>
      <p:sp>
        <p:nvSpPr>
          <p:cNvPr id="28" name="Text 26"/>
          <p:cNvSpPr/>
          <p:nvPr/>
        </p:nvSpPr>
        <p:spPr>
          <a:xfrm>
            <a:off x="594360" y="5961888"/>
            <a:ext cx="10972800" cy="310896"/>
          </a:xfrm>
          <a:prstGeom prst="rect">
            <a:avLst/>
          </a:prstGeom>
          <a:noFill/>
          <a:ln/>
        </p:spPr>
        <p:txBody>
          <a:bodyPr wrap="square" lIns="0" tIns="0" rIns="0" bIns="0" rtlCol="0" anchor="ctr"/>
          <a:lstStyle/>
          <a:p>
            <a:pPr marL="0" indent="0">
              <a:buNone/>
            </a:pPr>
            <a:r>
              <a:rPr lang="en-US" sz="1250" b="1" dirty="0">
                <a:solidFill>
                  <a:srgbClr val="4A2D8C"/>
                </a:solidFill>
                <a:latin typeface="Palatino Linotype" pitchFamily="34" charset="0"/>
                <a:ea typeface="Palatino Linotype" pitchFamily="34" charset="-122"/>
                <a:cs typeface="Palatino Linotype" pitchFamily="34" charset="-120"/>
              </a:rPr>
              <a:t>O precizare de conținut, nu o regulă: substanțele psihoactive nu sunt străine vieții obișnuite. DSM-5 a inclus tulburarea de sevraj la cofeină, iar sistemul dopaminergic activat de aproape toate drogurile de abuz este activat și de hrană și de interacțiunea sexuală.</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PARCURSUL</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Harta celor două ore</a:t>
            </a:r>
            <a:endParaRPr lang="en-US" sz="3000" dirty="0"/>
          </a:p>
        </p:txBody>
      </p:sp>
      <p:sp>
        <p:nvSpPr>
          <p:cNvPr id="4" name="Shape 2"/>
          <p:cNvSpPr/>
          <p:nvPr/>
        </p:nvSpPr>
        <p:spPr>
          <a:xfrm>
            <a:off x="594360" y="1719072"/>
            <a:ext cx="10972800" cy="768096"/>
          </a:xfrm>
          <a:prstGeom prst="roundRect">
            <a:avLst>
              <a:gd name="adj" fmla="val 10714"/>
            </a:avLst>
          </a:prstGeom>
          <a:solidFill>
            <a:srgbClr val="ECEAE4"/>
          </a:solidFill>
          <a:ln w="12700">
            <a:solidFill>
              <a:srgbClr val="ECEAE4"/>
            </a:solidFill>
            <a:prstDash val="solid"/>
          </a:ln>
        </p:spPr>
        <p:txBody>
          <a:bodyPr/>
          <a:lstStyle/>
          <a:p>
            <a:endParaRPr lang="ro-RO"/>
          </a:p>
        </p:txBody>
      </p:sp>
      <p:sp>
        <p:nvSpPr>
          <p:cNvPr id="5" name="Shape 3"/>
          <p:cNvSpPr/>
          <p:nvPr/>
        </p:nvSpPr>
        <p:spPr>
          <a:xfrm>
            <a:off x="868680" y="1938528"/>
            <a:ext cx="1170432" cy="329184"/>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6" name="Text 4"/>
          <p:cNvSpPr/>
          <p:nvPr/>
        </p:nvSpPr>
        <p:spPr>
          <a:xfrm>
            <a:off x="868680" y="1938528"/>
            <a:ext cx="1170432" cy="329184"/>
          </a:xfrm>
          <a:prstGeom prst="rect">
            <a:avLst/>
          </a:prstGeom>
          <a:noFill/>
          <a:ln/>
        </p:spPr>
        <p:txBody>
          <a:bodyPr wrap="square" lIns="0" tIns="0" rIns="0" bIns="0" rtlCol="0" anchor="ctr"/>
          <a:lstStyle/>
          <a:p>
            <a:pPr marL="0" indent="0" algn="ctr">
              <a:buNone/>
            </a:pPr>
            <a:r>
              <a:rPr lang="en-US" sz="1050" b="1" dirty="0">
                <a:solidFill>
                  <a:srgbClr val="3D2A00"/>
                </a:solidFill>
                <a:latin typeface="Palatino Linotype" pitchFamily="34" charset="0"/>
                <a:ea typeface="Palatino Linotype" pitchFamily="34" charset="-122"/>
                <a:cs typeface="Palatino Linotype" pitchFamily="34" charset="-120"/>
              </a:rPr>
              <a:t>0–12'</a:t>
            </a:r>
            <a:endParaRPr lang="en-US" sz="1050" dirty="0"/>
          </a:p>
        </p:txBody>
      </p:sp>
      <p:sp>
        <p:nvSpPr>
          <p:cNvPr id="7" name="Text 5"/>
          <p:cNvSpPr/>
          <p:nvPr/>
        </p:nvSpPr>
        <p:spPr>
          <a:xfrm>
            <a:off x="2286000" y="1938528"/>
            <a:ext cx="2651760" cy="329184"/>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Calibrare</a:t>
            </a:r>
            <a:endParaRPr lang="en-US" sz="1500" dirty="0"/>
          </a:p>
        </p:txBody>
      </p:sp>
      <p:sp>
        <p:nvSpPr>
          <p:cNvPr id="8" name="Text 6"/>
          <p:cNvSpPr/>
          <p:nvPr/>
        </p:nvSpPr>
        <p:spPr>
          <a:xfrm>
            <a:off x="4983480" y="1938528"/>
            <a:ext cx="6309360" cy="329184"/>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Cifra unică. Vietnam. Mentimeter anonim, cinci itemi.</a:t>
            </a:r>
            <a:endParaRPr lang="en-US" sz="1250" dirty="0"/>
          </a:p>
        </p:txBody>
      </p:sp>
      <p:sp>
        <p:nvSpPr>
          <p:cNvPr id="9" name="Shape 7"/>
          <p:cNvSpPr/>
          <p:nvPr/>
        </p:nvSpPr>
        <p:spPr>
          <a:xfrm>
            <a:off x="868680" y="2633472"/>
            <a:ext cx="1170432" cy="329184"/>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10" name="Text 8"/>
          <p:cNvSpPr/>
          <p:nvPr/>
        </p:nvSpPr>
        <p:spPr>
          <a:xfrm>
            <a:off x="868680" y="2633472"/>
            <a:ext cx="1170432"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Palatino Linotype" pitchFamily="34" charset="0"/>
                <a:ea typeface="Palatino Linotype" pitchFamily="34" charset="-122"/>
                <a:cs typeface="Palatino Linotype" pitchFamily="34" charset="-120"/>
              </a:rPr>
              <a:t>12–18'</a:t>
            </a:r>
            <a:endParaRPr lang="en-US" sz="1050" dirty="0"/>
          </a:p>
        </p:txBody>
      </p:sp>
      <p:sp>
        <p:nvSpPr>
          <p:cNvPr id="11" name="Text 9"/>
          <p:cNvSpPr/>
          <p:nvPr/>
        </p:nvSpPr>
        <p:spPr>
          <a:xfrm>
            <a:off x="2286000" y="2633472"/>
            <a:ext cx="2651760" cy="329184"/>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Cinci noțiuni</a:t>
            </a:r>
            <a:endParaRPr lang="en-US" sz="1500" dirty="0"/>
          </a:p>
        </p:txBody>
      </p:sp>
      <p:sp>
        <p:nvSpPr>
          <p:cNvPr id="12" name="Text 10"/>
          <p:cNvSpPr/>
          <p:nvPr/>
        </p:nvSpPr>
        <p:spPr>
          <a:xfrm>
            <a:off x="4983480" y="2633472"/>
            <a:ext cx="6309360" cy="329184"/>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Ce trebuie să știți ca să citiți tabelele de azi.</a:t>
            </a:r>
            <a:endParaRPr lang="en-US" sz="1250" dirty="0"/>
          </a:p>
        </p:txBody>
      </p:sp>
      <p:sp>
        <p:nvSpPr>
          <p:cNvPr id="13" name="Shape 11"/>
          <p:cNvSpPr/>
          <p:nvPr/>
        </p:nvSpPr>
        <p:spPr>
          <a:xfrm>
            <a:off x="594360" y="3108960"/>
            <a:ext cx="10972800" cy="768096"/>
          </a:xfrm>
          <a:prstGeom prst="roundRect">
            <a:avLst>
              <a:gd name="adj" fmla="val 10714"/>
            </a:avLst>
          </a:prstGeom>
          <a:solidFill>
            <a:srgbClr val="ECEAE4"/>
          </a:solidFill>
          <a:ln w="12700">
            <a:solidFill>
              <a:srgbClr val="ECEAE4"/>
            </a:solidFill>
            <a:prstDash val="solid"/>
          </a:ln>
        </p:spPr>
        <p:txBody>
          <a:bodyPr/>
          <a:lstStyle/>
          <a:p>
            <a:endParaRPr lang="ro-RO"/>
          </a:p>
        </p:txBody>
      </p:sp>
      <p:sp>
        <p:nvSpPr>
          <p:cNvPr id="14" name="Shape 12"/>
          <p:cNvSpPr/>
          <p:nvPr/>
        </p:nvSpPr>
        <p:spPr>
          <a:xfrm>
            <a:off x="868680" y="3328416"/>
            <a:ext cx="1170432" cy="329184"/>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15" name="Text 13"/>
          <p:cNvSpPr/>
          <p:nvPr/>
        </p:nvSpPr>
        <p:spPr>
          <a:xfrm>
            <a:off x="868680" y="3328416"/>
            <a:ext cx="1170432" cy="329184"/>
          </a:xfrm>
          <a:prstGeom prst="rect">
            <a:avLst/>
          </a:prstGeom>
          <a:noFill/>
          <a:ln/>
        </p:spPr>
        <p:txBody>
          <a:bodyPr wrap="square" lIns="0" tIns="0" rIns="0" bIns="0" rtlCol="0" anchor="ctr"/>
          <a:lstStyle/>
          <a:p>
            <a:pPr marL="0" indent="0" algn="ctr">
              <a:buNone/>
            </a:pPr>
            <a:r>
              <a:rPr lang="en-US" sz="1050" b="1" dirty="0">
                <a:solidFill>
                  <a:srgbClr val="1F1040"/>
                </a:solidFill>
                <a:latin typeface="Palatino Linotype" pitchFamily="34" charset="0"/>
                <a:ea typeface="Palatino Linotype" pitchFamily="34" charset="-122"/>
                <a:cs typeface="Palatino Linotype" pitchFamily="34" charset="-120"/>
              </a:rPr>
              <a:t>18–48'</a:t>
            </a:r>
            <a:endParaRPr lang="en-US" sz="1050" dirty="0"/>
          </a:p>
        </p:txBody>
      </p:sp>
      <p:sp>
        <p:nvSpPr>
          <p:cNvPr id="16" name="Text 14"/>
          <p:cNvSpPr/>
          <p:nvPr/>
        </p:nvSpPr>
        <p:spPr>
          <a:xfrm>
            <a:off x="2286000" y="3328416"/>
            <a:ext cx="2651760" cy="329184"/>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Istoria unui concept</a:t>
            </a:r>
            <a:endParaRPr lang="en-US" sz="1500" dirty="0"/>
          </a:p>
        </p:txBody>
      </p:sp>
      <p:sp>
        <p:nvSpPr>
          <p:cNvPr id="17" name="Text 15"/>
          <p:cNvSpPr/>
          <p:nvPr/>
        </p:nvSpPr>
        <p:spPr>
          <a:xfrm>
            <a:off x="4983480" y="3328416"/>
            <a:ext cx="6309360" cy="329184"/>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1971 · 1997 · 2013 și 2022 · 2016.</a:t>
            </a:r>
            <a:endParaRPr lang="en-US" sz="1250" dirty="0"/>
          </a:p>
        </p:txBody>
      </p:sp>
      <p:sp>
        <p:nvSpPr>
          <p:cNvPr id="18" name="Shape 16"/>
          <p:cNvSpPr/>
          <p:nvPr/>
        </p:nvSpPr>
        <p:spPr>
          <a:xfrm>
            <a:off x="868680" y="4023360"/>
            <a:ext cx="1170432" cy="329184"/>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19" name="Text 17"/>
          <p:cNvSpPr/>
          <p:nvPr/>
        </p:nvSpPr>
        <p:spPr>
          <a:xfrm>
            <a:off x="868680" y="4023360"/>
            <a:ext cx="1170432" cy="329184"/>
          </a:xfrm>
          <a:prstGeom prst="rect">
            <a:avLst/>
          </a:prstGeom>
          <a:noFill/>
          <a:ln/>
        </p:spPr>
        <p:txBody>
          <a:bodyPr wrap="square" lIns="0" tIns="0" rIns="0" bIns="0" rtlCol="0" anchor="ctr"/>
          <a:lstStyle/>
          <a:p>
            <a:pPr marL="0" indent="0" algn="ctr">
              <a:buNone/>
            </a:pPr>
            <a:r>
              <a:rPr lang="en-US" sz="1050" b="1" dirty="0">
                <a:solidFill>
                  <a:srgbClr val="073B34"/>
                </a:solidFill>
                <a:latin typeface="Palatino Linotype" pitchFamily="34" charset="0"/>
                <a:ea typeface="Palatino Linotype" pitchFamily="34" charset="-122"/>
                <a:cs typeface="Palatino Linotype" pitchFamily="34" charset="-120"/>
              </a:rPr>
              <a:t>48–82'</a:t>
            </a:r>
            <a:endParaRPr lang="en-US" sz="1050" dirty="0"/>
          </a:p>
        </p:txBody>
      </p:sp>
      <p:sp>
        <p:nvSpPr>
          <p:cNvPr id="20" name="Text 18"/>
          <p:cNvSpPr/>
          <p:nvPr/>
        </p:nvSpPr>
        <p:spPr>
          <a:xfrm>
            <a:off x="2286000" y="4023360"/>
            <a:ext cx="2651760" cy="329184"/>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Șase uși, un circuit</a:t>
            </a:r>
            <a:endParaRPr lang="en-US" sz="1500" dirty="0"/>
          </a:p>
        </p:txBody>
      </p:sp>
      <p:sp>
        <p:nvSpPr>
          <p:cNvPr id="21" name="Text 19"/>
          <p:cNvSpPr/>
          <p:nvPr/>
        </p:nvSpPr>
        <p:spPr>
          <a:xfrm>
            <a:off x="4983480" y="4023360"/>
            <a:ext cx="6309360" cy="329184"/>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Mecanismele, trei rezultate incomode, cine devine dependent.</a:t>
            </a:r>
            <a:endParaRPr lang="en-US" sz="1250" dirty="0"/>
          </a:p>
        </p:txBody>
      </p:sp>
      <p:sp>
        <p:nvSpPr>
          <p:cNvPr id="22" name="Shape 20"/>
          <p:cNvSpPr/>
          <p:nvPr/>
        </p:nvSpPr>
        <p:spPr>
          <a:xfrm>
            <a:off x="594360" y="4498848"/>
            <a:ext cx="10972800" cy="768096"/>
          </a:xfrm>
          <a:prstGeom prst="roundRect">
            <a:avLst>
              <a:gd name="adj" fmla="val 10714"/>
            </a:avLst>
          </a:prstGeom>
          <a:solidFill>
            <a:srgbClr val="ECEAE4"/>
          </a:solidFill>
          <a:ln w="12700">
            <a:solidFill>
              <a:srgbClr val="ECEAE4"/>
            </a:solidFill>
            <a:prstDash val="solid"/>
          </a:ln>
        </p:spPr>
        <p:txBody>
          <a:bodyPr/>
          <a:lstStyle/>
          <a:p>
            <a:endParaRPr lang="ro-RO"/>
          </a:p>
        </p:txBody>
      </p:sp>
      <p:sp>
        <p:nvSpPr>
          <p:cNvPr id="23" name="Shape 21"/>
          <p:cNvSpPr/>
          <p:nvPr/>
        </p:nvSpPr>
        <p:spPr>
          <a:xfrm>
            <a:off x="868680" y="4718304"/>
            <a:ext cx="1170432" cy="329184"/>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24" name="Text 22"/>
          <p:cNvSpPr/>
          <p:nvPr/>
        </p:nvSpPr>
        <p:spPr>
          <a:xfrm>
            <a:off x="868680" y="4718304"/>
            <a:ext cx="1170432" cy="329184"/>
          </a:xfrm>
          <a:prstGeom prst="rect">
            <a:avLst/>
          </a:prstGeom>
          <a:noFill/>
          <a:ln/>
        </p:spPr>
        <p:txBody>
          <a:bodyPr wrap="square" lIns="0" tIns="0" rIns="0" bIns="0" rtlCol="0" anchor="ctr"/>
          <a:lstStyle/>
          <a:p>
            <a:pPr marL="0" indent="0" algn="ctr">
              <a:buNone/>
            </a:pPr>
            <a:r>
              <a:rPr lang="en-US" sz="1050" b="1" dirty="0">
                <a:solidFill>
                  <a:srgbClr val="2E060B"/>
                </a:solidFill>
                <a:latin typeface="Palatino Linotype" pitchFamily="34" charset="0"/>
                <a:ea typeface="Palatino Linotype" pitchFamily="34" charset="-122"/>
                <a:cs typeface="Palatino Linotype" pitchFamily="34" charset="-120"/>
              </a:rPr>
              <a:t>82–104'</a:t>
            </a:r>
            <a:endParaRPr lang="en-US" sz="1050" dirty="0"/>
          </a:p>
        </p:txBody>
      </p:sp>
      <p:sp>
        <p:nvSpPr>
          <p:cNvPr id="25" name="Text 23"/>
          <p:cNvSpPr/>
          <p:nvPr/>
        </p:nvSpPr>
        <p:spPr>
          <a:xfrm>
            <a:off x="2286000" y="4718304"/>
            <a:ext cx="2651760" cy="329184"/>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Aplicați</a:t>
            </a:r>
            <a:endParaRPr lang="en-US" sz="1500" dirty="0"/>
          </a:p>
        </p:txBody>
      </p:sp>
      <p:sp>
        <p:nvSpPr>
          <p:cNvPr id="26" name="Text 24"/>
          <p:cNvSpPr/>
          <p:nvPr/>
        </p:nvSpPr>
        <p:spPr>
          <a:xfrm>
            <a:off x="4983480" y="4718304"/>
            <a:ext cx="6309360" cy="329184"/>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Același dosar, patru substanțe. Un diagnostic, trei regimuri juridice.</a:t>
            </a:r>
            <a:endParaRPr lang="en-US" sz="1250" dirty="0"/>
          </a:p>
        </p:txBody>
      </p:sp>
      <p:sp>
        <p:nvSpPr>
          <p:cNvPr id="27" name="Shape 25"/>
          <p:cNvSpPr/>
          <p:nvPr/>
        </p:nvSpPr>
        <p:spPr>
          <a:xfrm>
            <a:off x="868680" y="5413248"/>
            <a:ext cx="1170432" cy="329184"/>
          </a:xfrm>
          <a:prstGeom prst="roundRect">
            <a:avLst>
              <a:gd name="adj" fmla="val 50000"/>
            </a:avLst>
          </a:prstGeom>
          <a:solidFill>
            <a:srgbClr val="FF8A3D"/>
          </a:solidFill>
          <a:ln w="12700">
            <a:solidFill>
              <a:srgbClr val="FF8A3D"/>
            </a:solidFill>
            <a:prstDash val="solid"/>
          </a:ln>
        </p:spPr>
        <p:txBody>
          <a:bodyPr/>
          <a:lstStyle/>
          <a:p>
            <a:endParaRPr lang="ro-RO"/>
          </a:p>
        </p:txBody>
      </p:sp>
      <p:sp>
        <p:nvSpPr>
          <p:cNvPr id="28" name="Text 26"/>
          <p:cNvSpPr/>
          <p:nvPr/>
        </p:nvSpPr>
        <p:spPr>
          <a:xfrm>
            <a:off x="868680" y="5413248"/>
            <a:ext cx="1170432" cy="329184"/>
          </a:xfrm>
          <a:prstGeom prst="rect">
            <a:avLst/>
          </a:prstGeom>
          <a:noFill/>
          <a:ln/>
        </p:spPr>
        <p:txBody>
          <a:bodyPr wrap="square" lIns="0" tIns="0" rIns="0" bIns="0" rtlCol="0" anchor="ctr"/>
          <a:lstStyle/>
          <a:p>
            <a:pPr marL="0" indent="0" algn="ctr">
              <a:buNone/>
            </a:pPr>
            <a:r>
              <a:rPr lang="en-US" sz="1050" b="1" dirty="0">
                <a:solidFill>
                  <a:srgbClr val="3D2A00"/>
                </a:solidFill>
                <a:latin typeface="Palatino Linotype" pitchFamily="34" charset="0"/>
                <a:ea typeface="Palatino Linotype" pitchFamily="34" charset="-122"/>
                <a:cs typeface="Palatino Linotype" pitchFamily="34" charset="-120"/>
              </a:rPr>
              <a:t>104–120'</a:t>
            </a:r>
            <a:endParaRPr lang="en-US" sz="1050" dirty="0"/>
          </a:p>
        </p:txBody>
      </p:sp>
      <p:sp>
        <p:nvSpPr>
          <p:cNvPr id="29" name="Text 27"/>
          <p:cNvSpPr/>
          <p:nvPr/>
        </p:nvSpPr>
        <p:spPr>
          <a:xfrm>
            <a:off x="2286000" y="5413248"/>
            <a:ext cx="2651760" cy="329184"/>
          </a:xfrm>
          <a:prstGeom prst="rect">
            <a:avLst/>
          </a:prstGeom>
          <a:noFill/>
          <a:ln/>
        </p:spPr>
        <p:txBody>
          <a:bodyPr wrap="square" lIns="0" tIns="0" rIns="0" bIns="0" rtlCol="0" anchor="ctr"/>
          <a:lstStyle/>
          <a:p>
            <a:pPr marL="0" indent="0">
              <a:buNone/>
            </a:pPr>
            <a:r>
              <a:rPr lang="en-US" sz="1500" b="1" dirty="0">
                <a:solidFill>
                  <a:srgbClr val="11121A"/>
                </a:solidFill>
                <a:latin typeface="Palatino Linotype" pitchFamily="34" charset="0"/>
                <a:ea typeface="Palatino Linotype" pitchFamily="34" charset="-122"/>
                <a:cs typeface="Palatino Linotype" pitchFamily="34" charset="-120"/>
              </a:rPr>
              <a:t>Sinteză</a:t>
            </a:r>
            <a:endParaRPr lang="en-US" sz="1500" dirty="0"/>
          </a:p>
        </p:txBody>
      </p:sp>
      <p:sp>
        <p:nvSpPr>
          <p:cNvPr id="30" name="Text 28"/>
          <p:cNvSpPr/>
          <p:nvPr/>
        </p:nvSpPr>
        <p:spPr>
          <a:xfrm>
            <a:off x="4983480" y="5413248"/>
            <a:ext cx="6309360" cy="329184"/>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Ce rămâne. Kahoot, 20 de itemi.</a:t>
            </a:r>
            <a:endParaRPr lang="en-US" sz="1250" dirty="0"/>
          </a:p>
        </p:txBody>
      </p:sp>
      <p:sp>
        <p:nvSpPr>
          <p:cNvPr id="31" name="Text 29"/>
          <p:cNvSpPr/>
          <p:nvPr/>
        </p:nvSpPr>
        <p:spPr>
          <a:xfrm>
            <a:off x="594360" y="6108192"/>
            <a:ext cx="10972800" cy="274320"/>
          </a:xfrm>
          <a:prstGeom prst="rect">
            <a:avLst/>
          </a:prstGeom>
          <a:noFill/>
          <a:ln/>
        </p:spPr>
        <p:txBody>
          <a:bodyPr wrap="square" lIns="0" tIns="0" rIns="0" bIns="0" rtlCol="0" anchor="ctr"/>
          <a:lstStyle/>
          <a:p>
            <a:pPr marL="0" indent="0">
              <a:buNone/>
            </a:pPr>
            <a:r>
              <a:rPr lang="en-US" sz="1150" i="1" dirty="0">
                <a:solidFill>
                  <a:srgbClr val="585A64"/>
                </a:solidFill>
                <a:latin typeface="Palatino Linotype" pitchFamily="34" charset="0"/>
                <a:ea typeface="Palatino Linotype" pitchFamily="34" charset="-122"/>
                <a:cs typeface="Palatino Linotype" pitchFamily="34" charset="-120"/>
              </a:rPr>
              <a:t>Pauză de 10 minute între „Istoria unui concept” și „Șase uși, un circuit”. Segmentul „Aplicați” nu se reduce.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marL="0" indent="0">
              <a:buNone/>
            </a:pPr>
            <a:r>
              <a:rPr lang="en-US" sz="13500" b="1" dirty="0">
                <a:solidFill>
                  <a:srgbClr val="FFC24B"/>
                </a:solidFill>
                <a:latin typeface="Palatino Linotype" pitchFamily="34" charset="0"/>
                <a:ea typeface="Palatino Linotype" pitchFamily="34" charset="-122"/>
                <a:cs typeface="Palatino Linotype" pitchFamily="34" charset="-120"/>
              </a:rPr>
              <a:t>01</a:t>
            </a:r>
            <a:endParaRPr lang="en-US" sz="13500" dirty="0"/>
          </a:p>
        </p:txBody>
      </p:sp>
      <p:sp>
        <p:nvSpPr>
          <p:cNvPr id="3" name="Shape 1"/>
          <p:cNvSpPr/>
          <p:nvPr/>
        </p:nvSpPr>
        <p:spPr>
          <a:xfrm>
            <a:off x="4160520" y="1691640"/>
            <a:ext cx="27432" cy="1737360"/>
          </a:xfrm>
          <a:prstGeom prst="rect">
            <a:avLst/>
          </a:prstGeom>
          <a:solidFill>
            <a:srgbClr val="FFC24B"/>
          </a:solidFill>
          <a:ln w="12700">
            <a:solidFill>
              <a:srgbClr val="FFC24B"/>
            </a:solidFill>
            <a:prstDash val="solid"/>
          </a:ln>
        </p:spPr>
        <p:txBody>
          <a:bodyPr/>
          <a:lstStyle/>
          <a:p>
            <a:endParaRPr lang="ro-RO"/>
          </a:p>
        </p:txBody>
      </p:sp>
      <p:sp>
        <p:nvSpPr>
          <p:cNvPr id="4" name="Text 2"/>
          <p:cNvSpPr/>
          <p:nvPr/>
        </p:nvSpPr>
        <p:spPr>
          <a:xfrm>
            <a:off x="4709160" y="1737360"/>
            <a:ext cx="6858000" cy="822960"/>
          </a:xfrm>
          <a:prstGeom prst="rect">
            <a:avLst/>
          </a:prstGeom>
          <a:noFill/>
          <a:ln/>
        </p:spPr>
        <p:txBody>
          <a:bodyPr wrap="square" lIns="0" tIns="0" rIns="0" bIns="0" rtlCol="0" anchor="ctr"/>
          <a:lstStyle/>
          <a:p>
            <a:pPr marL="0" indent="0">
              <a:buNone/>
            </a:pPr>
            <a:r>
              <a:rPr lang="en-US" sz="3300" b="1" dirty="0">
                <a:solidFill>
                  <a:srgbClr val="FFFFFF"/>
                </a:solidFill>
                <a:latin typeface="Palatino Linotype" pitchFamily="34" charset="0"/>
                <a:ea typeface="Palatino Linotype" pitchFamily="34" charset="-122"/>
                <a:cs typeface="Palatino Linotype" pitchFamily="34" charset="-120"/>
              </a:rPr>
              <a:t>CALIBRARE</a:t>
            </a:r>
            <a:endParaRPr lang="en-US" sz="3300" dirty="0"/>
          </a:p>
        </p:txBody>
      </p:sp>
      <p:sp>
        <p:nvSpPr>
          <p:cNvPr id="5" name="Text 3"/>
          <p:cNvSpPr/>
          <p:nvPr/>
        </p:nvSpPr>
        <p:spPr>
          <a:xfrm>
            <a:off x="4709160" y="2606040"/>
            <a:ext cx="6858000" cy="685800"/>
          </a:xfrm>
          <a:prstGeom prst="rect">
            <a:avLst/>
          </a:prstGeom>
          <a:noFill/>
          <a:ln/>
        </p:spPr>
        <p:txBody>
          <a:bodyPr wrap="square" lIns="0" tIns="0" rIns="0" bIns="0" rtlCol="0" anchor="t"/>
          <a:lstStyle/>
          <a:p>
            <a:pPr marL="0" indent="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Ce credeți că știți — și ce arată datele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FFC24B"/>
                </a:solidFill>
                <a:latin typeface="Palatino Linotype" pitchFamily="34" charset="0"/>
                <a:ea typeface="Palatino Linotype" pitchFamily="34" charset="-122"/>
                <a:cs typeface="Palatino Linotype" pitchFamily="34" charset="-120"/>
              </a:rPr>
              <a:t>MENTIMETER</a:t>
            </a:r>
            <a:endParaRPr lang="en-US" sz="1100" dirty="0"/>
          </a:p>
        </p:txBody>
      </p:sp>
      <p:sp>
        <p:nvSpPr>
          <p:cNvPr id="3" name="Shape 1"/>
          <p:cNvSpPr/>
          <p:nvPr/>
        </p:nvSpPr>
        <p:spPr>
          <a:xfrm>
            <a:off x="9006840" y="329184"/>
            <a:ext cx="2560320" cy="384048"/>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4" name="Text 2"/>
          <p:cNvSpPr/>
          <p:nvPr/>
        </p:nvSpPr>
        <p:spPr>
          <a:xfrm>
            <a:off x="9006840" y="329184"/>
            <a:ext cx="2560320" cy="384048"/>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ANONIM · 5 ÎNTREBĂRI</a:t>
            </a:r>
            <a:endParaRPr lang="en-US" sz="1000" dirty="0"/>
          </a:p>
        </p:txBody>
      </p:sp>
      <p:sp>
        <p:nvSpPr>
          <p:cNvPr id="5" name="Text 3"/>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Cât de bine estimați?</a:t>
            </a:r>
            <a:endParaRPr lang="en-US" sz="3000" dirty="0"/>
          </a:p>
        </p:txBody>
      </p:sp>
      <p:sp>
        <p:nvSpPr>
          <p:cNvPr id="6" name="Shape 4"/>
          <p:cNvSpPr/>
          <p:nvPr/>
        </p:nvSpPr>
        <p:spPr>
          <a:xfrm>
            <a:off x="594360" y="1874520"/>
            <a:ext cx="10972800" cy="694944"/>
          </a:xfrm>
          <a:prstGeom prst="roundRect">
            <a:avLst>
              <a:gd name="adj" fmla="val 11842"/>
            </a:avLst>
          </a:prstGeom>
          <a:solidFill>
            <a:srgbClr val="1D1F2B"/>
          </a:solidFill>
          <a:ln w="12700">
            <a:solidFill>
              <a:srgbClr val="1D1F2B"/>
            </a:solidFill>
            <a:prstDash val="solid"/>
          </a:ln>
        </p:spPr>
        <p:txBody>
          <a:bodyPr/>
          <a:lstStyle/>
          <a:p>
            <a:endParaRPr lang="ro-RO"/>
          </a:p>
        </p:txBody>
      </p:sp>
      <p:sp>
        <p:nvSpPr>
          <p:cNvPr id="7" name="Shape 5"/>
          <p:cNvSpPr/>
          <p:nvPr/>
        </p:nvSpPr>
        <p:spPr>
          <a:xfrm>
            <a:off x="868680" y="2066544"/>
            <a:ext cx="566928" cy="310896"/>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8" name="Text 6"/>
          <p:cNvSpPr/>
          <p:nvPr/>
        </p:nvSpPr>
        <p:spPr>
          <a:xfrm>
            <a:off x="868680" y="2066544"/>
            <a:ext cx="56692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M1</a:t>
            </a:r>
            <a:endParaRPr lang="en-US" sz="1000" dirty="0"/>
          </a:p>
        </p:txBody>
      </p:sp>
      <p:sp>
        <p:nvSpPr>
          <p:cNvPr id="9" name="Text 7"/>
          <p:cNvSpPr/>
          <p:nvPr/>
        </p:nvSpPr>
        <p:spPr>
          <a:xfrm>
            <a:off x="1645920" y="2066544"/>
            <a:ext cx="9601200" cy="310896"/>
          </a:xfrm>
          <a:prstGeom prst="rect">
            <a:avLst/>
          </a:prstGeom>
          <a:noFill/>
          <a:ln/>
        </p:spPr>
        <p:txBody>
          <a:bodyPr wrap="square" lIns="0" tIns="0" rIns="0" bIns="0" rtlCol="0" anchor="ctr"/>
          <a:lstStyle/>
          <a:p>
            <a:pPr marL="0" indent="0">
              <a:buNone/>
            </a:pPr>
            <a:r>
              <a:rPr lang="en-US" sz="1450" dirty="0">
                <a:solidFill>
                  <a:srgbClr val="FFFFFF"/>
                </a:solidFill>
                <a:latin typeface="Palatino Linotype" pitchFamily="34" charset="0"/>
                <a:ea typeface="Palatino Linotype" pitchFamily="34" charset="-122"/>
                <a:cs typeface="Palatino Linotype" pitchFamily="34" charset="-120"/>
              </a:rPr>
              <a:t>Ce procent dintre cei care au consumat vreodată nicotină ajung dependenți?</a:t>
            </a:r>
            <a:endParaRPr lang="en-US" sz="1450" dirty="0"/>
          </a:p>
        </p:txBody>
      </p:sp>
      <p:sp>
        <p:nvSpPr>
          <p:cNvPr id="10" name="Shape 8"/>
          <p:cNvSpPr/>
          <p:nvPr/>
        </p:nvSpPr>
        <p:spPr>
          <a:xfrm>
            <a:off x="594360" y="2660904"/>
            <a:ext cx="10972800" cy="694944"/>
          </a:xfrm>
          <a:prstGeom prst="roundRect">
            <a:avLst>
              <a:gd name="adj" fmla="val 11842"/>
            </a:avLst>
          </a:prstGeom>
          <a:solidFill>
            <a:srgbClr val="272A38"/>
          </a:solidFill>
          <a:ln w="12700">
            <a:solidFill>
              <a:srgbClr val="272A38"/>
            </a:solidFill>
            <a:prstDash val="solid"/>
          </a:ln>
        </p:spPr>
        <p:txBody>
          <a:bodyPr/>
          <a:lstStyle/>
          <a:p>
            <a:endParaRPr lang="ro-RO"/>
          </a:p>
        </p:txBody>
      </p:sp>
      <p:sp>
        <p:nvSpPr>
          <p:cNvPr id="11" name="Shape 9"/>
          <p:cNvSpPr/>
          <p:nvPr/>
        </p:nvSpPr>
        <p:spPr>
          <a:xfrm>
            <a:off x="868680" y="2852928"/>
            <a:ext cx="566928" cy="310896"/>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12" name="Text 10"/>
          <p:cNvSpPr/>
          <p:nvPr/>
        </p:nvSpPr>
        <p:spPr>
          <a:xfrm>
            <a:off x="868680" y="2852928"/>
            <a:ext cx="56692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M2</a:t>
            </a:r>
            <a:endParaRPr lang="en-US" sz="1000" dirty="0"/>
          </a:p>
        </p:txBody>
      </p:sp>
      <p:sp>
        <p:nvSpPr>
          <p:cNvPr id="13" name="Text 11"/>
          <p:cNvSpPr/>
          <p:nvPr/>
        </p:nvSpPr>
        <p:spPr>
          <a:xfrm>
            <a:off x="1645920" y="2852928"/>
            <a:ext cx="9601200" cy="310896"/>
          </a:xfrm>
          <a:prstGeom prst="rect">
            <a:avLst/>
          </a:prstGeom>
          <a:noFill/>
          <a:ln/>
        </p:spPr>
        <p:txBody>
          <a:bodyPr wrap="square" lIns="0" tIns="0" rIns="0" bIns="0" rtlCol="0" anchor="ctr"/>
          <a:lstStyle/>
          <a:p>
            <a:pPr marL="0" indent="0">
              <a:buNone/>
            </a:pPr>
            <a:r>
              <a:rPr lang="en-US" sz="1450" dirty="0">
                <a:solidFill>
                  <a:srgbClr val="FFFFFF"/>
                </a:solidFill>
                <a:latin typeface="Palatino Linotype" pitchFamily="34" charset="0"/>
                <a:ea typeface="Palatino Linotype" pitchFamily="34" charset="-122"/>
                <a:cs typeface="Palatino Linotype" pitchFamily="34" charset="-120"/>
              </a:rPr>
              <a:t>Ce procent dintre cei care au consumat vreodată canabis ajung dependenți?</a:t>
            </a:r>
            <a:endParaRPr lang="en-US" sz="1450" dirty="0"/>
          </a:p>
        </p:txBody>
      </p:sp>
      <p:sp>
        <p:nvSpPr>
          <p:cNvPr id="14" name="Shape 12"/>
          <p:cNvSpPr/>
          <p:nvPr/>
        </p:nvSpPr>
        <p:spPr>
          <a:xfrm>
            <a:off x="594360" y="3447288"/>
            <a:ext cx="10972800" cy="694944"/>
          </a:xfrm>
          <a:prstGeom prst="roundRect">
            <a:avLst>
              <a:gd name="adj" fmla="val 11842"/>
            </a:avLst>
          </a:prstGeom>
          <a:solidFill>
            <a:srgbClr val="1D1F2B"/>
          </a:solidFill>
          <a:ln w="12700">
            <a:solidFill>
              <a:srgbClr val="1D1F2B"/>
            </a:solidFill>
            <a:prstDash val="solid"/>
          </a:ln>
        </p:spPr>
        <p:txBody>
          <a:bodyPr/>
          <a:lstStyle/>
          <a:p>
            <a:endParaRPr lang="ro-RO"/>
          </a:p>
        </p:txBody>
      </p:sp>
      <p:sp>
        <p:nvSpPr>
          <p:cNvPr id="15" name="Shape 13"/>
          <p:cNvSpPr/>
          <p:nvPr/>
        </p:nvSpPr>
        <p:spPr>
          <a:xfrm>
            <a:off x="868680" y="3639312"/>
            <a:ext cx="566928" cy="310896"/>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16" name="Text 14"/>
          <p:cNvSpPr/>
          <p:nvPr/>
        </p:nvSpPr>
        <p:spPr>
          <a:xfrm>
            <a:off x="868680" y="3639312"/>
            <a:ext cx="56692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M3</a:t>
            </a:r>
            <a:endParaRPr lang="en-US" sz="1000" dirty="0"/>
          </a:p>
        </p:txBody>
      </p:sp>
      <p:sp>
        <p:nvSpPr>
          <p:cNvPr id="17" name="Text 15"/>
          <p:cNvSpPr/>
          <p:nvPr/>
        </p:nvSpPr>
        <p:spPr>
          <a:xfrm>
            <a:off x="1645920" y="3639312"/>
            <a:ext cx="9601200" cy="310896"/>
          </a:xfrm>
          <a:prstGeom prst="rect">
            <a:avLst/>
          </a:prstGeom>
          <a:noFill/>
          <a:ln/>
        </p:spPr>
        <p:txBody>
          <a:bodyPr wrap="square" lIns="0" tIns="0" rIns="0" bIns="0" rtlCol="0" anchor="ctr"/>
          <a:lstStyle/>
          <a:p>
            <a:pPr marL="0" indent="0">
              <a:buNone/>
            </a:pPr>
            <a:r>
              <a:rPr lang="en-US" sz="1450" dirty="0">
                <a:solidFill>
                  <a:srgbClr val="FFFFFF"/>
                </a:solidFill>
                <a:latin typeface="Palatino Linotype" pitchFamily="34" charset="0"/>
                <a:ea typeface="Palatino Linotype" pitchFamily="34" charset="-122"/>
                <a:cs typeface="Palatino Linotype" pitchFamily="34" charset="-120"/>
              </a:rPr>
              <a:t>Ce procent dintre persoanele dependente de cocaină ajung, de-a lungul vieții, în remisie?</a:t>
            </a:r>
            <a:endParaRPr lang="en-US" sz="1450" dirty="0"/>
          </a:p>
        </p:txBody>
      </p:sp>
      <p:sp>
        <p:nvSpPr>
          <p:cNvPr id="18" name="Shape 16"/>
          <p:cNvSpPr/>
          <p:nvPr/>
        </p:nvSpPr>
        <p:spPr>
          <a:xfrm>
            <a:off x="594360" y="4233672"/>
            <a:ext cx="10972800" cy="694944"/>
          </a:xfrm>
          <a:prstGeom prst="roundRect">
            <a:avLst>
              <a:gd name="adj" fmla="val 11842"/>
            </a:avLst>
          </a:prstGeom>
          <a:solidFill>
            <a:srgbClr val="272A38"/>
          </a:solidFill>
          <a:ln w="12700">
            <a:solidFill>
              <a:srgbClr val="272A38"/>
            </a:solidFill>
            <a:prstDash val="solid"/>
          </a:ln>
        </p:spPr>
        <p:txBody>
          <a:bodyPr/>
          <a:lstStyle/>
          <a:p>
            <a:endParaRPr lang="ro-RO"/>
          </a:p>
        </p:txBody>
      </p:sp>
      <p:sp>
        <p:nvSpPr>
          <p:cNvPr id="19" name="Shape 17"/>
          <p:cNvSpPr/>
          <p:nvPr/>
        </p:nvSpPr>
        <p:spPr>
          <a:xfrm>
            <a:off x="868680" y="4425696"/>
            <a:ext cx="566928" cy="310896"/>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20" name="Text 18"/>
          <p:cNvSpPr/>
          <p:nvPr/>
        </p:nvSpPr>
        <p:spPr>
          <a:xfrm>
            <a:off x="868680" y="4425696"/>
            <a:ext cx="56692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M4</a:t>
            </a:r>
            <a:endParaRPr lang="en-US" sz="1000" dirty="0"/>
          </a:p>
        </p:txBody>
      </p:sp>
      <p:sp>
        <p:nvSpPr>
          <p:cNvPr id="21" name="Text 19"/>
          <p:cNvSpPr/>
          <p:nvPr/>
        </p:nvSpPr>
        <p:spPr>
          <a:xfrm>
            <a:off x="1645920" y="4425696"/>
            <a:ext cx="9601200" cy="310896"/>
          </a:xfrm>
          <a:prstGeom prst="rect">
            <a:avLst/>
          </a:prstGeom>
          <a:noFill/>
          <a:ln/>
        </p:spPr>
        <p:txBody>
          <a:bodyPr wrap="square" lIns="0" tIns="0" rIns="0" bIns="0" rtlCol="0" anchor="ctr"/>
          <a:lstStyle/>
          <a:p>
            <a:pPr marL="0" indent="0">
              <a:buNone/>
            </a:pPr>
            <a:r>
              <a:rPr lang="en-US" sz="1450" dirty="0">
                <a:solidFill>
                  <a:srgbClr val="FFFFFF"/>
                </a:solidFill>
                <a:latin typeface="Palatino Linotype" pitchFamily="34" charset="0"/>
                <a:ea typeface="Palatino Linotype" pitchFamily="34" charset="-122"/>
                <a:cs typeface="Palatino Linotype" pitchFamily="34" charset="-120"/>
              </a:rPr>
              <a:t>Care substanță are cel mai mare scor de daună totală în analiza britanică din The Lancet?</a:t>
            </a:r>
            <a:endParaRPr lang="en-US" sz="1450" dirty="0"/>
          </a:p>
        </p:txBody>
      </p:sp>
      <p:sp>
        <p:nvSpPr>
          <p:cNvPr id="22" name="Shape 20"/>
          <p:cNvSpPr/>
          <p:nvPr/>
        </p:nvSpPr>
        <p:spPr>
          <a:xfrm>
            <a:off x="594360" y="5020056"/>
            <a:ext cx="10972800" cy="694944"/>
          </a:xfrm>
          <a:prstGeom prst="roundRect">
            <a:avLst>
              <a:gd name="adj" fmla="val 11842"/>
            </a:avLst>
          </a:prstGeom>
          <a:solidFill>
            <a:srgbClr val="1D1F2B"/>
          </a:solidFill>
          <a:ln w="12700">
            <a:solidFill>
              <a:srgbClr val="1D1F2B"/>
            </a:solidFill>
            <a:prstDash val="solid"/>
          </a:ln>
        </p:spPr>
        <p:txBody>
          <a:bodyPr/>
          <a:lstStyle/>
          <a:p>
            <a:endParaRPr lang="ro-RO"/>
          </a:p>
        </p:txBody>
      </p:sp>
      <p:sp>
        <p:nvSpPr>
          <p:cNvPr id="23" name="Shape 21"/>
          <p:cNvSpPr/>
          <p:nvPr/>
        </p:nvSpPr>
        <p:spPr>
          <a:xfrm>
            <a:off x="868680" y="5212080"/>
            <a:ext cx="566928" cy="310896"/>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24" name="Text 22"/>
          <p:cNvSpPr/>
          <p:nvPr/>
        </p:nvSpPr>
        <p:spPr>
          <a:xfrm>
            <a:off x="868680" y="5212080"/>
            <a:ext cx="56692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M5</a:t>
            </a:r>
            <a:endParaRPr lang="en-US" sz="1000" dirty="0"/>
          </a:p>
        </p:txBody>
      </p:sp>
      <p:sp>
        <p:nvSpPr>
          <p:cNvPr id="25" name="Text 23"/>
          <p:cNvSpPr/>
          <p:nvPr/>
        </p:nvSpPr>
        <p:spPr>
          <a:xfrm>
            <a:off x="1645920" y="5212080"/>
            <a:ext cx="9601200" cy="310896"/>
          </a:xfrm>
          <a:prstGeom prst="rect">
            <a:avLst/>
          </a:prstGeom>
          <a:noFill/>
          <a:ln/>
        </p:spPr>
        <p:txBody>
          <a:bodyPr wrap="square" lIns="0" tIns="0" rIns="0" bIns="0" rtlCol="0" anchor="ctr"/>
          <a:lstStyle/>
          <a:p>
            <a:pPr marL="0" indent="0">
              <a:buNone/>
            </a:pPr>
            <a:r>
              <a:rPr lang="en-US" sz="1450" dirty="0">
                <a:solidFill>
                  <a:srgbClr val="FFFFFF"/>
                </a:solidFill>
                <a:latin typeface="Palatino Linotype" pitchFamily="34" charset="0"/>
                <a:ea typeface="Palatino Linotype" pitchFamily="34" charset="-122"/>
                <a:cs typeface="Palatino Linotype" pitchFamily="34" charset="-120"/>
              </a:rPr>
              <a:t>Explicația biologică a problemelor psihice, inclusiv a dependenței, reduce stigmatizarea?</a:t>
            </a:r>
            <a:endParaRPr lang="en-US" sz="1450" dirty="0"/>
          </a:p>
        </p:txBody>
      </p:sp>
      <p:sp>
        <p:nvSpPr>
          <p:cNvPr id="26" name="Text 24"/>
          <p:cNvSpPr/>
          <p:nvPr/>
        </p:nvSpPr>
        <p:spPr>
          <a:xfrm>
            <a:off x="594360" y="5989320"/>
            <a:ext cx="10972800" cy="310896"/>
          </a:xfrm>
          <a:prstGeom prst="rect">
            <a:avLst/>
          </a:prstGeom>
          <a:noFill/>
          <a:ln/>
        </p:spPr>
        <p:txBody>
          <a:bodyPr wrap="square" lIns="0" tIns="0" rIns="0" bIns="0" rtlCol="0" anchor="ctr"/>
          <a:lstStyle/>
          <a:p>
            <a:pPr marL="0" indent="0">
              <a:buNone/>
            </a:pPr>
            <a:r>
              <a:rPr lang="en-US" sz="1200" i="1" dirty="0">
                <a:solidFill>
                  <a:srgbClr val="959BB0"/>
                </a:solidFill>
                <a:latin typeface="Palatino Linotype" pitchFamily="34" charset="0"/>
                <a:ea typeface="Palatino Linotype" pitchFamily="34" charset="-122"/>
                <a:cs typeface="Palatino Linotype" pitchFamily="34" charset="-120"/>
              </a:rPr>
              <a:t>Voturile sunt anonime. Trei dintre cei cinci itemi se reiau în Kahoot-ul final; votul „boală sau alegere?” se reia în Sesiunea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2286000"/>
            <a:ext cx="10972800" cy="2103120"/>
          </a:xfrm>
          <a:prstGeom prst="rect">
            <a:avLst/>
          </a:prstGeom>
          <a:noFill/>
          <a:ln/>
        </p:spPr>
        <p:txBody>
          <a:bodyPr wrap="square" lIns="0" tIns="0" rIns="0" bIns="0" rtlCol="0" anchor="ctr"/>
          <a:lstStyle/>
          <a:p>
            <a:pPr marL="0" indent="0" algn="ctr">
              <a:buNone/>
            </a:pPr>
            <a:r>
              <a:rPr lang="en-US" sz="19000" b="1" dirty="0">
                <a:solidFill>
                  <a:srgbClr val="FF4757"/>
                </a:solidFill>
                <a:latin typeface="Palatino Linotype" pitchFamily="34" charset="0"/>
                <a:ea typeface="Palatino Linotype" pitchFamily="34" charset="-122"/>
                <a:cs typeface="Palatino Linotype" pitchFamily="34" charset="-120"/>
              </a:rPr>
              <a:t>5%</a:t>
            </a:r>
            <a:endParaRPr lang="en-US" sz="19000" dirty="0"/>
          </a:p>
        </p:txBody>
      </p:sp>
      <p:sp>
        <p:nvSpPr>
          <p:cNvPr id="20" name="Text 18"/>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Heather, Addictive Behaviors Reports, 2017 · după datele lui Robins (1975)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DESCHIDERE · 1971</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2800" b="1" dirty="0">
                <a:solidFill>
                  <a:srgbClr val="FFFFFF"/>
                </a:solidFill>
                <a:latin typeface="Palatino Linotype" pitchFamily="34" charset="0"/>
                <a:ea typeface="Palatino Linotype" pitchFamily="34" charset="-122"/>
                <a:cs typeface="Palatino Linotype" pitchFamily="34" charset="-120"/>
              </a:rPr>
              <a:t>898 de interviuri cu militari întorși din Vietnam, lucrarea din 1975</a:t>
            </a:r>
            <a:endParaRPr lang="en-US" sz="2800" dirty="0"/>
          </a:p>
        </p:txBody>
      </p:sp>
      <p:sp>
        <p:nvSpPr>
          <p:cNvPr id="4" name="Shape 2"/>
          <p:cNvSpPr/>
          <p:nvPr/>
        </p:nvSpPr>
        <p:spPr>
          <a:xfrm>
            <a:off x="594360" y="1783080"/>
            <a:ext cx="2606040" cy="1481328"/>
          </a:xfrm>
          <a:prstGeom prst="roundRect">
            <a:avLst>
              <a:gd name="adj" fmla="val 5556"/>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850392" y="1984248"/>
            <a:ext cx="2093976" cy="658368"/>
          </a:xfrm>
          <a:prstGeom prst="rect">
            <a:avLst/>
          </a:prstGeom>
          <a:noFill/>
          <a:ln/>
        </p:spPr>
        <p:txBody>
          <a:bodyPr wrap="square" lIns="0" tIns="0" rIns="0" bIns="0" rtlCol="0" anchor="ctr"/>
          <a:lstStyle/>
          <a:p>
            <a:pPr marL="0" indent="0">
              <a:buNone/>
            </a:pPr>
            <a:r>
              <a:rPr lang="en-US" sz="3800" b="1" dirty="0">
                <a:solidFill>
                  <a:srgbClr val="FFFFFF"/>
                </a:solidFill>
                <a:latin typeface="Palatino Linotype" pitchFamily="34" charset="0"/>
                <a:ea typeface="Palatino Linotype" pitchFamily="34" charset="-122"/>
                <a:cs typeface="Palatino Linotype" pitchFamily="34" charset="-120"/>
              </a:rPr>
              <a:t>1%</a:t>
            </a:r>
            <a:endParaRPr lang="en-US" sz="3800" dirty="0"/>
          </a:p>
        </p:txBody>
      </p:sp>
      <p:sp>
        <p:nvSpPr>
          <p:cNvPr id="6" name="Text 4"/>
          <p:cNvSpPr/>
          <p:nvPr/>
        </p:nvSpPr>
        <p:spPr>
          <a:xfrm>
            <a:off x="850392" y="2660904"/>
            <a:ext cx="2093976"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consumaseră regulat opiacee înainte de înrolare</a:t>
            </a:r>
            <a:endParaRPr lang="en-US" sz="1150" dirty="0"/>
          </a:p>
        </p:txBody>
      </p:sp>
      <p:sp>
        <p:nvSpPr>
          <p:cNvPr id="7" name="Shape 5"/>
          <p:cNvSpPr/>
          <p:nvPr/>
        </p:nvSpPr>
        <p:spPr>
          <a:xfrm>
            <a:off x="3364992" y="1783080"/>
            <a:ext cx="2606040" cy="1481328"/>
          </a:xfrm>
          <a:prstGeom prst="roundRect">
            <a:avLst>
              <a:gd name="adj" fmla="val 5556"/>
            </a:avLst>
          </a:prstGeom>
          <a:solidFill>
            <a:srgbClr val="1D1F2B"/>
          </a:solidFill>
          <a:ln w="12700">
            <a:solidFill>
              <a:srgbClr val="1D1F2B"/>
            </a:solidFill>
            <a:prstDash val="solid"/>
          </a:ln>
        </p:spPr>
        <p:txBody>
          <a:bodyPr/>
          <a:lstStyle/>
          <a:p>
            <a:endParaRPr lang="ro-RO"/>
          </a:p>
        </p:txBody>
      </p:sp>
      <p:sp>
        <p:nvSpPr>
          <p:cNvPr id="8" name="Text 6"/>
          <p:cNvSpPr/>
          <p:nvPr/>
        </p:nvSpPr>
        <p:spPr>
          <a:xfrm>
            <a:off x="3621024" y="1984248"/>
            <a:ext cx="2093976" cy="658368"/>
          </a:xfrm>
          <a:prstGeom prst="rect">
            <a:avLst/>
          </a:prstGeom>
          <a:noFill/>
          <a:ln/>
        </p:spPr>
        <p:txBody>
          <a:bodyPr wrap="square" lIns="0" tIns="0" rIns="0" bIns="0" rtlCol="0" anchor="ctr"/>
          <a:lstStyle/>
          <a:p>
            <a:pPr marL="0" indent="0">
              <a:buNone/>
            </a:pPr>
            <a:r>
              <a:rPr lang="en-US" sz="3800" b="1" dirty="0">
                <a:solidFill>
                  <a:srgbClr val="FFFFFF"/>
                </a:solidFill>
                <a:latin typeface="Palatino Linotype" pitchFamily="34" charset="0"/>
                <a:ea typeface="Palatino Linotype" pitchFamily="34" charset="-122"/>
                <a:cs typeface="Palatino Linotype" pitchFamily="34" charset="-120"/>
              </a:rPr>
              <a:t>20%</a:t>
            </a:r>
            <a:endParaRPr lang="en-US" sz="3800" dirty="0"/>
          </a:p>
        </p:txBody>
      </p:sp>
      <p:sp>
        <p:nvSpPr>
          <p:cNvPr id="9" name="Text 7"/>
          <p:cNvSpPr/>
          <p:nvPr/>
        </p:nvSpPr>
        <p:spPr>
          <a:xfrm>
            <a:off x="3621024" y="2660904"/>
            <a:ext cx="2093976"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au devenit consumatori regulați în Vietnam</a:t>
            </a:r>
            <a:endParaRPr lang="en-US" sz="1150" dirty="0"/>
          </a:p>
        </p:txBody>
      </p:sp>
      <p:sp>
        <p:nvSpPr>
          <p:cNvPr id="10" name="Shape 8"/>
          <p:cNvSpPr/>
          <p:nvPr/>
        </p:nvSpPr>
        <p:spPr>
          <a:xfrm>
            <a:off x="6135624" y="1783080"/>
            <a:ext cx="2606040" cy="1481328"/>
          </a:xfrm>
          <a:prstGeom prst="roundRect">
            <a:avLst>
              <a:gd name="adj" fmla="val 5556"/>
            </a:avLst>
          </a:prstGeom>
          <a:solidFill>
            <a:srgbClr val="1D1F2B"/>
          </a:solidFill>
          <a:ln w="12700">
            <a:solidFill>
              <a:srgbClr val="1D1F2B"/>
            </a:solidFill>
            <a:prstDash val="solid"/>
          </a:ln>
        </p:spPr>
        <p:txBody>
          <a:bodyPr/>
          <a:lstStyle/>
          <a:p>
            <a:endParaRPr lang="ro-RO"/>
          </a:p>
        </p:txBody>
      </p:sp>
      <p:sp>
        <p:nvSpPr>
          <p:cNvPr id="11" name="Text 9"/>
          <p:cNvSpPr/>
          <p:nvPr/>
        </p:nvSpPr>
        <p:spPr>
          <a:xfrm>
            <a:off x="6391656" y="1984248"/>
            <a:ext cx="2093976" cy="658368"/>
          </a:xfrm>
          <a:prstGeom prst="rect">
            <a:avLst/>
          </a:prstGeom>
          <a:noFill/>
          <a:ln/>
        </p:spPr>
        <p:txBody>
          <a:bodyPr wrap="square" lIns="0" tIns="0" rIns="0" bIns="0" rtlCol="0" anchor="ctr"/>
          <a:lstStyle/>
          <a:p>
            <a:pPr marL="0" indent="0">
              <a:buNone/>
            </a:pPr>
            <a:r>
              <a:rPr lang="en-US" sz="3800" b="1" dirty="0">
                <a:solidFill>
                  <a:srgbClr val="FFFFFF"/>
                </a:solidFill>
                <a:latin typeface="Palatino Linotype" pitchFamily="34" charset="0"/>
                <a:ea typeface="Palatino Linotype" pitchFamily="34" charset="-122"/>
                <a:cs typeface="Palatino Linotype" pitchFamily="34" charset="-120"/>
              </a:rPr>
              <a:t>14%</a:t>
            </a:r>
            <a:endParaRPr lang="en-US" sz="3800" dirty="0"/>
          </a:p>
        </p:txBody>
      </p:sp>
      <p:sp>
        <p:nvSpPr>
          <p:cNvPr id="12" name="Text 10"/>
          <p:cNvSpPr/>
          <p:nvPr/>
        </p:nvSpPr>
        <p:spPr>
          <a:xfrm>
            <a:off x="6391656" y="2660904"/>
            <a:ext cx="2093976"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dintre cei cu test urinar pozitiv la plecare au redevenit dependenți</a:t>
            </a:r>
            <a:endParaRPr lang="en-US" sz="1150" dirty="0"/>
          </a:p>
        </p:txBody>
      </p:sp>
      <p:sp>
        <p:nvSpPr>
          <p:cNvPr id="13" name="Shape 11"/>
          <p:cNvSpPr/>
          <p:nvPr/>
        </p:nvSpPr>
        <p:spPr>
          <a:xfrm>
            <a:off x="8906256" y="1783080"/>
            <a:ext cx="2660904" cy="1481328"/>
          </a:xfrm>
          <a:prstGeom prst="roundRect">
            <a:avLst>
              <a:gd name="adj" fmla="val 5556"/>
            </a:avLst>
          </a:prstGeom>
          <a:solidFill>
            <a:srgbClr val="272A38"/>
          </a:solidFill>
          <a:ln w="12700">
            <a:solidFill>
              <a:srgbClr val="272A38"/>
            </a:solidFill>
            <a:prstDash val="solid"/>
          </a:ln>
        </p:spPr>
        <p:txBody>
          <a:bodyPr/>
          <a:lstStyle/>
          <a:p>
            <a:endParaRPr lang="ro-RO"/>
          </a:p>
        </p:txBody>
      </p:sp>
      <p:sp>
        <p:nvSpPr>
          <p:cNvPr id="14" name="Text 12"/>
          <p:cNvSpPr/>
          <p:nvPr/>
        </p:nvSpPr>
        <p:spPr>
          <a:xfrm>
            <a:off x="9162288" y="1984248"/>
            <a:ext cx="2148840" cy="658368"/>
          </a:xfrm>
          <a:prstGeom prst="rect">
            <a:avLst/>
          </a:prstGeom>
          <a:noFill/>
          <a:ln/>
        </p:spPr>
        <p:txBody>
          <a:bodyPr wrap="square" lIns="0" tIns="0" rIns="0" bIns="0" rtlCol="0" anchor="ctr"/>
          <a:lstStyle/>
          <a:p>
            <a:pPr marL="0" indent="0">
              <a:buNone/>
            </a:pPr>
            <a:r>
              <a:rPr lang="en-US" sz="3800" b="1" dirty="0">
                <a:solidFill>
                  <a:srgbClr val="FFC24B"/>
                </a:solidFill>
                <a:latin typeface="Palatino Linotype" pitchFamily="34" charset="0"/>
                <a:ea typeface="Palatino Linotype" pitchFamily="34" charset="-122"/>
                <a:cs typeface="Palatino Linotype" pitchFamily="34" charset="-120"/>
              </a:rPr>
              <a:t>88%</a:t>
            </a:r>
            <a:endParaRPr lang="en-US" sz="3800" dirty="0"/>
          </a:p>
        </p:txBody>
      </p:sp>
      <p:sp>
        <p:nvSpPr>
          <p:cNvPr id="15" name="Text 13"/>
          <p:cNvSpPr/>
          <p:nvPr/>
        </p:nvSpPr>
        <p:spPr>
          <a:xfrm>
            <a:off x="9162288" y="2660904"/>
            <a:ext cx="2148840"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nu reluaseră consumul regulat de opiacee la trei ani</a:t>
            </a:r>
            <a:endParaRPr lang="en-US" sz="1150" dirty="0"/>
          </a:p>
        </p:txBody>
      </p:sp>
      <p:sp>
        <p:nvSpPr>
          <p:cNvPr id="16" name="Shape 14"/>
          <p:cNvSpPr/>
          <p:nvPr/>
        </p:nvSpPr>
        <p:spPr>
          <a:xfrm>
            <a:off x="594360" y="3493008"/>
            <a:ext cx="10972800" cy="2377440"/>
          </a:xfrm>
          <a:prstGeom prst="roundRect">
            <a:avLst>
              <a:gd name="adj" fmla="val 3462"/>
            </a:avLst>
          </a:prstGeom>
          <a:solidFill>
            <a:srgbClr val="FF4757"/>
          </a:solidFill>
          <a:ln w="12700">
            <a:solidFill>
              <a:srgbClr val="FF4757"/>
            </a:solidFill>
            <a:prstDash val="solid"/>
          </a:ln>
        </p:spPr>
        <p:txBody>
          <a:bodyPr/>
          <a:lstStyle/>
          <a:p>
            <a:endParaRPr lang="ro-RO"/>
          </a:p>
        </p:txBody>
      </p:sp>
      <p:sp>
        <p:nvSpPr>
          <p:cNvPr id="17" name="Text 15"/>
          <p:cNvSpPr/>
          <p:nvPr/>
        </p:nvSpPr>
        <p:spPr>
          <a:xfrm>
            <a:off x="960120" y="3675888"/>
            <a:ext cx="10241280" cy="329184"/>
          </a:xfrm>
          <a:prstGeom prst="rect">
            <a:avLst/>
          </a:prstGeom>
          <a:noFill/>
          <a:ln/>
        </p:spPr>
        <p:txBody>
          <a:bodyPr wrap="square" lIns="0" tIns="0" rIns="0" bIns="0" rtlCol="0" anchor="ctr"/>
          <a:lstStyle/>
          <a:p>
            <a:pPr marL="0" indent="0">
              <a:buNone/>
            </a:pPr>
            <a:r>
              <a:rPr lang="en-US" sz="1450" b="1" dirty="0">
                <a:solidFill>
                  <a:srgbClr val="2E060B"/>
                </a:solidFill>
                <a:latin typeface="Palatino Linotype" pitchFamily="34" charset="0"/>
                <a:ea typeface="Palatino Linotype" pitchFamily="34" charset="-122"/>
                <a:cs typeface="Palatino Linotype" pitchFamily="34" charset="-120"/>
              </a:rPr>
              <a:t>În primul an după întoarcerea în Statele Unite:</a:t>
            </a:r>
            <a:endParaRPr lang="en-US" sz="1450" dirty="0"/>
          </a:p>
        </p:txBody>
      </p:sp>
      <p:sp>
        <p:nvSpPr>
          <p:cNvPr id="18" name="Text 16"/>
          <p:cNvSpPr/>
          <p:nvPr/>
        </p:nvSpPr>
        <p:spPr>
          <a:xfrm>
            <a:off x="960120" y="4041648"/>
            <a:ext cx="2286000" cy="1051560"/>
          </a:xfrm>
          <a:prstGeom prst="rect">
            <a:avLst/>
          </a:prstGeom>
          <a:noFill/>
          <a:ln/>
        </p:spPr>
        <p:txBody>
          <a:bodyPr wrap="square" lIns="0" tIns="0" rIns="0" bIns="0" rtlCol="0" anchor="ctr"/>
          <a:lstStyle/>
          <a:p>
            <a:pPr marL="0" indent="0">
              <a:buNone/>
            </a:pPr>
            <a:r>
              <a:rPr lang="en-US" sz="7400" b="1" dirty="0">
                <a:solidFill>
                  <a:srgbClr val="2E060B"/>
                </a:solidFill>
                <a:latin typeface="Palatino Linotype" pitchFamily="34" charset="0"/>
                <a:ea typeface="Palatino Linotype" pitchFamily="34" charset="-122"/>
                <a:cs typeface="Palatino Linotype" pitchFamily="34" charset="-120"/>
              </a:rPr>
              <a:t>5%</a:t>
            </a:r>
            <a:endParaRPr lang="en-US" sz="7400" dirty="0"/>
          </a:p>
        </p:txBody>
      </p:sp>
      <p:sp>
        <p:nvSpPr>
          <p:cNvPr id="19" name="Text 17"/>
          <p:cNvSpPr/>
          <p:nvPr/>
        </p:nvSpPr>
        <p:spPr>
          <a:xfrm>
            <a:off x="3566160" y="4041648"/>
            <a:ext cx="7635240" cy="1188720"/>
          </a:xfrm>
          <a:prstGeom prst="rect">
            <a:avLst/>
          </a:prstGeom>
          <a:noFill/>
          <a:ln/>
        </p:spPr>
        <p:txBody>
          <a:bodyPr wrap="square" lIns="0" tIns="0" rIns="0" bIns="0" rtlCol="0" anchor="ctr"/>
          <a:lstStyle/>
          <a:p>
            <a:pPr marL="0" indent="0">
              <a:lnSpc>
                <a:spcPts val="2300"/>
              </a:lnSpc>
              <a:buNone/>
            </a:pPr>
            <a:r>
              <a:rPr lang="en-US" sz="1400" dirty="0">
                <a:solidFill>
                  <a:srgbClr val="2E060B"/>
                </a:solidFill>
                <a:latin typeface="Palatino Linotype" pitchFamily="34" charset="0"/>
                <a:ea typeface="Palatino Linotype" pitchFamily="34" charset="-122"/>
                <a:cs typeface="Palatino Linotype" pitchFamily="34" charset="-120"/>
              </a:rPr>
              <a:t>dintre cei dependenți în Vietnam mai erau dependenți.</a:t>
            </a:r>
            <a:endParaRPr lang="en-US" sz="1400" dirty="0"/>
          </a:p>
          <a:p>
            <a:pPr marL="0" indent="0">
              <a:lnSpc>
                <a:spcPts val="2300"/>
              </a:lnSpc>
              <a:buNone/>
            </a:pPr>
            <a:r>
              <a:rPr lang="en-US" sz="1400" dirty="0">
                <a:solidFill>
                  <a:srgbClr val="2E060B"/>
                </a:solidFill>
                <a:latin typeface="Palatino Linotype" pitchFamily="34" charset="0"/>
                <a:ea typeface="Palatino Linotype" pitchFamily="34" charset="-122"/>
                <a:cs typeface="Palatino Linotype" pitchFamily="34" charset="-120"/>
              </a:rPr>
              <a:t>Consumul și dependența au scăzut, în esență, la nivelurile dinaintea plecării.</a:t>
            </a:r>
            <a:endParaRPr lang="en-US" sz="1400" dirty="0"/>
          </a:p>
          <a:p>
            <a:pPr marL="0" indent="0">
              <a:lnSpc>
                <a:spcPts val="2300"/>
              </a:lnSpc>
              <a:buNone/>
            </a:pPr>
            <a:r>
              <a:rPr lang="en-US" sz="1400" dirty="0">
                <a:solidFill>
                  <a:srgbClr val="2E060B"/>
                </a:solidFill>
                <a:latin typeface="Palatino Linotype" pitchFamily="34" charset="0"/>
                <a:ea typeface="Palatino Linotype" pitchFamily="34" charset="-122"/>
                <a:cs typeface="Palatino Linotype" pitchFamily="34" charset="-120"/>
              </a:rPr>
              <a:t>Drogul nu devenise indisponibil acasă; tratamentul nu explică rata scăzută a redevenirii dependenței.</a:t>
            </a:r>
            <a:endParaRPr lang="en-US" sz="1400" dirty="0"/>
          </a:p>
        </p:txBody>
      </p:sp>
      <p:sp>
        <p:nvSpPr>
          <p:cNvPr id="20" name="Text 18"/>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Robins, Helzer și Davis, Arch Gen Psychiatry, 1975 · Robins, 1993 · Heather, Addict Behav Rep, 2017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564B"/>
        </a:solidFill>
        <a:effectLst/>
      </p:bgPr>
    </p:bg>
    <p:spTree>
      <p:nvGrpSpPr>
        <p:cNvPr id="1" name=""/>
        <p:cNvGrpSpPr/>
        <p:nvPr/>
      </p:nvGrpSpPr>
      <p:grpSpPr>
        <a:xfrm>
          <a:off x="0" y="0"/>
          <a:ext cx="0" cy="0"/>
          <a:chOff x="0" y="0"/>
          <a:chExt cx="0" cy="0"/>
        </a:xfrm>
      </p:grpSpPr>
      <p:sp>
        <p:nvSpPr>
          <p:cNvPr id="2" name="Text 0"/>
          <p:cNvSpPr/>
          <p:nvPr/>
        </p:nvSpPr>
        <p:spPr>
          <a:xfrm>
            <a:off x="822960" y="1737360"/>
            <a:ext cx="10515600" cy="2651760"/>
          </a:xfrm>
          <a:prstGeom prst="rect">
            <a:avLst/>
          </a:prstGeom>
          <a:noFill/>
          <a:ln/>
        </p:spPr>
        <p:txBody>
          <a:bodyPr wrap="square" lIns="0" tIns="0" rIns="0" bIns="0" rtlCol="0" anchor="ctr"/>
          <a:lstStyle/>
          <a:p>
            <a:pPr marL="0" indent="0">
              <a:lnSpc>
                <a:spcPts val="5600"/>
              </a:lnSpc>
              <a:buNone/>
            </a:pPr>
            <a:r>
              <a:rPr lang="en-US" sz="3800" b="1" dirty="0">
                <a:solidFill>
                  <a:srgbClr val="FFFFFF"/>
                </a:solidFill>
                <a:latin typeface="Palatino Linotype" pitchFamily="34" charset="0"/>
                <a:ea typeface="Palatino Linotype" pitchFamily="34" charset="-122"/>
                <a:cs typeface="Palatino Linotype" pitchFamily="34" charset="-120"/>
              </a:rPr>
              <a:t>Dacă adicția este o boală cerebrală,</a:t>
            </a:r>
            <a:endParaRPr lang="en-US" sz="3800" dirty="0"/>
          </a:p>
          <a:p>
            <a:pPr marL="0" indent="0">
              <a:lnSpc>
                <a:spcPts val="5600"/>
              </a:lnSpc>
              <a:buNone/>
            </a:pPr>
            <a:r>
              <a:rPr lang="en-US" sz="3800" b="1" dirty="0">
                <a:solidFill>
                  <a:srgbClr val="FFFFFF"/>
                </a:solidFill>
                <a:latin typeface="Palatino Linotype" pitchFamily="34" charset="0"/>
                <a:ea typeface="Palatino Linotype" pitchFamily="34" charset="-122"/>
                <a:cs typeface="Palatino Linotype" pitchFamily="34" charset="-120"/>
              </a:rPr>
              <a:t>cine le-a vindecat creierul</a:t>
            </a:r>
            <a:endParaRPr lang="en-US" sz="3800" dirty="0"/>
          </a:p>
          <a:p>
            <a:pPr marL="0" indent="0">
              <a:lnSpc>
                <a:spcPts val="5600"/>
              </a:lnSpc>
              <a:buNone/>
            </a:pPr>
            <a:r>
              <a:rPr lang="en-US" sz="3800" b="1" dirty="0">
                <a:solidFill>
                  <a:srgbClr val="FFFFFF"/>
                </a:solidFill>
                <a:latin typeface="Palatino Linotype" pitchFamily="34" charset="0"/>
                <a:ea typeface="Palatino Linotype" pitchFamily="34" charset="-122"/>
                <a:cs typeface="Palatino Linotype" pitchFamily="34" charset="-120"/>
              </a:rPr>
              <a:t>după întoarcerea acasă?</a:t>
            </a:r>
            <a:endParaRPr lang="en-US" sz="3800" dirty="0"/>
          </a:p>
        </p:txBody>
      </p:sp>
      <p:sp>
        <p:nvSpPr>
          <p:cNvPr id="3" name="Shape 1"/>
          <p:cNvSpPr/>
          <p:nvPr/>
        </p:nvSpPr>
        <p:spPr>
          <a:xfrm>
            <a:off x="822960" y="4663440"/>
            <a:ext cx="1600200" cy="32004"/>
          </a:xfrm>
          <a:prstGeom prst="rect">
            <a:avLst/>
          </a:prstGeom>
          <a:solidFill>
            <a:srgbClr val="6FD9C9"/>
          </a:solidFill>
          <a:ln w="12700">
            <a:solidFill>
              <a:srgbClr val="6FD9C9"/>
            </a:solidFill>
            <a:prstDash val="solid"/>
          </a:ln>
        </p:spPr>
        <p:txBody>
          <a:bodyPr/>
          <a:lstStyle/>
          <a:p>
            <a:endParaRPr lang="ro-RO"/>
          </a:p>
        </p:txBody>
      </p:sp>
      <p:sp>
        <p:nvSpPr>
          <p:cNvPr id="4" name="Text 2"/>
          <p:cNvSpPr/>
          <p:nvPr/>
        </p:nvSpPr>
        <p:spPr>
          <a:xfrm>
            <a:off x="822960" y="4956048"/>
            <a:ext cx="10515600" cy="777240"/>
          </a:xfrm>
          <a:prstGeom prst="rect">
            <a:avLst/>
          </a:prstGeom>
          <a:noFill/>
          <a:ln/>
        </p:spPr>
        <p:txBody>
          <a:bodyPr wrap="square" lIns="0" tIns="0" rIns="0" bIns="0" rtlCol="0" anchor="t"/>
          <a:lstStyle/>
          <a:p>
            <a:pPr marL="0" indent="0">
              <a:lnSpc>
                <a:spcPts val="2300"/>
              </a:lnSpc>
              <a:buNone/>
            </a:pPr>
            <a:r>
              <a:rPr lang="en-US" sz="1450" dirty="0">
                <a:solidFill>
                  <a:srgbClr val="A9E8DE"/>
                </a:solidFill>
                <a:latin typeface="Palatino Linotype" pitchFamily="34" charset="0"/>
                <a:ea typeface="Palatino Linotype" pitchFamily="34" charset="-122"/>
                <a:cs typeface="Palatino Linotype" pitchFamily="34" charset="-120"/>
              </a:rPr>
              <a:t>Nu este o întrebare retorică și nu are un răspuns simplu. O reluăm în Sesiunea 7, cu același vot anonim; diferența dintre cele două voturi arată cum s-a schimbat felul în care sala gândește problema.</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DE CE AM FĂCUT ASTA</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Percepțiile nu sunt date — nici ale voastre, nici ale mele</a:t>
            </a:r>
            <a:endParaRPr lang="en-US" sz="3000" dirty="0"/>
          </a:p>
        </p:txBody>
      </p:sp>
      <p:sp>
        <p:nvSpPr>
          <p:cNvPr id="4" name="Text 2"/>
          <p:cNvSpPr/>
          <p:nvPr/>
        </p:nvSpPr>
        <p:spPr>
          <a:xfrm>
            <a:off x="594360" y="1463040"/>
            <a:ext cx="10972800" cy="384048"/>
          </a:xfrm>
          <a:prstGeom prst="rect">
            <a:avLst/>
          </a:prstGeom>
          <a:noFill/>
          <a:ln/>
        </p:spPr>
        <p:txBody>
          <a:bodyPr wrap="square" lIns="0" tIns="0" rIns="0" bIns="0" rtlCol="0" anchor="ctr"/>
          <a:lstStyle/>
          <a:p>
            <a:pPr marL="0" indent="0">
              <a:buNone/>
            </a:pPr>
            <a:r>
              <a:rPr lang="en-US" sz="1450" dirty="0">
                <a:solidFill>
                  <a:srgbClr val="585A64"/>
                </a:solidFill>
                <a:latin typeface="Palatino Linotype" pitchFamily="34" charset="0"/>
                <a:ea typeface="Palatino Linotype" pitchFamily="34" charset="-122"/>
                <a:cs typeface="Palatino Linotype" pitchFamily="34" charset="-120"/>
              </a:rPr>
              <a:t>De unde vine estimarea pe care tocmai ați dat-o?</a:t>
            </a:r>
            <a:endParaRPr lang="en-US" sz="1450" dirty="0"/>
          </a:p>
        </p:txBody>
      </p:sp>
      <p:sp>
        <p:nvSpPr>
          <p:cNvPr id="5" name="Shape 3"/>
          <p:cNvSpPr/>
          <p:nvPr/>
        </p:nvSpPr>
        <p:spPr>
          <a:xfrm>
            <a:off x="594360" y="1975104"/>
            <a:ext cx="10972800" cy="1078992"/>
          </a:xfrm>
          <a:prstGeom prst="roundRect">
            <a:avLst>
              <a:gd name="adj" fmla="val 7627"/>
            </a:avLst>
          </a:prstGeom>
          <a:solidFill>
            <a:srgbClr val="ECEAE4"/>
          </a:solidFill>
          <a:ln w="12700">
            <a:solidFill>
              <a:srgbClr val="ECEAE4"/>
            </a:solidFill>
            <a:prstDash val="solid"/>
          </a:ln>
        </p:spPr>
        <p:txBody>
          <a:bodyPr/>
          <a:lstStyle/>
          <a:p>
            <a:endParaRPr lang="ro-RO"/>
          </a:p>
        </p:txBody>
      </p:sp>
      <p:sp>
        <p:nvSpPr>
          <p:cNvPr id="6" name="Shape 4"/>
          <p:cNvSpPr/>
          <p:nvPr/>
        </p:nvSpPr>
        <p:spPr>
          <a:xfrm>
            <a:off x="914400" y="2304288"/>
            <a:ext cx="420624" cy="420624"/>
          </a:xfrm>
          <a:prstGeom prst="ellipse">
            <a:avLst/>
          </a:prstGeom>
          <a:solidFill>
            <a:srgbClr val="B02532"/>
          </a:solidFill>
          <a:ln w="12700">
            <a:solidFill>
              <a:srgbClr val="B02532"/>
            </a:solidFill>
            <a:prstDash val="solid"/>
          </a:ln>
        </p:spPr>
        <p:txBody>
          <a:bodyPr/>
          <a:lstStyle/>
          <a:p>
            <a:endParaRPr lang="ro-RO"/>
          </a:p>
        </p:txBody>
      </p:sp>
      <p:sp>
        <p:nvSpPr>
          <p:cNvPr id="7" name="Text 5"/>
          <p:cNvSpPr/>
          <p:nvPr/>
        </p:nvSpPr>
        <p:spPr>
          <a:xfrm>
            <a:off x="914400" y="23042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1</a:t>
            </a:r>
            <a:endParaRPr lang="en-US" sz="1500" dirty="0"/>
          </a:p>
        </p:txBody>
      </p:sp>
      <p:sp>
        <p:nvSpPr>
          <p:cNvPr id="8" name="Text 6"/>
          <p:cNvSpPr/>
          <p:nvPr/>
        </p:nvSpPr>
        <p:spPr>
          <a:xfrm>
            <a:off x="1508760" y="2139696"/>
            <a:ext cx="9784080" cy="365760"/>
          </a:xfrm>
          <a:prstGeom prst="rect">
            <a:avLst/>
          </a:prstGeom>
          <a:noFill/>
          <a:ln/>
        </p:spPr>
        <p:txBody>
          <a:bodyPr wrap="square" lIns="0" tIns="0" rIns="0" bIns="0" rtlCol="0" anchor="ctr"/>
          <a:lstStyle/>
          <a:p>
            <a:pPr marL="0" indent="0">
              <a:buNone/>
            </a:pPr>
            <a:r>
              <a:rPr lang="en-US" sz="1500" b="1" dirty="0">
                <a:solidFill>
                  <a:srgbClr val="B02532"/>
                </a:solidFill>
                <a:latin typeface="Palatino Linotype" pitchFamily="34" charset="0"/>
                <a:ea typeface="Palatino Linotype" pitchFamily="34" charset="-122"/>
                <a:cs typeface="Palatino Linotype" pitchFamily="34" charset="-120"/>
              </a:rPr>
              <a:t>Din ce ați văzut în presă</a:t>
            </a:r>
            <a:endParaRPr lang="en-US" sz="1500" dirty="0"/>
          </a:p>
        </p:txBody>
      </p:sp>
      <p:sp>
        <p:nvSpPr>
          <p:cNvPr id="9" name="Text 7"/>
          <p:cNvSpPr/>
          <p:nvPr/>
        </p:nvSpPr>
        <p:spPr>
          <a:xfrm>
            <a:off x="1508760" y="2523744"/>
            <a:ext cx="9784080" cy="457200"/>
          </a:xfrm>
          <a:prstGeom prst="rect">
            <a:avLst/>
          </a:prstGeom>
          <a:noFill/>
          <a:ln/>
        </p:spPr>
        <p:txBody>
          <a:bodyPr wrap="square" lIns="0" tIns="0" rIns="0" bIns="0" rtlCol="0" anchor="t"/>
          <a:lstStyle/>
          <a:p>
            <a:pPr marL="0" indent="0">
              <a:lnSpc>
                <a:spcPts val="1800"/>
              </a:lnSpc>
              <a:buNone/>
            </a:pPr>
            <a:r>
              <a:rPr lang="en-US" sz="1250" dirty="0">
                <a:solidFill>
                  <a:srgbClr val="11121A"/>
                </a:solidFill>
                <a:latin typeface="Palatino Linotype" pitchFamily="34" charset="0"/>
                <a:ea typeface="Palatino Linotype" pitchFamily="34" charset="-122"/>
                <a:cs typeface="Palatino Linotype" pitchFamily="34" charset="-120"/>
              </a:rPr>
              <a:t>Presa relatează mai ales cazuri, nu distribuții. O supradoză devine știre; persoanele care nu au devenit dependente nu devin.</a:t>
            </a:r>
            <a:endParaRPr lang="en-US" sz="1250" dirty="0"/>
          </a:p>
        </p:txBody>
      </p:sp>
      <p:sp>
        <p:nvSpPr>
          <p:cNvPr id="10" name="Shape 8"/>
          <p:cNvSpPr/>
          <p:nvPr/>
        </p:nvSpPr>
        <p:spPr>
          <a:xfrm>
            <a:off x="594360" y="3163824"/>
            <a:ext cx="10972800" cy="1078992"/>
          </a:xfrm>
          <a:prstGeom prst="roundRect">
            <a:avLst>
              <a:gd name="adj" fmla="val 7627"/>
            </a:avLst>
          </a:prstGeom>
          <a:solidFill>
            <a:srgbClr val="F9F8F5"/>
          </a:solidFill>
          <a:ln w="12700">
            <a:solidFill>
              <a:srgbClr val="F9F8F5"/>
            </a:solidFill>
            <a:prstDash val="solid"/>
          </a:ln>
        </p:spPr>
        <p:txBody>
          <a:bodyPr/>
          <a:lstStyle/>
          <a:p>
            <a:endParaRPr lang="ro-RO"/>
          </a:p>
        </p:txBody>
      </p:sp>
      <p:sp>
        <p:nvSpPr>
          <p:cNvPr id="11" name="Shape 9"/>
          <p:cNvSpPr/>
          <p:nvPr/>
        </p:nvSpPr>
        <p:spPr>
          <a:xfrm>
            <a:off x="914400" y="3493008"/>
            <a:ext cx="420624" cy="420624"/>
          </a:xfrm>
          <a:prstGeom prst="ellipse">
            <a:avLst/>
          </a:prstGeom>
          <a:solidFill>
            <a:srgbClr val="4A2D8C"/>
          </a:solidFill>
          <a:ln w="12700">
            <a:solidFill>
              <a:srgbClr val="4A2D8C"/>
            </a:solidFill>
            <a:prstDash val="solid"/>
          </a:ln>
        </p:spPr>
        <p:txBody>
          <a:bodyPr/>
          <a:lstStyle/>
          <a:p>
            <a:endParaRPr lang="ro-RO"/>
          </a:p>
        </p:txBody>
      </p:sp>
      <p:sp>
        <p:nvSpPr>
          <p:cNvPr id="12" name="Text 10"/>
          <p:cNvSpPr/>
          <p:nvPr/>
        </p:nvSpPr>
        <p:spPr>
          <a:xfrm>
            <a:off x="914400" y="349300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2</a:t>
            </a:r>
            <a:endParaRPr lang="en-US" sz="1500" dirty="0"/>
          </a:p>
        </p:txBody>
      </p:sp>
      <p:sp>
        <p:nvSpPr>
          <p:cNvPr id="13" name="Text 11"/>
          <p:cNvSpPr/>
          <p:nvPr/>
        </p:nvSpPr>
        <p:spPr>
          <a:xfrm>
            <a:off x="1508760" y="3328416"/>
            <a:ext cx="9784080" cy="365760"/>
          </a:xfrm>
          <a:prstGeom prst="rect">
            <a:avLst/>
          </a:prstGeom>
          <a:noFill/>
          <a:ln/>
        </p:spPr>
        <p:txBody>
          <a:bodyPr wrap="square" lIns="0" tIns="0" rIns="0" bIns="0" rtlCol="0" anchor="ctr"/>
          <a:lstStyle/>
          <a:p>
            <a:pPr marL="0" indent="0">
              <a:buNone/>
            </a:pPr>
            <a:r>
              <a:rPr lang="en-US" sz="1500" b="1" dirty="0">
                <a:solidFill>
                  <a:srgbClr val="4A2D8C"/>
                </a:solidFill>
                <a:latin typeface="Palatino Linotype" pitchFamily="34" charset="0"/>
                <a:ea typeface="Palatino Linotype" pitchFamily="34" charset="-122"/>
                <a:cs typeface="Palatino Linotype" pitchFamily="34" charset="-120"/>
              </a:rPr>
              <a:t>Din ce v-a spus cineva la un curs</a:t>
            </a:r>
            <a:endParaRPr lang="en-US" sz="1500" dirty="0"/>
          </a:p>
        </p:txBody>
      </p:sp>
      <p:sp>
        <p:nvSpPr>
          <p:cNvPr id="14" name="Text 12"/>
          <p:cNvSpPr/>
          <p:nvPr/>
        </p:nvSpPr>
        <p:spPr>
          <a:xfrm>
            <a:off x="1508760" y="3712464"/>
            <a:ext cx="9784080" cy="457200"/>
          </a:xfrm>
          <a:prstGeom prst="rect">
            <a:avLst/>
          </a:prstGeom>
          <a:noFill/>
          <a:ln/>
        </p:spPr>
        <p:txBody>
          <a:bodyPr wrap="square" lIns="0" tIns="0" rIns="0" bIns="0" rtlCol="0" anchor="t"/>
          <a:lstStyle/>
          <a:p>
            <a:pPr marL="0" indent="0">
              <a:lnSpc>
                <a:spcPts val="1800"/>
              </a:lnSpc>
              <a:buNone/>
            </a:pPr>
            <a:r>
              <a:rPr lang="en-US" sz="1250" dirty="0">
                <a:solidFill>
                  <a:srgbClr val="11121A"/>
                </a:solidFill>
                <a:latin typeface="Palatino Linotype" pitchFamily="34" charset="0"/>
                <a:ea typeface="Palatino Linotype" pitchFamily="34" charset="-122"/>
                <a:cs typeface="Palatino Linotype" pitchFamily="34" charset="-120"/>
              </a:rPr>
              <a:t>Inclusiv eu, astăzi. Motiv pentru care fiecare cifră din această sesiune poartă sursa pe același diapozitiv.</a:t>
            </a:r>
            <a:endParaRPr lang="en-US" sz="1250" dirty="0"/>
          </a:p>
        </p:txBody>
      </p:sp>
      <p:sp>
        <p:nvSpPr>
          <p:cNvPr id="15" name="Shape 13"/>
          <p:cNvSpPr/>
          <p:nvPr/>
        </p:nvSpPr>
        <p:spPr>
          <a:xfrm>
            <a:off x="594360" y="4352544"/>
            <a:ext cx="10972800" cy="1078992"/>
          </a:xfrm>
          <a:prstGeom prst="roundRect">
            <a:avLst>
              <a:gd name="adj" fmla="val 7627"/>
            </a:avLst>
          </a:prstGeom>
          <a:solidFill>
            <a:srgbClr val="ECEAE4"/>
          </a:solidFill>
          <a:ln w="12700">
            <a:solidFill>
              <a:srgbClr val="ECEAE4"/>
            </a:solidFill>
            <a:prstDash val="solid"/>
          </a:ln>
        </p:spPr>
        <p:txBody>
          <a:bodyPr/>
          <a:lstStyle/>
          <a:p>
            <a:endParaRPr lang="ro-RO"/>
          </a:p>
        </p:txBody>
      </p:sp>
      <p:sp>
        <p:nvSpPr>
          <p:cNvPr id="16" name="Shape 14"/>
          <p:cNvSpPr/>
          <p:nvPr/>
        </p:nvSpPr>
        <p:spPr>
          <a:xfrm>
            <a:off x="914400" y="4681728"/>
            <a:ext cx="420624" cy="420624"/>
          </a:xfrm>
          <a:prstGeom prst="ellipse">
            <a:avLst/>
          </a:prstGeom>
          <a:solidFill>
            <a:srgbClr val="0E7C6B"/>
          </a:solidFill>
          <a:ln w="12700">
            <a:solidFill>
              <a:srgbClr val="0E7C6B"/>
            </a:solidFill>
            <a:prstDash val="solid"/>
          </a:ln>
        </p:spPr>
        <p:txBody>
          <a:bodyPr/>
          <a:lstStyle/>
          <a:p>
            <a:endParaRPr lang="ro-RO"/>
          </a:p>
        </p:txBody>
      </p:sp>
      <p:sp>
        <p:nvSpPr>
          <p:cNvPr id="17" name="Text 15"/>
          <p:cNvSpPr/>
          <p:nvPr/>
        </p:nvSpPr>
        <p:spPr>
          <a:xfrm>
            <a:off x="914400" y="468172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Palatino Linotype" pitchFamily="34" charset="0"/>
                <a:ea typeface="Palatino Linotype" pitchFamily="34" charset="-122"/>
                <a:cs typeface="Palatino Linotype" pitchFamily="34" charset="-120"/>
              </a:rPr>
              <a:t>3</a:t>
            </a:r>
            <a:endParaRPr lang="en-US" sz="1500" dirty="0"/>
          </a:p>
        </p:txBody>
      </p:sp>
      <p:sp>
        <p:nvSpPr>
          <p:cNvPr id="18" name="Text 16"/>
          <p:cNvSpPr/>
          <p:nvPr/>
        </p:nvSpPr>
        <p:spPr>
          <a:xfrm>
            <a:off x="1508760" y="4517136"/>
            <a:ext cx="9784080" cy="365760"/>
          </a:xfrm>
          <a:prstGeom prst="rect">
            <a:avLst/>
          </a:prstGeom>
          <a:noFill/>
          <a:ln/>
        </p:spPr>
        <p:txBody>
          <a:bodyPr wrap="square" lIns="0" tIns="0" rIns="0" bIns="0" rtlCol="0" anchor="ctr"/>
          <a:lstStyle/>
          <a:p>
            <a:pPr marL="0" indent="0">
              <a:buNone/>
            </a:pPr>
            <a:r>
              <a:rPr lang="en-US" sz="1500" b="1" dirty="0">
                <a:solidFill>
                  <a:srgbClr val="0E7C6B"/>
                </a:solidFill>
                <a:latin typeface="Palatino Linotype" pitchFamily="34" charset="0"/>
                <a:ea typeface="Palatino Linotype" pitchFamily="34" charset="-122"/>
                <a:cs typeface="Palatino Linotype" pitchFamily="34" charset="-120"/>
              </a:rPr>
              <a:t>Din euristica disponibilității</a:t>
            </a:r>
            <a:endParaRPr lang="en-US" sz="1500" dirty="0"/>
          </a:p>
        </p:txBody>
      </p:sp>
      <p:sp>
        <p:nvSpPr>
          <p:cNvPr id="19" name="Text 17"/>
          <p:cNvSpPr/>
          <p:nvPr/>
        </p:nvSpPr>
        <p:spPr>
          <a:xfrm>
            <a:off x="1508760" y="4901184"/>
            <a:ext cx="9784080" cy="457200"/>
          </a:xfrm>
          <a:prstGeom prst="rect">
            <a:avLst/>
          </a:prstGeom>
          <a:noFill/>
          <a:ln/>
        </p:spPr>
        <p:txBody>
          <a:bodyPr wrap="square" lIns="0" tIns="0" rIns="0" bIns="0" rtlCol="0" anchor="t"/>
          <a:lstStyle/>
          <a:p>
            <a:pPr marL="0" indent="0">
              <a:lnSpc>
                <a:spcPts val="1800"/>
              </a:lnSpc>
              <a:buNone/>
            </a:pPr>
            <a:r>
              <a:rPr lang="en-US" sz="1250" dirty="0">
                <a:solidFill>
                  <a:srgbClr val="11121A"/>
                </a:solidFill>
                <a:latin typeface="Palatino Linotype" pitchFamily="34" charset="0"/>
                <a:ea typeface="Palatino Linotype" pitchFamily="34" charset="-122"/>
                <a:cs typeface="Palatino Linotype" pitchFamily="34" charset="-120"/>
              </a:rPr>
              <a:t>Estimăm frecvența după cât de ușor ne vine în minte un exemplu. Un exemplu memorabil nu arată cât de frecvent este fenomenul.</a:t>
            </a:r>
            <a:endParaRPr lang="en-US" sz="1250" dirty="0"/>
          </a:p>
        </p:txBody>
      </p:sp>
      <p:sp>
        <p:nvSpPr>
          <p:cNvPr id="20" name="Text 18"/>
          <p:cNvSpPr/>
          <p:nvPr/>
        </p:nvSpPr>
        <p:spPr>
          <a:xfrm>
            <a:off x="594360" y="5705856"/>
            <a:ext cx="10972800" cy="329184"/>
          </a:xfrm>
          <a:prstGeom prst="rect">
            <a:avLst/>
          </a:prstGeom>
          <a:noFill/>
          <a:ln/>
        </p:spPr>
        <p:txBody>
          <a:bodyPr wrap="square" lIns="0" tIns="0" rIns="0" bIns="0" rtlCol="0" anchor="ctr"/>
          <a:lstStyle/>
          <a:p>
            <a:pPr marL="0" indent="0">
              <a:buNone/>
            </a:pPr>
            <a:r>
              <a:rPr lang="en-US" sz="1350" b="1" dirty="0">
                <a:solidFill>
                  <a:srgbClr val="11121A"/>
                </a:solidFill>
                <a:latin typeface="Palatino Linotype" pitchFamily="34" charset="0"/>
                <a:ea typeface="Palatino Linotype" pitchFamily="34" charset="-122"/>
                <a:cs typeface="Palatino Linotype" pitchFamily="34" charset="-120"/>
              </a:rPr>
              <a:t>Regula care se aplică de aici înainte, inclusiv mie: fiecare cifră poartă sursa pe același diapozitiv. Dacă nu o vedeți, întrebați.</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marL="0" indent="0">
              <a:buNone/>
            </a:pPr>
            <a:r>
              <a:rPr lang="en-US" sz="13500" b="1" dirty="0">
                <a:solidFill>
                  <a:srgbClr val="9B7EF7"/>
                </a:solidFill>
                <a:latin typeface="Palatino Linotype" pitchFamily="34" charset="0"/>
                <a:ea typeface="Palatino Linotype" pitchFamily="34" charset="-122"/>
                <a:cs typeface="Palatino Linotype" pitchFamily="34" charset="-120"/>
              </a:rPr>
              <a:t>02</a:t>
            </a:r>
            <a:endParaRPr lang="en-US" sz="13500" dirty="0"/>
          </a:p>
        </p:txBody>
      </p:sp>
      <p:sp>
        <p:nvSpPr>
          <p:cNvPr id="3" name="Shape 1"/>
          <p:cNvSpPr/>
          <p:nvPr/>
        </p:nvSpPr>
        <p:spPr>
          <a:xfrm>
            <a:off x="4160520" y="1691640"/>
            <a:ext cx="27432" cy="1737360"/>
          </a:xfrm>
          <a:prstGeom prst="rect">
            <a:avLst/>
          </a:prstGeom>
          <a:solidFill>
            <a:srgbClr val="9B7EF7"/>
          </a:solidFill>
          <a:ln w="12700">
            <a:solidFill>
              <a:srgbClr val="9B7EF7"/>
            </a:solidFill>
            <a:prstDash val="solid"/>
          </a:ln>
        </p:spPr>
        <p:txBody>
          <a:bodyPr/>
          <a:lstStyle/>
          <a:p>
            <a:endParaRPr lang="ro-RO"/>
          </a:p>
        </p:txBody>
      </p:sp>
      <p:sp>
        <p:nvSpPr>
          <p:cNvPr id="4" name="Text 2"/>
          <p:cNvSpPr/>
          <p:nvPr/>
        </p:nvSpPr>
        <p:spPr>
          <a:xfrm>
            <a:off x="4709160" y="1737360"/>
            <a:ext cx="6858000" cy="822960"/>
          </a:xfrm>
          <a:prstGeom prst="rect">
            <a:avLst/>
          </a:prstGeom>
          <a:noFill/>
          <a:ln/>
        </p:spPr>
        <p:txBody>
          <a:bodyPr wrap="square" lIns="0" tIns="0" rIns="0" bIns="0" rtlCol="0" anchor="ctr"/>
          <a:lstStyle/>
          <a:p>
            <a:pPr marL="0" indent="0">
              <a:buNone/>
            </a:pPr>
            <a:r>
              <a:rPr lang="en-US" sz="3300" b="1" dirty="0">
                <a:solidFill>
                  <a:srgbClr val="FFFFFF"/>
                </a:solidFill>
                <a:latin typeface="Palatino Linotype" pitchFamily="34" charset="0"/>
                <a:ea typeface="Palatino Linotype" pitchFamily="34" charset="-122"/>
                <a:cs typeface="Palatino Linotype" pitchFamily="34" charset="-120"/>
              </a:rPr>
              <a:t>CINCI NOȚIUNI</a:t>
            </a:r>
            <a:endParaRPr lang="en-US" sz="3300" dirty="0"/>
          </a:p>
        </p:txBody>
      </p:sp>
      <p:sp>
        <p:nvSpPr>
          <p:cNvPr id="5" name="Text 3"/>
          <p:cNvSpPr/>
          <p:nvPr/>
        </p:nvSpPr>
        <p:spPr>
          <a:xfrm>
            <a:off x="4709160" y="2606040"/>
            <a:ext cx="6858000" cy="685800"/>
          </a:xfrm>
          <a:prstGeom prst="rect">
            <a:avLst/>
          </a:prstGeom>
          <a:noFill/>
          <a:ln/>
        </p:spPr>
        <p:txBody>
          <a:bodyPr wrap="square" lIns="0" tIns="0" rIns="0" bIns="0" rtlCol="0" anchor="t"/>
          <a:lstStyle/>
          <a:p>
            <a:pPr marL="0" indent="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De care aveți nevoie ca să citiți tabelele de astăzi. Nu ați făcut încă epidemiologie.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0E7C6B"/>
                </a:solidFill>
                <a:latin typeface="Palatino Linotype" pitchFamily="34" charset="0"/>
                <a:ea typeface="Palatino Linotype" pitchFamily="34" charset="-122"/>
                <a:cs typeface="Palatino Linotype" pitchFamily="34" charset="-120"/>
              </a:rPr>
              <a:t>NOȚIUNEA 1 / 5</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400" b="1" dirty="0">
                <a:solidFill>
                  <a:srgbClr val="11121A"/>
                </a:solidFill>
                <a:latin typeface="Palatino Linotype" pitchFamily="34" charset="0"/>
                <a:ea typeface="Palatino Linotype" pitchFamily="34" charset="-122"/>
                <a:cs typeface="Palatino Linotype" pitchFamily="34" charset="-120"/>
              </a:rPr>
              <a:t>Interval de încredere</a:t>
            </a:r>
            <a:endParaRPr lang="en-US" sz="3400" dirty="0"/>
          </a:p>
        </p:txBody>
      </p:sp>
      <p:sp>
        <p:nvSpPr>
          <p:cNvPr id="4" name="Text 2"/>
          <p:cNvSpPr/>
          <p:nvPr/>
        </p:nvSpPr>
        <p:spPr>
          <a:xfrm>
            <a:off x="594360" y="1481328"/>
            <a:ext cx="10972800" cy="457200"/>
          </a:xfrm>
          <a:prstGeom prst="rect">
            <a:avLst/>
          </a:prstGeom>
          <a:noFill/>
          <a:ln/>
        </p:spPr>
        <p:txBody>
          <a:bodyPr wrap="square" lIns="0" tIns="0" rIns="0" bIns="0" rtlCol="0" anchor="ctr"/>
          <a:lstStyle/>
          <a:p>
            <a:pPr marL="0" indent="0">
              <a:buNone/>
            </a:pPr>
            <a:r>
              <a:rPr lang="en-US" sz="1700" dirty="0">
                <a:solidFill>
                  <a:srgbClr val="0E7C6B"/>
                </a:solidFill>
                <a:latin typeface="Palatino Linotype" pitchFamily="34" charset="0"/>
                <a:ea typeface="Palatino Linotype" pitchFamily="34" charset="-122"/>
                <a:cs typeface="Palatino Linotype" pitchFamily="34" charset="-120"/>
              </a:rPr>
              <a:t>Cât de precisă e o estimare. Se scrie „IÎ 95%”.</a:t>
            </a:r>
            <a:endParaRPr lang="en-US" sz="1700" dirty="0"/>
          </a:p>
        </p:txBody>
      </p:sp>
      <p:sp>
        <p:nvSpPr>
          <p:cNvPr id="5" name="Shape 3"/>
          <p:cNvSpPr/>
          <p:nvPr/>
        </p:nvSpPr>
        <p:spPr>
          <a:xfrm>
            <a:off x="594360" y="2103120"/>
            <a:ext cx="10972800" cy="1188720"/>
          </a:xfrm>
          <a:prstGeom prst="roundRect">
            <a:avLst>
              <a:gd name="adj" fmla="val 6923"/>
            </a:avLst>
          </a:prstGeom>
          <a:solidFill>
            <a:srgbClr val="ECEAE4"/>
          </a:solidFill>
          <a:ln w="12700">
            <a:solidFill>
              <a:srgbClr val="ECEAE4"/>
            </a:solidFill>
            <a:prstDash val="solid"/>
          </a:ln>
        </p:spPr>
        <p:txBody>
          <a:bodyPr/>
          <a:lstStyle/>
          <a:p>
            <a:endParaRPr lang="ro-RO"/>
          </a:p>
        </p:txBody>
      </p:sp>
      <p:sp>
        <p:nvSpPr>
          <p:cNvPr id="6" name="Text 4"/>
          <p:cNvSpPr/>
          <p:nvPr/>
        </p:nvSpPr>
        <p:spPr>
          <a:xfrm>
            <a:off x="960120" y="2103120"/>
            <a:ext cx="10241280" cy="1188720"/>
          </a:xfrm>
          <a:prstGeom prst="rect">
            <a:avLst/>
          </a:prstGeom>
          <a:noFill/>
          <a:ln/>
        </p:spPr>
        <p:txBody>
          <a:bodyPr wrap="square" lIns="0" tIns="0" rIns="0" bIns="0" rtlCol="0" anchor="ctr"/>
          <a:lstStyle/>
          <a:p>
            <a:pPr marL="0" indent="0">
              <a:lnSpc>
                <a:spcPts val="2400"/>
              </a:lnSpc>
              <a:buNone/>
            </a:pPr>
            <a:r>
              <a:rPr lang="en-US" sz="1500" dirty="0">
                <a:solidFill>
                  <a:srgbClr val="11121A"/>
                </a:solidFill>
                <a:latin typeface="Palatino Linotype" pitchFamily="34" charset="0"/>
                <a:ea typeface="Palatino Linotype" pitchFamily="34" charset="-122"/>
                <a:cs typeface="Palatino Linotype" pitchFamily="34" charset="-120"/>
              </a:rPr>
              <a:t>Valori ipotetice: un studiu găsește valoarea 3,2, cu IÎ 95% între 2,2 și 4,7. Intervalul cuprinde valorile compatibile cu datele: repetat de multe ori, studiul ar produce intervale care cuprind valoarea reală în aproximativ 95% din cazuri. Marginile contează la fel de mult ca valoarea din mijloc.</a:t>
            </a:r>
            <a:endParaRPr lang="en-US" sz="1500" dirty="0"/>
          </a:p>
        </p:txBody>
      </p:sp>
      <p:sp>
        <p:nvSpPr>
          <p:cNvPr id="7" name="Shape 5"/>
          <p:cNvSpPr/>
          <p:nvPr/>
        </p:nvSpPr>
        <p:spPr>
          <a:xfrm>
            <a:off x="594360" y="3529584"/>
            <a:ext cx="5440680" cy="1920240"/>
          </a:xfrm>
          <a:prstGeom prst="roundRect">
            <a:avLst>
              <a:gd name="adj" fmla="val 4286"/>
            </a:avLst>
          </a:prstGeom>
          <a:solidFill>
            <a:srgbClr val="0E7C6B"/>
          </a:solidFill>
          <a:ln w="12700">
            <a:solidFill>
              <a:srgbClr val="0E7C6B"/>
            </a:solidFill>
            <a:prstDash val="solid"/>
          </a:ln>
        </p:spPr>
        <p:txBody>
          <a:bodyPr/>
          <a:lstStyle/>
          <a:p>
            <a:endParaRPr lang="ro-RO"/>
          </a:p>
        </p:txBody>
      </p:sp>
      <p:sp>
        <p:nvSpPr>
          <p:cNvPr id="8" name="Text 6"/>
          <p:cNvSpPr/>
          <p:nvPr/>
        </p:nvSpPr>
        <p:spPr>
          <a:xfrm>
            <a:off x="914400" y="3712464"/>
            <a:ext cx="4846320" cy="292608"/>
          </a:xfrm>
          <a:prstGeom prst="rect">
            <a:avLst/>
          </a:prstGeom>
          <a:noFill/>
          <a:ln/>
        </p:spPr>
        <p:txBody>
          <a:bodyPr wrap="square" lIns="0" tIns="0" rIns="0" bIns="0" rtlCol="0" anchor="ctr"/>
          <a:lstStyle/>
          <a:p>
            <a:pPr marL="0" indent="0">
              <a:buNone/>
            </a:pPr>
            <a:r>
              <a:rPr lang="en-US" sz="1050" b="1" kern="0" spc="160" dirty="0">
                <a:solidFill>
                  <a:srgbClr val="A9E8DE"/>
                </a:solidFill>
                <a:latin typeface="Palatino Linotype" pitchFamily="34" charset="0"/>
                <a:ea typeface="Palatino Linotype" pitchFamily="34" charset="-122"/>
                <a:cs typeface="Palatino Linotype" pitchFamily="34" charset="-120"/>
              </a:rPr>
              <a:t>NU INCLUDE 1 · EXEMPLU REAL</a:t>
            </a:r>
            <a:endParaRPr lang="en-US" sz="1050" dirty="0"/>
          </a:p>
        </p:txBody>
      </p:sp>
      <p:sp>
        <p:nvSpPr>
          <p:cNvPr id="9" name="Text 7"/>
          <p:cNvSpPr/>
          <p:nvPr/>
        </p:nvSpPr>
        <p:spPr>
          <a:xfrm>
            <a:off x="914400" y="4041648"/>
            <a:ext cx="4846320" cy="530352"/>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2,84 – 5,34</a:t>
            </a:r>
            <a:endParaRPr lang="en-US" sz="3000" dirty="0"/>
          </a:p>
        </p:txBody>
      </p:sp>
      <p:sp>
        <p:nvSpPr>
          <p:cNvPr id="10" name="Text 8"/>
          <p:cNvSpPr/>
          <p:nvPr/>
        </p:nvSpPr>
        <p:spPr>
          <a:xfrm>
            <a:off x="914400" y="4663440"/>
            <a:ext cx="4846320" cy="640080"/>
          </a:xfrm>
          <a:prstGeom prst="rect">
            <a:avLst/>
          </a:prstGeom>
          <a:noFill/>
          <a:ln/>
        </p:spPr>
        <p:txBody>
          <a:bodyPr wrap="square" lIns="0" tIns="0" rIns="0" bIns="0" rtlCol="0" anchor="t"/>
          <a:lstStyle/>
          <a:p>
            <a:pPr marL="0" indent="0">
              <a:lnSpc>
                <a:spcPts val="2000"/>
              </a:lnSpc>
              <a:buNone/>
            </a:pPr>
            <a:r>
              <a:rPr lang="en-US" sz="1350" dirty="0">
                <a:solidFill>
                  <a:srgbClr val="D6F5EF"/>
                </a:solidFill>
                <a:latin typeface="Palatino Linotype" pitchFamily="34" charset="0"/>
                <a:ea typeface="Palatino Linotype" pitchFamily="34" charset="-122"/>
                <a:cs typeface="Palatino Linotype" pitchFamily="34" charset="-120"/>
              </a:rPr>
              <a:t>Raportul șanselor 3,90 pentru psihoză, la consumul cel mai intens de canabis.</a:t>
            </a:r>
            <a:endParaRPr lang="en-US" sz="1350" dirty="0"/>
          </a:p>
        </p:txBody>
      </p:sp>
      <p:sp>
        <p:nvSpPr>
          <p:cNvPr id="11" name="Shape 9"/>
          <p:cNvSpPr/>
          <p:nvPr/>
        </p:nvSpPr>
        <p:spPr>
          <a:xfrm>
            <a:off x="6309360" y="3529584"/>
            <a:ext cx="5257800" cy="1920240"/>
          </a:xfrm>
          <a:prstGeom prst="roundRect">
            <a:avLst>
              <a:gd name="adj" fmla="val 4286"/>
            </a:avLst>
          </a:prstGeom>
          <a:solidFill>
            <a:srgbClr val="E8E0CC"/>
          </a:solidFill>
          <a:ln w="12700">
            <a:solidFill>
              <a:srgbClr val="E8E0CC"/>
            </a:solidFill>
            <a:prstDash val="solid"/>
          </a:ln>
        </p:spPr>
        <p:txBody>
          <a:bodyPr/>
          <a:lstStyle/>
          <a:p>
            <a:endParaRPr lang="ro-RO"/>
          </a:p>
        </p:txBody>
      </p:sp>
      <p:sp>
        <p:nvSpPr>
          <p:cNvPr id="12" name="Shape 10"/>
          <p:cNvSpPr/>
          <p:nvPr/>
        </p:nvSpPr>
        <p:spPr>
          <a:xfrm>
            <a:off x="6309360" y="3529584"/>
            <a:ext cx="50292" cy="1920240"/>
          </a:xfrm>
          <a:prstGeom prst="rect">
            <a:avLst/>
          </a:prstGeom>
          <a:solidFill>
            <a:srgbClr val="8A6100"/>
          </a:solidFill>
          <a:ln w="12700">
            <a:solidFill>
              <a:srgbClr val="8A6100"/>
            </a:solidFill>
            <a:prstDash val="solid"/>
          </a:ln>
        </p:spPr>
        <p:txBody>
          <a:bodyPr/>
          <a:lstStyle/>
          <a:p>
            <a:endParaRPr lang="ro-RO"/>
          </a:p>
        </p:txBody>
      </p:sp>
      <p:sp>
        <p:nvSpPr>
          <p:cNvPr id="13" name="Text 11"/>
          <p:cNvSpPr/>
          <p:nvPr/>
        </p:nvSpPr>
        <p:spPr>
          <a:xfrm>
            <a:off x="6629400" y="3712464"/>
            <a:ext cx="4663440" cy="292608"/>
          </a:xfrm>
          <a:prstGeom prst="rect">
            <a:avLst/>
          </a:prstGeom>
          <a:noFill/>
          <a:ln/>
        </p:spPr>
        <p:txBody>
          <a:bodyPr wrap="square" lIns="0" tIns="0" rIns="0" bIns="0" rtlCol="0" anchor="ctr"/>
          <a:lstStyle/>
          <a:p>
            <a:pPr marL="0" indent="0">
              <a:buNone/>
            </a:pPr>
            <a:r>
              <a:rPr lang="en-US" sz="1050" b="1" kern="0" spc="160" dirty="0">
                <a:solidFill>
                  <a:srgbClr val="8A6100"/>
                </a:solidFill>
                <a:latin typeface="Palatino Linotype" pitchFamily="34" charset="0"/>
                <a:ea typeface="Palatino Linotype" pitchFamily="34" charset="-122"/>
                <a:cs typeface="Palatino Linotype" pitchFamily="34" charset="-120"/>
              </a:rPr>
              <a:t>INCLUDE 1 · VALORI IPOTETICE</a:t>
            </a:r>
            <a:endParaRPr lang="en-US" sz="1050" dirty="0"/>
          </a:p>
        </p:txBody>
      </p:sp>
      <p:sp>
        <p:nvSpPr>
          <p:cNvPr id="14" name="Text 12"/>
          <p:cNvSpPr/>
          <p:nvPr/>
        </p:nvSpPr>
        <p:spPr>
          <a:xfrm>
            <a:off x="6629400" y="4041648"/>
            <a:ext cx="4663440" cy="530352"/>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0,99 – 2,00</a:t>
            </a:r>
            <a:endParaRPr lang="en-US" sz="3000" dirty="0"/>
          </a:p>
        </p:txBody>
      </p:sp>
      <p:sp>
        <p:nvSpPr>
          <p:cNvPr id="15" name="Text 13"/>
          <p:cNvSpPr/>
          <p:nvPr/>
        </p:nvSpPr>
        <p:spPr>
          <a:xfrm>
            <a:off x="6629400" y="4663440"/>
            <a:ext cx="4663440" cy="640080"/>
          </a:xfrm>
          <a:prstGeom prst="rect">
            <a:avLst/>
          </a:prstGeom>
          <a:noFill/>
          <a:ln/>
        </p:spPr>
        <p:txBody>
          <a:bodyPr wrap="square" lIns="0" tIns="0" rIns="0" bIns="0" rtlCol="0" anchor="t"/>
          <a:lstStyle/>
          <a:p>
            <a:pPr marL="0" indent="0">
              <a:lnSpc>
                <a:spcPts val="2000"/>
              </a:lnSpc>
              <a:buNone/>
            </a:pPr>
            <a:r>
              <a:rPr lang="en-US" sz="1350" dirty="0">
                <a:solidFill>
                  <a:srgbClr val="11121A"/>
                </a:solidFill>
                <a:latin typeface="Palatino Linotype" pitchFamily="34" charset="0"/>
                <a:ea typeface="Palatino Linotype" pitchFamily="34" charset="-122"/>
                <a:cs typeface="Palatino Linotype" pitchFamily="34" charset="-120"/>
              </a:rPr>
              <a:t>Datele nu exclud absența efectului.</a:t>
            </a:r>
            <a:endParaRPr lang="en-US" sz="1350" dirty="0"/>
          </a:p>
        </p:txBody>
      </p:sp>
      <p:sp>
        <p:nvSpPr>
          <p:cNvPr id="16" name="Shape 14"/>
          <p:cNvSpPr/>
          <p:nvPr/>
        </p:nvSpPr>
        <p:spPr>
          <a:xfrm>
            <a:off x="594360" y="5632704"/>
            <a:ext cx="10972800" cy="530352"/>
          </a:xfrm>
          <a:prstGeom prst="roundRect">
            <a:avLst>
              <a:gd name="adj" fmla="val 15517"/>
            </a:avLst>
          </a:prstGeom>
          <a:solidFill>
            <a:srgbClr val="11121A"/>
          </a:solidFill>
          <a:ln w="12700">
            <a:solidFill>
              <a:srgbClr val="11121A"/>
            </a:solidFill>
            <a:prstDash val="solid"/>
          </a:ln>
        </p:spPr>
        <p:txBody>
          <a:bodyPr/>
          <a:lstStyle/>
          <a:p>
            <a:endParaRPr lang="ro-RO"/>
          </a:p>
        </p:txBody>
      </p:sp>
      <p:sp>
        <p:nvSpPr>
          <p:cNvPr id="17" name="Text 15"/>
          <p:cNvSpPr/>
          <p:nvPr/>
        </p:nvSpPr>
        <p:spPr>
          <a:xfrm>
            <a:off x="960120" y="5632704"/>
            <a:ext cx="10241280" cy="530352"/>
          </a:xfrm>
          <a:prstGeom prst="rect">
            <a:avLst/>
          </a:prstGeom>
          <a:noFill/>
          <a:ln/>
        </p:spPr>
        <p:txBody>
          <a:bodyPr wrap="square" lIns="0" tIns="0" rIns="0" bIns="0" rtlCol="0" anchor="ctr"/>
          <a:lstStyle/>
          <a:p>
            <a:pPr marL="0" indent="0">
              <a:buNone/>
            </a:pPr>
            <a:r>
              <a:rPr lang="en-US" sz="1350" b="1" dirty="0">
                <a:solidFill>
                  <a:srgbClr val="FFC24B"/>
                </a:solidFill>
                <a:latin typeface="Palatino Linotype" pitchFamily="34" charset="0"/>
                <a:ea typeface="Palatino Linotype" pitchFamily="34" charset="-122"/>
                <a:cs typeface="Palatino Linotype" pitchFamily="34" charset="-120"/>
              </a:rPr>
              <a:t>Regula pentru azi: un interval care nu include 1 este un indiciu de semnificație statistică; unul care include 1 nu dovedește absența efectului, ci doar nu o exclude.</a:t>
            </a:r>
            <a:endParaRPr lang="en-US" sz="1350" dirty="0"/>
          </a:p>
        </p:txBody>
      </p:sp>
      <p:sp>
        <p:nvSpPr>
          <p:cNvPr id="18" name="Sursa"/>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du Prel și colab., Dtsch Arztebl Int, 2009 · Szumilas, J Can Acad Child Adolesc Psychiatry, 2010 · exemplul real: Marconi și colab., Schizophr Bull, 2016</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4A2D8C"/>
                </a:solidFill>
                <a:latin typeface="Palatino Linotype" pitchFamily="34" charset="0"/>
                <a:ea typeface="Palatino Linotype" pitchFamily="34" charset="-122"/>
                <a:cs typeface="Palatino Linotype" pitchFamily="34" charset="-120"/>
              </a:rPr>
              <a:t>NOȚIUNEA 2 / 5</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400" b="1" dirty="0">
                <a:solidFill>
                  <a:srgbClr val="11121A"/>
                </a:solidFill>
                <a:latin typeface="Palatino Linotype" pitchFamily="34" charset="0"/>
                <a:ea typeface="Palatino Linotype" pitchFamily="34" charset="-122"/>
                <a:cs typeface="Palatino Linotype" pitchFamily="34" charset="-120"/>
              </a:rPr>
              <a:t>OR și RR</a:t>
            </a:r>
            <a:endParaRPr lang="en-US" sz="3400" dirty="0"/>
          </a:p>
        </p:txBody>
      </p:sp>
      <p:sp>
        <p:nvSpPr>
          <p:cNvPr id="4" name="Text 2"/>
          <p:cNvSpPr/>
          <p:nvPr/>
        </p:nvSpPr>
        <p:spPr>
          <a:xfrm>
            <a:off x="594360" y="1481328"/>
            <a:ext cx="10972800" cy="457200"/>
          </a:xfrm>
          <a:prstGeom prst="rect">
            <a:avLst/>
          </a:prstGeom>
          <a:noFill/>
          <a:ln/>
        </p:spPr>
        <p:txBody>
          <a:bodyPr wrap="square" lIns="0" tIns="0" rIns="0" bIns="0" rtlCol="0" anchor="ctr"/>
          <a:lstStyle/>
          <a:p>
            <a:pPr marL="0" indent="0">
              <a:buNone/>
            </a:pPr>
            <a:r>
              <a:rPr lang="en-US" sz="1700" dirty="0">
                <a:solidFill>
                  <a:srgbClr val="4A2D8C"/>
                </a:solidFill>
                <a:latin typeface="Palatino Linotype" pitchFamily="34" charset="0"/>
                <a:ea typeface="Palatino Linotype" pitchFamily="34" charset="-122"/>
                <a:cs typeface="Palatino Linotype" pitchFamily="34" charset="-120"/>
              </a:rPr>
              <a:t>Rapoarte între două grupuri: riscul relativ compară riscuri, raportul șanselor compară șanse. 1 înseamnă „la fel în ambele grupuri”.</a:t>
            </a:r>
            <a:endParaRPr lang="en-US" sz="1700" dirty="0"/>
          </a:p>
        </p:txBody>
      </p:sp>
      <p:sp>
        <p:nvSpPr>
          <p:cNvPr id="5" name="Text 3"/>
          <p:cNvSpPr/>
          <p:nvPr/>
        </p:nvSpPr>
        <p:spPr>
          <a:xfrm>
            <a:off x="594360" y="2084832"/>
            <a:ext cx="2560320" cy="329184"/>
          </a:xfrm>
          <a:prstGeom prst="rect">
            <a:avLst/>
          </a:prstGeom>
          <a:noFill/>
          <a:ln/>
        </p:spPr>
        <p:txBody>
          <a:bodyPr wrap="square" lIns="0" tIns="0" rIns="0" bIns="0" rtlCol="0" anchor="ctr"/>
          <a:lstStyle/>
          <a:p>
            <a:pPr marL="0" indent="0">
              <a:buNone/>
            </a:pPr>
            <a:r>
              <a:rPr lang="en-US" sz="1050" b="1" kern="0" spc="120" dirty="0">
                <a:solidFill>
                  <a:srgbClr val="585A64"/>
                </a:solidFill>
                <a:latin typeface="Palatino Linotype" pitchFamily="34" charset="0"/>
                <a:ea typeface="Palatino Linotype" pitchFamily="34" charset="-122"/>
                <a:cs typeface="Palatino Linotype" pitchFamily="34" charset="-120"/>
              </a:rPr>
              <a:t>CIFRA</a:t>
            </a:r>
            <a:endParaRPr lang="en-US" sz="1050" dirty="0"/>
          </a:p>
        </p:txBody>
      </p:sp>
      <p:sp>
        <p:nvSpPr>
          <p:cNvPr id="6" name="Text 4"/>
          <p:cNvSpPr/>
          <p:nvPr/>
        </p:nvSpPr>
        <p:spPr>
          <a:xfrm>
            <a:off x="3154680" y="2084832"/>
            <a:ext cx="4572000" cy="329184"/>
          </a:xfrm>
          <a:prstGeom prst="rect">
            <a:avLst/>
          </a:prstGeom>
          <a:noFill/>
          <a:ln/>
        </p:spPr>
        <p:txBody>
          <a:bodyPr wrap="square" lIns="0" tIns="0" rIns="0" bIns="0" rtlCol="0" anchor="ctr"/>
          <a:lstStyle/>
          <a:p>
            <a:pPr marL="0" indent="0">
              <a:buNone/>
            </a:pPr>
            <a:r>
              <a:rPr lang="en-US" sz="1050" b="1" kern="0" spc="120" dirty="0">
                <a:solidFill>
                  <a:srgbClr val="585A64"/>
                </a:solidFill>
                <a:latin typeface="Palatino Linotype" pitchFamily="34" charset="0"/>
                <a:ea typeface="Palatino Linotype" pitchFamily="34" charset="-122"/>
                <a:cs typeface="Palatino Linotype" pitchFamily="34" charset="-120"/>
              </a:rPr>
              <a:t>CE ÎNSEAMNĂ</a:t>
            </a:r>
            <a:endParaRPr lang="en-US" sz="1050" dirty="0"/>
          </a:p>
        </p:txBody>
      </p:sp>
      <p:sp>
        <p:nvSpPr>
          <p:cNvPr id="7" name="Text 5"/>
          <p:cNvSpPr/>
          <p:nvPr/>
        </p:nvSpPr>
        <p:spPr>
          <a:xfrm>
            <a:off x="7726680" y="2084832"/>
            <a:ext cx="3840480" cy="329184"/>
          </a:xfrm>
          <a:prstGeom prst="rect">
            <a:avLst/>
          </a:prstGeom>
          <a:noFill/>
          <a:ln/>
        </p:spPr>
        <p:txBody>
          <a:bodyPr wrap="square" lIns="0" tIns="0" rIns="0" bIns="0" rtlCol="0" anchor="ctr"/>
          <a:lstStyle/>
          <a:p>
            <a:pPr marL="0" indent="0">
              <a:buNone/>
            </a:pPr>
            <a:r>
              <a:rPr lang="en-US" sz="1050" b="1" kern="0" spc="120" dirty="0">
                <a:solidFill>
                  <a:srgbClr val="585A64"/>
                </a:solidFill>
                <a:latin typeface="Palatino Linotype" pitchFamily="34" charset="0"/>
                <a:ea typeface="Palatino Linotype" pitchFamily="34" charset="-122"/>
                <a:cs typeface="Palatino Linotype" pitchFamily="34" charset="-120"/>
              </a:rPr>
              <a:t>EXEMPLU DIN SESIUNEA DE AZI</a:t>
            </a:r>
            <a:endParaRPr lang="en-US" sz="1050" dirty="0"/>
          </a:p>
        </p:txBody>
      </p:sp>
      <p:sp>
        <p:nvSpPr>
          <p:cNvPr id="8" name="Shape 6"/>
          <p:cNvSpPr/>
          <p:nvPr/>
        </p:nvSpPr>
        <p:spPr>
          <a:xfrm>
            <a:off x="594360" y="2487168"/>
            <a:ext cx="10972800" cy="649224"/>
          </a:xfrm>
          <a:prstGeom prst="roundRect">
            <a:avLst>
              <a:gd name="adj" fmla="val 12676"/>
            </a:avLst>
          </a:prstGeom>
          <a:solidFill>
            <a:srgbClr val="ECEAE4"/>
          </a:solidFill>
          <a:ln w="12700">
            <a:solidFill>
              <a:srgbClr val="ECEAE4"/>
            </a:solidFill>
            <a:prstDash val="solid"/>
          </a:ln>
        </p:spPr>
        <p:txBody>
          <a:bodyPr/>
          <a:lstStyle/>
          <a:p>
            <a:endParaRPr lang="ro-RO"/>
          </a:p>
        </p:txBody>
      </p:sp>
      <p:sp>
        <p:nvSpPr>
          <p:cNvPr id="9" name="Text 7"/>
          <p:cNvSpPr/>
          <p:nvPr/>
        </p:nvSpPr>
        <p:spPr>
          <a:xfrm>
            <a:off x="868680" y="2487168"/>
            <a:ext cx="2286000" cy="649224"/>
          </a:xfrm>
          <a:prstGeom prst="rect">
            <a:avLst/>
          </a:prstGeom>
          <a:noFill/>
          <a:ln/>
        </p:spPr>
        <p:txBody>
          <a:bodyPr wrap="square" lIns="0" tIns="0" rIns="0" bIns="0" rtlCol="0" anchor="ctr"/>
          <a:lstStyle/>
          <a:p>
            <a:pPr marL="0" indent="0">
              <a:lnSpc>
                <a:spcPts val="1700"/>
              </a:lnSpc>
              <a:buNone/>
            </a:pPr>
            <a:r>
              <a:rPr lang="en-US" sz="1350" b="1" dirty="0">
                <a:solidFill>
                  <a:srgbClr val="11121A"/>
                </a:solidFill>
                <a:latin typeface="Palatino Linotype" pitchFamily="34" charset="0"/>
                <a:ea typeface="Palatino Linotype" pitchFamily="34" charset="-122"/>
                <a:cs typeface="Palatino Linotype" pitchFamily="34" charset="-120"/>
              </a:rPr>
              <a:t>= 1</a:t>
            </a:r>
            <a:endParaRPr lang="en-US" sz="1350" dirty="0"/>
          </a:p>
        </p:txBody>
      </p:sp>
      <p:sp>
        <p:nvSpPr>
          <p:cNvPr id="10" name="Text 8"/>
          <p:cNvSpPr/>
          <p:nvPr/>
        </p:nvSpPr>
        <p:spPr>
          <a:xfrm>
            <a:off x="3154680" y="2487168"/>
            <a:ext cx="4389120" cy="649224"/>
          </a:xfrm>
          <a:prstGeom prst="rect">
            <a:avLst/>
          </a:prstGeom>
          <a:noFill/>
          <a:ln/>
        </p:spPr>
        <p:txBody>
          <a:bodyPr wrap="square" lIns="0" tIns="0" rIns="0" bIns="0" rtlCol="0" anchor="ctr"/>
          <a:lstStyle/>
          <a:p>
            <a:pPr marL="0" indent="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Aceeași frecvență în ambele grupuri.</a:t>
            </a:r>
            <a:endParaRPr lang="en-US" sz="1350" dirty="0"/>
          </a:p>
        </p:txBody>
      </p:sp>
      <p:sp>
        <p:nvSpPr>
          <p:cNvPr id="11" name="Text 9"/>
          <p:cNvSpPr/>
          <p:nvPr/>
        </p:nvSpPr>
        <p:spPr>
          <a:xfrm>
            <a:off x="7726680" y="2487168"/>
            <a:ext cx="3657600" cy="649224"/>
          </a:xfrm>
          <a:prstGeom prst="rect">
            <a:avLst/>
          </a:prstGeom>
          <a:noFill/>
          <a:ln/>
        </p:spPr>
        <p:txBody>
          <a:bodyPr wrap="square" lIns="0" tIns="0" rIns="0" bIns="0" rtlCol="0" anchor="ctr"/>
          <a:lstStyle/>
          <a:p>
            <a:pPr marL="0" indent="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a:t>
            </a:r>
            <a:endParaRPr lang="en-US" sz="1350" dirty="0"/>
          </a:p>
        </p:txBody>
      </p:sp>
      <p:sp>
        <p:nvSpPr>
          <p:cNvPr id="12" name="Text 10"/>
          <p:cNvSpPr/>
          <p:nvPr/>
        </p:nvSpPr>
        <p:spPr>
          <a:xfrm>
            <a:off x="868680" y="3182112"/>
            <a:ext cx="2286000" cy="649224"/>
          </a:xfrm>
          <a:prstGeom prst="rect">
            <a:avLst/>
          </a:prstGeom>
          <a:noFill/>
          <a:ln/>
        </p:spPr>
        <p:txBody>
          <a:bodyPr wrap="square" lIns="0" tIns="0" rIns="0" bIns="0" rtlCol="0" anchor="ctr"/>
          <a:lstStyle/>
          <a:p>
            <a:pPr marL="0" indent="0">
              <a:lnSpc>
                <a:spcPts val="1700"/>
              </a:lnSpc>
              <a:buNone/>
            </a:pPr>
            <a:r>
              <a:rPr lang="en-US" sz="1350" b="1" dirty="0">
                <a:solidFill>
                  <a:srgbClr val="11121A"/>
                </a:solidFill>
                <a:latin typeface="Palatino Linotype" pitchFamily="34" charset="0"/>
                <a:ea typeface="Palatino Linotype" pitchFamily="34" charset="-122"/>
                <a:cs typeface="Palatino Linotype" pitchFamily="34" charset="-120"/>
              </a:rPr>
              <a:t>= 2</a:t>
            </a:r>
            <a:endParaRPr lang="en-US" sz="1350" dirty="0"/>
          </a:p>
        </p:txBody>
      </p:sp>
      <p:sp>
        <p:nvSpPr>
          <p:cNvPr id="13" name="Text 11"/>
          <p:cNvSpPr/>
          <p:nvPr/>
        </p:nvSpPr>
        <p:spPr>
          <a:xfrm>
            <a:off x="3154680" y="3182112"/>
            <a:ext cx="4389120" cy="649224"/>
          </a:xfrm>
          <a:prstGeom prst="rect">
            <a:avLst/>
          </a:prstGeom>
          <a:noFill/>
          <a:ln/>
        </p:spPr>
        <p:txBody>
          <a:bodyPr wrap="square" lIns="0" tIns="0" rIns="0" bIns="0" rtlCol="0" anchor="ctr"/>
          <a:lstStyle/>
          <a:p>
            <a:pPr marL="0" indent="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De două ori mai des în grupul expus.</a:t>
            </a:r>
            <a:endParaRPr lang="en-US" sz="1350" dirty="0"/>
          </a:p>
        </p:txBody>
      </p:sp>
      <p:sp>
        <p:nvSpPr>
          <p:cNvPr id="14" name="Text 12"/>
          <p:cNvSpPr/>
          <p:nvPr/>
        </p:nvSpPr>
        <p:spPr>
          <a:xfrm>
            <a:off x="7726680" y="3182112"/>
            <a:ext cx="3657600" cy="649224"/>
          </a:xfrm>
          <a:prstGeom prst="rect">
            <a:avLst/>
          </a:prstGeom>
          <a:noFill/>
          <a:ln/>
        </p:spPr>
        <p:txBody>
          <a:bodyPr wrap="square" lIns="0" tIns="0" rIns="0" bIns="0" rtlCol="0" anchor="ctr"/>
          <a:lstStyle/>
          <a:p>
            <a:pPr marL="0" indent="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risc dublu (valori ipotetice)</a:t>
            </a:r>
            <a:endParaRPr lang="en-US" sz="1350" dirty="0"/>
          </a:p>
        </p:txBody>
      </p:sp>
      <p:sp>
        <p:nvSpPr>
          <p:cNvPr id="15" name="Shape 13"/>
          <p:cNvSpPr/>
          <p:nvPr/>
        </p:nvSpPr>
        <p:spPr>
          <a:xfrm>
            <a:off x="594360" y="3877056"/>
            <a:ext cx="10972800" cy="649224"/>
          </a:xfrm>
          <a:prstGeom prst="roundRect">
            <a:avLst>
              <a:gd name="adj" fmla="val 12676"/>
            </a:avLst>
          </a:prstGeom>
          <a:solidFill>
            <a:srgbClr val="ECEAE4"/>
          </a:solidFill>
          <a:ln w="12700">
            <a:solidFill>
              <a:srgbClr val="ECEAE4"/>
            </a:solidFill>
            <a:prstDash val="solid"/>
          </a:ln>
        </p:spPr>
        <p:txBody>
          <a:bodyPr/>
          <a:lstStyle/>
          <a:p>
            <a:endParaRPr lang="ro-RO"/>
          </a:p>
        </p:txBody>
      </p:sp>
      <p:sp>
        <p:nvSpPr>
          <p:cNvPr id="16" name="Text 14"/>
          <p:cNvSpPr/>
          <p:nvPr/>
        </p:nvSpPr>
        <p:spPr>
          <a:xfrm>
            <a:off x="868680" y="3877056"/>
            <a:ext cx="2286000" cy="649224"/>
          </a:xfrm>
          <a:prstGeom prst="rect">
            <a:avLst/>
          </a:prstGeom>
          <a:noFill/>
          <a:ln/>
        </p:spPr>
        <p:txBody>
          <a:bodyPr wrap="square" lIns="0" tIns="0" rIns="0" bIns="0" rtlCol="0" anchor="ctr"/>
          <a:lstStyle/>
          <a:p>
            <a:pPr marL="0" indent="0">
              <a:lnSpc>
                <a:spcPts val="1700"/>
              </a:lnSpc>
              <a:buNone/>
            </a:pPr>
            <a:r>
              <a:rPr lang="en-US" sz="1350" b="1" dirty="0">
                <a:solidFill>
                  <a:srgbClr val="11121A"/>
                </a:solidFill>
                <a:latin typeface="Palatino Linotype" pitchFamily="34" charset="0"/>
                <a:ea typeface="Palatino Linotype" pitchFamily="34" charset="-122"/>
                <a:cs typeface="Palatino Linotype" pitchFamily="34" charset="-120"/>
              </a:rPr>
              <a:t>= 0,5</a:t>
            </a:r>
            <a:endParaRPr lang="en-US" sz="1350" dirty="0"/>
          </a:p>
        </p:txBody>
      </p:sp>
      <p:sp>
        <p:nvSpPr>
          <p:cNvPr id="17" name="Text 15"/>
          <p:cNvSpPr/>
          <p:nvPr/>
        </p:nvSpPr>
        <p:spPr>
          <a:xfrm>
            <a:off x="3154680" y="3877056"/>
            <a:ext cx="4389120" cy="649224"/>
          </a:xfrm>
          <a:prstGeom prst="rect">
            <a:avLst/>
          </a:prstGeom>
          <a:noFill/>
          <a:ln/>
        </p:spPr>
        <p:txBody>
          <a:bodyPr wrap="square" lIns="0" tIns="0" rIns="0" bIns="0" rtlCol="0" anchor="ctr"/>
          <a:lstStyle/>
          <a:p>
            <a:pPr marL="0" indent="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De două ori mai rar: compatibil cu un efect protector.</a:t>
            </a:r>
            <a:endParaRPr lang="en-US" sz="1350" dirty="0"/>
          </a:p>
        </p:txBody>
      </p:sp>
      <p:sp>
        <p:nvSpPr>
          <p:cNvPr id="18" name="Text 16"/>
          <p:cNvSpPr/>
          <p:nvPr/>
        </p:nvSpPr>
        <p:spPr>
          <a:xfrm>
            <a:off x="7726680" y="3877056"/>
            <a:ext cx="3657600" cy="649224"/>
          </a:xfrm>
          <a:prstGeom prst="rect">
            <a:avLst/>
          </a:prstGeom>
          <a:noFill/>
          <a:ln/>
        </p:spPr>
        <p:txBody>
          <a:bodyPr wrap="square" lIns="0" tIns="0" rIns="0" bIns="0" rtlCol="0" anchor="ctr"/>
          <a:lstStyle/>
          <a:p>
            <a:pPr marL="0" indent="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risc la jumătate (valori ipotetice)</a:t>
            </a:r>
            <a:endParaRPr lang="en-US" sz="1350" dirty="0"/>
          </a:p>
        </p:txBody>
      </p:sp>
      <p:sp>
        <p:nvSpPr>
          <p:cNvPr id="19" name="Text 17"/>
          <p:cNvSpPr/>
          <p:nvPr/>
        </p:nvSpPr>
        <p:spPr>
          <a:xfrm>
            <a:off x="868680" y="4572000"/>
            <a:ext cx="2286000" cy="649224"/>
          </a:xfrm>
          <a:prstGeom prst="rect">
            <a:avLst/>
          </a:prstGeom>
          <a:noFill/>
          <a:ln/>
        </p:spPr>
        <p:txBody>
          <a:bodyPr wrap="square" lIns="0" tIns="0" rIns="0" bIns="0" rtlCol="0" anchor="ctr"/>
          <a:lstStyle/>
          <a:p>
            <a:pPr marL="0" indent="0">
              <a:lnSpc>
                <a:spcPts val="1700"/>
              </a:lnSpc>
              <a:buNone/>
            </a:pPr>
            <a:r>
              <a:rPr lang="en-US" sz="1350" b="1" dirty="0">
                <a:solidFill>
                  <a:srgbClr val="11121A"/>
                </a:solidFill>
                <a:latin typeface="Palatino Linotype" pitchFamily="34" charset="0"/>
                <a:ea typeface="Palatino Linotype" pitchFamily="34" charset="-122"/>
                <a:cs typeface="Palatino Linotype" pitchFamily="34" charset="-120"/>
              </a:rPr>
              <a:t>3,90</a:t>
            </a:r>
            <a:endParaRPr lang="en-US" sz="1350" dirty="0"/>
          </a:p>
        </p:txBody>
      </p:sp>
      <p:sp>
        <p:nvSpPr>
          <p:cNvPr id="20" name="Text 18"/>
          <p:cNvSpPr/>
          <p:nvPr/>
        </p:nvSpPr>
        <p:spPr>
          <a:xfrm>
            <a:off x="3154680" y="4572000"/>
            <a:ext cx="4389120" cy="649224"/>
          </a:xfrm>
          <a:prstGeom prst="rect">
            <a:avLst/>
          </a:prstGeom>
          <a:noFill/>
          <a:ln/>
        </p:spPr>
        <p:txBody>
          <a:bodyPr wrap="square" lIns="0" tIns="0" rIns="0" bIns="0" rtlCol="0" anchor="ctr"/>
          <a:lstStyle/>
          <a:p>
            <a:pPr marL="0" indent="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Șanse de aproape patru ori mai mari (raportul șanselor).</a:t>
            </a:r>
            <a:endParaRPr lang="en-US" sz="1350" dirty="0"/>
          </a:p>
        </p:txBody>
      </p:sp>
      <p:sp>
        <p:nvSpPr>
          <p:cNvPr id="21" name="Text 19"/>
          <p:cNvSpPr/>
          <p:nvPr/>
        </p:nvSpPr>
        <p:spPr>
          <a:xfrm>
            <a:off x="7726680" y="4572000"/>
            <a:ext cx="3657600" cy="649224"/>
          </a:xfrm>
          <a:prstGeom prst="rect">
            <a:avLst/>
          </a:prstGeom>
          <a:noFill/>
          <a:ln/>
        </p:spPr>
        <p:txBody>
          <a:bodyPr wrap="square" lIns="0" tIns="0" rIns="0" bIns="0" rtlCol="0" anchor="ctr"/>
          <a:lstStyle/>
          <a:p>
            <a:pPr marL="0" indent="0">
              <a:lnSpc>
                <a:spcPts val="1700"/>
              </a:lnSpc>
              <a:buNone/>
            </a:pPr>
            <a:r>
              <a:rPr lang="en-US" sz="1350" dirty="0">
                <a:solidFill>
                  <a:srgbClr val="11121A"/>
                </a:solidFill>
                <a:latin typeface="Palatino Linotype" pitchFamily="34" charset="0"/>
                <a:ea typeface="Palatino Linotype" pitchFamily="34" charset="-122"/>
                <a:cs typeface="Palatino Linotype" pitchFamily="34" charset="-120"/>
              </a:rPr>
              <a:t>psihoză la consumul cel mai intens de canabis</a:t>
            </a:r>
            <a:endParaRPr lang="en-US" sz="1350" dirty="0"/>
          </a:p>
        </p:txBody>
      </p:sp>
      <p:sp>
        <p:nvSpPr>
          <p:cNvPr id="22" name="Shape 20"/>
          <p:cNvSpPr/>
          <p:nvPr/>
        </p:nvSpPr>
        <p:spPr>
          <a:xfrm>
            <a:off x="594360" y="5175504"/>
            <a:ext cx="10972800" cy="987552"/>
          </a:xfrm>
          <a:prstGeom prst="roundRect">
            <a:avLst>
              <a:gd name="adj" fmla="val 8333"/>
            </a:avLst>
          </a:prstGeom>
          <a:solidFill>
            <a:srgbClr val="11121A"/>
          </a:solidFill>
          <a:ln w="12700">
            <a:solidFill>
              <a:srgbClr val="11121A"/>
            </a:solidFill>
            <a:prstDash val="solid"/>
          </a:ln>
        </p:spPr>
        <p:txBody>
          <a:bodyPr/>
          <a:lstStyle/>
          <a:p>
            <a:endParaRPr lang="ro-RO"/>
          </a:p>
        </p:txBody>
      </p:sp>
      <p:sp>
        <p:nvSpPr>
          <p:cNvPr id="23" name="Text 21"/>
          <p:cNvSpPr/>
          <p:nvPr/>
        </p:nvSpPr>
        <p:spPr>
          <a:xfrm>
            <a:off x="960120" y="5175504"/>
            <a:ext cx="10241280" cy="987552"/>
          </a:xfrm>
          <a:prstGeom prst="rect">
            <a:avLst/>
          </a:prstGeom>
          <a:noFill/>
          <a:ln/>
        </p:spPr>
        <p:txBody>
          <a:bodyPr wrap="square" lIns="0" tIns="0" rIns="0" bIns="0" rtlCol="0" anchor="ctr"/>
          <a:lstStyle/>
          <a:p>
            <a:pPr marL="0" indent="0">
              <a:lnSpc>
                <a:spcPts val="2200"/>
              </a:lnSpc>
              <a:buNone/>
            </a:pPr>
            <a:r>
              <a:rPr lang="en-US" sz="1450" b="1" dirty="0">
                <a:solidFill>
                  <a:srgbClr val="FFC24B"/>
                </a:solidFill>
                <a:latin typeface="Palatino Linotype" pitchFamily="34" charset="0"/>
                <a:ea typeface="Palatino Linotype" pitchFamily="34" charset="-122"/>
                <a:cs typeface="Palatino Linotype" pitchFamily="34" charset="-120"/>
              </a:rPr>
              <a:t>Pentru tabelele de azi, diferența tehnică dintre OR și RR contează mai puțin decât poziția valorii 1 față de intervalul de încredere.</a:t>
            </a:r>
            <a:endParaRPr lang="en-US" sz="1450" dirty="0"/>
          </a:p>
        </p:txBody>
      </p:sp>
      <p:sp>
        <p:nvSpPr>
          <p:cNvPr id="24" name="Sursa"/>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NCI Dictionary of Cancer Terms · Szumilas, 2010 · exemplul: Marconi și colab., Schizophr Bull, 2016</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8A6100"/>
                </a:solidFill>
                <a:latin typeface="Palatino Linotype" pitchFamily="34" charset="0"/>
                <a:ea typeface="Palatino Linotype" pitchFamily="34" charset="-122"/>
                <a:cs typeface="Palatino Linotype" pitchFamily="34" charset="-120"/>
              </a:rPr>
              <a:t>NOȚIUNEA 3 / 5</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400" b="1" dirty="0">
                <a:solidFill>
                  <a:srgbClr val="11121A"/>
                </a:solidFill>
                <a:latin typeface="Palatino Linotype" pitchFamily="34" charset="0"/>
                <a:ea typeface="Palatino Linotype" pitchFamily="34" charset="-122"/>
                <a:cs typeface="Palatino Linotype" pitchFamily="34" charset="-120"/>
              </a:rPr>
              <a:t>Mărimea efectului</a:t>
            </a:r>
            <a:endParaRPr lang="en-US" sz="3400" dirty="0"/>
          </a:p>
        </p:txBody>
      </p:sp>
      <p:sp>
        <p:nvSpPr>
          <p:cNvPr id="4" name="Text 2"/>
          <p:cNvSpPr/>
          <p:nvPr/>
        </p:nvSpPr>
        <p:spPr>
          <a:xfrm>
            <a:off x="594360" y="1481328"/>
            <a:ext cx="10972800" cy="457200"/>
          </a:xfrm>
          <a:prstGeom prst="rect">
            <a:avLst/>
          </a:prstGeom>
          <a:noFill/>
          <a:ln/>
        </p:spPr>
        <p:txBody>
          <a:bodyPr wrap="square" lIns="0" tIns="0" rIns="0" bIns="0" rtlCol="0" anchor="ctr"/>
          <a:lstStyle/>
          <a:p>
            <a:pPr marL="0" indent="0">
              <a:buNone/>
            </a:pPr>
            <a:r>
              <a:rPr lang="en-US" sz="1700" dirty="0">
                <a:solidFill>
                  <a:srgbClr val="8A6100"/>
                </a:solidFill>
                <a:latin typeface="Palatino Linotype" pitchFamily="34" charset="0"/>
                <a:ea typeface="Palatino Linotype" pitchFamily="34" charset="-122"/>
                <a:cs typeface="Palatino Linotype" pitchFamily="34" charset="-120"/>
              </a:rPr>
              <a:t>Cât de mare e diferența, nu doar dacă există. Se scrie „g” sau „d”.</a:t>
            </a:r>
            <a:endParaRPr lang="en-US" sz="1700" dirty="0"/>
          </a:p>
        </p:txBody>
      </p:sp>
      <p:sp>
        <p:nvSpPr>
          <p:cNvPr id="5" name="Shape 3"/>
          <p:cNvSpPr/>
          <p:nvPr/>
        </p:nvSpPr>
        <p:spPr>
          <a:xfrm>
            <a:off x="594360" y="2103120"/>
            <a:ext cx="10972800" cy="877824"/>
          </a:xfrm>
          <a:prstGeom prst="roundRect">
            <a:avLst>
              <a:gd name="adj" fmla="val 9375"/>
            </a:avLst>
          </a:prstGeom>
          <a:solidFill>
            <a:srgbClr val="ECEAE4"/>
          </a:solidFill>
          <a:ln w="12700">
            <a:solidFill>
              <a:srgbClr val="ECEAE4"/>
            </a:solidFill>
            <a:prstDash val="solid"/>
          </a:ln>
        </p:spPr>
        <p:txBody>
          <a:bodyPr/>
          <a:lstStyle/>
          <a:p>
            <a:endParaRPr lang="ro-RO"/>
          </a:p>
        </p:txBody>
      </p:sp>
      <p:sp>
        <p:nvSpPr>
          <p:cNvPr id="6" name="Text 4"/>
          <p:cNvSpPr/>
          <p:nvPr/>
        </p:nvSpPr>
        <p:spPr>
          <a:xfrm>
            <a:off x="960120" y="2103120"/>
            <a:ext cx="10241280" cy="877824"/>
          </a:xfrm>
          <a:prstGeom prst="rect">
            <a:avLst/>
          </a:prstGeom>
          <a:noFill/>
          <a:ln/>
        </p:spPr>
        <p:txBody>
          <a:bodyPr wrap="square" lIns="0" tIns="0" rIns="0" bIns="0" rtlCol="0" anchor="ctr"/>
          <a:lstStyle/>
          <a:p>
            <a:pPr marL="0" indent="0">
              <a:buNone/>
            </a:pPr>
            <a:r>
              <a:rPr lang="en-US" sz="1500" dirty="0">
                <a:solidFill>
                  <a:srgbClr val="11121A"/>
                </a:solidFill>
                <a:latin typeface="Palatino Linotype" pitchFamily="34" charset="0"/>
                <a:ea typeface="Palatino Linotype" pitchFamily="34" charset="-122"/>
                <a:cs typeface="Palatino Linotype" pitchFamily="34" charset="-120"/>
              </a:rPr>
              <a:t>O diferență poate fi reală și, în același timp, prea mică pentru a conta în practică. Mărimea efectului răspunde la această a doua întrebare; pragurile lui Cohen sunt orientative, iar un efect mic poate avea consecințe importante.</a:t>
            </a:r>
            <a:endParaRPr lang="en-US" sz="1500" dirty="0"/>
          </a:p>
        </p:txBody>
      </p:sp>
      <p:sp>
        <p:nvSpPr>
          <p:cNvPr id="7" name="Shape 5"/>
          <p:cNvSpPr/>
          <p:nvPr/>
        </p:nvSpPr>
        <p:spPr>
          <a:xfrm>
            <a:off x="594360" y="3200400"/>
            <a:ext cx="3429000" cy="1417320"/>
          </a:xfrm>
          <a:prstGeom prst="roundRect">
            <a:avLst>
              <a:gd name="adj" fmla="val 5806"/>
            </a:avLst>
          </a:prstGeom>
          <a:solidFill>
            <a:srgbClr val="F9F8F5"/>
          </a:solidFill>
          <a:ln w="12700">
            <a:solidFill>
              <a:srgbClr val="F9F8F5"/>
            </a:solidFill>
            <a:prstDash val="solid"/>
          </a:ln>
        </p:spPr>
        <p:txBody>
          <a:bodyPr/>
          <a:lstStyle/>
          <a:p>
            <a:endParaRPr lang="ro-RO"/>
          </a:p>
        </p:txBody>
      </p:sp>
      <p:sp>
        <p:nvSpPr>
          <p:cNvPr id="8" name="Shape 6"/>
          <p:cNvSpPr/>
          <p:nvPr/>
        </p:nvSpPr>
        <p:spPr>
          <a:xfrm>
            <a:off x="594360" y="3200400"/>
            <a:ext cx="50292" cy="1417320"/>
          </a:xfrm>
          <a:prstGeom prst="rect">
            <a:avLst/>
          </a:prstGeom>
          <a:solidFill>
            <a:srgbClr val="0E7C6B"/>
          </a:solidFill>
          <a:ln w="12700">
            <a:solidFill>
              <a:srgbClr val="0E7C6B"/>
            </a:solidFill>
            <a:prstDash val="solid"/>
          </a:ln>
        </p:spPr>
        <p:txBody>
          <a:bodyPr/>
          <a:lstStyle/>
          <a:p>
            <a:endParaRPr lang="ro-RO"/>
          </a:p>
        </p:txBody>
      </p:sp>
      <p:sp>
        <p:nvSpPr>
          <p:cNvPr id="9" name="Text 7"/>
          <p:cNvSpPr/>
          <p:nvPr/>
        </p:nvSpPr>
        <p:spPr>
          <a:xfrm>
            <a:off x="868680" y="3364992"/>
            <a:ext cx="2880360" cy="438912"/>
          </a:xfrm>
          <a:prstGeom prst="rect">
            <a:avLst/>
          </a:prstGeom>
          <a:noFill/>
          <a:ln/>
        </p:spPr>
        <p:txBody>
          <a:bodyPr wrap="square" lIns="0" tIns="0" rIns="0" bIns="0" rtlCol="0" anchor="ctr"/>
          <a:lstStyle/>
          <a:p>
            <a:pPr marL="0" indent="0">
              <a:buNone/>
            </a:pPr>
            <a:r>
              <a:rPr lang="en-US" sz="2400" b="1" dirty="0">
                <a:solidFill>
                  <a:srgbClr val="0E7C6B"/>
                </a:solidFill>
                <a:latin typeface="Palatino Linotype" pitchFamily="34" charset="0"/>
                <a:ea typeface="Palatino Linotype" pitchFamily="34" charset="-122"/>
                <a:cs typeface="Palatino Linotype" pitchFamily="34" charset="-120"/>
              </a:rPr>
              <a:t>g ≈ 0,2</a:t>
            </a:r>
            <a:endParaRPr lang="en-US" sz="2400" dirty="0"/>
          </a:p>
        </p:txBody>
      </p:sp>
      <p:sp>
        <p:nvSpPr>
          <p:cNvPr id="10" name="Text 8"/>
          <p:cNvSpPr/>
          <p:nvPr/>
        </p:nvSpPr>
        <p:spPr>
          <a:xfrm>
            <a:off x="868680" y="3822192"/>
            <a:ext cx="2880360" cy="292608"/>
          </a:xfrm>
          <a:prstGeom prst="rect">
            <a:avLst/>
          </a:prstGeom>
          <a:noFill/>
          <a:ln/>
        </p:spPr>
        <p:txBody>
          <a:bodyPr wrap="square" lIns="0" tIns="0" rIns="0" bIns="0" rtlCol="0" anchor="ctr"/>
          <a:lstStyle/>
          <a:p>
            <a:pPr marL="0" indent="0">
              <a:buNone/>
            </a:pPr>
            <a:r>
              <a:rPr lang="en-US" sz="1400" b="1" dirty="0">
                <a:solidFill>
                  <a:srgbClr val="11121A"/>
                </a:solidFill>
                <a:latin typeface="Palatino Linotype" pitchFamily="34" charset="0"/>
                <a:ea typeface="Palatino Linotype" pitchFamily="34" charset="-122"/>
                <a:cs typeface="Palatino Linotype" pitchFamily="34" charset="-120"/>
              </a:rPr>
              <a:t>mic</a:t>
            </a:r>
            <a:endParaRPr lang="en-US" sz="1400" dirty="0"/>
          </a:p>
        </p:txBody>
      </p:sp>
      <p:sp>
        <p:nvSpPr>
          <p:cNvPr id="11" name="Text 9"/>
          <p:cNvSpPr/>
          <p:nvPr/>
        </p:nvSpPr>
        <p:spPr>
          <a:xfrm>
            <a:off x="868680" y="4133088"/>
            <a:ext cx="2880360" cy="292608"/>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prag convențional</a:t>
            </a:r>
            <a:endParaRPr lang="en-US" sz="1250" dirty="0"/>
          </a:p>
        </p:txBody>
      </p:sp>
      <p:sp>
        <p:nvSpPr>
          <p:cNvPr id="12" name="Shape 10"/>
          <p:cNvSpPr/>
          <p:nvPr/>
        </p:nvSpPr>
        <p:spPr>
          <a:xfrm>
            <a:off x="4389120" y="3200400"/>
            <a:ext cx="3429000" cy="1417320"/>
          </a:xfrm>
          <a:prstGeom prst="roundRect">
            <a:avLst>
              <a:gd name="adj" fmla="val 5806"/>
            </a:avLst>
          </a:prstGeom>
          <a:solidFill>
            <a:srgbClr val="F9F8F5"/>
          </a:solidFill>
          <a:ln w="12700">
            <a:solidFill>
              <a:srgbClr val="F9F8F5"/>
            </a:solidFill>
            <a:prstDash val="solid"/>
          </a:ln>
        </p:spPr>
        <p:txBody>
          <a:bodyPr/>
          <a:lstStyle/>
          <a:p>
            <a:endParaRPr lang="ro-RO"/>
          </a:p>
        </p:txBody>
      </p:sp>
      <p:sp>
        <p:nvSpPr>
          <p:cNvPr id="13" name="Shape 11"/>
          <p:cNvSpPr/>
          <p:nvPr/>
        </p:nvSpPr>
        <p:spPr>
          <a:xfrm>
            <a:off x="4389120" y="3200400"/>
            <a:ext cx="50292" cy="1417320"/>
          </a:xfrm>
          <a:prstGeom prst="rect">
            <a:avLst/>
          </a:prstGeom>
          <a:solidFill>
            <a:srgbClr val="8A6100"/>
          </a:solidFill>
          <a:ln w="12700">
            <a:solidFill>
              <a:srgbClr val="8A6100"/>
            </a:solidFill>
            <a:prstDash val="solid"/>
          </a:ln>
        </p:spPr>
        <p:txBody>
          <a:bodyPr/>
          <a:lstStyle/>
          <a:p>
            <a:endParaRPr lang="ro-RO"/>
          </a:p>
        </p:txBody>
      </p:sp>
      <p:sp>
        <p:nvSpPr>
          <p:cNvPr id="14" name="Text 12"/>
          <p:cNvSpPr/>
          <p:nvPr/>
        </p:nvSpPr>
        <p:spPr>
          <a:xfrm>
            <a:off x="4663440" y="3364992"/>
            <a:ext cx="2880360" cy="438912"/>
          </a:xfrm>
          <a:prstGeom prst="rect">
            <a:avLst/>
          </a:prstGeom>
          <a:noFill/>
          <a:ln/>
        </p:spPr>
        <p:txBody>
          <a:bodyPr wrap="square" lIns="0" tIns="0" rIns="0" bIns="0" rtlCol="0" anchor="ctr"/>
          <a:lstStyle/>
          <a:p>
            <a:pPr marL="0" indent="0">
              <a:buNone/>
            </a:pPr>
            <a:r>
              <a:rPr lang="en-US" sz="2400" b="1" dirty="0">
                <a:solidFill>
                  <a:srgbClr val="8A6100"/>
                </a:solidFill>
                <a:latin typeface="Palatino Linotype" pitchFamily="34" charset="0"/>
                <a:ea typeface="Palatino Linotype" pitchFamily="34" charset="-122"/>
                <a:cs typeface="Palatino Linotype" pitchFamily="34" charset="-120"/>
              </a:rPr>
              <a:t>g ≈ 0,5</a:t>
            </a:r>
            <a:endParaRPr lang="en-US" sz="2400" dirty="0"/>
          </a:p>
        </p:txBody>
      </p:sp>
      <p:sp>
        <p:nvSpPr>
          <p:cNvPr id="15" name="Text 13"/>
          <p:cNvSpPr/>
          <p:nvPr/>
        </p:nvSpPr>
        <p:spPr>
          <a:xfrm>
            <a:off x="4663440" y="3822192"/>
            <a:ext cx="2880360" cy="292608"/>
          </a:xfrm>
          <a:prstGeom prst="rect">
            <a:avLst/>
          </a:prstGeom>
          <a:noFill/>
          <a:ln/>
        </p:spPr>
        <p:txBody>
          <a:bodyPr wrap="square" lIns="0" tIns="0" rIns="0" bIns="0" rtlCol="0" anchor="ctr"/>
          <a:lstStyle/>
          <a:p>
            <a:pPr marL="0" indent="0">
              <a:buNone/>
            </a:pPr>
            <a:r>
              <a:rPr lang="en-US" sz="1400" b="1" dirty="0">
                <a:solidFill>
                  <a:srgbClr val="11121A"/>
                </a:solidFill>
                <a:latin typeface="Palatino Linotype" pitchFamily="34" charset="0"/>
                <a:ea typeface="Palatino Linotype" pitchFamily="34" charset="-122"/>
                <a:cs typeface="Palatino Linotype" pitchFamily="34" charset="-120"/>
              </a:rPr>
              <a:t>mediu</a:t>
            </a:r>
            <a:endParaRPr lang="en-US" sz="1400" dirty="0"/>
          </a:p>
        </p:txBody>
      </p:sp>
      <p:sp>
        <p:nvSpPr>
          <p:cNvPr id="16" name="Text 14"/>
          <p:cNvSpPr/>
          <p:nvPr/>
        </p:nvSpPr>
        <p:spPr>
          <a:xfrm>
            <a:off x="4663440" y="4133088"/>
            <a:ext cx="2880360" cy="292608"/>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prag convențional</a:t>
            </a:r>
            <a:endParaRPr lang="en-US" sz="1250" dirty="0"/>
          </a:p>
        </p:txBody>
      </p:sp>
      <p:sp>
        <p:nvSpPr>
          <p:cNvPr id="17" name="Shape 15"/>
          <p:cNvSpPr/>
          <p:nvPr/>
        </p:nvSpPr>
        <p:spPr>
          <a:xfrm>
            <a:off x="8183880" y="3200400"/>
            <a:ext cx="3429000" cy="1417320"/>
          </a:xfrm>
          <a:prstGeom prst="roundRect">
            <a:avLst>
              <a:gd name="adj" fmla="val 5806"/>
            </a:avLst>
          </a:prstGeom>
          <a:solidFill>
            <a:srgbClr val="F9F8F5"/>
          </a:solidFill>
          <a:ln w="12700">
            <a:solidFill>
              <a:srgbClr val="F9F8F5"/>
            </a:solidFill>
            <a:prstDash val="solid"/>
          </a:ln>
        </p:spPr>
        <p:txBody>
          <a:bodyPr/>
          <a:lstStyle/>
          <a:p>
            <a:endParaRPr lang="ro-RO"/>
          </a:p>
        </p:txBody>
      </p:sp>
      <p:sp>
        <p:nvSpPr>
          <p:cNvPr id="18" name="Shape 16"/>
          <p:cNvSpPr/>
          <p:nvPr/>
        </p:nvSpPr>
        <p:spPr>
          <a:xfrm>
            <a:off x="8183880" y="3200400"/>
            <a:ext cx="50292" cy="1417320"/>
          </a:xfrm>
          <a:prstGeom prst="rect">
            <a:avLst/>
          </a:prstGeom>
          <a:solidFill>
            <a:srgbClr val="B02532"/>
          </a:solidFill>
          <a:ln w="12700">
            <a:solidFill>
              <a:srgbClr val="B02532"/>
            </a:solidFill>
            <a:prstDash val="solid"/>
          </a:ln>
        </p:spPr>
        <p:txBody>
          <a:bodyPr/>
          <a:lstStyle/>
          <a:p>
            <a:endParaRPr lang="ro-RO"/>
          </a:p>
        </p:txBody>
      </p:sp>
      <p:sp>
        <p:nvSpPr>
          <p:cNvPr id="19" name="Text 17"/>
          <p:cNvSpPr/>
          <p:nvPr/>
        </p:nvSpPr>
        <p:spPr>
          <a:xfrm>
            <a:off x="8458200" y="3364992"/>
            <a:ext cx="2880360" cy="438912"/>
          </a:xfrm>
          <a:prstGeom prst="rect">
            <a:avLst/>
          </a:prstGeom>
          <a:noFill/>
          <a:ln/>
        </p:spPr>
        <p:txBody>
          <a:bodyPr wrap="square" lIns="0" tIns="0" rIns="0" bIns="0" rtlCol="0" anchor="ctr"/>
          <a:lstStyle/>
          <a:p>
            <a:pPr marL="0" indent="0">
              <a:buNone/>
            </a:pPr>
            <a:r>
              <a:rPr lang="en-US" sz="2400" b="1" dirty="0">
                <a:solidFill>
                  <a:srgbClr val="B02532"/>
                </a:solidFill>
                <a:latin typeface="Palatino Linotype" pitchFamily="34" charset="0"/>
                <a:ea typeface="Palatino Linotype" pitchFamily="34" charset="-122"/>
                <a:cs typeface="Palatino Linotype" pitchFamily="34" charset="-120"/>
              </a:rPr>
              <a:t>g ≈ 0,8</a:t>
            </a:r>
            <a:endParaRPr lang="en-US" sz="2400" dirty="0"/>
          </a:p>
        </p:txBody>
      </p:sp>
      <p:sp>
        <p:nvSpPr>
          <p:cNvPr id="20" name="Text 18"/>
          <p:cNvSpPr/>
          <p:nvPr/>
        </p:nvSpPr>
        <p:spPr>
          <a:xfrm>
            <a:off x="8458200" y="3822192"/>
            <a:ext cx="2880360" cy="292608"/>
          </a:xfrm>
          <a:prstGeom prst="rect">
            <a:avLst/>
          </a:prstGeom>
          <a:noFill/>
          <a:ln/>
        </p:spPr>
        <p:txBody>
          <a:bodyPr wrap="square" lIns="0" tIns="0" rIns="0" bIns="0" rtlCol="0" anchor="ctr"/>
          <a:lstStyle/>
          <a:p>
            <a:pPr marL="0" indent="0">
              <a:buNone/>
            </a:pPr>
            <a:r>
              <a:rPr lang="en-US" sz="1400" b="1" dirty="0">
                <a:solidFill>
                  <a:srgbClr val="11121A"/>
                </a:solidFill>
                <a:latin typeface="Palatino Linotype" pitchFamily="34" charset="0"/>
                <a:ea typeface="Palatino Linotype" pitchFamily="34" charset="-122"/>
                <a:cs typeface="Palatino Linotype" pitchFamily="34" charset="-120"/>
              </a:rPr>
              <a:t>mare</a:t>
            </a:r>
            <a:endParaRPr lang="en-US" sz="1400" dirty="0"/>
          </a:p>
        </p:txBody>
      </p:sp>
      <p:sp>
        <p:nvSpPr>
          <p:cNvPr id="21" name="Text 19"/>
          <p:cNvSpPr/>
          <p:nvPr/>
        </p:nvSpPr>
        <p:spPr>
          <a:xfrm>
            <a:off x="8458200" y="4133088"/>
            <a:ext cx="2880360" cy="292608"/>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prag convențional</a:t>
            </a:r>
            <a:endParaRPr lang="en-US" sz="1250" dirty="0"/>
          </a:p>
        </p:txBody>
      </p:sp>
      <p:sp>
        <p:nvSpPr>
          <p:cNvPr id="22" name="Shape 20"/>
          <p:cNvSpPr/>
          <p:nvPr/>
        </p:nvSpPr>
        <p:spPr>
          <a:xfrm>
            <a:off x="594360" y="4828032"/>
            <a:ext cx="10972800" cy="1316736"/>
          </a:xfrm>
          <a:prstGeom prst="roundRect">
            <a:avLst>
              <a:gd name="adj" fmla="val 6250"/>
            </a:avLst>
          </a:prstGeom>
          <a:solidFill>
            <a:srgbClr val="8A6100"/>
          </a:solidFill>
          <a:ln w="12700">
            <a:solidFill>
              <a:srgbClr val="8A6100"/>
            </a:solidFill>
            <a:prstDash val="solid"/>
          </a:ln>
        </p:spPr>
        <p:txBody>
          <a:bodyPr/>
          <a:lstStyle/>
          <a:p>
            <a:endParaRPr lang="ro-RO"/>
          </a:p>
        </p:txBody>
      </p:sp>
      <p:sp>
        <p:nvSpPr>
          <p:cNvPr id="23" name="Text 21"/>
          <p:cNvSpPr/>
          <p:nvPr/>
        </p:nvSpPr>
        <p:spPr>
          <a:xfrm>
            <a:off x="960120" y="4974336"/>
            <a:ext cx="10241280" cy="274320"/>
          </a:xfrm>
          <a:prstGeom prst="rect">
            <a:avLst/>
          </a:prstGeom>
          <a:noFill/>
          <a:ln/>
        </p:spPr>
        <p:txBody>
          <a:bodyPr wrap="square" lIns="0" tIns="0" rIns="0" bIns="0" rtlCol="0" anchor="ctr"/>
          <a:lstStyle/>
          <a:p>
            <a:pPr marL="0" indent="0">
              <a:buNone/>
            </a:pPr>
            <a:r>
              <a:rPr lang="en-US" sz="1100" b="1" kern="0" spc="140" dirty="0">
                <a:solidFill>
                  <a:srgbClr val="3D2A00"/>
                </a:solidFill>
                <a:latin typeface="Palatino Linotype" pitchFamily="34" charset="0"/>
                <a:ea typeface="Palatino Linotype" pitchFamily="34" charset="-122"/>
                <a:cs typeface="Palatino Linotype" pitchFamily="34" charset="-120"/>
              </a:rPr>
              <a:t>Semnul contează</a:t>
            </a:r>
            <a:endParaRPr lang="en-US" sz="1100" dirty="0"/>
          </a:p>
        </p:txBody>
      </p:sp>
      <p:sp>
        <p:nvSpPr>
          <p:cNvPr id="24" name="Text 22"/>
          <p:cNvSpPr/>
          <p:nvPr/>
        </p:nvSpPr>
        <p:spPr>
          <a:xfrm>
            <a:off x="960120" y="5285232"/>
            <a:ext cx="10241280" cy="731520"/>
          </a:xfrm>
          <a:prstGeom prst="rect">
            <a:avLst/>
          </a:prstGeom>
          <a:noFill/>
          <a:ln/>
        </p:spPr>
        <p:txBody>
          <a:bodyPr wrap="square" lIns="0" tIns="0" rIns="0" bIns="0" rtlCol="0" anchor="t"/>
          <a:lstStyle/>
          <a:p>
            <a:pPr marL="0" indent="0">
              <a:lnSpc>
                <a:spcPts val="2200"/>
              </a:lnSpc>
              <a:buNone/>
            </a:pPr>
            <a:r>
              <a:rPr lang="en-US" sz="1400" b="1" dirty="0">
                <a:solidFill>
                  <a:srgbClr val="3D2A00"/>
                </a:solidFill>
                <a:latin typeface="Palatino Linotype" pitchFamily="34" charset="0"/>
                <a:ea typeface="Palatino Linotype" pitchFamily="34" charset="-122"/>
                <a:cs typeface="Palatino Linotype" pitchFamily="34" charset="-120"/>
              </a:rPr>
              <a:t>g negativ înseamnă că lucrul măsurat scade; g pozitiv, că crește. Veți vedea azi, în aceeași meta-analiză, g = −0,324 și g = +0,263 — aceeași explicație, două efecte în direcții opuse.</a:t>
            </a:r>
            <a:endParaRPr lang="en-US" sz="1400" dirty="0"/>
          </a:p>
        </p:txBody>
      </p:sp>
      <p:sp>
        <p:nvSpPr>
          <p:cNvPr id="25" name="Sursa"/>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Lakens, Front Psychol, 2013 · valorile g: Kvaale și colab., Clin Psychol Rev, 2013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NOȚIUNEA 4 / 5</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400" b="1" dirty="0">
                <a:solidFill>
                  <a:srgbClr val="11121A"/>
                </a:solidFill>
                <a:latin typeface="Palatino Linotype" pitchFamily="34" charset="0"/>
                <a:ea typeface="Palatino Linotype" pitchFamily="34" charset="-122"/>
                <a:cs typeface="Palatino Linotype" pitchFamily="34" charset="-120"/>
              </a:rPr>
              <a:t>Transversal sau longitudinal</a:t>
            </a:r>
            <a:endParaRPr lang="en-US" sz="3400" dirty="0"/>
          </a:p>
        </p:txBody>
      </p:sp>
      <p:sp>
        <p:nvSpPr>
          <p:cNvPr id="4" name="Text 2"/>
          <p:cNvSpPr/>
          <p:nvPr/>
        </p:nvSpPr>
        <p:spPr>
          <a:xfrm>
            <a:off x="594360" y="1481328"/>
            <a:ext cx="10972800" cy="457200"/>
          </a:xfrm>
          <a:prstGeom prst="rect">
            <a:avLst/>
          </a:prstGeom>
          <a:noFill/>
          <a:ln/>
        </p:spPr>
        <p:txBody>
          <a:bodyPr wrap="square" lIns="0" tIns="0" rIns="0" bIns="0" rtlCol="0" anchor="ctr"/>
          <a:lstStyle/>
          <a:p>
            <a:pPr marL="0" indent="0">
              <a:buNone/>
            </a:pPr>
            <a:r>
              <a:rPr lang="en-US" sz="1700" dirty="0">
                <a:solidFill>
                  <a:srgbClr val="B02532"/>
                </a:solidFill>
                <a:latin typeface="Palatino Linotype" pitchFamily="34" charset="0"/>
                <a:ea typeface="Palatino Linotype" pitchFamily="34" charset="-122"/>
                <a:cs typeface="Palatino Linotype" pitchFamily="34" charset="-120"/>
              </a:rPr>
              <a:t>O fotografie sau un film. Diferența decide dacă poți vorbi despre cauză.</a:t>
            </a:r>
            <a:endParaRPr lang="en-US" sz="1700" dirty="0"/>
          </a:p>
        </p:txBody>
      </p:sp>
      <p:sp>
        <p:nvSpPr>
          <p:cNvPr id="5" name="Shape 3"/>
          <p:cNvSpPr/>
          <p:nvPr/>
        </p:nvSpPr>
        <p:spPr>
          <a:xfrm>
            <a:off x="594360" y="2103120"/>
            <a:ext cx="5440680" cy="2240280"/>
          </a:xfrm>
          <a:prstGeom prst="roundRect">
            <a:avLst>
              <a:gd name="adj" fmla="val 3673"/>
            </a:avLst>
          </a:prstGeom>
          <a:solidFill>
            <a:srgbClr val="ECEAE4"/>
          </a:solidFill>
          <a:ln w="12700">
            <a:solidFill>
              <a:srgbClr val="ECEAE4"/>
            </a:solidFill>
            <a:prstDash val="solid"/>
          </a:ln>
        </p:spPr>
        <p:txBody>
          <a:bodyPr/>
          <a:lstStyle/>
          <a:p>
            <a:endParaRPr lang="ro-RO"/>
          </a:p>
        </p:txBody>
      </p:sp>
      <p:sp>
        <p:nvSpPr>
          <p:cNvPr id="6" name="Shape 4"/>
          <p:cNvSpPr/>
          <p:nvPr/>
        </p:nvSpPr>
        <p:spPr>
          <a:xfrm>
            <a:off x="594360" y="2103120"/>
            <a:ext cx="50292" cy="2240280"/>
          </a:xfrm>
          <a:prstGeom prst="rect">
            <a:avLst/>
          </a:prstGeom>
          <a:solidFill>
            <a:srgbClr val="585A64"/>
          </a:solidFill>
          <a:ln w="12700">
            <a:solidFill>
              <a:srgbClr val="585A64"/>
            </a:solidFill>
            <a:prstDash val="solid"/>
          </a:ln>
        </p:spPr>
        <p:txBody>
          <a:bodyPr/>
          <a:lstStyle/>
          <a:p>
            <a:endParaRPr lang="ro-RO"/>
          </a:p>
        </p:txBody>
      </p:sp>
      <p:sp>
        <p:nvSpPr>
          <p:cNvPr id="7" name="Text 5"/>
          <p:cNvSpPr/>
          <p:nvPr/>
        </p:nvSpPr>
        <p:spPr>
          <a:xfrm>
            <a:off x="914400" y="2267712"/>
            <a:ext cx="4846320" cy="292608"/>
          </a:xfrm>
          <a:prstGeom prst="rect">
            <a:avLst/>
          </a:prstGeom>
          <a:noFill/>
          <a:ln/>
        </p:spPr>
        <p:txBody>
          <a:bodyPr wrap="square" lIns="0" tIns="0" rIns="0" bIns="0" rtlCol="0" anchor="ctr"/>
          <a:lstStyle/>
          <a:p>
            <a:pPr marL="0" indent="0">
              <a:buNone/>
            </a:pPr>
            <a:r>
              <a:rPr lang="en-US" sz="1100" b="1" kern="0" spc="140" dirty="0">
                <a:solidFill>
                  <a:srgbClr val="585A64"/>
                </a:solidFill>
                <a:latin typeface="Palatino Linotype" pitchFamily="34" charset="0"/>
                <a:ea typeface="Palatino Linotype" pitchFamily="34" charset="-122"/>
                <a:cs typeface="Palatino Linotype" pitchFamily="34" charset="-120"/>
              </a:rPr>
              <a:t>TRANSVERSAL — o fotografie</a:t>
            </a:r>
            <a:endParaRPr lang="en-US" sz="1100" dirty="0"/>
          </a:p>
        </p:txBody>
      </p:sp>
      <p:sp>
        <p:nvSpPr>
          <p:cNvPr id="8" name="Text 6"/>
          <p:cNvSpPr/>
          <p:nvPr/>
        </p:nvSpPr>
        <p:spPr>
          <a:xfrm>
            <a:off x="914400" y="2615184"/>
            <a:ext cx="4846320" cy="1572768"/>
          </a:xfrm>
          <a:prstGeom prst="rect">
            <a:avLst/>
          </a:prstGeom>
          <a:noFill/>
          <a:ln/>
        </p:spPr>
        <p:txBody>
          <a:bodyPr wrap="square" lIns="0" tIns="0" rIns="0" bIns="0" rtlCol="0" anchor="t"/>
          <a:lstStyle/>
          <a:p>
            <a:pPr marL="0" indent="0">
              <a:lnSpc>
                <a:spcPts val="2200"/>
              </a:lnSpc>
              <a:buNone/>
            </a:pPr>
            <a:r>
              <a:rPr lang="en-US" sz="1400" dirty="0">
                <a:solidFill>
                  <a:srgbClr val="11121A"/>
                </a:solidFill>
                <a:latin typeface="Palatino Linotype" pitchFamily="34" charset="0"/>
                <a:ea typeface="Palatino Linotype" pitchFamily="34" charset="-122"/>
                <a:cs typeface="Palatino Linotype" pitchFamily="34" charset="-120"/>
              </a:rPr>
              <a:t>Măsori un lucru o singură dată, la un moment dat.</a:t>
            </a:r>
            <a:endParaRPr lang="en-US" sz="1400" dirty="0"/>
          </a:p>
          <a:p>
            <a:pPr marL="0" indent="0">
              <a:lnSpc>
                <a:spcPts val="2200"/>
              </a:lnSpc>
              <a:buNone/>
            </a:pPr>
            <a:endParaRPr lang="en-US" sz="1400" dirty="0"/>
          </a:p>
          <a:p>
            <a:pPr marL="0" indent="0">
              <a:lnSpc>
                <a:spcPts val="2200"/>
              </a:lnSpc>
              <a:buNone/>
            </a:pPr>
            <a:r>
              <a:rPr lang="en-US" sz="1400" dirty="0">
                <a:solidFill>
                  <a:srgbClr val="11121A"/>
                </a:solidFill>
                <a:latin typeface="Palatino Linotype" pitchFamily="34" charset="0"/>
                <a:ea typeface="Palatino Linotype" pitchFamily="34" charset="-122"/>
                <a:cs typeface="Palatino Linotype" pitchFamily="34" charset="-120"/>
              </a:rPr>
              <a:t>Afli CĂ două lucruri merg împreună.</a:t>
            </a:r>
            <a:endParaRPr lang="en-US" sz="1400" dirty="0"/>
          </a:p>
          <a:p>
            <a:pPr marL="0" indent="0">
              <a:lnSpc>
                <a:spcPts val="2200"/>
              </a:lnSpc>
              <a:buNone/>
            </a:pPr>
            <a:endParaRPr lang="en-US" sz="1400" dirty="0"/>
          </a:p>
          <a:p>
            <a:pPr marL="0" indent="0">
              <a:lnSpc>
                <a:spcPts val="2200"/>
              </a:lnSpc>
              <a:buNone/>
            </a:pPr>
            <a:r>
              <a:rPr lang="en-US" sz="1400" dirty="0">
                <a:solidFill>
                  <a:srgbClr val="11121A"/>
                </a:solidFill>
                <a:latin typeface="Palatino Linotype" pitchFamily="34" charset="0"/>
                <a:ea typeface="Palatino Linotype" pitchFamily="34" charset="-122"/>
                <a:cs typeface="Palatino Linotype" pitchFamily="34" charset="-120"/>
              </a:rPr>
              <a:t>Nu afli care a fost primul.</a:t>
            </a:r>
            <a:endParaRPr lang="en-US" sz="1400" dirty="0"/>
          </a:p>
        </p:txBody>
      </p:sp>
      <p:sp>
        <p:nvSpPr>
          <p:cNvPr id="9" name="Shape 7"/>
          <p:cNvSpPr/>
          <p:nvPr/>
        </p:nvSpPr>
        <p:spPr>
          <a:xfrm>
            <a:off x="6309360" y="2103120"/>
            <a:ext cx="5257800" cy="2240280"/>
          </a:xfrm>
          <a:prstGeom prst="roundRect">
            <a:avLst>
              <a:gd name="adj" fmla="val 3673"/>
            </a:avLst>
          </a:prstGeom>
          <a:solidFill>
            <a:srgbClr val="B02532"/>
          </a:solidFill>
          <a:ln w="12700">
            <a:solidFill>
              <a:srgbClr val="B02532"/>
            </a:solidFill>
            <a:prstDash val="solid"/>
          </a:ln>
        </p:spPr>
        <p:txBody>
          <a:bodyPr/>
          <a:lstStyle/>
          <a:p>
            <a:endParaRPr lang="ro-RO"/>
          </a:p>
        </p:txBody>
      </p:sp>
      <p:sp>
        <p:nvSpPr>
          <p:cNvPr id="10" name="Text 8"/>
          <p:cNvSpPr/>
          <p:nvPr/>
        </p:nvSpPr>
        <p:spPr>
          <a:xfrm>
            <a:off x="6629400" y="2267712"/>
            <a:ext cx="4663440" cy="292608"/>
          </a:xfrm>
          <a:prstGeom prst="rect">
            <a:avLst/>
          </a:prstGeom>
          <a:noFill/>
          <a:ln/>
        </p:spPr>
        <p:txBody>
          <a:bodyPr wrap="square" lIns="0" tIns="0" rIns="0" bIns="0" rtlCol="0" anchor="ctr"/>
          <a:lstStyle/>
          <a:p>
            <a:pPr marL="0" indent="0">
              <a:buNone/>
            </a:pPr>
            <a:r>
              <a:rPr lang="en-US" sz="1100" b="1" kern="0" spc="140" dirty="0">
                <a:solidFill>
                  <a:srgbClr val="2E060B"/>
                </a:solidFill>
                <a:latin typeface="Palatino Linotype" pitchFamily="34" charset="0"/>
                <a:ea typeface="Palatino Linotype" pitchFamily="34" charset="-122"/>
                <a:cs typeface="Palatino Linotype" pitchFamily="34" charset="-120"/>
              </a:rPr>
              <a:t>LONGITUDINAL — un film</a:t>
            </a:r>
            <a:endParaRPr lang="en-US" sz="1100" dirty="0"/>
          </a:p>
        </p:txBody>
      </p:sp>
      <p:sp>
        <p:nvSpPr>
          <p:cNvPr id="11" name="Text 9"/>
          <p:cNvSpPr/>
          <p:nvPr/>
        </p:nvSpPr>
        <p:spPr>
          <a:xfrm>
            <a:off x="6629400" y="2615184"/>
            <a:ext cx="4663440" cy="1572768"/>
          </a:xfrm>
          <a:prstGeom prst="rect">
            <a:avLst/>
          </a:prstGeom>
          <a:noFill/>
          <a:ln/>
        </p:spPr>
        <p:txBody>
          <a:bodyPr wrap="square" lIns="0" tIns="0" rIns="0" bIns="0" rtlCol="0" anchor="t"/>
          <a:lstStyle/>
          <a:p>
            <a:pPr marL="0" indent="0">
              <a:lnSpc>
                <a:spcPts val="2200"/>
              </a:lnSpc>
              <a:buNone/>
            </a:pPr>
            <a:r>
              <a:rPr lang="en-US" sz="1400" b="1" dirty="0">
                <a:solidFill>
                  <a:srgbClr val="2E060B"/>
                </a:solidFill>
                <a:latin typeface="Palatino Linotype" pitchFamily="34" charset="0"/>
                <a:ea typeface="Palatino Linotype" pitchFamily="34" charset="-122"/>
                <a:cs typeface="Palatino Linotype" pitchFamily="34" charset="-120"/>
              </a:rPr>
              <a:t>Măsori de mai multe ori, în timp, la aceiași subiecți.</a:t>
            </a:r>
            <a:endParaRPr lang="en-US" sz="1400" dirty="0"/>
          </a:p>
          <a:p>
            <a:pPr marL="0" indent="0">
              <a:lnSpc>
                <a:spcPts val="2200"/>
              </a:lnSpc>
              <a:buNone/>
            </a:pPr>
            <a:endParaRPr lang="en-US" sz="1400" dirty="0"/>
          </a:p>
          <a:p>
            <a:pPr marL="0" indent="0">
              <a:lnSpc>
                <a:spcPts val="2200"/>
              </a:lnSpc>
              <a:buNone/>
            </a:pPr>
            <a:r>
              <a:rPr lang="en-US" sz="1400" b="1" dirty="0">
                <a:solidFill>
                  <a:srgbClr val="2E060B"/>
                </a:solidFill>
                <a:latin typeface="Palatino Linotype" pitchFamily="34" charset="0"/>
                <a:ea typeface="Palatino Linotype" pitchFamily="34" charset="-122"/>
                <a:cs typeface="Palatino Linotype" pitchFamily="34" charset="-120"/>
              </a:rPr>
              <a:t>Afli ce a fost ÎNTÂI.</a:t>
            </a:r>
            <a:endParaRPr lang="en-US" sz="1400" dirty="0"/>
          </a:p>
          <a:p>
            <a:pPr marL="0" indent="0">
              <a:lnSpc>
                <a:spcPts val="2200"/>
              </a:lnSpc>
              <a:buNone/>
            </a:pPr>
            <a:endParaRPr lang="en-US" sz="1400" dirty="0"/>
          </a:p>
          <a:p>
            <a:pPr marL="0" indent="0">
              <a:lnSpc>
                <a:spcPts val="2200"/>
              </a:lnSpc>
              <a:buNone/>
            </a:pPr>
            <a:r>
              <a:rPr lang="en-US" sz="1400" b="1" dirty="0">
                <a:solidFill>
                  <a:srgbClr val="2E060B"/>
                </a:solidFill>
                <a:latin typeface="Palatino Linotype" pitchFamily="34" charset="0"/>
                <a:ea typeface="Palatino Linotype" pitchFamily="34" charset="-122"/>
                <a:cs typeface="Palatino Linotype" pitchFamily="34" charset="-120"/>
              </a:rPr>
              <a:t>Asta permite discuția despre cauză.</a:t>
            </a:r>
            <a:endParaRPr lang="en-US" sz="1400" dirty="0"/>
          </a:p>
        </p:txBody>
      </p:sp>
      <p:sp>
        <p:nvSpPr>
          <p:cNvPr id="12" name="Shape 10"/>
          <p:cNvSpPr/>
          <p:nvPr/>
        </p:nvSpPr>
        <p:spPr>
          <a:xfrm>
            <a:off x="594360" y="4517136"/>
            <a:ext cx="10972800" cy="1664208"/>
          </a:xfrm>
          <a:prstGeom prst="roundRect">
            <a:avLst>
              <a:gd name="adj" fmla="val 4945"/>
            </a:avLst>
          </a:prstGeom>
          <a:solidFill>
            <a:srgbClr val="11121A"/>
          </a:solidFill>
          <a:ln w="12700">
            <a:solidFill>
              <a:srgbClr val="11121A"/>
            </a:solidFill>
            <a:prstDash val="solid"/>
          </a:ln>
        </p:spPr>
        <p:txBody>
          <a:bodyPr/>
          <a:lstStyle/>
          <a:p>
            <a:endParaRPr lang="ro-RO"/>
          </a:p>
        </p:txBody>
      </p:sp>
      <p:sp>
        <p:nvSpPr>
          <p:cNvPr id="13" name="Text 11"/>
          <p:cNvSpPr/>
          <p:nvPr/>
        </p:nvSpPr>
        <p:spPr>
          <a:xfrm>
            <a:off x="960120" y="4663440"/>
            <a:ext cx="10241280" cy="274320"/>
          </a:xfrm>
          <a:prstGeom prst="rect">
            <a:avLst/>
          </a:prstGeom>
          <a:noFill/>
          <a:ln/>
        </p:spPr>
        <p:txBody>
          <a:bodyPr wrap="square" lIns="0" tIns="0" rIns="0" bIns="0" rtlCol="0" anchor="ctr"/>
          <a:lstStyle/>
          <a:p>
            <a:pPr marL="0" indent="0">
              <a:buNone/>
            </a:pPr>
            <a:r>
              <a:rPr lang="en-US" sz="1200" b="1" kern="0" spc="140" dirty="0">
                <a:solidFill>
                  <a:srgbClr val="FFC24B"/>
                </a:solidFill>
                <a:latin typeface="Palatino Linotype" pitchFamily="34" charset="0"/>
                <a:ea typeface="Palatino Linotype" pitchFamily="34" charset="-122"/>
                <a:cs typeface="Palatino Linotype" pitchFamily="34" charset="-120"/>
              </a:rPr>
              <a:t>De ce contează azi</a:t>
            </a:r>
            <a:endParaRPr lang="en-US" sz="1200" dirty="0"/>
          </a:p>
        </p:txBody>
      </p:sp>
      <p:sp>
        <p:nvSpPr>
          <p:cNvPr id="14" name="Text 12"/>
          <p:cNvSpPr/>
          <p:nvPr/>
        </p:nvSpPr>
        <p:spPr>
          <a:xfrm>
            <a:off x="960120" y="4974336"/>
            <a:ext cx="10241280" cy="1152144"/>
          </a:xfrm>
          <a:prstGeom prst="rect">
            <a:avLst/>
          </a:prstGeom>
          <a:noFill/>
          <a:ln/>
        </p:spPr>
        <p:txBody>
          <a:bodyPr wrap="square" lIns="0" tIns="0" rIns="0" bIns="0" rtlCol="0" anchor="t"/>
          <a:lstStyle/>
          <a:p>
            <a:pPr marL="0" indent="0">
              <a:lnSpc>
                <a:spcPts val="2200"/>
              </a:lnSpc>
              <a:buNone/>
            </a:pPr>
            <a:r>
              <a:rPr lang="en-US" sz="1400" dirty="0">
                <a:solidFill>
                  <a:srgbClr val="FFFFFF"/>
                </a:solidFill>
                <a:latin typeface="Palatino Linotype" pitchFamily="34" charset="0"/>
                <a:ea typeface="Palatino Linotype" pitchFamily="34" charset="-122"/>
                <a:cs typeface="Palatino Linotype" pitchFamily="34" charset="-120"/>
              </a:rPr>
              <a:t>Veți vedea o imagine de creier care arată o diferență reală la persoanele cu dependență. Studiul e transversal — o fotografie. Nu poate spune dacă diferența a apărut din cauza drogului sau exista dinainte.</a:t>
            </a:r>
            <a:endParaRPr lang="en-US" sz="1400" dirty="0"/>
          </a:p>
          <a:p>
            <a:pPr marL="0" indent="0">
              <a:lnSpc>
                <a:spcPts val="2200"/>
              </a:lnSpc>
              <a:buNone/>
            </a:pPr>
            <a:endParaRPr lang="en-US" sz="1400" dirty="0"/>
          </a:p>
          <a:p>
            <a:pPr marL="0" indent="0">
              <a:lnSpc>
                <a:spcPts val="2200"/>
              </a:lnSpc>
              <a:buNone/>
            </a:pPr>
            <a:r>
              <a:rPr lang="en-US" sz="1400" dirty="0">
                <a:solidFill>
                  <a:srgbClr val="FFFFFF"/>
                </a:solidFill>
                <a:latin typeface="Palatino Linotype" pitchFamily="34" charset="0"/>
                <a:ea typeface="Palatino Linotype" pitchFamily="34" charset="-122"/>
                <a:cs typeface="Palatino Linotype" pitchFamily="34" charset="-120"/>
              </a:rPr>
              <a:t>Două studii longitudinale au răspuns la această întrebare la maimuțe.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0E7C6B"/>
                </a:solidFill>
                <a:latin typeface="Palatino Linotype" pitchFamily="34" charset="0"/>
                <a:ea typeface="Palatino Linotype" pitchFamily="34" charset="-122"/>
                <a:cs typeface="Palatino Linotype" pitchFamily="34" charset="-120"/>
              </a:rPr>
              <a:t>NOȚIUNEA 5 / 5</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400" b="1" dirty="0">
                <a:solidFill>
                  <a:srgbClr val="11121A"/>
                </a:solidFill>
                <a:latin typeface="Palatino Linotype" pitchFamily="34" charset="0"/>
                <a:ea typeface="Palatino Linotype" pitchFamily="34" charset="-122"/>
                <a:cs typeface="Palatino Linotype" pitchFamily="34" charset="-120"/>
              </a:rPr>
              <a:t>Meta-analiză</a:t>
            </a:r>
            <a:endParaRPr lang="en-US" sz="3400" dirty="0"/>
          </a:p>
        </p:txBody>
      </p:sp>
      <p:sp>
        <p:nvSpPr>
          <p:cNvPr id="4" name="Text 2"/>
          <p:cNvSpPr/>
          <p:nvPr/>
        </p:nvSpPr>
        <p:spPr>
          <a:xfrm>
            <a:off x="594360" y="1481328"/>
            <a:ext cx="10972800" cy="457200"/>
          </a:xfrm>
          <a:prstGeom prst="rect">
            <a:avLst/>
          </a:prstGeom>
          <a:noFill/>
          <a:ln/>
        </p:spPr>
        <p:txBody>
          <a:bodyPr wrap="square" lIns="0" tIns="0" rIns="0" bIns="0" rtlCol="0" anchor="ctr"/>
          <a:lstStyle/>
          <a:p>
            <a:pPr marL="0" indent="0">
              <a:buNone/>
            </a:pPr>
            <a:r>
              <a:rPr lang="en-US" sz="1700" dirty="0">
                <a:solidFill>
                  <a:srgbClr val="0E7C6B"/>
                </a:solidFill>
                <a:latin typeface="Palatino Linotype" pitchFamily="34" charset="0"/>
                <a:ea typeface="Palatino Linotype" pitchFamily="34" charset="-122"/>
                <a:cs typeface="Palatino Linotype" pitchFamily="34" charset="-120"/>
              </a:rPr>
              <a:t>Un studiu al studiilor. Adună rezultatele mai multor cercetări într-o singură cifră.</a:t>
            </a:r>
            <a:endParaRPr lang="en-US" sz="1700" dirty="0"/>
          </a:p>
        </p:txBody>
      </p:sp>
      <p:sp>
        <p:nvSpPr>
          <p:cNvPr id="5" name="Shape 3"/>
          <p:cNvSpPr/>
          <p:nvPr/>
        </p:nvSpPr>
        <p:spPr>
          <a:xfrm>
            <a:off x="594360" y="2103120"/>
            <a:ext cx="10972800" cy="1060704"/>
          </a:xfrm>
          <a:prstGeom prst="roundRect">
            <a:avLst>
              <a:gd name="adj" fmla="val 7759"/>
            </a:avLst>
          </a:prstGeom>
          <a:solidFill>
            <a:srgbClr val="ECEAE4"/>
          </a:solidFill>
          <a:ln w="12700">
            <a:solidFill>
              <a:srgbClr val="ECEAE4"/>
            </a:solidFill>
            <a:prstDash val="solid"/>
          </a:ln>
        </p:spPr>
        <p:txBody>
          <a:bodyPr/>
          <a:lstStyle/>
          <a:p>
            <a:endParaRPr lang="ro-RO"/>
          </a:p>
        </p:txBody>
      </p:sp>
      <p:sp>
        <p:nvSpPr>
          <p:cNvPr id="6" name="Text 4"/>
          <p:cNvSpPr/>
          <p:nvPr/>
        </p:nvSpPr>
        <p:spPr>
          <a:xfrm>
            <a:off x="960120" y="2103120"/>
            <a:ext cx="10241280" cy="1060704"/>
          </a:xfrm>
          <a:prstGeom prst="rect">
            <a:avLst/>
          </a:prstGeom>
          <a:noFill/>
          <a:ln/>
        </p:spPr>
        <p:txBody>
          <a:bodyPr wrap="square" lIns="0" tIns="0" rIns="0" bIns="0" rtlCol="0" anchor="ctr"/>
          <a:lstStyle/>
          <a:p>
            <a:pPr marL="0" indent="0">
              <a:lnSpc>
                <a:spcPts val="2300"/>
              </a:lnSpc>
              <a:buNone/>
            </a:pPr>
            <a:r>
              <a:rPr lang="en-US" sz="1500" dirty="0">
                <a:solidFill>
                  <a:srgbClr val="11121A"/>
                </a:solidFill>
                <a:latin typeface="Palatino Linotype" pitchFamily="34" charset="0"/>
                <a:ea typeface="Palatino Linotype" pitchFamily="34" charset="-122"/>
                <a:cs typeface="Palatino Linotype" pitchFamily="34" charset="-120"/>
              </a:rPr>
              <a:t>Când un singur studiu are prea puțini participanți ca să fie convingător, se adună rezultatele mai multor studii pe aceeași temă. Cifra care rezultă e mai stabilă decât oricare dintre ele luată separat.</a:t>
            </a:r>
            <a:endParaRPr lang="en-US" sz="1500" dirty="0"/>
          </a:p>
        </p:txBody>
      </p:sp>
      <p:sp>
        <p:nvSpPr>
          <p:cNvPr id="7" name="Text 5"/>
          <p:cNvSpPr/>
          <p:nvPr/>
        </p:nvSpPr>
        <p:spPr>
          <a:xfrm>
            <a:off x="594360" y="3310128"/>
            <a:ext cx="10972800" cy="310896"/>
          </a:xfrm>
          <a:prstGeom prst="rect">
            <a:avLst/>
          </a:prstGeom>
          <a:noFill/>
          <a:ln/>
        </p:spPr>
        <p:txBody>
          <a:bodyPr wrap="square" lIns="0" tIns="0" rIns="0" bIns="0" rtlCol="0" anchor="ctr"/>
          <a:lstStyle/>
          <a:p>
            <a:pPr marL="0" indent="0">
              <a:buNone/>
            </a:pPr>
            <a:r>
              <a:rPr lang="en-US" sz="1350" b="1" dirty="0">
                <a:solidFill>
                  <a:srgbClr val="585A64"/>
                </a:solidFill>
                <a:latin typeface="Palatino Linotype" pitchFamily="34" charset="0"/>
                <a:ea typeface="Palatino Linotype" pitchFamily="34" charset="-122"/>
                <a:cs typeface="Palatino Linotype" pitchFamily="34" charset="-120"/>
              </a:rPr>
              <a:t>Trei întrebări, în această ordine, de fiecare dată când auziți „meta-analiza arată că…”</a:t>
            </a:r>
            <a:endParaRPr lang="en-US" sz="1350" dirty="0"/>
          </a:p>
        </p:txBody>
      </p:sp>
      <p:sp>
        <p:nvSpPr>
          <p:cNvPr id="8" name="Shape 6"/>
          <p:cNvSpPr/>
          <p:nvPr/>
        </p:nvSpPr>
        <p:spPr>
          <a:xfrm>
            <a:off x="594360" y="3730752"/>
            <a:ext cx="10972800" cy="731520"/>
          </a:xfrm>
          <a:prstGeom prst="roundRect">
            <a:avLst>
              <a:gd name="adj" fmla="val 11250"/>
            </a:avLst>
          </a:prstGeom>
          <a:solidFill>
            <a:srgbClr val="ECEAE4"/>
          </a:solidFill>
          <a:ln w="12700">
            <a:solidFill>
              <a:srgbClr val="ECEAE4"/>
            </a:solidFill>
            <a:prstDash val="solid"/>
          </a:ln>
        </p:spPr>
        <p:txBody>
          <a:bodyPr/>
          <a:lstStyle/>
          <a:p>
            <a:endParaRPr lang="ro-RO"/>
          </a:p>
        </p:txBody>
      </p:sp>
      <p:sp>
        <p:nvSpPr>
          <p:cNvPr id="9" name="Shape 7"/>
          <p:cNvSpPr/>
          <p:nvPr/>
        </p:nvSpPr>
        <p:spPr>
          <a:xfrm>
            <a:off x="594360" y="3730752"/>
            <a:ext cx="50292" cy="731520"/>
          </a:xfrm>
          <a:prstGeom prst="rect">
            <a:avLst/>
          </a:prstGeom>
          <a:solidFill>
            <a:srgbClr val="0E7C6B"/>
          </a:solidFill>
          <a:ln w="12700">
            <a:solidFill>
              <a:srgbClr val="0E7C6B"/>
            </a:solidFill>
            <a:prstDash val="solid"/>
          </a:ln>
        </p:spPr>
        <p:txBody>
          <a:bodyPr/>
          <a:lstStyle/>
          <a:p>
            <a:endParaRPr lang="ro-RO"/>
          </a:p>
        </p:txBody>
      </p:sp>
      <p:sp>
        <p:nvSpPr>
          <p:cNvPr id="10" name="Shape 8"/>
          <p:cNvSpPr/>
          <p:nvPr/>
        </p:nvSpPr>
        <p:spPr>
          <a:xfrm>
            <a:off x="914400" y="3904488"/>
            <a:ext cx="384048" cy="384048"/>
          </a:xfrm>
          <a:prstGeom prst="ellipse">
            <a:avLst/>
          </a:prstGeom>
          <a:solidFill>
            <a:srgbClr val="0E7C6B"/>
          </a:solidFill>
          <a:ln w="12700">
            <a:solidFill>
              <a:srgbClr val="0E7C6B"/>
            </a:solidFill>
            <a:prstDash val="solid"/>
          </a:ln>
        </p:spPr>
        <p:txBody>
          <a:bodyPr/>
          <a:lstStyle/>
          <a:p>
            <a:endParaRPr lang="ro-RO"/>
          </a:p>
        </p:txBody>
      </p:sp>
      <p:sp>
        <p:nvSpPr>
          <p:cNvPr id="11" name="Text 9"/>
          <p:cNvSpPr/>
          <p:nvPr/>
        </p:nvSpPr>
        <p:spPr>
          <a:xfrm>
            <a:off x="914400" y="39044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1</a:t>
            </a:r>
            <a:endParaRPr lang="en-US" sz="1300" dirty="0"/>
          </a:p>
        </p:txBody>
      </p:sp>
      <p:sp>
        <p:nvSpPr>
          <p:cNvPr id="12" name="Text 10"/>
          <p:cNvSpPr/>
          <p:nvPr/>
        </p:nvSpPr>
        <p:spPr>
          <a:xfrm>
            <a:off x="1463040" y="3730752"/>
            <a:ext cx="3200400" cy="731520"/>
          </a:xfrm>
          <a:prstGeom prst="rect">
            <a:avLst/>
          </a:prstGeom>
          <a:noFill/>
          <a:ln/>
        </p:spPr>
        <p:txBody>
          <a:bodyPr wrap="square" lIns="0" tIns="0" rIns="0" bIns="0" rtlCol="0" anchor="ctr"/>
          <a:lstStyle/>
          <a:p>
            <a:pPr marL="0" indent="0">
              <a:buNone/>
            </a:pPr>
            <a:r>
              <a:rPr lang="en-US" sz="1400" b="1" dirty="0">
                <a:solidFill>
                  <a:srgbClr val="0E7C6B"/>
                </a:solidFill>
                <a:latin typeface="Palatino Linotype" pitchFamily="34" charset="0"/>
                <a:ea typeface="Palatino Linotype" pitchFamily="34" charset="-122"/>
                <a:cs typeface="Palatino Linotype" pitchFamily="34" charset="-120"/>
              </a:rPr>
              <a:t>Câte studii?</a:t>
            </a:r>
            <a:endParaRPr lang="en-US" sz="1400" dirty="0"/>
          </a:p>
        </p:txBody>
      </p:sp>
      <p:sp>
        <p:nvSpPr>
          <p:cNvPr id="13" name="Text 11"/>
          <p:cNvSpPr/>
          <p:nvPr/>
        </p:nvSpPr>
        <p:spPr>
          <a:xfrm>
            <a:off x="4800600" y="3730752"/>
            <a:ext cx="6492240" cy="73152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Mai multe studii reunite dau o estimare mai stabilă decât oricare dintre ele.</a:t>
            </a:r>
            <a:endParaRPr lang="en-US" sz="1300" dirty="0"/>
          </a:p>
        </p:txBody>
      </p:sp>
      <p:sp>
        <p:nvSpPr>
          <p:cNvPr id="14" name="Shape 12"/>
          <p:cNvSpPr/>
          <p:nvPr/>
        </p:nvSpPr>
        <p:spPr>
          <a:xfrm>
            <a:off x="594360" y="4553712"/>
            <a:ext cx="10972800" cy="731520"/>
          </a:xfrm>
          <a:prstGeom prst="roundRect">
            <a:avLst>
              <a:gd name="adj" fmla="val 11250"/>
            </a:avLst>
          </a:prstGeom>
          <a:solidFill>
            <a:srgbClr val="F9F8F5"/>
          </a:solidFill>
          <a:ln w="12700">
            <a:solidFill>
              <a:srgbClr val="F9F8F5"/>
            </a:solidFill>
            <a:prstDash val="solid"/>
          </a:ln>
        </p:spPr>
        <p:txBody>
          <a:bodyPr/>
          <a:lstStyle/>
          <a:p>
            <a:endParaRPr lang="ro-RO"/>
          </a:p>
        </p:txBody>
      </p:sp>
      <p:sp>
        <p:nvSpPr>
          <p:cNvPr id="15" name="Shape 13"/>
          <p:cNvSpPr/>
          <p:nvPr/>
        </p:nvSpPr>
        <p:spPr>
          <a:xfrm>
            <a:off x="594360" y="4553712"/>
            <a:ext cx="50292" cy="731520"/>
          </a:xfrm>
          <a:prstGeom prst="rect">
            <a:avLst/>
          </a:prstGeom>
          <a:solidFill>
            <a:srgbClr val="8A6100"/>
          </a:solidFill>
          <a:ln w="12700">
            <a:solidFill>
              <a:srgbClr val="8A6100"/>
            </a:solidFill>
            <a:prstDash val="solid"/>
          </a:ln>
        </p:spPr>
        <p:txBody>
          <a:bodyPr/>
          <a:lstStyle/>
          <a:p>
            <a:endParaRPr lang="ro-RO"/>
          </a:p>
        </p:txBody>
      </p:sp>
      <p:sp>
        <p:nvSpPr>
          <p:cNvPr id="16" name="Shape 14"/>
          <p:cNvSpPr/>
          <p:nvPr/>
        </p:nvSpPr>
        <p:spPr>
          <a:xfrm>
            <a:off x="914400" y="4727448"/>
            <a:ext cx="384048" cy="384048"/>
          </a:xfrm>
          <a:prstGeom prst="ellipse">
            <a:avLst/>
          </a:prstGeom>
          <a:solidFill>
            <a:srgbClr val="8A6100"/>
          </a:solidFill>
          <a:ln w="12700">
            <a:solidFill>
              <a:srgbClr val="8A6100"/>
            </a:solidFill>
            <a:prstDash val="solid"/>
          </a:ln>
        </p:spPr>
        <p:txBody>
          <a:bodyPr/>
          <a:lstStyle/>
          <a:p>
            <a:endParaRPr lang="ro-RO"/>
          </a:p>
        </p:txBody>
      </p:sp>
      <p:sp>
        <p:nvSpPr>
          <p:cNvPr id="17" name="Text 15"/>
          <p:cNvSpPr/>
          <p:nvPr/>
        </p:nvSpPr>
        <p:spPr>
          <a:xfrm>
            <a:off x="914400" y="47274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2</a:t>
            </a:r>
            <a:endParaRPr lang="en-US" sz="1300" dirty="0"/>
          </a:p>
        </p:txBody>
      </p:sp>
      <p:sp>
        <p:nvSpPr>
          <p:cNvPr id="18" name="Text 16"/>
          <p:cNvSpPr/>
          <p:nvPr/>
        </p:nvSpPr>
        <p:spPr>
          <a:xfrm>
            <a:off x="1463040" y="4553712"/>
            <a:ext cx="3200400" cy="731520"/>
          </a:xfrm>
          <a:prstGeom prst="rect">
            <a:avLst/>
          </a:prstGeom>
          <a:noFill/>
          <a:ln/>
        </p:spPr>
        <p:txBody>
          <a:bodyPr wrap="square" lIns="0" tIns="0" rIns="0" bIns="0" rtlCol="0" anchor="ctr"/>
          <a:lstStyle/>
          <a:p>
            <a:pPr marL="0" indent="0">
              <a:buNone/>
            </a:pPr>
            <a:r>
              <a:rPr lang="en-US" sz="1400" b="1" dirty="0">
                <a:solidFill>
                  <a:srgbClr val="8A6100"/>
                </a:solidFill>
                <a:latin typeface="Palatino Linotype" pitchFamily="34" charset="0"/>
                <a:ea typeface="Palatino Linotype" pitchFamily="34" charset="-122"/>
                <a:cs typeface="Palatino Linotype" pitchFamily="34" charset="-120"/>
              </a:rPr>
              <a:t>Cât de asemănătoare sunt?</a:t>
            </a:r>
            <a:endParaRPr lang="en-US" sz="1400" dirty="0"/>
          </a:p>
        </p:txBody>
      </p:sp>
      <p:sp>
        <p:nvSpPr>
          <p:cNvPr id="19" name="Text 17"/>
          <p:cNvSpPr/>
          <p:nvPr/>
        </p:nvSpPr>
        <p:spPr>
          <a:xfrm>
            <a:off x="4800600" y="4553712"/>
            <a:ext cx="6492240" cy="73152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Dacă studiile măsoară lucruri diferite, adunarea lor nu are sens.</a:t>
            </a:r>
            <a:endParaRPr lang="en-US" sz="1300" dirty="0"/>
          </a:p>
        </p:txBody>
      </p:sp>
      <p:sp>
        <p:nvSpPr>
          <p:cNvPr id="20" name="Shape 18"/>
          <p:cNvSpPr/>
          <p:nvPr/>
        </p:nvSpPr>
        <p:spPr>
          <a:xfrm>
            <a:off x="594360" y="5376672"/>
            <a:ext cx="10972800" cy="731520"/>
          </a:xfrm>
          <a:prstGeom prst="roundRect">
            <a:avLst>
              <a:gd name="adj" fmla="val 11250"/>
            </a:avLst>
          </a:prstGeom>
          <a:solidFill>
            <a:srgbClr val="ECEAE4"/>
          </a:solidFill>
          <a:ln w="12700">
            <a:solidFill>
              <a:srgbClr val="ECEAE4"/>
            </a:solidFill>
            <a:prstDash val="solid"/>
          </a:ln>
        </p:spPr>
        <p:txBody>
          <a:bodyPr/>
          <a:lstStyle/>
          <a:p>
            <a:endParaRPr lang="ro-RO"/>
          </a:p>
        </p:txBody>
      </p:sp>
      <p:sp>
        <p:nvSpPr>
          <p:cNvPr id="21" name="Shape 19"/>
          <p:cNvSpPr/>
          <p:nvPr/>
        </p:nvSpPr>
        <p:spPr>
          <a:xfrm>
            <a:off x="594360" y="5376672"/>
            <a:ext cx="50292" cy="731520"/>
          </a:xfrm>
          <a:prstGeom prst="rect">
            <a:avLst/>
          </a:prstGeom>
          <a:solidFill>
            <a:srgbClr val="B02532"/>
          </a:solidFill>
          <a:ln w="12700">
            <a:solidFill>
              <a:srgbClr val="B02532"/>
            </a:solidFill>
            <a:prstDash val="solid"/>
          </a:ln>
        </p:spPr>
        <p:txBody>
          <a:bodyPr/>
          <a:lstStyle/>
          <a:p>
            <a:endParaRPr lang="ro-RO"/>
          </a:p>
        </p:txBody>
      </p:sp>
      <p:sp>
        <p:nvSpPr>
          <p:cNvPr id="22" name="Shape 20"/>
          <p:cNvSpPr/>
          <p:nvPr/>
        </p:nvSpPr>
        <p:spPr>
          <a:xfrm>
            <a:off x="914400" y="5550408"/>
            <a:ext cx="384048" cy="384048"/>
          </a:xfrm>
          <a:prstGeom prst="ellipse">
            <a:avLst/>
          </a:prstGeom>
          <a:solidFill>
            <a:srgbClr val="B02532"/>
          </a:solidFill>
          <a:ln w="12700">
            <a:solidFill>
              <a:srgbClr val="B02532"/>
            </a:solidFill>
            <a:prstDash val="solid"/>
          </a:ln>
        </p:spPr>
        <p:txBody>
          <a:bodyPr/>
          <a:lstStyle/>
          <a:p>
            <a:endParaRPr lang="ro-RO"/>
          </a:p>
        </p:txBody>
      </p:sp>
      <p:sp>
        <p:nvSpPr>
          <p:cNvPr id="23" name="Text 21"/>
          <p:cNvSpPr/>
          <p:nvPr/>
        </p:nvSpPr>
        <p:spPr>
          <a:xfrm>
            <a:off x="914400" y="55504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3</a:t>
            </a:r>
            <a:endParaRPr lang="en-US" sz="1300" dirty="0"/>
          </a:p>
        </p:txBody>
      </p:sp>
      <p:sp>
        <p:nvSpPr>
          <p:cNvPr id="24" name="Text 22"/>
          <p:cNvSpPr/>
          <p:nvPr/>
        </p:nvSpPr>
        <p:spPr>
          <a:xfrm>
            <a:off x="1463040" y="5376672"/>
            <a:ext cx="3200400" cy="731520"/>
          </a:xfrm>
          <a:prstGeom prst="rect">
            <a:avLst/>
          </a:prstGeom>
          <a:noFill/>
          <a:ln/>
        </p:spPr>
        <p:txBody>
          <a:bodyPr wrap="square" lIns="0" tIns="0" rIns="0" bIns="0" rtlCol="0" anchor="ctr"/>
          <a:lstStyle/>
          <a:p>
            <a:pPr marL="0" indent="0">
              <a:buNone/>
            </a:pPr>
            <a:r>
              <a:rPr lang="en-US" sz="1400" b="1" dirty="0">
                <a:solidFill>
                  <a:srgbClr val="B02532"/>
                </a:solidFill>
                <a:latin typeface="Palatino Linotype" pitchFamily="34" charset="0"/>
                <a:ea typeface="Palatino Linotype" pitchFamily="34" charset="-122"/>
                <a:cs typeface="Palatino Linotype" pitchFamily="34" charset="-120"/>
              </a:rPr>
              <a:t>Ce calitate au?</a:t>
            </a:r>
            <a:endParaRPr lang="en-US" sz="1400" dirty="0"/>
          </a:p>
        </p:txBody>
      </p:sp>
      <p:sp>
        <p:nvSpPr>
          <p:cNvPr id="25" name="Text 23"/>
          <p:cNvSpPr/>
          <p:nvPr/>
        </p:nvSpPr>
        <p:spPr>
          <a:xfrm>
            <a:off x="4800600" y="5376672"/>
            <a:ext cx="6492240" cy="73152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Douăzeci de studii slabe rămân douăzeci de studii slabe.</a:t>
            </a:r>
            <a:endParaRPr lang="en-US" sz="1300" dirty="0"/>
          </a:p>
        </p:txBody>
      </p:sp>
      <p:sp>
        <p:nvSpPr>
          <p:cNvPr id="26" name="Text 24"/>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De aici încolo, fiecare cifră de pe fiecare diapozitiv are sursa afișată dedesubt. Dacă nu o vedeți, întrebați.</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marL="0" indent="0">
              <a:buNone/>
            </a:pPr>
            <a:r>
              <a:rPr lang="en-US" sz="13500" b="1" dirty="0">
                <a:solidFill>
                  <a:srgbClr val="FF4757"/>
                </a:solidFill>
                <a:latin typeface="Palatino Linotype" pitchFamily="34" charset="0"/>
                <a:ea typeface="Palatino Linotype" pitchFamily="34" charset="-122"/>
                <a:cs typeface="Palatino Linotype" pitchFamily="34" charset="-120"/>
              </a:rPr>
              <a:t>03</a:t>
            </a:r>
            <a:endParaRPr lang="en-US" sz="13500" dirty="0"/>
          </a:p>
        </p:txBody>
      </p:sp>
      <p:sp>
        <p:nvSpPr>
          <p:cNvPr id="3" name="Shape 1"/>
          <p:cNvSpPr/>
          <p:nvPr/>
        </p:nvSpPr>
        <p:spPr>
          <a:xfrm>
            <a:off x="4160520" y="1691640"/>
            <a:ext cx="27432" cy="1737360"/>
          </a:xfrm>
          <a:prstGeom prst="rect">
            <a:avLst/>
          </a:prstGeom>
          <a:solidFill>
            <a:srgbClr val="FF4757"/>
          </a:solidFill>
          <a:ln w="12700">
            <a:solidFill>
              <a:srgbClr val="FF4757"/>
            </a:solidFill>
            <a:prstDash val="solid"/>
          </a:ln>
        </p:spPr>
        <p:txBody>
          <a:bodyPr/>
          <a:lstStyle/>
          <a:p>
            <a:endParaRPr lang="ro-RO"/>
          </a:p>
        </p:txBody>
      </p:sp>
      <p:sp>
        <p:nvSpPr>
          <p:cNvPr id="4" name="Text 2"/>
          <p:cNvSpPr/>
          <p:nvPr/>
        </p:nvSpPr>
        <p:spPr>
          <a:xfrm>
            <a:off x="4709160" y="1737360"/>
            <a:ext cx="6858000" cy="822960"/>
          </a:xfrm>
          <a:prstGeom prst="rect">
            <a:avLst/>
          </a:prstGeom>
          <a:noFill/>
          <a:ln/>
        </p:spPr>
        <p:txBody>
          <a:bodyPr wrap="square" lIns="0" tIns="0" rIns="0" bIns="0" rtlCol="0" anchor="ctr"/>
          <a:lstStyle/>
          <a:p>
            <a:pPr marL="0" indent="0">
              <a:buNone/>
            </a:pPr>
            <a:r>
              <a:rPr lang="en-US" sz="3300" b="1" dirty="0">
                <a:solidFill>
                  <a:srgbClr val="FFFFFF"/>
                </a:solidFill>
                <a:latin typeface="Palatino Linotype" pitchFamily="34" charset="0"/>
                <a:ea typeface="Palatino Linotype" pitchFamily="34" charset="-122"/>
                <a:cs typeface="Palatino Linotype" pitchFamily="34" charset="-120"/>
              </a:rPr>
              <a:t>ISTORIA UNUI CONCEPT</a:t>
            </a:r>
            <a:endParaRPr lang="en-US" sz="3300" dirty="0"/>
          </a:p>
        </p:txBody>
      </p:sp>
      <p:sp>
        <p:nvSpPr>
          <p:cNvPr id="5" name="Text 3"/>
          <p:cNvSpPr/>
          <p:nvPr/>
        </p:nvSpPr>
        <p:spPr>
          <a:xfrm>
            <a:off x="4709160" y="2606040"/>
            <a:ext cx="6858000" cy="685800"/>
          </a:xfrm>
          <a:prstGeom prst="rect">
            <a:avLst/>
          </a:prstGeom>
          <a:noFill/>
          <a:ln/>
        </p:spPr>
        <p:txBody>
          <a:bodyPr wrap="square" lIns="0" tIns="0" rIns="0" bIns="0" rtlCol="0" anchor="t"/>
          <a:lstStyle/>
          <a:p>
            <a:pPr marL="0" indent="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De la viciu la boală: istoria unui concept, în patru date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1971 · SURSĂ PRIMARĂ</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2800" b="1" dirty="0">
                <a:solidFill>
                  <a:srgbClr val="FFFFFF"/>
                </a:solidFill>
                <a:latin typeface="Palatino Linotype" pitchFamily="34" charset="0"/>
                <a:ea typeface="Palatino Linotype" pitchFamily="34" charset="-122"/>
                <a:cs typeface="Palatino Linotype" pitchFamily="34" charset="-120"/>
              </a:rPr>
              <a:t>17 iunie 1971 — Briefing Room, Casa Albă</a:t>
            </a:r>
            <a:endParaRPr lang="en-US" sz="2800" dirty="0"/>
          </a:p>
        </p:txBody>
      </p:sp>
      <p:sp>
        <p:nvSpPr>
          <p:cNvPr id="4" name="Shape 2"/>
          <p:cNvSpPr/>
          <p:nvPr/>
        </p:nvSpPr>
        <p:spPr>
          <a:xfrm>
            <a:off x="594360" y="1737360"/>
            <a:ext cx="10972800" cy="1572768"/>
          </a:xfrm>
          <a:prstGeom prst="roundRect">
            <a:avLst>
              <a:gd name="adj" fmla="val 5233"/>
            </a:avLst>
          </a:prstGeom>
          <a:solidFill>
            <a:srgbClr val="1D1F2B"/>
          </a:solidFill>
          <a:ln w="12700">
            <a:solidFill>
              <a:srgbClr val="1D1F2B"/>
            </a:solidFill>
            <a:prstDash val="solid"/>
          </a:ln>
        </p:spPr>
        <p:txBody>
          <a:bodyPr/>
          <a:lstStyle/>
          <a:p>
            <a:endParaRPr lang="ro-RO"/>
          </a:p>
        </p:txBody>
      </p:sp>
      <p:sp>
        <p:nvSpPr>
          <p:cNvPr id="5" name="Shape 3"/>
          <p:cNvSpPr/>
          <p:nvPr/>
        </p:nvSpPr>
        <p:spPr>
          <a:xfrm>
            <a:off x="594360" y="1737360"/>
            <a:ext cx="50292" cy="1572768"/>
          </a:xfrm>
          <a:prstGeom prst="rect">
            <a:avLst/>
          </a:prstGeom>
          <a:solidFill>
            <a:srgbClr val="FFC24B"/>
          </a:solidFill>
          <a:ln w="12700">
            <a:solidFill>
              <a:srgbClr val="FFC24B"/>
            </a:solidFill>
            <a:prstDash val="solid"/>
          </a:ln>
        </p:spPr>
        <p:txBody>
          <a:bodyPr/>
          <a:lstStyle/>
          <a:p>
            <a:endParaRPr lang="ro-RO"/>
          </a:p>
        </p:txBody>
      </p:sp>
      <p:sp>
        <p:nvSpPr>
          <p:cNvPr id="6" name="Text 4"/>
          <p:cNvSpPr/>
          <p:nvPr/>
        </p:nvSpPr>
        <p:spPr>
          <a:xfrm>
            <a:off x="987552" y="1938528"/>
            <a:ext cx="10241280" cy="1170432"/>
          </a:xfrm>
          <a:prstGeom prst="rect">
            <a:avLst/>
          </a:prstGeom>
          <a:noFill/>
          <a:ln/>
        </p:spPr>
        <p:txBody>
          <a:bodyPr wrap="square" lIns="0" tIns="0" rIns="0" bIns="0" rtlCol="0" anchor="ctr"/>
          <a:lstStyle/>
          <a:p>
            <a:pPr marL="0" indent="0">
              <a:lnSpc>
                <a:spcPts val="3000"/>
              </a:lnSpc>
              <a:buNone/>
            </a:pPr>
            <a:r>
              <a:rPr lang="en-US" sz="1800" i="1" dirty="0">
                <a:solidFill>
                  <a:srgbClr val="FFFFFF"/>
                </a:solidFill>
                <a:latin typeface="Palatino Linotype" pitchFamily="34" charset="0"/>
                <a:ea typeface="Palatino Linotype" pitchFamily="34" charset="-122"/>
                <a:cs typeface="Palatino Linotype" pitchFamily="34" charset="-120"/>
              </a:rPr>
              <a:t>„America's public enemy number one in the United States is drug abuse.</a:t>
            </a:r>
            <a:endParaRPr lang="en-US" sz="1800" dirty="0"/>
          </a:p>
          <a:p>
            <a:pPr marL="0" indent="0">
              <a:lnSpc>
                <a:spcPts val="3000"/>
              </a:lnSpc>
              <a:buNone/>
            </a:pPr>
            <a:r>
              <a:rPr lang="en-US" sz="1800" i="1" dirty="0">
                <a:solidFill>
                  <a:srgbClr val="FFFFFF"/>
                </a:solidFill>
                <a:latin typeface="Palatino Linotype" pitchFamily="34" charset="0"/>
                <a:ea typeface="Palatino Linotype" pitchFamily="34" charset="-122"/>
                <a:cs typeface="Palatino Linotype" pitchFamily="34" charset="-120"/>
              </a:rPr>
              <a:t>In order to fight and defeat this enemy, it is necessary to wage a new, all-out offensive."</a:t>
            </a:r>
            <a:endParaRPr lang="en-US" sz="1800" dirty="0"/>
          </a:p>
        </p:txBody>
      </p:sp>
      <p:sp>
        <p:nvSpPr>
          <p:cNvPr id="7" name="Shape 5"/>
          <p:cNvSpPr/>
          <p:nvPr/>
        </p:nvSpPr>
        <p:spPr>
          <a:xfrm>
            <a:off x="594360" y="3529584"/>
            <a:ext cx="3566160" cy="1298448"/>
          </a:xfrm>
          <a:prstGeom prst="roundRect">
            <a:avLst>
              <a:gd name="adj" fmla="val 6338"/>
            </a:avLst>
          </a:prstGeom>
          <a:solidFill>
            <a:srgbClr val="272A38"/>
          </a:solidFill>
          <a:ln w="12700">
            <a:solidFill>
              <a:srgbClr val="272A38"/>
            </a:solidFill>
            <a:prstDash val="solid"/>
          </a:ln>
        </p:spPr>
        <p:txBody>
          <a:bodyPr/>
          <a:lstStyle/>
          <a:p>
            <a:endParaRPr lang="ro-RO"/>
          </a:p>
        </p:txBody>
      </p:sp>
      <p:sp>
        <p:nvSpPr>
          <p:cNvPr id="8" name="Text 6"/>
          <p:cNvSpPr/>
          <p:nvPr/>
        </p:nvSpPr>
        <p:spPr>
          <a:xfrm>
            <a:off x="850392" y="3730752"/>
            <a:ext cx="3054096" cy="658368"/>
          </a:xfrm>
          <a:prstGeom prst="rect">
            <a:avLst/>
          </a:prstGeom>
          <a:noFill/>
          <a:ln/>
        </p:spPr>
        <p:txBody>
          <a:bodyPr wrap="square" lIns="0" tIns="0" rIns="0" bIns="0" rtlCol="0" anchor="ctr"/>
          <a:lstStyle/>
          <a:p>
            <a:pPr marL="0" indent="0">
              <a:buNone/>
            </a:pPr>
            <a:r>
              <a:rPr lang="en-US" sz="3000" b="1" dirty="0">
                <a:solidFill>
                  <a:srgbClr val="FFC24B"/>
                </a:solidFill>
                <a:latin typeface="Palatino Linotype" pitchFamily="34" charset="0"/>
                <a:ea typeface="Palatino Linotype" pitchFamily="34" charset="-122"/>
                <a:cs typeface="Palatino Linotype" pitchFamily="34" charset="-120"/>
              </a:rPr>
              <a:t>155 mil. $</a:t>
            </a:r>
            <a:endParaRPr lang="en-US" sz="3000" dirty="0"/>
          </a:p>
        </p:txBody>
      </p:sp>
      <p:sp>
        <p:nvSpPr>
          <p:cNvPr id="9" name="Text 7"/>
          <p:cNvSpPr/>
          <p:nvPr/>
        </p:nvSpPr>
        <p:spPr>
          <a:xfrm>
            <a:off x="850392" y="4407408"/>
            <a:ext cx="3054096" cy="27432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suplimentari ceruți Congresului</a:t>
            </a:r>
            <a:endParaRPr lang="en-US" sz="1150" dirty="0"/>
          </a:p>
        </p:txBody>
      </p:sp>
      <p:sp>
        <p:nvSpPr>
          <p:cNvPr id="10" name="Shape 8"/>
          <p:cNvSpPr/>
          <p:nvPr/>
        </p:nvSpPr>
        <p:spPr>
          <a:xfrm>
            <a:off x="4297680" y="3529584"/>
            <a:ext cx="3566160" cy="1298448"/>
          </a:xfrm>
          <a:prstGeom prst="roundRect">
            <a:avLst>
              <a:gd name="adj" fmla="val 6338"/>
            </a:avLst>
          </a:prstGeom>
          <a:solidFill>
            <a:srgbClr val="272A38"/>
          </a:solidFill>
          <a:ln w="12700">
            <a:solidFill>
              <a:srgbClr val="272A38"/>
            </a:solidFill>
            <a:prstDash val="solid"/>
          </a:ln>
        </p:spPr>
        <p:txBody>
          <a:bodyPr/>
          <a:lstStyle/>
          <a:p>
            <a:endParaRPr lang="ro-RO"/>
          </a:p>
        </p:txBody>
      </p:sp>
      <p:sp>
        <p:nvSpPr>
          <p:cNvPr id="11" name="Text 9"/>
          <p:cNvSpPr/>
          <p:nvPr/>
        </p:nvSpPr>
        <p:spPr>
          <a:xfrm>
            <a:off x="4553712" y="3730752"/>
            <a:ext cx="3054096" cy="658368"/>
          </a:xfrm>
          <a:prstGeom prst="rect">
            <a:avLst/>
          </a:prstGeom>
          <a:noFill/>
          <a:ln/>
        </p:spPr>
        <p:txBody>
          <a:bodyPr wrap="square" lIns="0" tIns="0" rIns="0" bIns="0" rtlCol="0" anchor="ctr"/>
          <a:lstStyle/>
          <a:p>
            <a:pPr marL="0" indent="0">
              <a:buNone/>
            </a:pPr>
            <a:r>
              <a:rPr lang="en-US" sz="3000" b="1" dirty="0">
                <a:solidFill>
                  <a:srgbClr val="FFC24B"/>
                </a:solidFill>
                <a:latin typeface="Palatino Linotype" pitchFamily="34" charset="0"/>
                <a:ea typeface="Palatino Linotype" pitchFamily="34" charset="-122"/>
                <a:cs typeface="Palatino Linotype" pitchFamily="34" charset="-120"/>
              </a:rPr>
              <a:t>&gt; 350 mil. $</a:t>
            </a:r>
            <a:endParaRPr lang="en-US" sz="3000" dirty="0"/>
          </a:p>
        </p:txBody>
      </p:sp>
      <p:sp>
        <p:nvSpPr>
          <p:cNvPr id="12" name="Text 10"/>
          <p:cNvSpPr/>
          <p:nvPr/>
        </p:nvSpPr>
        <p:spPr>
          <a:xfrm>
            <a:off x="4553712" y="4407408"/>
            <a:ext cx="3054096" cy="27432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buget total anunțat în aceeași zi</a:t>
            </a:r>
            <a:endParaRPr lang="en-US" sz="1150" dirty="0"/>
          </a:p>
        </p:txBody>
      </p:sp>
      <p:sp>
        <p:nvSpPr>
          <p:cNvPr id="13" name="Shape 11"/>
          <p:cNvSpPr/>
          <p:nvPr/>
        </p:nvSpPr>
        <p:spPr>
          <a:xfrm>
            <a:off x="8001000" y="3529584"/>
            <a:ext cx="3566160" cy="1298448"/>
          </a:xfrm>
          <a:prstGeom prst="roundRect">
            <a:avLst>
              <a:gd name="adj" fmla="val 6338"/>
            </a:avLst>
          </a:prstGeom>
          <a:solidFill>
            <a:srgbClr val="272A38"/>
          </a:solidFill>
          <a:ln w="12700">
            <a:solidFill>
              <a:srgbClr val="272A38"/>
            </a:solidFill>
            <a:prstDash val="solid"/>
          </a:ln>
        </p:spPr>
        <p:txBody>
          <a:bodyPr/>
          <a:lstStyle/>
          <a:p>
            <a:endParaRPr lang="ro-RO"/>
          </a:p>
        </p:txBody>
      </p:sp>
      <p:sp>
        <p:nvSpPr>
          <p:cNvPr id="14" name="Text 12"/>
          <p:cNvSpPr/>
          <p:nvPr/>
        </p:nvSpPr>
        <p:spPr>
          <a:xfrm>
            <a:off x="8257032" y="3730752"/>
            <a:ext cx="3054096" cy="658368"/>
          </a:xfrm>
          <a:prstGeom prst="rect">
            <a:avLst/>
          </a:prstGeom>
          <a:noFill/>
          <a:ln/>
        </p:spPr>
        <p:txBody>
          <a:bodyPr wrap="square" lIns="0" tIns="0" rIns="0" bIns="0" rtlCol="0" anchor="ctr"/>
          <a:lstStyle/>
          <a:p>
            <a:pPr marL="0" indent="0">
              <a:buNone/>
            </a:pPr>
            <a:r>
              <a:rPr lang="en-US" sz="3000" b="1" dirty="0">
                <a:solidFill>
                  <a:srgbClr val="FF4757"/>
                </a:solidFill>
                <a:latin typeface="Palatino Linotype" pitchFamily="34" charset="0"/>
                <a:ea typeface="Palatino Linotype" pitchFamily="34" charset="-122"/>
                <a:cs typeface="Palatino Linotype" pitchFamily="34" charset="-120"/>
              </a:rPr>
              <a:t>1971 + 55</a:t>
            </a:r>
            <a:endParaRPr lang="en-US" sz="3000" dirty="0"/>
          </a:p>
        </p:txBody>
      </p:sp>
      <p:sp>
        <p:nvSpPr>
          <p:cNvPr id="15" name="Text 13"/>
          <p:cNvSpPr/>
          <p:nvPr/>
        </p:nvSpPr>
        <p:spPr>
          <a:xfrm>
            <a:off x="8257032" y="4407408"/>
            <a:ext cx="3054096" cy="27432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ani până în 2026 — contorul disciplinei</a:t>
            </a:r>
            <a:endParaRPr lang="en-US" sz="1150" dirty="0"/>
          </a:p>
        </p:txBody>
      </p:sp>
      <p:sp>
        <p:nvSpPr>
          <p:cNvPr id="16" name="Text 14"/>
          <p:cNvSpPr/>
          <p:nvPr/>
        </p:nvSpPr>
        <p:spPr>
          <a:xfrm>
            <a:off x="594360" y="5047488"/>
            <a:ext cx="10972800" cy="329184"/>
          </a:xfrm>
          <a:prstGeom prst="rect">
            <a:avLst/>
          </a:prstGeom>
          <a:noFill/>
          <a:ln/>
        </p:spPr>
        <p:txBody>
          <a:bodyPr wrap="square" lIns="0" tIns="0" rIns="0" bIns="0" rtlCol="0" anchor="ctr"/>
          <a:lstStyle/>
          <a:p>
            <a:pPr marL="0" indent="0">
              <a:buNone/>
            </a:pPr>
            <a:r>
              <a:rPr lang="en-US" sz="1400" b="1" dirty="0">
                <a:solidFill>
                  <a:srgbClr val="27D3BE"/>
                </a:solidFill>
                <a:latin typeface="Palatino Linotype" pitchFamily="34" charset="0"/>
                <a:ea typeface="Palatino Linotype" pitchFamily="34" charset="-122"/>
                <a:cs typeface="Palatino Linotype" pitchFamily="34" charset="-120"/>
              </a:rPr>
              <a:t>Rețineți data. Revine la fiecare sesiune a acestui curs, sub forma unui contor.</a:t>
            </a:r>
            <a:endParaRPr lang="en-US" sz="1400" dirty="0"/>
          </a:p>
        </p:txBody>
      </p:sp>
      <p:sp>
        <p:nvSpPr>
          <p:cNvPr id="17" name="Text 15"/>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Nixon R. „Remarks About an Intensified Program for Drug Abuse Prevention and Control”, 17 iunie 1971; „Special Message to the Congress”, aceeași zi (total de 371 mil. $). The American Presidency Project, UC Santa Barbara</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9B7EF7"/>
                </a:solidFill>
                <a:latin typeface="Palatino Linotype" pitchFamily="34" charset="0"/>
                <a:ea typeface="Palatino Linotype" pitchFamily="34" charset="-122"/>
                <a:cs typeface="Palatino Linotype" pitchFamily="34" charset="-120"/>
              </a:rPr>
              <a:t>AȚI CREDE ACEST TITLU? · 1 DIN 4</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2900" b="1" dirty="0">
                <a:solidFill>
                  <a:srgbClr val="FFFFFF"/>
                </a:solidFill>
                <a:latin typeface="Palatino Linotype" pitchFamily="34" charset="0"/>
                <a:ea typeface="Palatino Linotype" pitchFamily="34" charset="-122"/>
                <a:cs typeface="Palatino Linotype" pitchFamily="34" charset="-120"/>
              </a:rPr>
              <a:t>„Consilierul lui Nixon a recunoscut-o”</a:t>
            </a:r>
            <a:endParaRPr lang="en-US" sz="29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959BB0"/>
                </a:solidFill>
                <a:latin typeface="Palatino Linotype" pitchFamily="34" charset="0"/>
                <a:ea typeface="Palatino Linotype" pitchFamily="34" charset="-122"/>
                <a:cs typeface="Palatino Linotype" pitchFamily="34" charset="-120"/>
              </a:rPr>
              <a:t>Aceeași afirmație, două coloane. Prima e cea care circulă.</a:t>
            </a:r>
            <a:endParaRPr lang="en-US" sz="1450" dirty="0"/>
          </a:p>
        </p:txBody>
      </p:sp>
      <p:sp>
        <p:nvSpPr>
          <p:cNvPr id="5" name="Shape 3"/>
          <p:cNvSpPr/>
          <p:nvPr/>
        </p:nvSpPr>
        <p:spPr>
          <a:xfrm>
            <a:off x="594360" y="1847088"/>
            <a:ext cx="5440680" cy="3566160"/>
          </a:xfrm>
          <a:prstGeom prst="roundRect">
            <a:avLst>
              <a:gd name="adj" fmla="val 2308"/>
            </a:avLst>
          </a:prstGeom>
          <a:solidFill>
            <a:srgbClr val="1D1F2B"/>
          </a:solidFill>
          <a:ln w="12700">
            <a:solidFill>
              <a:srgbClr val="1D1F2B"/>
            </a:solidFill>
            <a:prstDash val="solid"/>
          </a:ln>
        </p:spPr>
        <p:txBody>
          <a:bodyPr/>
          <a:lstStyle/>
          <a:p>
            <a:endParaRPr lang="ro-RO"/>
          </a:p>
        </p:txBody>
      </p:sp>
      <p:sp>
        <p:nvSpPr>
          <p:cNvPr id="6" name="Shape 4"/>
          <p:cNvSpPr/>
          <p:nvPr/>
        </p:nvSpPr>
        <p:spPr>
          <a:xfrm>
            <a:off x="914400" y="2084832"/>
            <a:ext cx="365760" cy="365760"/>
          </a:xfrm>
          <a:prstGeom prst="ellipse">
            <a:avLst/>
          </a:prstGeom>
          <a:solidFill>
            <a:srgbClr val="FFC24B"/>
          </a:solidFill>
          <a:ln w="12700">
            <a:solidFill>
              <a:srgbClr val="FFC24B"/>
            </a:solidFill>
            <a:prstDash val="solid"/>
          </a:ln>
        </p:spPr>
        <p:txBody>
          <a:bodyPr/>
          <a:lstStyle/>
          <a:p>
            <a:endParaRPr lang="ro-RO"/>
          </a:p>
        </p:txBody>
      </p:sp>
      <p:sp>
        <p:nvSpPr>
          <p:cNvPr id="7" name="Text 5"/>
          <p:cNvSpPr/>
          <p:nvPr/>
        </p:nvSpPr>
        <p:spPr>
          <a:xfrm>
            <a:off x="914400" y="2084832"/>
            <a:ext cx="365760" cy="365760"/>
          </a:xfrm>
          <a:prstGeom prst="rect">
            <a:avLst/>
          </a:prstGeom>
          <a:noFill/>
          <a:ln/>
        </p:spPr>
        <p:txBody>
          <a:bodyPr wrap="square" lIns="0" tIns="0" rIns="0" bIns="0" rtlCol="0" anchor="ctr"/>
          <a:lstStyle/>
          <a:p>
            <a:pPr marL="0" indent="0" algn="ctr">
              <a:buNone/>
            </a:pPr>
            <a:r>
              <a:rPr lang="en-US" sz="1500" b="1" dirty="0">
                <a:solidFill>
                  <a:srgbClr val="3D2A00"/>
                </a:solidFill>
                <a:latin typeface="Palatino Linotype" pitchFamily="34" charset="0"/>
                <a:ea typeface="Palatino Linotype" pitchFamily="34" charset="-122"/>
                <a:cs typeface="Palatino Linotype" pitchFamily="34" charset="-120"/>
              </a:rPr>
              <a:t>?</a:t>
            </a:r>
            <a:endParaRPr lang="en-US" sz="1500" dirty="0"/>
          </a:p>
        </p:txBody>
      </p:sp>
      <p:sp>
        <p:nvSpPr>
          <p:cNvPr id="8" name="Text 6"/>
          <p:cNvSpPr/>
          <p:nvPr/>
        </p:nvSpPr>
        <p:spPr>
          <a:xfrm>
            <a:off x="1444752" y="2084832"/>
            <a:ext cx="4389120" cy="365760"/>
          </a:xfrm>
          <a:prstGeom prst="rect">
            <a:avLst/>
          </a:prstGeom>
          <a:noFill/>
          <a:ln/>
        </p:spPr>
        <p:txBody>
          <a:bodyPr wrap="square" lIns="0" tIns="0" rIns="0" bIns="0" rtlCol="0" anchor="ctr"/>
          <a:lstStyle/>
          <a:p>
            <a:pPr marL="0" indent="0">
              <a:buNone/>
            </a:pPr>
            <a:r>
              <a:rPr lang="en-US" sz="1100" b="1" kern="0" spc="200" dirty="0">
                <a:solidFill>
                  <a:srgbClr val="FFC24B"/>
                </a:solidFill>
                <a:latin typeface="Palatino Linotype" pitchFamily="34" charset="0"/>
                <a:ea typeface="Palatino Linotype" pitchFamily="34" charset="-122"/>
                <a:cs typeface="Palatino Linotype" pitchFamily="34" charset="-120"/>
              </a:rPr>
              <a:t>CE SE CITEAZĂ</a:t>
            </a:r>
            <a:endParaRPr lang="en-US" sz="1100" dirty="0"/>
          </a:p>
        </p:txBody>
      </p:sp>
      <p:sp>
        <p:nvSpPr>
          <p:cNvPr id="9" name="Text 7"/>
          <p:cNvSpPr/>
          <p:nvPr/>
        </p:nvSpPr>
        <p:spPr>
          <a:xfrm>
            <a:off x="914400" y="2633472"/>
            <a:ext cx="4846320" cy="1508760"/>
          </a:xfrm>
          <a:prstGeom prst="rect">
            <a:avLst/>
          </a:prstGeom>
          <a:noFill/>
          <a:ln/>
        </p:spPr>
        <p:txBody>
          <a:bodyPr wrap="square" lIns="0" tIns="0" rIns="0" bIns="0" rtlCol="0" anchor="t"/>
          <a:lstStyle/>
          <a:p>
            <a:pPr marL="0" indent="0">
              <a:lnSpc>
                <a:spcPts val="2200"/>
              </a:lnSpc>
              <a:buNone/>
            </a:pPr>
            <a:r>
              <a:rPr lang="en-US" sz="1400" i="1" dirty="0">
                <a:solidFill>
                  <a:srgbClr val="FFFFFF"/>
                </a:solidFill>
                <a:latin typeface="Palatino Linotype" pitchFamily="34" charset="0"/>
                <a:ea typeface="Palatino Linotype" pitchFamily="34" charset="-122"/>
                <a:cs typeface="Palatino Linotype" pitchFamily="34" charset="-120"/>
              </a:rPr>
              <a:t>Campania și administrația Nixon ar fi avut „doi dușmani”: stânga antirăzboi și populația de culoare. Asocierea hipioților cu marijuana și a populației de culoare cu heroina, apoi incriminarea severă a ambelor, ar fi permis perturbarea acestor comunități.</a:t>
            </a:r>
            <a:endParaRPr lang="en-US" sz="1400" dirty="0"/>
          </a:p>
        </p:txBody>
      </p:sp>
      <p:sp>
        <p:nvSpPr>
          <p:cNvPr id="10" name="Text 8"/>
          <p:cNvSpPr/>
          <p:nvPr/>
        </p:nvSpPr>
        <p:spPr>
          <a:xfrm>
            <a:off x="914400" y="4315968"/>
            <a:ext cx="4846320" cy="822960"/>
          </a:xfrm>
          <a:prstGeom prst="rect">
            <a:avLst/>
          </a:prstGeom>
          <a:noFill/>
          <a:ln/>
        </p:spPr>
        <p:txBody>
          <a:bodyPr wrap="square" lIns="0" tIns="0" rIns="0" bIns="0" rtlCol="0" anchor="t"/>
          <a:lstStyle/>
          <a:p>
            <a:pPr marL="0" indent="0">
              <a:lnSpc>
                <a:spcPts val="1900"/>
              </a:lnSpc>
              <a:buNone/>
            </a:pPr>
            <a:r>
              <a:rPr lang="en-US" sz="1200" dirty="0">
                <a:solidFill>
                  <a:srgbClr val="959BB0"/>
                </a:solidFill>
                <a:latin typeface="Palatino Linotype" pitchFamily="34" charset="0"/>
                <a:ea typeface="Palatino Linotype" pitchFamily="34" charset="-122"/>
                <a:cs typeface="Palatino Linotype" pitchFamily="34" charset="-120"/>
              </a:rPr>
              <a:t>Atribuit lui John Ehrlichman, consilier al lui Nixon.</a:t>
            </a:r>
            <a:endParaRPr lang="en-US" sz="1200" dirty="0"/>
          </a:p>
          <a:p>
            <a:pPr marL="0" indent="0">
              <a:lnSpc>
                <a:spcPts val="1900"/>
              </a:lnSpc>
              <a:buNone/>
            </a:pPr>
            <a:r>
              <a:rPr lang="en-US" sz="1200" dirty="0">
                <a:solidFill>
                  <a:srgbClr val="959BB0"/>
                </a:solidFill>
                <a:latin typeface="Palatino Linotype" pitchFamily="34" charset="0"/>
                <a:ea typeface="Palatino Linotype" pitchFamily="34" charset="-122"/>
                <a:cs typeface="Palatino Linotype" pitchFamily="34" charset="-120"/>
              </a:rPr>
              <a:t>Publicat de Dan Baum în Harper's Magazine, numărul din aprilie 2016.</a:t>
            </a:r>
            <a:endParaRPr lang="en-US" sz="1200" dirty="0"/>
          </a:p>
        </p:txBody>
      </p:sp>
      <p:sp>
        <p:nvSpPr>
          <p:cNvPr id="11" name="Shape 9"/>
          <p:cNvSpPr/>
          <p:nvPr/>
        </p:nvSpPr>
        <p:spPr>
          <a:xfrm>
            <a:off x="6309360" y="1847088"/>
            <a:ext cx="5257800" cy="3566160"/>
          </a:xfrm>
          <a:prstGeom prst="roundRect">
            <a:avLst>
              <a:gd name="adj" fmla="val 2308"/>
            </a:avLst>
          </a:prstGeom>
          <a:solidFill>
            <a:srgbClr val="272A38"/>
          </a:solidFill>
          <a:ln w="12700">
            <a:solidFill>
              <a:srgbClr val="272A38"/>
            </a:solidFill>
            <a:prstDash val="solid"/>
          </a:ln>
        </p:spPr>
        <p:txBody>
          <a:bodyPr/>
          <a:lstStyle/>
          <a:p>
            <a:endParaRPr lang="ro-RO"/>
          </a:p>
        </p:txBody>
      </p:sp>
      <p:sp>
        <p:nvSpPr>
          <p:cNvPr id="12" name="Shape 10"/>
          <p:cNvSpPr/>
          <p:nvPr/>
        </p:nvSpPr>
        <p:spPr>
          <a:xfrm>
            <a:off x="6629400" y="2084832"/>
            <a:ext cx="365760" cy="365760"/>
          </a:xfrm>
          <a:prstGeom prst="ellipse">
            <a:avLst/>
          </a:prstGeom>
          <a:solidFill>
            <a:srgbClr val="FF4757"/>
          </a:solidFill>
          <a:ln w="12700">
            <a:solidFill>
              <a:srgbClr val="FF4757"/>
            </a:solidFill>
            <a:prstDash val="solid"/>
          </a:ln>
        </p:spPr>
        <p:txBody>
          <a:bodyPr/>
          <a:lstStyle/>
          <a:p>
            <a:endParaRPr lang="ro-RO"/>
          </a:p>
        </p:txBody>
      </p:sp>
      <p:sp>
        <p:nvSpPr>
          <p:cNvPr id="13" name="Text 11"/>
          <p:cNvSpPr/>
          <p:nvPr/>
        </p:nvSpPr>
        <p:spPr>
          <a:xfrm>
            <a:off x="6629400" y="20848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a:t>
            </a:r>
            <a:endParaRPr lang="en-US" sz="1300" dirty="0"/>
          </a:p>
        </p:txBody>
      </p:sp>
      <p:sp>
        <p:nvSpPr>
          <p:cNvPr id="14" name="Text 12"/>
          <p:cNvSpPr/>
          <p:nvPr/>
        </p:nvSpPr>
        <p:spPr>
          <a:xfrm>
            <a:off x="7159752" y="2084832"/>
            <a:ext cx="4114800" cy="365760"/>
          </a:xfrm>
          <a:prstGeom prst="rect">
            <a:avLst/>
          </a:prstGeom>
          <a:noFill/>
          <a:ln/>
        </p:spPr>
        <p:txBody>
          <a:bodyPr wrap="square" lIns="0" tIns="0" rIns="0" bIns="0" rtlCol="0" anchor="ctr"/>
          <a:lstStyle/>
          <a:p>
            <a:pPr marL="0" indent="0">
              <a:buNone/>
            </a:pPr>
            <a:r>
              <a:rPr lang="en-US" sz="1100" b="1" kern="0" spc="200" dirty="0">
                <a:solidFill>
                  <a:srgbClr val="FF4757"/>
                </a:solidFill>
                <a:latin typeface="Palatino Linotype" pitchFamily="34" charset="0"/>
                <a:ea typeface="Palatino Linotype" pitchFamily="34" charset="-122"/>
                <a:cs typeface="Palatino Linotype" pitchFamily="34" charset="-120"/>
              </a:rPr>
              <a:t>CE NU SE CITEAZĂ</a:t>
            </a:r>
            <a:endParaRPr lang="en-US" sz="1100" dirty="0"/>
          </a:p>
        </p:txBody>
      </p:sp>
      <p:sp>
        <p:nvSpPr>
          <p:cNvPr id="15" name="Text 13"/>
          <p:cNvSpPr/>
          <p:nvPr/>
        </p:nvSpPr>
        <p:spPr>
          <a:xfrm>
            <a:off x="6629400" y="2633472"/>
            <a:ext cx="274320" cy="457200"/>
          </a:xfrm>
          <a:prstGeom prst="rect">
            <a:avLst/>
          </a:prstGeom>
          <a:noFill/>
          <a:ln/>
        </p:spPr>
        <p:txBody>
          <a:bodyPr wrap="square" lIns="0" tIns="0" rIns="0" bIns="0" rtlCol="0" anchor="t"/>
          <a:lstStyle/>
          <a:p>
            <a:pPr marL="0" indent="0">
              <a:buNone/>
            </a:pPr>
            <a:r>
              <a:rPr lang="en-US" sz="1200" b="1" dirty="0">
                <a:solidFill>
                  <a:srgbClr val="FF4757"/>
                </a:solidFill>
                <a:latin typeface="Palatino Linotype" pitchFamily="34" charset="0"/>
                <a:ea typeface="Palatino Linotype" pitchFamily="34" charset="-122"/>
                <a:cs typeface="Palatino Linotype" pitchFamily="34" charset="-120"/>
              </a:rPr>
              <a:t>—</a:t>
            </a:r>
            <a:endParaRPr lang="en-US" sz="1200" dirty="0"/>
          </a:p>
        </p:txBody>
      </p:sp>
      <p:sp>
        <p:nvSpPr>
          <p:cNvPr id="16" name="Text 14"/>
          <p:cNvSpPr/>
          <p:nvPr/>
        </p:nvSpPr>
        <p:spPr>
          <a:xfrm>
            <a:off x="6967728" y="2633472"/>
            <a:ext cx="4343400" cy="53035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Publicat la 22 de ani după interviu</a:t>
            </a:r>
            <a:endParaRPr lang="en-US" sz="1250" dirty="0"/>
          </a:p>
        </p:txBody>
      </p:sp>
      <p:sp>
        <p:nvSpPr>
          <p:cNvPr id="17" name="Text 15"/>
          <p:cNvSpPr/>
          <p:nvPr/>
        </p:nvSpPr>
        <p:spPr>
          <a:xfrm>
            <a:off x="6629400" y="3200400"/>
            <a:ext cx="274320" cy="457200"/>
          </a:xfrm>
          <a:prstGeom prst="rect">
            <a:avLst/>
          </a:prstGeom>
          <a:noFill/>
          <a:ln/>
        </p:spPr>
        <p:txBody>
          <a:bodyPr wrap="square" lIns="0" tIns="0" rIns="0" bIns="0" rtlCol="0" anchor="t"/>
          <a:lstStyle/>
          <a:p>
            <a:pPr marL="0" indent="0">
              <a:buNone/>
            </a:pPr>
            <a:r>
              <a:rPr lang="en-US" sz="1200" b="1" dirty="0">
                <a:solidFill>
                  <a:srgbClr val="FF4757"/>
                </a:solidFill>
                <a:latin typeface="Palatino Linotype" pitchFamily="34" charset="0"/>
                <a:ea typeface="Palatino Linotype" pitchFamily="34" charset="-122"/>
                <a:cs typeface="Palatino Linotype" pitchFamily="34" charset="-120"/>
              </a:rPr>
              <a:t>—</a:t>
            </a:r>
            <a:endParaRPr lang="en-US" sz="1200" dirty="0"/>
          </a:p>
        </p:txBody>
      </p:sp>
      <p:sp>
        <p:nvSpPr>
          <p:cNvPr id="18" name="Text 16"/>
          <p:cNvSpPr/>
          <p:nvPr/>
        </p:nvSpPr>
        <p:spPr>
          <a:xfrm>
            <a:off x="6967728" y="3200400"/>
            <a:ext cx="4343400" cy="53035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Ehrlichman murise în 1999</a:t>
            </a:r>
            <a:endParaRPr lang="en-US" sz="1250" dirty="0"/>
          </a:p>
        </p:txBody>
      </p:sp>
      <p:sp>
        <p:nvSpPr>
          <p:cNvPr id="19" name="Text 17"/>
          <p:cNvSpPr/>
          <p:nvPr/>
        </p:nvSpPr>
        <p:spPr>
          <a:xfrm>
            <a:off x="6629400" y="3767328"/>
            <a:ext cx="274320" cy="457200"/>
          </a:xfrm>
          <a:prstGeom prst="rect">
            <a:avLst/>
          </a:prstGeom>
          <a:noFill/>
          <a:ln/>
        </p:spPr>
        <p:txBody>
          <a:bodyPr wrap="square" lIns="0" tIns="0" rIns="0" bIns="0" rtlCol="0" anchor="t"/>
          <a:lstStyle/>
          <a:p>
            <a:pPr marL="0" indent="0">
              <a:buNone/>
            </a:pPr>
            <a:r>
              <a:rPr lang="en-US" sz="1200" b="1" dirty="0">
                <a:solidFill>
                  <a:srgbClr val="FF4757"/>
                </a:solidFill>
                <a:latin typeface="Palatino Linotype" pitchFamily="34" charset="0"/>
                <a:ea typeface="Palatino Linotype" pitchFamily="34" charset="-122"/>
                <a:cs typeface="Palatino Linotype" pitchFamily="34" charset="-120"/>
              </a:rPr>
              <a:t>—</a:t>
            </a:r>
            <a:endParaRPr lang="en-US" sz="1200" dirty="0"/>
          </a:p>
        </p:txBody>
      </p:sp>
      <p:sp>
        <p:nvSpPr>
          <p:cNvPr id="20" name="Text 18"/>
          <p:cNvSpPr/>
          <p:nvPr/>
        </p:nvSpPr>
        <p:spPr>
          <a:xfrm>
            <a:off x="6967728" y="3767328"/>
            <a:ext cx="4343400" cy="53035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Sursa: notițele jurnalistului, revăzute pentru articol</a:t>
            </a:r>
            <a:endParaRPr lang="en-US" sz="1250" dirty="0"/>
          </a:p>
        </p:txBody>
      </p:sp>
      <p:sp>
        <p:nvSpPr>
          <p:cNvPr id="21" name="Text 19"/>
          <p:cNvSpPr/>
          <p:nvPr/>
        </p:nvSpPr>
        <p:spPr>
          <a:xfrm>
            <a:off x="6629400" y="4334256"/>
            <a:ext cx="274320" cy="457200"/>
          </a:xfrm>
          <a:prstGeom prst="rect">
            <a:avLst/>
          </a:prstGeom>
          <a:noFill/>
          <a:ln/>
        </p:spPr>
        <p:txBody>
          <a:bodyPr wrap="square" lIns="0" tIns="0" rIns="0" bIns="0" rtlCol="0" anchor="t"/>
          <a:lstStyle/>
          <a:p>
            <a:pPr marL="0" indent="0">
              <a:buNone/>
            </a:pPr>
            <a:r>
              <a:rPr lang="en-US" sz="1200" b="1" dirty="0">
                <a:solidFill>
                  <a:srgbClr val="FF4757"/>
                </a:solidFill>
                <a:latin typeface="Palatino Linotype" pitchFamily="34" charset="0"/>
                <a:ea typeface="Palatino Linotype" pitchFamily="34" charset="-122"/>
                <a:cs typeface="Palatino Linotype" pitchFamily="34" charset="-120"/>
              </a:rPr>
              <a:t>—</a:t>
            </a:r>
            <a:endParaRPr lang="en-US" sz="1200" dirty="0"/>
          </a:p>
        </p:txBody>
      </p:sp>
      <p:sp>
        <p:nvSpPr>
          <p:cNvPr id="22" name="Text 20"/>
          <p:cNvSpPr/>
          <p:nvPr/>
        </p:nvSpPr>
        <p:spPr>
          <a:xfrm>
            <a:off x="6967728" y="4334256"/>
            <a:ext cx="4343400" cy="53035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Familia Ehrlichman l-a contestat public</a:t>
            </a:r>
            <a:endParaRPr lang="en-US" sz="1250" dirty="0"/>
          </a:p>
        </p:txBody>
      </p:sp>
      <p:sp>
        <p:nvSpPr>
          <p:cNvPr id="23" name="Text 21"/>
          <p:cNvSpPr/>
          <p:nvPr/>
        </p:nvSpPr>
        <p:spPr>
          <a:xfrm>
            <a:off x="6629400" y="4901184"/>
            <a:ext cx="274320" cy="457200"/>
          </a:xfrm>
          <a:prstGeom prst="rect">
            <a:avLst/>
          </a:prstGeom>
          <a:noFill/>
          <a:ln/>
        </p:spPr>
        <p:txBody>
          <a:bodyPr wrap="square" lIns="0" tIns="0" rIns="0" bIns="0" rtlCol="0" anchor="t"/>
          <a:lstStyle/>
          <a:p>
            <a:pPr marL="0" indent="0">
              <a:buNone/>
            </a:pPr>
            <a:r>
              <a:rPr lang="en-US" sz="1200" b="1" dirty="0">
                <a:solidFill>
                  <a:srgbClr val="FF4757"/>
                </a:solidFill>
                <a:latin typeface="Palatino Linotype" pitchFamily="34" charset="0"/>
                <a:ea typeface="Palatino Linotype" pitchFamily="34" charset="-122"/>
                <a:cs typeface="Palatino Linotype" pitchFamily="34" charset="-120"/>
              </a:rPr>
              <a:t>—</a:t>
            </a:r>
            <a:endParaRPr lang="en-US" sz="1200" dirty="0"/>
          </a:p>
        </p:txBody>
      </p:sp>
      <p:sp>
        <p:nvSpPr>
          <p:cNvPr id="24" name="Text 22"/>
          <p:cNvSpPr/>
          <p:nvPr/>
        </p:nvSpPr>
        <p:spPr>
          <a:xfrm>
            <a:off x="6967728" y="4901184"/>
            <a:ext cx="4343400" cy="53035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Trei foști oficiali Nixon l-au contestat:</a:t>
            </a:r>
            <a:endParaRPr lang="en-US" sz="1250" dirty="0"/>
          </a:p>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Donfeld · Jaffe · DuPont</a:t>
            </a:r>
            <a:endParaRPr lang="en-US" sz="1250" dirty="0"/>
          </a:p>
        </p:txBody>
      </p:sp>
      <p:sp>
        <p:nvSpPr>
          <p:cNvPr id="25" name="Text 23"/>
          <p:cNvSpPr/>
          <p:nvPr/>
        </p:nvSpPr>
        <p:spPr>
          <a:xfrm>
            <a:off x="594360" y="5577840"/>
            <a:ext cx="10972800" cy="365760"/>
          </a:xfrm>
          <a:prstGeom prst="rect">
            <a:avLst/>
          </a:prstGeom>
          <a:noFill/>
          <a:ln/>
        </p:spPr>
        <p:txBody>
          <a:bodyPr wrap="square" lIns="0" tIns="0" rIns="0" bIns="0" rtlCol="0" anchor="ctr"/>
          <a:lstStyle/>
          <a:p>
            <a:pPr marL="0" indent="0">
              <a:buNone/>
            </a:pPr>
            <a:r>
              <a:rPr lang="en-US" sz="1400" b="1" dirty="0">
                <a:solidFill>
                  <a:srgbClr val="9B7EF7"/>
                </a:solidFill>
                <a:latin typeface="Palatino Linotype" pitchFamily="34" charset="0"/>
                <a:ea typeface="Palatino Linotype" pitchFamily="34" charset="-122"/>
                <a:cs typeface="Palatino Linotype" pitchFamily="34" charset="-120"/>
              </a:rPr>
              <a:t>Contestările și replica nu sunt dovezi independente: autenticitatea citatului rămâne disputată. Argumentul despre aplicarea diferențiată a legii penale nu are nevoie de acest citat.</a:t>
            </a:r>
            <a:endParaRPr lang="en-US" sz="1400" dirty="0"/>
          </a:p>
        </p:txBody>
      </p:sp>
      <p:sp>
        <p:nvSpPr>
          <p:cNvPr id="26" name="Text 24"/>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Baum D. „Legalize It All”. Harper's Magazine, aprilie 2016 · declarația familiei: CNN, 23 martie 2016 · declarația Donfeld–Jaffe–DuPont: HuffPost, 25 martie 2016 · Baum: nu avea motive să creadă că Ehrlichman fusese nesincer</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1997 · SCIENCE</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Saltul de la mecanism la politică publică</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585A64"/>
                </a:solidFill>
                <a:latin typeface="Palatino Linotype" pitchFamily="34" charset="0"/>
                <a:ea typeface="Palatino Linotype" pitchFamily="34" charset="-122"/>
                <a:cs typeface="Palatino Linotype" pitchFamily="34" charset="-120"/>
              </a:rPr>
              <a:t>„Addiction is a brain disease, and it matters” — construcția argumentului, în trei trepte.</a:t>
            </a:r>
            <a:endParaRPr lang="en-US" sz="1450" dirty="0"/>
          </a:p>
        </p:txBody>
      </p:sp>
      <p:sp>
        <p:nvSpPr>
          <p:cNvPr id="5" name="Shape 3"/>
          <p:cNvSpPr/>
          <p:nvPr/>
        </p:nvSpPr>
        <p:spPr>
          <a:xfrm>
            <a:off x="594360" y="1874520"/>
            <a:ext cx="3429000" cy="1572768"/>
          </a:xfrm>
          <a:prstGeom prst="roundRect">
            <a:avLst>
              <a:gd name="adj" fmla="val 5233"/>
            </a:avLst>
          </a:prstGeom>
          <a:solidFill>
            <a:srgbClr val="ECEAE4"/>
          </a:solidFill>
          <a:ln w="12700">
            <a:solidFill>
              <a:srgbClr val="ECEAE4"/>
            </a:solidFill>
            <a:prstDash val="solid"/>
          </a:ln>
        </p:spPr>
        <p:txBody>
          <a:bodyPr/>
          <a:lstStyle/>
          <a:p>
            <a:endParaRPr lang="ro-RO"/>
          </a:p>
        </p:txBody>
      </p:sp>
      <p:sp>
        <p:nvSpPr>
          <p:cNvPr id="6" name="Text 4"/>
          <p:cNvSpPr/>
          <p:nvPr/>
        </p:nvSpPr>
        <p:spPr>
          <a:xfrm>
            <a:off x="850392" y="2048256"/>
            <a:ext cx="2926080" cy="310896"/>
          </a:xfrm>
          <a:prstGeom prst="rect">
            <a:avLst/>
          </a:prstGeom>
          <a:noFill/>
          <a:ln/>
        </p:spPr>
        <p:txBody>
          <a:bodyPr wrap="square" lIns="0" tIns="0" rIns="0" bIns="0" rtlCol="0" anchor="ctr"/>
          <a:lstStyle/>
          <a:p>
            <a:pPr marL="0" indent="0">
              <a:buNone/>
            </a:pPr>
            <a:r>
              <a:rPr lang="en-US" sz="950" b="1" kern="0" spc="140" dirty="0">
                <a:solidFill>
                  <a:srgbClr val="0E7C6B"/>
                </a:solidFill>
                <a:latin typeface="Palatino Linotype" pitchFamily="34" charset="0"/>
                <a:ea typeface="Palatino Linotype" pitchFamily="34" charset="-122"/>
                <a:cs typeface="Palatino Linotype" pitchFamily="34" charset="-120"/>
              </a:rPr>
              <a:t>AFIRMAȚIE DESPRE MECANISM</a:t>
            </a:r>
            <a:endParaRPr lang="en-US" sz="950" dirty="0"/>
          </a:p>
        </p:txBody>
      </p:sp>
      <p:sp>
        <p:nvSpPr>
          <p:cNvPr id="7" name="Text 5"/>
          <p:cNvSpPr/>
          <p:nvPr/>
        </p:nvSpPr>
        <p:spPr>
          <a:xfrm>
            <a:off x="850392" y="2395728"/>
            <a:ext cx="2926080" cy="914400"/>
          </a:xfrm>
          <a:prstGeom prst="rect">
            <a:avLst/>
          </a:prstGeom>
          <a:noFill/>
          <a:ln/>
        </p:spPr>
        <p:txBody>
          <a:bodyPr wrap="square" lIns="0" tIns="0" rIns="0" bIns="0" rtlCol="0" anchor="t"/>
          <a:lstStyle/>
          <a:p>
            <a:pPr marL="0" indent="0">
              <a:lnSpc>
                <a:spcPts val="1900"/>
              </a:lnSpc>
              <a:buNone/>
            </a:pPr>
            <a:r>
              <a:rPr lang="en-US" sz="1250" dirty="0">
                <a:solidFill>
                  <a:srgbClr val="11121A"/>
                </a:solidFill>
                <a:latin typeface="Palatino Linotype" pitchFamily="34" charset="0"/>
                <a:ea typeface="Palatino Linotype" pitchFamily="34" charset="-122"/>
                <a:cs typeface="Palatino Linotype" pitchFamily="34" charset="-120"/>
              </a:rPr>
              <a:t>Consumul repetat produce modificări persistente în structura și funcția creierului.</a:t>
            </a:r>
            <a:endParaRPr lang="en-US" sz="1250" dirty="0"/>
          </a:p>
        </p:txBody>
      </p:sp>
      <p:sp>
        <p:nvSpPr>
          <p:cNvPr id="8" name="Text 6"/>
          <p:cNvSpPr/>
          <p:nvPr/>
        </p:nvSpPr>
        <p:spPr>
          <a:xfrm>
            <a:off x="4087368" y="2395728"/>
            <a:ext cx="320040" cy="457200"/>
          </a:xfrm>
          <a:prstGeom prst="rect">
            <a:avLst/>
          </a:prstGeom>
          <a:noFill/>
          <a:ln/>
        </p:spPr>
        <p:txBody>
          <a:bodyPr wrap="square" lIns="0" tIns="0" rIns="0" bIns="0" rtlCol="0" anchor="ctr"/>
          <a:lstStyle/>
          <a:p>
            <a:pPr marL="0" indent="0" algn="ctr">
              <a:buNone/>
            </a:pPr>
            <a:r>
              <a:rPr lang="en-US" sz="1600" b="1" dirty="0">
                <a:solidFill>
                  <a:srgbClr val="8A6100"/>
                </a:solidFill>
                <a:latin typeface="Palatino Linotype" pitchFamily="34" charset="0"/>
                <a:ea typeface="Palatino Linotype" pitchFamily="34" charset="-122"/>
                <a:cs typeface="Palatino Linotype" pitchFamily="34" charset="-120"/>
              </a:rPr>
              <a:t>▶</a:t>
            </a:r>
            <a:endParaRPr lang="en-US" sz="1600" dirty="0"/>
          </a:p>
        </p:txBody>
      </p:sp>
      <p:sp>
        <p:nvSpPr>
          <p:cNvPr id="9" name="Shape 7"/>
          <p:cNvSpPr/>
          <p:nvPr/>
        </p:nvSpPr>
        <p:spPr>
          <a:xfrm>
            <a:off x="4389120" y="1874520"/>
            <a:ext cx="3429000" cy="1572768"/>
          </a:xfrm>
          <a:prstGeom prst="roundRect">
            <a:avLst>
              <a:gd name="adj" fmla="val 5233"/>
            </a:avLst>
          </a:prstGeom>
          <a:solidFill>
            <a:srgbClr val="ECEAE4"/>
          </a:solidFill>
          <a:ln w="12700">
            <a:solidFill>
              <a:srgbClr val="ECEAE4"/>
            </a:solidFill>
            <a:prstDash val="solid"/>
          </a:ln>
        </p:spPr>
        <p:txBody>
          <a:bodyPr/>
          <a:lstStyle/>
          <a:p>
            <a:endParaRPr lang="ro-RO"/>
          </a:p>
        </p:txBody>
      </p:sp>
      <p:sp>
        <p:nvSpPr>
          <p:cNvPr id="10" name="Text 8"/>
          <p:cNvSpPr/>
          <p:nvPr/>
        </p:nvSpPr>
        <p:spPr>
          <a:xfrm>
            <a:off x="4645152" y="2048256"/>
            <a:ext cx="2926080" cy="310896"/>
          </a:xfrm>
          <a:prstGeom prst="rect">
            <a:avLst/>
          </a:prstGeom>
          <a:noFill/>
          <a:ln/>
        </p:spPr>
        <p:txBody>
          <a:bodyPr wrap="square" lIns="0" tIns="0" rIns="0" bIns="0" rtlCol="0" anchor="ctr"/>
          <a:lstStyle/>
          <a:p>
            <a:pPr marL="0" indent="0">
              <a:buNone/>
            </a:pPr>
            <a:r>
              <a:rPr lang="en-US" sz="950" b="1" kern="0" spc="140" dirty="0">
                <a:solidFill>
                  <a:srgbClr val="0E7C6B"/>
                </a:solidFill>
                <a:latin typeface="Palatino Linotype" pitchFamily="34" charset="0"/>
                <a:ea typeface="Palatino Linotype" pitchFamily="34" charset="-122"/>
                <a:cs typeface="Palatino Linotype" pitchFamily="34" charset="-120"/>
              </a:rPr>
              <a:t>AFIRMAȚIE DESPRE PERSOANĂ</a:t>
            </a:r>
            <a:endParaRPr lang="en-US" sz="950" dirty="0"/>
          </a:p>
        </p:txBody>
      </p:sp>
      <p:sp>
        <p:nvSpPr>
          <p:cNvPr id="11" name="Text 9"/>
          <p:cNvSpPr/>
          <p:nvPr/>
        </p:nvSpPr>
        <p:spPr>
          <a:xfrm>
            <a:off x="4645152" y="2395728"/>
            <a:ext cx="2926080" cy="914400"/>
          </a:xfrm>
          <a:prstGeom prst="rect">
            <a:avLst/>
          </a:prstGeom>
          <a:noFill/>
          <a:ln/>
        </p:spPr>
        <p:txBody>
          <a:bodyPr wrap="square" lIns="0" tIns="0" rIns="0" bIns="0" rtlCol="0" anchor="t"/>
          <a:lstStyle/>
          <a:p>
            <a:pPr marL="0" indent="0">
              <a:lnSpc>
                <a:spcPts val="1900"/>
              </a:lnSpc>
              <a:buNone/>
            </a:pPr>
            <a:r>
              <a:rPr lang="en-US" sz="1250" dirty="0">
                <a:solidFill>
                  <a:srgbClr val="11121A"/>
                </a:solidFill>
                <a:latin typeface="Palatino Linotype" pitchFamily="34" charset="0"/>
                <a:ea typeface="Palatino Linotype" pitchFamily="34" charset="-122"/>
                <a:cs typeface="Palatino Linotype" pitchFamily="34" charset="-120"/>
              </a:rPr>
              <a:t>Aceste modificări explică de ce persoana continuă în ciuda consecințelor.</a:t>
            </a:r>
            <a:endParaRPr lang="en-US" sz="1250" dirty="0"/>
          </a:p>
        </p:txBody>
      </p:sp>
      <p:sp>
        <p:nvSpPr>
          <p:cNvPr id="12" name="Text 10"/>
          <p:cNvSpPr/>
          <p:nvPr/>
        </p:nvSpPr>
        <p:spPr>
          <a:xfrm>
            <a:off x="7882128" y="2395728"/>
            <a:ext cx="320040" cy="457200"/>
          </a:xfrm>
          <a:prstGeom prst="rect">
            <a:avLst/>
          </a:prstGeom>
          <a:noFill/>
          <a:ln/>
        </p:spPr>
        <p:txBody>
          <a:bodyPr wrap="square" lIns="0" tIns="0" rIns="0" bIns="0" rtlCol="0" anchor="ctr"/>
          <a:lstStyle/>
          <a:p>
            <a:pPr marL="0" indent="0" algn="ctr">
              <a:buNone/>
            </a:pPr>
            <a:r>
              <a:rPr lang="en-US" sz="1600" b="1" dirty="0">
                <a:solidFill>
                  <a:srgbClr val="8A6100"/>
                </a:solidFill>
                <a:latin typeface="Palatino Linotype" pitchFamily="34" charset="0"/>
                <a:ea typeface="Palatino Linotype" pitchFamily="34" charset="-122"/>
                <a:cs typeface="Palatino Linotype" pitchFamily="34" charset="-120"/>
              </a:rPr>
              <a:t>▶</a:t>
            </a:r>
            <a:endParaRPr lang="en-US" sz="1600" dirty="0"/>
          </a:p>
        </p:txBody>
      </p:sp>
      <p:sp>
        <p:nvSpPr>
          <p:cNvPr id="13" name="Shape 11"/>
          <p:cNvSpPr/>
          <p:nvPr/>
        </p:nvSpPr>
        <p:spPr>
          <a:xfrm>
            <a:off x="8183880" y="1874520"/>
            <a:ext cx="3429000" cy="1572768"/>
          </a:xfrm>
          <a:prstGeom prst="roundRect">
            <a:avLst>
              <a:gd name="adj" fmla="val 5233"/>
            </a:avLst>
          </a:prstGeom>
          <a:solidFill>
            <a:srgbClr val="FF4757"/>
          </a:solidFill>
          <a:ln w="12700">
            <a:solidFill>
              <a:srgbClr val="FF4757"/>
            </a:solidFill>
            <a:prstDash val="solid"/>
          </a:ln>
        </p:spPr>
        <p:txBody>
          <a:bodyPr/>
          <a:lstStyle/>
          <a:p>
            <a:endParaRPr lang="ro-RO"/>
          </a:p>
        </p:txBody>
      </p:sp>
      <p:sp>
        <p:nvSpPr>
          <p:cNvPr id="14" name="Text 12"/>
          <p:cNvSpPr/>
          <p:nvPr/>
        </p:nvSpPr>
        <p:spPr>
          <a:xfrm>
            <a:off x="8439912" y="2048256"/>
            <a:ext cx="2926080" cy="310896"/>
          </a:xfrm>
          <a:prstGeom prst="rect">
            <a:avLst/>
          </a:prstGeom>
          <a:noFill/>
          <a:ln/>
        </p:spPr>
        <p:txBody>
          <a:bodyPr wrap="square" lIns="0" tIns="0" rIns="0" bIns="0" rtlCol="0" anchor="ctr"/>
          <a:lstStyle/>
          <a:p>
            <a:pPr marL="0" indent="0">
              <a:buNone/>
            </a:pPr>
            <a:r>
              <a:rPr lang="en-US" sz="950" b="1" kern="0" spc="140" dirty="0">
                <a:solidFill>
                  <a:srgbClr val="2E060B"/>
                </a:solidFill>
                <a:latin typeface="Palatino Linotype" pitchFamily="34" charset="0"/>
                <a:ea typeface="Palatino Linotype" pitchFamily="34" charset="-122"/>
                <a:cs typeface="Palatino Linotype" pitchFamily="34" charset="-120"/>
              </a:rPr>
              <a:t>CONCLUZIE DE POLITICĂ</a:t>
            </a:r>
            <a:endParaRPr lang="en-US" sz="950" dirty="0"/>
          </a:p>
        </p:txBody>
      </p:sp>
      <p:sp>
        <p:nvSpPr>
          <p:cNvPr id="15" name="Text 13"/>
          <p:cNvSpPr/>
          <p:nvPr/>
        </p:nvSpPr>
        <p:spPr>
          <a:xfrm>
            <a:off x="8439912" y="2395728"/>
            <a:ext cx="2926080" cy="914400"/>
          </a:xfrm>
          <a:prstGeom prst="rect">
            <a:avLst/>
          </a:prstGeom>
          <a:noFill/>
          <a:ln/>
        </p:spPr>
        <p:txBody>
          <a:bodyPr wrap="square" lIns="0" tIns="0" rIns="0" bIns="0" rtlCol="0" anchor="t"/>
          <a:lstStyle/>
          <a:p>
            <a:pPr marL="0" indent="0">
              <a:lnSpc>
                <a:spcPts val="1900"/>
              </a:lnSpc>
              <a:buNone/>
            </a:pPr>
            <a:r>
              <a:rPr lang="en-US" sz="1250" dirty="0">
                <a:solidFill>
                  <a:srgbClr val="2E060B"/>
                </a:solidFill>
                <a:latin typeface="Palatino Linotype" pitchFamily="34" charset="0"/>
                <a:ea typeface="Palatino Linotype" pitchFamily="34" charset="-122"/>
                <a:cs typeface="Palatino Linotype" pitchFamily="34" charset="-120"/>
              </a:rPr>
              <a:t>Prin urmare, dependența trebuie abordată ca problemă medicală (reconstrucție).</a:t>
            </a:r>
            <a:endParaRPr lang="en-US" sz="1250" dirty="0"/>
          </a:p>
        </p:txBody>
      </p:sp>
      <p:sp>
        <p:nvSpPr>
          <p:cNvPr id="16" name="Shape 14"/>
          <p:cNvSpPr/>
          <p:nvPr/>
        </p:nvSpPr>
        <p:spPr>
          <a:xfrm>
            <a:off x="594360" y="3675888"/>
            <a:ext cx="10972800" cy="1207008"/>
          </a:xfrm>
          <a:prstGeom prst="roundRect">
            <a:avLst>
              <a:gd name="adj" fmla="val 6818"/>
            </a:avLst>
          </a:prstGeom>
          <a:solidFill>
            <a:srgbClr val="11121A"/>
          </a:solidFill>
          <a:ln w="12700">
            <a:solidFill>
              <a:srgbClr val="11121A"/>
            </a:solidFill>
            <a:prstDash val="solid"/>
          </a:ln>
        </p:spPr>
        <p:txBody>
          <a:bodyPr/>
          <a:lstStyle/>
          <a:p>
            <a:endParaRPr lang="ro-RO"/>
          </a:p>
        </p:txBody>
      </p:sp>
      <p:sp>
        <p:nvSpPr>
          <p:cNvPr id="17" name="Text 15"/>
          <p:cNvSpPr/>
          <p:nvPr/>
        </p:nvSpPr>
        <p:spPr>
          <a:xfrm>
            <a:off x="960120" y="3840480"/>
            <a:ext cx="10241280" cy="329184"/>
          </a:xfrm>
          <a:prstGeom prst="rect">
            <a:avLst/>
          </a:prstGeom>
          <a:noFill/>
          <a:ln/>
        </p:spPr>
        <p:txBody>
          <a:bodyPr wrap="square" lIns="0" tIns="0" rIns="0" bIns="0" rtlCol="0" anchor="ctr"/>
          <a:lstStyle/>
          <a:p>
            <a:pPr marL="0" indent="0">
              <a:buNone/>
            </a:pPr>
            <a:r>
              <a:rPr lang="en-US" sz="1500" b="1" dirty="0">
                <a:solidFill>
                  <a:srgbClr val="FFC24B"/>
                </a:solidFill>
                <a:latin typeface="Palatino Linotype" pitchFamily="34" charset="0"/>
                <a:ea typeface="Palatino Linotype" pitchFamily="34" charset="-122"/>
                <a:cs typeface="Palatino Linotype" pitchFamily="34" charset="-120"/>
              </a:rPr>
              <a:t>Cel mai important lucru pe care îl învățați astăzi</a:t>
            </a:r>
            <a:endParaRPr lang="en-US" sz="1500" dirty="0"/>
          </a:p>
        </p:txBody>
      </p:sp>
      <p:sp>
        <p:nvSpPr>
          <p:cNvPr id="18" name="Text 16"/>
          <p:cNvSpPr/>
          <p:nvPr/>
        </p:nvSpPr>
        <p:spPr>
          <a:xfrm>
            <a:off x="960120" y="4206240"/>
            <a:ext cx="10241280" cy="566928"/>
          </a:xfrm>
          <a:prstGeom prst="rect">
            <a:avLst/>
          </a:prstGeom>
          <a:noFill/>
          <a:ln/>
        </p:spPr>
        <p:txBody>
          <a:bodyPr wrap="square" lIns="0" tIns="0" rIns="0" bIns="0" rtlCol="0" anchor="t"/>
          <a:lstStyle/>
          <a:p>
            <a:pPr marL="0" indent="0">
              <a:lnSpc>
                <a:spcPts val="2000"/>
              </a:lnSpc>
              <a:buNone/>
            </a:pPr>
            <a:r>
              <a:rPr lang="en-US" sz="1300" dirty="0">
                <a:solidFill>
                  <a:srgbClr val="FFFFFF"/>
                </a:solidFill>
                <a:latin typeface="Palatino Linotype" pitchFamily="34" charset="0"/>
                <a:ea typeface="Palatino Linotype" pitchFamily="34" charset="-122"/>
                <a:cs typeface="Palatino Linotype" pitchFamily="34" charset="-120"/>
              </a:rPr>
              <a:t>O afirmație despre mecanism susține o concluzie despre politică. Saltul nu este invalid — dar nu este nici automat: are nevoie de premise suplimentare, care rareori sunt enunțate. Îl veți vedea făcut în ambele direcții pe parcursul cursului.</a:t>
            </a:r>
            <a:endParaRPr lang="en-US" sz="1300" dirty="0"/>
          </a:p>
        </p:txBody>
      </p:sp>
      <p:sp>
        <p:nvSpPr>
          <p:cNvPr id="19" name="Shape 17"/>
          <p:cNvSpPr/>
          <p:nvPr/>
        </p:nvSpPr>
        <p:spPr>
          <a:xfrm>
            <a:off x="594360" y="5047488"/>
            <a:ext cx="10972800" cy="841248"/>
          </a:xfrm>
          <a:prstGeom prst="roundRect">
            <a:avLst>
              <a:gd name="adj" fmla="val 9783"/>
            </a:avLst>
          </a:prstGeom>
          <a:solidFill>
            <a:srgbClr val="F9F8F5"/>
          </a:solidFill>
          <a:ln w="12700">
            <a:solidFill>
              <a:srgbClr val="F9F8F5"/>
            </a:solidFill>
            <a:prstDash val="solid"/>
          </a:ln>
        </p:spPr>
        <p:txBody>
          <a:bodyPr/>
          <a:lstStyle/>
          <a:p>
            <a:endParaRPr lang="ro-RO"/>
          </a:p>
        </p:txBody>
      </p:sp>
      <p:sp>
        <p:nvSpPr>
          <p:cNvPr id="20" name="Text 18"/>
          <p:cNvSpPr/>
          <p:nvPr/>
        </p:nvSpPr>
        <p:spPr>
          <a:xfrm>
            <a:off x="960120" y="5047488"/>
            <a:ext cx="10241280" cy="841248"/>
          </a:xfrm>
          <a:prstGeom prst="rect">
            <a:avLst/>
          </a:prstGeom>
          <a:noFill/>
          <a:ln/>
        </p:spPr>
        <p:txBody>
          <a:bodyPr wrap="square" lIns="0" tIns="0" rIns="0" bIns="0" rtlCol="0" anchor="ctr"/>
          <a:lstStyle/>
          <a:p>
            <a:pPr marL="0" indent="0">
              <a:lnSpc>
                <a:spcPts val="1900"/>
              </a:lnSpc>
              <a:buNone/>
            </a:pPr>
            <a:r>
              <a:rPr lang="en-US" sz="1250" dirty="0">
                <a:solidFill>
                  <a:srgbClr val="11121A"/>
                </a:solidFill>
                <a:latin typeface="Palatino Linotype" pitchFamily="34" charset="0"/>
                <a:ea typeface="Palatino Linotype" pitchFamily="34" charset="-122"/>
                <a:cs typeface="Palatino Linotype" pitchFamily="34" charset="-120"/>
              </a:rPr>
              <a:t>În același număr al revistei, Koob și Le Moal descriu adicția ca dereglare progresivă a sistemelor recompensei; în 2001, aceiași autori propun conceptul de alostază: un punct de echilibru al recompensei deplasat cronic. Toleranța și sevrajul apar astfel ca expresii ale unui echilibru deplasat (interpretare).</a:t>
            </a:r>
            <a:endParaRPr lang="en-US" sz="1250" dirty="0"/>
          </a:p>
        </p:txBody>
      </p:sp>
      <p:sp>
        <p:nvSpPr>
          <p:cNvPr id="21" name="Text 19"/>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Leshner, Science, 1997 · Koob și Le Moal, Science, 1997 · Koob și Le Moal, Neuropsychopharmacology, 2001 · DOI-urile, confirmate după identificator, sunt în registrul notelor</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0E7C6B"/>
                </a:solidFill>
                <a:latin typeface="Palatino Linotype" pitchFamily="34" charset="0"/>
                <a:ea typeface="Palatino Linotype" pitchFamily="34" charset="-122"/>
                <a:cs typeface="Palatino Linotype" pitchFamily="34" charset="-120"/>
              </a:rPr>
              <a:t>2013 · 2022</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Un continuum, nu o linie naturală între „consumator” și „dependent”</a:t>
            </a:r>
            <a:endParaRPr lang="en-US" sz="3000" dirty="0"/>
          </a:p>
        </p:txBody>
      </p:sp>
      <p:sp>
        <p:nvSpPr>
          <p:cNvPr id="4" name="Shape 2"/>
          <p:cNvSpPr/>
          <p:nvPr/>
        </p:nvSpPr>
        <p:spPr>
          <a:xfrm>
            <a:off x="594360" y="1755648"/>
            <a:ext cx="5440680" cy="1691640"/>
          </a:xfrm>
          <a:prstGeom prst="roundRect">
            <a:avLst>
              <a:gd name="adj" fmla="val 4865"/>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14400" y="1938528"/>
            <a:ext cx="4846320" cy="347472"/>
          </a:xfrm>
          <a:prstGeom prst="rect">
            <a:avLst/>
          </a:prstGeom>
          <a:noFill/>
          <a:ln/>
        </p:spPr>
        <p:txBody>
          <a:bodyPr wrap="square" lIns="0" tIns="0" rIns="0" bIns="0" rtlCol="0" anchor="ctr"/>
          <a:lstStyle/>
          <a:p>
            <a:pPr marL="0" indent="0">
              <a:buNone/>
            </a:pPr>
            <a:r>
              <a:rPr lang="en-US" sz="1700" b="1" dirty="0">
                <a:solidFill>
                  <a:srgbClr val="585A64"/>
                </a:solidFill>
                <a:latin typeface="Palatino Linotype" pitchFamily="34" charset="0"/>
                <a:ea typeface="Palatino Linotype" pitchFamily="34" charset="-122"/>
                <a:cs typeface="Palatino Linotype" pitchFamily="34" charset="-120"/>
              </a:rPr>
              <a:t>DSM-IV</a:t>
            </a:r>
            <a:endParaRPr lang="en-US" sz="1700" dirty="0"/>
          </a:p>
        </p:txBody>
      </p:sp>
      <p:sp>
        <p:nvSpPr>
          <p:cNvPr id="6" name="Text 4"/>
          <p:cNvSpPr/>
          <p:nvPr/>
        </p:nvSpPr>
        <p:spPr>
          <a:xfrm>
            <a:off x="914400" y="2359152"/>
            <a:ext cx="4846320" cy="914400"/>
          </a:xfrm>
          <a:prstGeom prst="rect">
            <a:avLst/>
          </a:prstGeom>
          <a:noFill/>
          <a:ln/>
        </p:spPr>
        <p:txBody>
          <a:bodyPr wrap="square" lIns="0" tIns="0" rIns="0" bIns="0" rtlCol="0" anchor="t"/>
          <a:lstStyle/>
          <a:p>
            <a:pPr marL="0" indent="0">
              <a:lnSpc>
                <a:spcPts val="2100"/>
              </a:lnSpc>
              <a:buNone/>
            </a:pPr>
            <a:r>
              <a:rPr lang="en-US" sz="1350" dirty="0">
                <a:solidFill>
                  <a:srgbClr val="11121A"/>
                </a:solidFill>
                <a:latin typeface="Palatino Linotype" pitchFamily="34" charset="0"/>
                <a:ea typeface="Palatino Linotype" pitchFamily="34" charset="-122"/>
                <a:cs typeface="Palatino Linotype" pitchFamily="34" charset="-120"/>
              </a:rPr>
              <a:t>Abuz de substanțe · Dependență de substanțe.</a:t>
            </a:r>
            <a:endParaRPr lang="en-US" sz="1350" dirty="0"/>
          </a:p>
          <a:p>
            <a:pPr marL="0" indent="0">
              <a:lnSpc>
                <a:spcPts val="2100"/>
              </a:lnSpc>
              <a:buNone/>
            </a:pPr>
            <a:r>
              <a:rPr lang="en-US" sz="1350" dirty="0">
                <a:solidFill>
                  <a:srgbClr val="11121A"/>
                </a:solidFill>
                <a:latin typeface="Palatino Linotype" pitchFamily="34" charset="0"/>
                <a:ea typeface="Palatino Linotype" pitchFamily="34" charset="-122"/>
                <a:cs typeface="Palatino Linotype" pitchFamily="34" charset="-120"/>
              </a:rPr>
              <a:t>Două categorii separate. O linie între ele.</a:t>
            </a:r>
            <a:endParaRPr lang="en-US" sz="1350" dirty="0"/>
          </a:p>
        </p:txBody>
      </p:sp>
      <p:sp>
        <p:nvSpPr>
          <p:cNvPr id="7" name="Shape 5"/>
          <p:cNvSpPr/>
          <p:nvPr/>
        </p:nvSpPr>
        <p:spPr>
          <a:xfrm>
            <a:off x="6309360" y="1755648"/>
            <a:ext cx="5257800" cy="1691640"/>
          </a:xfrm>
          <a:prstGeom prst="roundRect">
            <a:avLst>
              <a:gd name="adj" fmla="val 4865"/>
            </a:avLst>
          </a:prstGeom>
          <a:solidFill>
            <a:srgbClr val="0E7C6B"/>
          </a:solidFill>
          <a:ln w="12700">
            <a:solidFill>
              <a:srgbClr val="0E7C6B"/>
            </a:solidFill>
            <a:prstDash val="solid"/>
          </a:ln>
        </p:spPr>
        <p:txBody>
          <a:bodyPr/>
          <a:lstStyle/>
          <a:p>
            <a:endParaRPr lang="ro-RO"/>
          </a:p>
        </p:txBody>
      </p:sp>
      <p:sp>
        <p:nvSpPr>
          <p:cNvPr id="8" name="Text 6"/>
          <p:cNvSpPr/>
          <p:nvPr/>
        </p:nvSpPr>
        <p:spPr>
          <a:xfrm>
            <a:off x="6629400" y="1938528"/>
            <a:ext cx="4663440" cy="347472"/>
          </a:xfrm>
          <a:prstGeom prst="rect">
            <a:avLst/>
          </a:prstGeom>
          <a:noFill/>
          <a:ln/>
        </p:spPr>
        <p:txBody>
          <a:bodyPr wrap="square" lIns="0" tIns="0" rIns="0" bIns="0" rtlCol="0" anchor="ctr"/>
          <a:lstStyle/>
          <a:p>
            <a:pPr marL="0" indent="0">
              <a:buNone/>
            </a:pPr>
            <a:r>
              <a:rPr lang="en-US" sz="1700" b="1" dirty="0">
                <a:solidFill>
                  <a:srgbClr val="FFFFFF"/>
                </a:solidFill>
                <a:latin typeface="Palatino Linotype" pitchFamily="34" charset="0"/>
                <a:ea typeface="Palatino Linotype" pitchFamily="34" charset="-122"/>
                <a:cs typeface="Palatino Linotype" pitchFamily="34" charset="-120"/>
              </a:rPr>
              <a:t>DSM-5 (2013) → DSM-5-TR (2022)</a:t>
            </a:r>
            <a:endParaRPr lang="en-US" sz="1700" dirty="0"/>
          </a:p>
        </p:txBody>
      </p:sp>
      <p:sp>
        <p:nvSpPr>
          <p:cNvPr id="9" name="Text 7"/>
          <p:cNvSpPr/>
          <p:nvPr/>
        </p:nvSpPr>
        <p:spPr>
          <a:xfrm>
            <a:off x="6629400" y="2359152"/>
            <a:ext cx="4663440" cy="914400"/>
          </a:xfrm>
          <a:prstGeom prst="rect">
            <a:avLst/>
          </a:prstGeom>
          <a:noFill/>
          <a:ln/>
        </p:spPr>
        <p:txBody>
          <a:bodyPr wrap="square" lIns="0" tIns="0" rIns="0" bIns="0" rtlCol="0" anchor="t"/>
          <a:lstStyle/>
          <a:p>
            <a:pPr marL="0" indent="0">
              <a:lnSpc>
                <a:spcPts val="2100"/>
              </a:lnSpc>
              <a:buNone/>
            </a:pPr>
            <a:r>
              <a:rPr lang="en-US" sz="1350" dirty="0">
                <a:solidFill>
                  <a:srgbClr val="D6F5EF"/>
                </a:solidFill>
                <a:latin typeface="Palatino Linotype" pitchFamily="34" charset="0"/>
                <a:ea typeface="Palatino Linotype" pitchFamily="34" charset="-122"/>
                <a:cs typeface="Palatino Linotype" pitchFamily="34" charset="-120"/>
              </a:rPr>
              <a:t>Tulburare de Uz de Substanțe — un continuum, 11 criterii.</a:t>
            </a:r>
            <a:endParaRPr lang="en-US" sz="1350" dirty="0"/>
          </a:p>
          <a:p>
            <a:pPr marL="0" indent="0">
              <a:lnSpc>
                <a:spcPts val="2100"/>
              </a:lnSpc>
              <a:buNone/>
            </a:pPr>
            <a:r>
              <a:rPr lang="en-US" sz="1350" dirty="0">
                <a:solidFill>
                  <a:srgbClr val="D6F5EF"/>
                </a:solidFill>
                <a:latin typeface="Palatino Linotype" pitchFamily="34" charset="0"/>
                <a:ea typeface="Palatino Linotype" pitchFamily="34" charset="-122"/>
                <a:cs typeface="Palatino Linotype" pitchFamily="34" charset="-120"/>
              </a:rPr>
              <a:t>Craving adăugat. Criteriul „probleme legale” eliminat.</a:t>
            </a:r>
            <a:endParaRPr lang="en-US" sz="1350" dirty="0"/>
          </a:p>
        </p:txBody>
      </p:sp>
      <p:sp>
        <p:nvSpPr>
          <p:cNvPr id="10" name="Shape 8"/>
          <p:cNvSpPr/>
          <p:nvPr/>
        </p:nvSpPr>
        <p:spPr>
          <a:xfrm>
            <a:off x="594360" y="3675888"/>
            <a:ext cx="3566160" cy="1225296"/>
          </a:xfrm>
          <a:prstGeom prst="roundRect">
            <a:avLst>
              <a:gd name="adj" fmla="val 6716"/>
            </a:avLst>
          </a:prstGeom>
          <a:solidFill>
            <a:srgbClr val="F9F8F5"/>
          </a:solidFill>
          <a:ln w="12700">
            <a:solidFill>
              <a:srgbClr val="F9F8F5"/>
            </a:solidFill>
            <a:prstDash val="solid"/>
          </a:ln>
        </p:spPr>
        <p:txBody>
          <a:bodyPr/>
          <a:lstStyle/>
          <a:p>
            <a:endParaRPr lang="ro-RO"/>
          </a:p>
        </p:txBody>
      </p:sp>
      <p:sp>
        <p:nvSpPr>
          <p:cNvPr id="11" name="Text 9"/>
          <p:cNvSpPr/>
          <p:nvPr/>
        </p:nvSpPr>
        <p:spPr>
          <a:xfrm>
            <a:off x="850392" y="3877056"/>
            <a:ext cx="3054096" cy="658368"/>
          </a:xfrm>
          <a:prstGeom prst="rect">
            <a:avLst/>
          </a:prstGeom>
          <a:noFill/>
          <a:ln/>
        </p:spPr>
        <p:txBody>
          <a:bodyPr wrap="square" lIns="0" tIns="0" rIns="0" bIns="0" rtlCol="0" anchor="ctr"/>
          <a:lstStyle/>
          <a:p>
            <a:pPr marL="0" indent="0">
              <a:buNone/>
            </a:pPr>
            <a:r>
              <a:rPr lang="en-US" sz="3400" b="1" dirty="0">
                <a:solidFill>
                  <a:srgbClr val="0E7C6B"/>
                </a:solidFill>
                <a:latin typeface="Palatino Linotype" pitchFamily="34" charset="0"/>
                <a:ea typeface="Palatino Linotype" pitchFamily="34" charset="-122"/>
                <a:cs typeface="Palatino Linotype" pitchFamily="34" charset="-120"/>
              </a:rPr>
              <a:t>2–3</a:t>
            </a:r>
            <a:endParaRPr lang="en-US" sz="3400" dirty="0"/>
          </a:p>
        </p:txBody>
      </p:sp>
      <p:sp>
        <p:nvSpPr>
          <p:cNvPr id="12" name="Text 10"/>
          <p:cNvSpPr/>
          <p:nvPr/>
        </p:nvSpPr>
        <p:spPr>
          <a:xfrm>
            <a:off x="850392" y="4553712"/>
            <a:ext cx="3054096" cy="201168"/>
          </a:xfrm>
          <a:prstGeom prst="rect">
            <a:avLst/>
          </a:prstGeom>
          <a:noFill/>
          <a:ln/>
        </p:spPr>
        <p:txBody>
          <a:bodyPr wrap="square" lIns="0" tIns="0" rIns="0" bIns="0" rtlCol="0" anchor="t"/>
          <a:lstStyle/>
          <a:p>
            <a:pPr marL="0" indent="0">
              <a:lnSpc>
                <a:spcPts val="1700"/>
              </a:lnSpc>
              <a:buNone/>
            </a:pPr>
            <a:r>
              <a:rPr lang="en-US" sz="1150" dirty="0">
                <a:solidFill>
                  <a:srgbClr val="585A64"/>
                </a:solidFill>
                <a:latin typeface="Palatino Linotype" pitchFamily="34" charset="0"/>
                <a:ea typeface="Palatino Linotype" pitchFamily="34" charset="-122"/>
                <a:cs typeface="Palatino Linotype" pitchFamily="34" charset="-120"/>
              </a:rPr>
              <a:t>criterii = ușoară</a:t>
            </a:r>
            <a:endParaRPr lang="en-US" sz="1150" dirty="0"/>
          </a:p>
        </p:txBody>
      </p:sp>
      <p:sp>
        <p:nvSpPr>
          <p:cNvPr id="13" name="Shape 11"/>
          <p:cNvSpPr/>
          <p:nvPr/>
        </p:nvSpPr>
        <p:spPr>
          <a:xfrm>
            <a:off x="4297680" y="3675888"/>
            <a:ext cx="3566160" cy="1225296"/>
          </a:xfrm>
          <a:prstGeom prst="roundRect">
            <a:avLst>
              <a:gd name="adj" fmla="val 6716"/>
            </a:avLst>
          </a:prstGeom>
          <a:solidFill>
            <a:srgbClr val="F9F8F5"/>
          </a:solidFill>
          <a:ln w="12700">
            <a:solidFill>
              <a:srgbClr val="F9F8F5"/>
            </a:solidFill>
            <a:prstDash val="solid"/>
          </a:ln>
        </p:spPr>
        <p:txBody>
          <a:bodyPr/>
          <a:lstStyle/>
          <a:p>
            <a:endParaRPr lang="ro-RO"/>
          </a:p>
        </p:txBody>
      </p:sp>
      <p:sp>
        <p:nvSpPr>
          <p:cNvPr id="14" name="Text 12"/>
          <p:cNvSpPr/>
          <p:nvPr/>
        </p:nvSpPr>
        <p:spPr>
          <a:xfrm>
            <a:off x="4553712" y="3877056"/>
            <a:ext cx="3054096" cy="658368"/>
          </a:xfrm>
          <a:prstGeom prst="rect">
            <a:avLst/>
          </a:prstGeom>
          <a:noFill/>
          <a:ln/>
        </p:spPr>
        <p:txBody>
          <a:bodyPr wrap="square" lIns="0" tIns="0" rIns="0" bIns="0" rtlCol="0" anchor="ctr"/>
          <a:lstStyle/>
          <a:p>
            <a:pPr marL="0" indent="0">
              <a:buNone/>
            </a:pPr>
            <a:r>
              <a:rPr lang="en-US" sz="3400" b="1" dirty="0">
                <a:solidFill>
                  <a:srgbClr val="8A6100"/>
                </a:solidFill>
                <a:latin typeface="Palatino Linotype" pitchFamily="34" charset="0"/>
                <a:ea typeface="Palatino Linotype" pitchFamily="34" charset="-122"/>
                <a:cs typeface="Palatino Linotype" pitchFamily="34" charset="-120"/>
              </a:rPr>
              <a:t>4–5</a:t>
            </a:r>
            <a:endParaRPr lang="en-US" sz="3400" dirty="0"/>
          </a:p>
        </p:txBody>
      </p:sp>
      <p:sp>
        <p:nvSpPr>
          <p:cNvPr id="15" name="Text 13"/>
          <p:cNvSpPr/>
          <p:nvPr/>
        </p:nvSpPr>
        <p:spPr>
          <a:xfrm>
            <a:off x="4553712" y="4553712"/>
            <a:ext cx="3054096" cy="201168"/>
          </a:xfrm>
          <a:prstGeom prst="rect">
            <a:avLst/>
          </a:prstGeom>
          <a:noFill/>
          <a:ln/>
        </p:spPr>
        <p:txBody>
          <a:bodyPr wrap="square" lIns="0" tIns="0" rIns="0" bIns="0" rtlCol="0" anchor="t"/>
          <a:lstStyle/>
          <a:p>
            <a:pPr marL="0" indent="0">
              <a:lnSpc>
                <a:spcPts val="1700"/>
              </a:lnSpc>
              <a:buNone/>
            </a:pPr>
            <a:r>
              <a:rPr lang="en-US" sz="1150" dirty="0">
                <a:solidFill>
                  <a:srgbClr val="585A64"/>
                </a:solidFill>
                <a:latin typeface="Palatino Linotype" pitchFamily="34" charset="0"/>
                <a:ea typeface="Palatino Linotype" pitchFamily="34" charset="-122"/>
                <a:cs typeface="Palatino Linotype" pitchFamily="34" charset="-120"/>
              </a:rPr>
              <a:t>criterii = moderată</a:t>
            </a:r>
            <a:endParaRPr lang="en-US" sz="1150" dirty="0"/>
          </a:p>
        </p:txBody>
      </p:sp>
      <p:sp>
        <p:nvSpPr>
          <p:cNvPr id="16" name="Shape 14"/>
          <p:cNvSpPr/>
          <p:nvPr/>
        </p:nvSpPr>
        <p:spPr>
          <a:xfrm>
            <a:off x="8001000" y="3675888"/>
            <a:ext cx="3566160" cy="1225296"/>
          </a:xfrm>
          <a:prstGeom prst="roundRect">
            <a:avLst>
              <a:gd name="adj" fmla="val 6716"/>
            </a:avLst>
          </a:prstGeom>
          <a:solidFill>
            <a:srgbClr val="F9F8F5"/>
          </a:solidFill>
          <a:ln w="12700">
            <a:solidFill>
              <a:srgbClr val="F9F8F5"/>
            </a:solidFill>
            <a:prstDash val="solid"/>
          </a:ln>
        </p:spPr>
        <p:txBody>
          <a:bodyPr/>
          <a:lstStyle/>
          <a:p>
            <a:endParaRPr lang="ro-RO"/>
          </a:p>
        </p:txBody>
      </p:sp>
      <p:sp>
        <p:nvSpPr>
          <p:cNvPr id="17" name="Text 15"/>
          <p:cNvSpPr/>
          <p:nvPr/>
        </p:nvSpPr>
        <p:spPr>
          <a:xfrm>
            <a:off x="8257032" y="3877056"/>
            <a:ext cx="3054096" cy="658368"/>
          </a:xfrm>
          <a:prstGeom prst="rect">
            <a:avLst/>
          </a:prstGeom>
          <a:noFill/>
          <a:ln/>
        </p:spPr>
        <p:txBody>
          <a:bodyPr wrap="square" lIns="0" tIns="0" rIns="0" bIns="0" rtlCol="0" anchor="ctr"/>
          <a:lstStyle/>
          <a:p>
            <a:pPr marL="0" indent="0">
              <a:buNone/>
            </a:pPr>
            <a:r>
              <a:rPr lang="en-US" sz="3400" b="1" dirty="0">
                <a:solidFill>
                  <a:srgbClr val="B02532"/>
                </a:solidFill>
                <a:latin typeface="Palatino Linotype" pitchFamily="34" charset="0"/>
                <a:ea typeface="Palatino Linotype" pitchFamily="34" charset="-122"/>
                <a:cs typeface="Palatino Linotype" pitchFamily="34" charset="-120"/>
              </a:rPr>
              <a:t>≥ 6</a:t>
            </a:r>
            <a:endParaRPr lang="en-US" sz="3400" dirty="0"/>
          </a:p>
        </p:txBody>
      </p:sp>
      <p:sp>
        <p:nvSpPr>
          <p:cNvPr id="18" name="Text 16"/>
          <p:cNvSpPr/>
          <p:nvPr/>
        </p:nvSpPr>
        <p:spPr>
          <a:xfrm>
            <a:off x="8257032" y="4553712"/>
            <a:ext cx="3054096" cy="201168"/>
          </a:xfrm>
          <a:prstGeom prst="rect">
            <a:avLst/>
          </a:prstGeom>
          <a:noFill/>
          <a:ln/>
        </p:spPr>
        <p:txBody>
          <a:bodyPr wrap="square" lIns="0" tIns="0" rIns="0" bIns="0" rtlCol="0" anchor="t"/>
          <a:lstStyle/>
          <a:p>
            <a:pPr marL="0" indent="0">
              <a:lnSpc>
                <a:spcPts val="1700"/>
              </a:lnSpc>
              <a:buNone/>
            </a:pPr>
            <a:r>
              <a:rPr lang="en-US" sz="1150" dirty="0">
                <a:solidFill>
                  <a:srgbClr val="585A64"/>
                </a:solidFill>
                <a:latin typeface="Palatino Linotype" pitchFamily="34" charset="0"/>
                <a:ea typeface="Palatino Linotype" pitchFamily="34" charset="-122"/>
                <a:cs typeface="Palatino Linotype" pitchFamily="34" charset="-120"/>
              </a:rPr>
              <a:t>criterii = severă</a:t>
            </a:r>
            <a:endParaRPr lang="en-US" sz="1150" dirty="0"/>
          </a:p>
        </p:txBody>
      </p:sp>
      <p:sp>
        <p:nvSpPr>
          <p:cNvPr id="19" name="Shape 17"/>
          <p:cNvSpPr/>
          <p:nvPr/>
        </p:nvSpPr>
        <p:spPr>
          <a:xfrm>
            <a:off x="594360" y="5120640"/>
            <a:ext cx="10972800" cy="868680"/>
          </a:xfrm>
          <a:prstGeom prst="roundRect">
            <a:avLst>
              <a:gd name="adj" fmla="val 9474"/>
            </a:avLst>
          </a:prstGeom>
          <a:solidFill>
            <a:srgbClr val="E8E0CC"/>
          </a:solidFill>
          <a:ln w="12700">
            <a:solidFill>
              <a:srgbClr val="E8E0CC"/>
            </a:solidFill>
            <a:prstDash val="solid"/>
          </a:ln>
        </p:spPr>
        <p:txBody>
          <a:bodyPr/>
          <a:lstStyle/>
          <a:p>
            <a:endParaRPr lang="ro-RO"/>
          </a:p>
        </p:txBody>
      </p:sp>
      <p:sp>
        <p:nvSpPr>
          <p:cNvPr id="20" name="Shape 18"/>
          <p:cNvSpPr/>
          <p:nvPr/>
        </p:nvSpPr>
        <p:spPr>
          <a:xfrm>
            <a:off x="594360" y="5120640"/>
            <a:ext cx="50292" cy="868680"/>
          </a:xfrm>
          <a:prstGeom prst="rect">
            <a:avLst/>
          </a:prstGeom>
          <a:solidFill>
            <a:srgbClr val="8A6100"/>
          </a:solidFill>
          <a:ln w="12700">
            <a:solidFill>
              <a:srgbClr val="8A6100"/>
            </a:solidFill>
            <a:prstDash val="solid"/>
          </a:ln>
        </p:spPr>
        <p:txBody>
          <a:bodyPr/>
          <a:lstStyle/>
          <a:p>
            <a:endParaRPr lang="ro-RO"/>
          </a:p>
        </p:txBody>
      </p:sp>
      <p:sp>
        <p:nvSpPr>
          <p:cNvPr id="21" name="Text 19"/>
          <p:cNvSpPr/>
          <p:nvPr/>
        </p:nvSpPr>
        <p:spPr>
          <a:xfrm>
            <a:off x="960120" y="5120640"/>
            <a:ext cx="10332720" cy="868680"/>
          </a:xfrm>
          <a:prstGeom prst="rect">
            <a:avLst/>
          </a:prstGeom>
          <a:noFill/>
          <a:ln/>
        </p:spPr>
        <p:txBody>
          <a:bodyPr wrap="square" lIns="0" tIns="0" rIns="0" bIns="0" rtlCol="0" anchor="ctr"/>
          <a:lstStyle/>
          <a:p>
            <a:pPr marL="0" indent="0">
              <a:lnSpc>
                <a:spcPts val="1900"/>
              </a:lnSpc>
              <a:buNone/>
            </a:pPr>
            <a:r>
              <a:rPr lang="en-US" sz="1300" b="1" dirty="0">
                <a:solidFill>
                  <a:srgbClr val="11121A"/>
                </a:solidFill>
                <a:latin typeface="Palatino Linotype" pitchFamily="34" charset="0"/>
                <a:ea typeface="Palatino Linotype" pitchFamily="34" charset="-122"/>
                <a:cs typeface="Palatino Linotype" pitchFamily="34" charset="-120"/>
              </a:rPr>
              <a:t>Exemplu: în ultimele 12 luni, cantități mai mari decât intenția, două încercări nereușite de a reduce, absențe repetate de la seminarii din cauza consumului și toleranță: patru criterii, tulburare moderată. Pragul este convențional: de o parte și de alta a lui nu se află „ei” și „noi”.</a:t>
            </a:r>
            <a:endParaRPr lang="en-US" sz="1300" dirty="0"/>
          </a:p>
        </p:txBody>
      </p:sp>
      <p:sp>
        <p:nvSpPr>
          <p:cNvPr id="22" name="Text 20"/>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APA: DSM-5, 17 mai 2013; DSM-5-TR, 18 martie 2022, ediția în vigoare · criteriile și pragurile: Hasin și colab., Am J Psychiatry, 2013, și ghidul NYSDOH (McNeely și colab., 2024), nu manualul tipărit</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2013–2016 · LANCET PSYCHIATRY</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Dezbaterea nu e între știință și obscurantism</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959BB0"/>
                </a:solidFill>
                <a:latin typeface="Palatino Linotype" pitchFamily="34" charset="0"/>
                <a:ea typeface="Palatino Linotype" pitchFamily="34" charset="-122"/>
                <a:cs typeface="Palatino Linotype" pitchFamily="34" charset="-120"/>
              </a:rPr>
              <a:t>În mare parte, aceleași reviste și aceleași date.</a:t>
            </a:r>
            <a:endParaRPr lang="en-US" sz="1450" dirty="0"/>
          </a:p>
        </p:txBody>
      </p:sp>
      <p:sp>
        <p:nvSpPr>
          <p:cNvPr id="5" name="Shape 3"/>
          <p:cNvSpPr/>
          <p:nvPr/>
        </p:nvSpPr>
        <p:spPr>
          <a:xfrm>
            <a:off x="594360" y="1847088"/>
            <a:ext cx="3429000" cy="3520440"/>
          </a:xfrm>
          <a:prstGeom prst="roundRect">
            <a:avLst>
              <a:gd name="adj" fmla="val 2400"/>
            </a:avLst>
          </a:prstGeom>
          <a:solidFill>
            <a:srgbClr val="1D1F2B"/>
          </a:solidFill>
          <a:ln w="12700">
            <a:solidFill>
              <a:srgbClr val="1D1F2B"/>
            </a:solidFill>
            <a:prstDash val="solid"/>
          </a:ln>
        </p:spPr>
        <p:txBody>
          <a:bodyPr/>
          <a:lstStyle/>
          <a:p>
            <a:endParaRPr lang="ro-RO"/>
          </a:p>
        </p:txBody>
      </p:sp>
      <p:sp>
        <p:nvSpPr>
          <p:cNvPr id="6" name="Shape 4"/>
          <p:cNvSpPr/>
          <p:nvPr/>
        </p:nvSpPr>
        <p:spPr>
          <a:xfrm>
            <a:off x="850392" y="2048256"/>
            <a:ext cx="1600200" cy="310896"/>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7" name="Text 5"/>
          <p:cNvSpPr/>
          <p:nvPr/>
        </p:nvSpPr>
        <p:spPr>
          <a:xfrm>
            <a:off x="850392" y="2048256"/>
            <a:ext cx="1600200" cy="310896"/>
          </a:xfrm>
          <a:prstGeom prst="rect">
            <a:avLst/>
          </a:prstGeom>
          <a:noFill/>
          <a:ln/>
        </p:spPr>
        <p:txBody>
          <a:bodyPr wrap="square" lIns="0" tIns="0" rIns="0" bIns="0" rtlCol="0" anchor="ctr"/>
          <a:lstStyle/>
          <a:p>
            <a:pPr marL="0" indent="0" algn="ctr">
              <a:buNone/>
            </a:pPr>
            <a:r>
              <a:rPr lang="en-US" sz="1000" b="1" dirty="0">
                <a:solidFill>
                  <a:srgbClr val="073B34"/>
                </a:solidFill>
                <a:latin typeface="Palatino Linotype" pitchFamily="34" charset="0"/>
                <a:ea typeface="Palatino Linotype" pitchFamily="34" charset="-122"/>
                <a:cs typeface="Palatino Linotype" pitchFamily="34" charset="-120"/>
              </a:rPr>
              <a:t>MODELUL</a:t>
            </a:r>
            <a:endParaRPr lang="en-US" sz="1000" dirty="0"/>
          </a:p>
        </p:txBody>
      </p:sp>
      <p:sp>
        <p:nvSpPr>
          <p:cNvPr id="8" name="Text 6"/>
          <p:cNvSpPr/>
          <p:nvPr/>
        </p:nvSpPr>
        <p:spPr>
          <a:xfrm>
            <a:off x="850392" y="2542032"/>
            <a:ext cx="2926080" cy="2331720"/>
          </a:xfrm>
          <a:prstGeom prst="rect">
            <a:avLst/>
          </a:prstGeom>
          <a:noFill/>
          <a:ln/>
        </p:spPr>
        <p:txBody>
          <a:bodyPr wrap="square" lIns="0" tIns="0" rIns="0" bIns="0" rtlCol="0" anchor="t"/>
          <a:lstStyle/>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Volkow, Koob și McLellan</a:t>
            </a:r>
            <a:endParaRPr lang="en-US" sz="1250" dirty="0"/>
          </a:p>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N Engl J Med, 2016</a:t>
            </a:r>
            <a:endParaRPr lang="en-US" sz="1250" dirty="0"/>
          </a:p>
          <a:p>
            <a:pPr marL="0" indent="0">
              <a:lnSpc>
                <a:spcPts val="2000"/>
              </a:lnSpc>
              <a:buNone/>
            </a:pPr>
            <a:endParaRPr lang="en-US" sz="1250" dirty="0"/>
          </a:p>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Koob și Volkow</a:t>
            </a:r>
            <a:endParaRPr lang="en-US" sz="1250" dirty="0"/>
          </a:p>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Lancet Psychiatry, 2016</a:t>
            </a:r>
            <a:endParaRPr lang="en-US" sz="1250" dirty="0"/>
          </a:p>
        </p:txBody>
      </p:sp>
      <p:sp>
        <p:nvSpPr>
          <p:cNvPr id="9" name="Text 7"/>
          <p:cNvSpPr/>
          <p:nvPr/>
        </p:nvSpPr>
        <p:spPr>
          <a:xfrm>
            <a:off x="850392" y="4846320"/>
            <a:ext cx="2926080" cy="411480"/>
          </a:xfrm>
          <a:prstGeom prst="rect">
            <a:avLst/>
          </a:prstGeom>
          <a:noFill/>
          <a:ln/>
        </p:spPr>
        <p:txBody>
          <a:bodyPr wrap="square" lIns="0" tIns="0" rIns="0" bIns="0" rtlCol="0" anchor="t"/>
          <a:lstStyle/>
          <a:p>
            <a:pPr marL="0" indent="0">
              <a:buNone/>
            </a:pPr>
            <a:r>
              <a:rPr lang="en-US" sz="1100" i="1" dirty="0">
                <a:solidFill>
                  <a:srgbClr val="959BB0"/>
                </a:solidFill>
                <a:latin typeface="Palatino Linotype" pitchFamily="34" charset="0"/>
                <a:ea typeface="Palatino Linotype" pitchFamily="34" charset="-122"/>
                <a:cs typeface="Palatino Linotype" pitchFamily="34" charset="-120"/>
              </a:rPr>
              <a:t>Bibliografie obligatorie: Koob și Volkow 2016; Hall și colab. 2015; Volkow și Koob 2015.</a:t>
            </a:r>
            <a:endParaRPr lang="en-US" sz="1100" dirty="0"/>
          </a:p>
        </p:txBody>
      </p:sp>
      <p:sp>
        <p:nvSpPr>
          <p:cNvPr id="10" name="Shape 8"/>
          <p:cNvSpPr/>
          <p:nvPr/>
        </p:nvSpPr>
        <p:spPr>
          <a:xfrm>
            <a:off x="4389120" y="1847088"/>
            <a:ext cx="3429000" cy="3520440"/>
          </a:xfrm>
          <a:prstGeom prst="roundRect">
            <a:avLst>
              <a:gd name="adj" fmla="val 2400"/>
            </a:avLst>
          </a:prstGeom>
          <a:solidFill>
            <a:srgbClr val="272A38"/>
          </a:solidFill>
          <a:ln w="12700">
            <a:solidFill>
              <a:srgbClr val="272A38"/>
            </a:solidFill>
            <a:prstDash val="solid"/>
          </a:ln>
        </p:spPr>
        <p:txBody>
          <a:bodyPr/>
          <a:lstStyle/>
          <a:p>
            <a:endParaRPr lang="ro-RO"/>
          </a:p>
        </p:txBody>
      </p:sp>
      <p:sp>
        <p:nvSpPr>
          <p:cNvPr id="11" name="Shape 9"/>
          <p:cNvSpPr/>
          <p:nvPr/>
        </p:nvSpPr>
        <p:spPr>
          <a:xfrm>
            <a:off x="4645152" y="2048256"/>
            <a:ext cx="1600200" cy="310896"/>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12" name="Text 10"/>
          <p:cNvSpPr/>
          <p:nvPr/>
        </p:nvSpPr>
        <p:spPr>
          <a:xfrm>
            <a:off x="4645152" y="2048256"/>
            <a:ext cx="160020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CRITICA</a:t>
            </a:r>
            <a:endParaRPr lang="en-US" sz="1000" dirty="0"/>
          </a:p>
        </p:txBody>
      </p:sp>
      <p:sp>
        <p:nvSpPr>
          <p:cNvPr id="13" name="Text 11"/>
          <p:cNvSpPr/>
          <p:nvPr/>
        </p:nvSpPr>
        <p:spPr>
          <a:xfrm>
            <a:off x="4645152" y="2542032"/>
            <a:ext cx="2926080" cy="2331720"/>
          </a:xfrm>
          <a:prstGeom prst="rect">
            <a:avLst/>
          </a:prstGeom>
          <a:noFill/>
          <a:ln/>
        </p:spPr>
        <p:txBody>
          <a:bodyPr wrap="square" lIns="0" tIns="0" rIns="0" bIns="0" rtlCol="0" anchor="t"/>
          <a:lstStyle/>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Hall, Carter și Forlini</a:t>
            </a:r>
            <a:endParaRPr lang="en-US" sz="1250" dirty="0"/>
          </a:p>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Lancet Psychiatry, 2015</a:t>
            </a:r>
            <a:endParaRPr lang="en-US" sz="1250" dirty="0"/>
          </a:p>
          <a:p>
            <a:pPr marL="0" indent="0">
              <a:lnSpc>
                <a:spcPts val="2000"/>
              </a:lnSpc>
              <a:buNone/>
            </a:pPr>
            <a:endParaRPr lang="en-US" sz="1250" dirty="0"/>
          </a:p>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„Is it supported by the evidence and has it delivered on its promises?”</a:t>
            </a:r>
            <a:endParaRPr lang="en-US" sz="1250" dirty="0"/>
          </a:p>
        </p:txBody>
      </p:sp>
      <p:sp>
        <p:nvSpPr>
          <p:cNvPr id="14" name="Shape 12"/>
          <p:cNvSpPr/>
          <p:nvPr/>
        </p:nvSpPr>
        <p:spPr>
          <a:xfrm>
            <a:off x="8183880" y="1847088"/>
            <a:ext cx="3429000" cy="3520440"/>
          </a:xfrm>
          <a:prstGeom prst="roundRect">
            <a:avLst>
              <a:gd name="adj" fmla="val 2400"/>
            </a:avLst>
          </a:prstGeom>
          <a:solidFill>
            <a:srgbClr val="272A38"/>
          </a:solidFill>
          <a:ln w="12700">
            <a:solidFill>
              <a:srgbClr val="272A38"/>
            </a:solidFill>
            <a:prstDash val="solid"/>
          </a:ln>
        </p:spPr>
        <p:txBody>
          <a:bodyPr/>
          <a:lstStyle/>
          <a:p>
            <a:endParaRPr lang="ro-RO"/>
          </a:p>
        </p:txBody>
      </p:sp>
      <p:sp>
        <p:nvSpPr>
          <p:cNvPr id="15" name="Shape 13"/>
          <p:cNvSpPr/>
          <p:nvPr/>
        </p:nvSpPr>
        <p:spPr>
          <a:xfrm>
            <a:off x="8439912" y="2048256"/>
            <a:ext cx="1600200" cy="310896"/>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16" name="Text 14"/>
          <p:cNvSpPr/>
          <p:nvPr/>
        </p:nvSpPr>
        <p:spPr>
          <a:xfrm>
            <a:off x="8439912" y="2048256"/>
            <a:ext cx="1600200" cy="310896"/>
          </a:xfrm>
          <a:prstGeom prst="rect">
            <a:avLst/>
          </a:prstGeom>
          <a:noFill/>
          <a:ln/>
        </p:spPr>
        <p:txBody>
          <a:bodyPr wrap="square" lIns="0" tIns="0" rIns="0" bIns="0" rtlCol="0" anchor="ctr"/>
          <a:lstStyle/>
          <a:p>
            <a:pPr marL="0" indent="0" algn="ctr">
              <a:buNone/>
            </a:pPr>
            <a:r>
              <a:rPr lang="en-US" sz="1000" b="1" dirty="0">
                <a:solidFill>
                  <a:srgbClr val="3D2A00"/>
                </a:solidFill>
                <a:latin typeface="Palatino Linotype" pitchFamily="34" charset="0"/>
                <a:ea typeface="Palatino Linotype" pitchFamily="34" charset="-122"/>
                <a:cs typeface="Palatino Linotype" pitchFamily="34" charset="-120"/>
              </a:rPr>
              <a:t>REPLICA</a:t>
            </a:r>
            <a:endParaRPr lang="en-US" sz="1000" dirty="0"/>
          </a:p>
        </p:txBody>
      </p:sp>
      <p:sp>
        <p:nvSpPr>
          <p:cNvPr id="17" name="Text 15"/>
          <p:cNvSpPr/>
          <p:nvPr/>
        </p:nvSpPr>
        <p:spPr>
          <a:xfrm>
            <a:off x="8439912" y="2542032"/>
            <a:ext cx="2926080" cy="2331720"/>
          </a:xfrm>
          <a:prstGeom prst="rect">
            <a:avLst/>
          </a:prstGeom>
          <a:noFill/>
          <a:ln/>
        </p:spPr>
        <p:txBody>
          <a:bodyPr wrap="square" lIns="0" tIns="0" rIns="0" bIns="0" rtlCol="0" anchor="t"/>
          <a:lstStyle/>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Volkow și Koob</a:t>
            </a:r>
            <a:endParaRPr lang="en-US" sz="1250" dirty="0"/>
          </a:p>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Lancet Psychiatry, 2015</a:t>
            </a:r>
            <a:endParaRPr lang="en-US" sz="1250" dirty="0"/>
          </a:p>
          <a:p>
            <a:pPr marL="0" indent="0">
              <a:lnSpc>
                <a:spcPts val="2000"/>
              </a:lnSpc>
              <a:buNone/>
            </a:pPr>
            <a:endParaRPr lang="en-US" sz="1250" dirty="0"/>
          </a:p>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„Why is it so controversial?”</a:t>
            </a:r>
            <a:endParaRPr lang="en-US" sz="1250" dirty="0"/>
          </a:p>
          <a:p>
            <a:pPr marL="0" indent="0">
              <a:lnSpc>
                <a:spcPts val="2000"/>
              </a:lnSpc>
              <a:buNone/>
            </a:pPr>
            <a:endParaRPr lang="en-US" sz="1250" dirty="0"/>
          </a:p>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Și critica filosofică: Levy</a:t>
            </a:r>
            <a:endParaRPr lang="en-US" sz="1250" dirty="0"/>
          </a:p>
          <a:p>
            <a:pPr marL="0" indent="0">
              <a:lnSpc>
                <a:spcPts val="2000"/>
              </a:lnSpc>
              <a:buNone/>
            </a:pPr>
            <a:r>
              <a:rPr lang="en-US" sz="1250" dirty="0">
                <a:solidFill>
                  <a:srgbClr val="FFFFFF"/>
                </a:solidFill>
                <a:latin typeface="Palatino Linotype" pitchFamily="34" charset="0"/>
                <a:ea typeface="Palatino Linotype" pitchFamily="34" charset="-122"/>
                <a:cs typeface="Palatino Linotype" pitchFamily="34" charset="-120"/>
              </a:rPr>
              <a:t>Front Psychiatry, 2013</a:t>
            </a:r>
            <a:endParaRPr lang="en-US" sz="1250" dirty="0"/>
          </a:p>
        </p:txBody>
      </p:sp>
      <p:sp>
        <p:nvSpPr>
          <p:cNvPr id="18" name="Text 16"/>
          <p:cNvSpPr/>
          <p:nvPr/>
        </p:nvSpPr>
        <p:spPr>
          <a:xfrm>
            <a:off x="594360" y="5559552"/>
            <a:ext cx="10972800" cy="365760"/>
          </a:xfrm>
          <a:prstGeom prst="rect">
            <a:avLst/>
          </a:prstGeom>
          <a:noFill/>
          <a:ln/>
        </p:spPr>
        <p:txBody>
          <a:bodyPr wrap="square" lIns="0" tIns="0" rIns="0" bIns="0" rtlCol="0" anchor="ctr"/>
          <a:lstStyle/>
          <a:p>
            <a:pPr marL="0" indent="0">
              <a:buNone/>
            </a:pPr>
            <a:r>
              <a:rPr lang="en-US" sz="1450" b="1" dirty="0">
                <a:solidFill>
                  <a:srgbClr val="27D3BE"/>
                </a:solidFill>
                <a:latin typeface="Palatino Linotype" pitchFamily="34" charset="0"/>
                <a:ea typeface="Palatino Linotype" pitchFamily="34" charset="-122"/>
                <a:cs typeface="Palatino Linotype" pitchFamily="34" charset="-120"/>
              </a:rPr>
              <a:t>Dacă cineva vă prezintă modelul ca necontestat — sau critica lui ca negaționism — verificați dacă a citit ambele.</a:t>
            </a:r>
            <a:endParaRPr lang="en-US" sz="1450" dirty="0"/>
          </a:p>
        </p:txBody>
      </p:sp>
      <p:sp>
        <p:nvSpPr>
          <p:cNvPr id="19" name="Text 17"/>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DOI-urile celor cinci lucrări, confirmate după identificator, sunt în registrul notelor de curs.</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marL="0" indent="0">
              <a:buNone/>
            </a:pPr>
            <a:r>
              <a:rPr lang="en-US" sz="13500" b="1" dirty="0">
                <a:solidFill>
                  <a:srgbClr val="27D3BE"/>
                </a:solidFill>
                <a:latin typeface="Palatino Linotype" pitchFamily="34" charset="0"/>
                <a:ea typeface="Palatino Linotype" pitchFamily="34" charset="-122"/>
                <a:cs typeface="Palatino Linotype" pitchFamily="34" charset="-120"/>
              </a:rPr>
              <a:t>04</a:t>
            </a:r>
            <a:endParaRPr lang="en-US" sz="13500" dirty="0"/>
          </a:p>
        </p:txBody>
      </p:sp>
      <p:sp>
        <p:nvSpPr>
          <p:cNvPr id="3" name="Shape 1"/>
          <p:cNvSpPr/>
          <p:nvPr/>
        </p:nvSpPr>
        <p:spPr>
          <a:xfrm>
            <a:off x="4160520" y="1691640"/>
            <a:ext cx="27432" cy="1737360"/>
          </a:xfrm>
          <a:prstGeom prst="rect">
            <a:avLst/>
          </a:prstGeom>
          <a:solidFill>
            <a:srgbClr val="27D3BE"/>
          </a:solidFill>
          <a:ln w="12700">
            <a:solidFill>
              <a:srgbClr val="27D3BE"/>
            </a:solidFill>
            <a:prstDash val="solid"/>
          </a:ln>
        </p:spPr>
        <p:txBody>
          <a:bodyPr/>
          <a:lstStyle/>
          <a:p>
            <a:endParaRPr lang="ro-RO"/>
          </a:p>
        </p:txBody>
      </p:sp>
      <p:sp>
        <p:nvSpPr>
          <p:cNvPr id="4" name="Text 2"/>
          <p:cNvSpPr/>
          <p:nvPr/>
        </p:nvSpPr>
        <p:spPr>
          <a:xfrm>
            <a:off x="4709160" y="1737360"/>
            <a:ext cx="6858000" cy="822960"/>
          </a:xfrm>
          <a:prstGeom prst="rect">
            <a:avLst/>
          </a:prstGeom>
          <a:noFill/>
          <a:ln/>
        </p:spPr>
        <p:txBody>
          <a:bodyPr wrap="square" lIns="0" tIns="0" rIns="0" bIns="0" rtlCol="0" anchor="ctr"/>
          <a:lstStyle/>
          <a:p>
            <a:pPr marL="0" indent="0">
              <a:buNone/>
            </a:pPr>
            <a:r>
              <a:rPr lang="en-US" sz="3300" b="1" dirty="0">
                <a:solidFill>
                  <a:srgbClr val="FFFFFF"/>
                </a:solidFill>
                <a:latin typeface="Palatino Linotype" pitchFamily="34" charset="0"/>
                <a:ea typeface="Palatino Linotype" pitchFamily="34" charset="-122"/>
                <a:cs typeface="Palatino Linotype" pitchFamily="34" charset="-120"/>
              </a:rPr>
              <a:t>ȘASE UȘI, UN CIRCUIT</a:t>
            </a:r>
            <a:endParaRPr lang="en-US" sz="3300" dirty="0"/>
          </a:p>
        </p:txBody>
      </p:sp>
      <p:sp>
        <p:nvSpPr>
          <p:cNvPr id="5" name="Text 3"/>
          <p:cNvSpPr/>
          <p:nvPr/>
        </p:nvSpPr>
        <p:spPr>
          <a:xfrm>
            <a:off x="4709160" y="2606040"/>
            <a:ext cx="6858000" cy="685800"/>
          </a:xfrm>
          <a:prstGeom prst="rect">
            <a:avLst/>
          </a:prstGeom>
          <a:noFill/>
          <a:ln/>
        </p:spPr>
        <p:txBody>
          <a:bodyPr wrap="square" lIns="0" tIns="0" rIns="0" bIns="0" rtlCol="0" anchor="t"/>
          <a:lstStyle/>
          <a:p>
            <a:pPr marL="0" indent="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Ipoteza de lucru: circuit final comun, uși de intrare diferite.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0E7C6B"/>
                </a:solidFill>
                <a:latin typeface="Palatino Linotype" pitchFamily="34" charset="0"/>
                <a:ea typeface="Palatino Linotype" pitchFamily="34" charset="-122"/>
                <a:cs typeface="Palatino Linotype" pitchFamily="34" charset="-120"/>
              </a:rPr>
              <a:t>MICRODIALIZĂ · 1988</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Creșterea dopaminei în nucleul accumbens</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585A64"/>
                </a:solidFill>
                <a:latin typeface="Palatino Linotype" pitchFamily="34" charset="0"/>
                <a:ea typeface="Palatino Linotype" pitchFamily="34" charset="-122"/>
                <a:cs typeface="Palatino Linotype" pitchFamily="34" charset="-120"/>
              </a:rPr>
              <a:t>Șobolani care se deplasează liber. Bazal: 0,20 ± 0,02 pmol dopamină / 20 min (grupul cu amfetamină).</a:t>
            </a:r>
            <a:endParaRPr lang="en-US" sz="1450" dirty="0"/>
          </a:p>
        </p:txBody>
      </p:sp>
      <p:graphicFrame>
        <p:nvGraphicFramePr>
          <p:cNvPr id="5" name="Chart 0"/>
          <p:cNvGraphicFramePr/>
          <p:nvPr/>
        </p:nvGraphicFramePr>
        <p:xfrm>
          <a:off x="594360" y="1874520"/>
          <a:ext cx="69037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26680" y="1874520"/>
            <a:ext cx="3840480" cy="1536192"/>
          </a:xfrm>
          <a:prstGeom prst="roundRect">
            <a:avLst>
              <a:gd name="adj" fmla="val 5357"/>
            </a:avLst>
          </a:prstGeom>
          <a:solidFill>
            <a:srgbClr val="ECEAE4"/>
          </a:solidFill>
          <a:ln w="12700">
            <a:solidFill>
              <a:srgbClr val="ECEAE4"/>
            </a:solidFill>
            <a:prstDash val="solid"/>
          </a:ln>
        </p:spPr>
        <p:txBody>
          <a:bodyPr/>
          <a:lstStyle/>
          <a:p>
            <a:endParaRPr lang="ro-RO"/>
          </a:p>
        </p:txBody>
      </p:sp>
      <p:sp>
        <p:nvSpPr>
          <p:cNvPr id="7" name="Text 4"/>
          <p:cNvSpPr/>
          <p:nvPr/>
        </p:nvSpPr>
        <p:spPr>
          <a:xfrm>
            <a:off x="8001000" y="2048256"/>
            <a:ext cx="3291840" cy="292608"/>
          </a:xfrm>
          <a:prstGeom prst="rect">
            <a:avLst/>
          </a:prstGeom>
          <a:noFill/>
          <a:ln/>
        </p:spPr>
        <p:txBody>
          <a:bodyPr wrap="square" lIns="0" tIns="0" rIns="0" bIns="0" rtlCol="0" anchor="ctr"/>
          <a:lstStyle/>
          <a:p>
            <a:pPr marL="0" indent="0">
              <a:buNone/>
            </a:pPr>
            <a:r>
              <a:rPr lang="en-US" sz="1100" b="1" kern="0" spc="120" dirty="0">
                <a:solidFill>
                  <a:srgbClr val="0E7C6B"/>
                </a:solidFill>
                <a:latin typeface="Palatino Linotype" pitchFamily="34" charset="0"/>
                <a:ea typeface="Palatino Linotype" pitchFamily="34" charset="-122"/>
                <a:cs typeface="Palatino Linotype" pitchFamily="34" charset="-120"/>
              </a:rPr>
              <a:t>N = 4–6 per condiție</a:t>
            </a:r>
            <a:endParaRPr lang="en-US" sz="1100" dirty="0"/>
          </a:p>
        </p:txBody>
      </p:sp>
      <p:sp>
        <p:nvSpPr>
          <p:cNvPr id="8" name="Text 5"/>
          <p:cNvSpPr/>
          <p:nvPr/>
        </p:nvSpPr>
        <p:spPr>
          <a:xfrm>
            <a:off x="8001000" y="2395728"/>
            <a:ext cx="3291840" cy="914400"/>
          </a:xfrm>
          <a:prstGeom prst="rect">
            <a:avLst/>
          </a:prstGeom>
          <a:noFill/>
          <a:ln/>
        </p:spPr>
        <p:txBody>
          <a:bodyPr wrap="square" lIns="0" tIns="0" rIns="0" bIns="0" rtlCol="0" anchor="t"/>
          <a:lstStyle/>
          <a:p>
            <a:pPr marL="0" indent="0">
              <a:lnSpc>
                <a:spcPts val="1800"/>
              </a:lnSpc>
              <a:buNone/>
            </a:pPr>
            <a:r>
              <a:rPr lang="en-US" sz="1200" dirty="0">
                <a:solidFill>
                  <a:srgbClr val="11121A"/>
                </a:solidFill>
                <a:latin typeface="Palatino Linotype" pitchFamily="34" charset="0"/>
                <a:ea typeface="Palatino Linotype" pitchFamily="34" charset="-122"/>
                <a:cs typeface="Palatino Linotype" pitchFamily="34" charset="-120"/>
              </a:rPr>
              <a:t>Valorile apar în textul articolului, la doze unice, neechivalente. Creșterea este preferențială în nucleul accumbens față de nucleul caudat: ×5,5 · ×2,5 · +50%.</a:t>
            </a:r>
            <a:endParaRPr lang="en-US" sz="1200" dirty="0"/>
          </a:p>
        </p:txBody>
      </p:sp>
      <p:sp>
        <p:nvSpPr>
          <p:cNvPr id="9" name="Shape 6"/>
          <p:cNvSpPr/>
          <p:nvPr/>
        </p:nvSpPr>
        <p:spPr>
          <a:xfrm>
            <a:off x="7726680" y="3584448"/>
            <a:ext cx="3840480" cy="1536192"/>
          </a:xfrm>
          <a:prstGeom prst="roundRect">
            <a:avLst>
              <a:gd name="adj" fmla="val 5357"/>
            </a:avLst>
          </a:prstGeom>
          <a:solidFill>
            <a:srgbClr val="E8E0CC"/>
          </a:solidFill>
          <a:ln w="12700">
            <a:solidFill>
              <a:srgbClr val="E8E0CC"/>
            </a:solidFill>
            <a:prstDash val="solid"/>
          </a:ln>
        </p:spPr>
        <p:txBody>
          <a:bodyPr/>
          <a:lstStyle/>
          <a:p>
            <a:endParaRPr lang="ro-RO"/>
          </a:p>
        </p:txBody>
      </p:sp>
      <p:sp>
        <p:nvSpPr>
          <p:cNvPr id="10" name="Shape 7"/>
          <p:cNvSpPr/>
          <p:nvPr/>
        </p:nvSpPr>
        <p:spPr>
          <a:xfrm>
            <a:off x="7726680" y="3584448"/>
            <a:ext cx="50292" cy="1536192"/>
          </a:xfrm>
          <a:prstGeom prst="rect">
            <a:avLst/>
          </a:prstGeom>
          <a:solidFill>
            <a:srgbClr val="8A6100"/>
          </a:solidFill>
          <a:ln w="12700">
            <a:solidFill>
              <a:srgbClr val="8A6100"/>
            </a:solidFill>
            <a:prstDash val="solid"/>
          </a:ln>
        </p:spPr>
        <p:txBody>
          <a:bodyPr/>
          <a:lstStyle/>
          <a:p>
            <a:endParaRPr lang="ro-RO"/>
          </a:p>
        </p:txBody>
      </p:sp>
      <p:sp>
        <p:nvSpPr>
          <p:cNvPr id="11" name="Text 8"/>
          <p:cNvSpPr/>
          <p:nvPr/>
        </p:nvSpPr>
        <p:spPr>
          <a:xfrm>
            <a:off x="8028432" y="3758184"/>
            <a:ext cx="3291840" cy="292608"/>
          </a:xfrm>
          <a:prstGeom prst="rect">
            <a:avLst/>
          </a:prstGeom>
          <a:noFill/>
          <a:ln/>
        </p:spPr>
        <p:txBody>
          <a:bodyPr wrap="square" lIns="0" tIns="0" rIns="0" bIns="0" rtlCol="0" anchor="ctr"/>
          <a:lstStyle/>
          <a:p>
            <a:pPr marL="0" indent="0">
              <a:buNone/>
            </a:pPr>
            <a:r>
              <a:rPr lang="en-US" sz="1100" b="1" kern="0" spc="120" dirty="0">
                <a:solidFill>
                  <a:srgbClr val="8A6100"/>
                </a:solidFill>
                <a:latin typeface="Palatino Linotype" pitchFamily="34" charset="0"/>
                <a:ea typeface="Palatino Linotype" pitchFamily="34" charset="-122"/>
                <a:cs typeface="Palatino Linotype" pitchFamily="34" charset="-120"/>
              </a:rPr>
              <a:t>MORFINĂ · METADONĂ · ETANOL</a:t>
            </a:r>
            <a:endParaRPr lang="en-US" sz="1100" dirty="0"/>
          </a:p>
        </p:txBody>
      </p:sp>
      <p:sp>
        <p:nvSpPr>
          <p:cNvPr id="12" name="Text 9"/>
          <p:cNvSpPr/>
          <p:nvPr/>
        </p:nvSpPr>
        <p:spPr>
          <a:xfrm>
            <a:off x="8028432" y="4105656"/>
            <a:ext cx="3246120" cy="914400"/>
          </a:xfrm>
          <a:prstGeom prst="rect">
            <a:avLst/>
          </a:prstGeom>
          <a:noFill/>
          <a:ln/>
        </p:spPr>
        <p:txBody>
          <a:bodyPr wrap="square" lIns="0" tIns="0" rIns="0" bIns="0" rtlCol="0" anchor="t"/>
          <a:lstStyle/>
          <a:p>
            <a:pPr marL="0" indent="0">
              <a:lnSpc>
                <a:spcPts val="1800"/>
              </a:lnSpc>
              <a:buNone/>
            </a:pPr>
            <a:r>
              <a:rPr lang="en-US" sz="1200" dirty="0">
                <a:solidFill>
                  <a:srgbClr val="11121A"/>
                </a:solidFill>
                <a:latin typeface="Palatino Linotype" pitchFamily="34" charset="0"/>
                <a:ea typeface="Palatino Linotype" pitchFamily="34" charset="-122"/>
                <a:cs typeface="Palatino Linotype" pitchFamily="34" charset="-120"/>
              </a:rPr>
              <a:t>Creștere preferențială în nucleul accumbens; mărimea apare numai grafic, în figurile 4 și 6.</a:t>
            </a:r>
            <a:endParaRPr lang="en-US" sz="1200" dirty="0"/>
          </a:p>
        </p:txBody>
      </p:sp>
      <p:sp>
        <p:nvSpPr>
          <p:cNvPr id="13" name="Text 10"/>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Di Chiara și Imperato, Proc Natl Acad Sci USA, 1988 · valorile: secțiunea „Results”; nivelul bazal: legenda figurii dedicate amfetaminei</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9B7EF7"/>
                </a:solidFill>
                <a:latin typeface="Palatino Linotype" pitchFamily="34" charset="0"/>
                <a:ea typeface="Palatino Linotype" pitchFamily="34" charset="-122"/>
                <a:cs typeface="Palatino Linotype" pitchFamily="34" charset="-120"/>
              </a:rPr>
              <a:t>AȚI CREDE ACEST TITLU? · 2 DIN 4</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Două lucruri pe care nu le găsiți în articol</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959BB0"/>
                </a:solidFill>
                <a:latin typeface="Palatino Linotype" pitchFamily="34" charset="0"/>
                <a:ea typeface="Palatino Linotype" pitchFamily="34" charset="-122"/>
                <a:cs typeface="Palatino Linotype" pitchFamily="34" charset="-120"/>
              </a:rPr>
              <a:t>Ambele privesc exact studiul de pe diapozitivul anterior.</a:t>
            </a:r>
            <a:endParaRPr lang="en-US" sz="1450" dirty="0"/>
          </a:p>
        </p:txBody>
      </p:sp>
      <p:sp>
        <p:nvSpPr>
          <p:cNvPr id="5" name="Shape 3"/>
          <p:cNvSpPr/>
          <p:nvPr/>
        </p:nvSpPr>
        <p:spPr>
          <a:xfrm>
            <a:off x="594360" y="1847088"/>
            <a:ext cx="5440680" cy="3429000"/>
          </a:xfrm>
          <a:prstGeom prst="roundRect">
            <a:avLst>
              <a:gd name="adj" fmla="val 2400"/>
            </a:avLst>
          </a:prstGeom>
          <a:solidFill>
            <a:srgbClr val="1D1F2B"/>
          </a:solidFill>
          <a:ln w="12700">
            <a:solidFill>
              <a:srgbClr val="1D1F2B"/>
            </a:solidFill>
            <a:prstDash val="solid"/>
          </a:ln>
        </p:spPr>
        <p:txBody>
          <a:bodyPr/>
          <a:lstStyle/>
          <a:p>
            <a:endParaRPr lang="ro-RO"/>
          </a:p>
        </p:txBody>
      </p:sp>
      <p:sp>
        <p:nvSpPr>
          <p:cNvPr id="6" name="Shape 4"/>
          <p:cNvSpPr/>
          <p:nvPr/>
        </p:nvSpPr>
        <p:spPr>
          <a:xfrm>
            <a:off x="914400" y="2103120"/>
            <a:ext cx="438912" cy="438912"/>
          </a:xfrm>
          <a:prstGeom prst="ellipse">
            <a:avLst/>
          </a:prstGeom>
          <a:solidFill>
            <a:srgbClr val="FF4757"/>
          </a:solidFill>
          <a:ln w="12700">
            <a:solidFill>
              <a:srgbClr val="FF4757"/>
            </a:solidFill>
            <a:prstDash val="solid"/>
          </a:ln>
        </p:spPr>
        <p:txBody>
          <a:bodyPr/>
          <a:lstStyle/>
          <a:p>
            <a:endParaRPr lang="ro-RO"/>
          </a:p>
        </p:txBody>
      </p:sp>
      <p:sp>
        <p:nvSpPr>
          <p:cNvPr id="7" name="Text 5"/>
          <p:cNvSpPr/>
          <p:nvPr/>
        </p:nvSpPr>
        <p:spPr>
          <a:xfrm>
            <a:off x="914400" y="21031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Palatino Linotype" pitchFamily="34" charset="0"/>
                <a:ea typeface="Palatino Linotype" pitchFamily="34" charset="-122"/>
                <a:cs typeface="Palatino Linotype" pitchFamily="34" charset="-120"/>
              </a:rPr>
              <a:t>1</a:t>
            </a:r>
            <a:endParaRPr lang="en-US" sz="1600" dirty="0"/>
          </a:p>
        </p:txBody>
      </p:sp>
      <p:sp>
        <p:nvSpPr>
          <p:cNvPr id="8" name="Text 6"/>
          <p:cNvSpPr/>
          <p:nvPr/>
        </p:nvSpPr>
        <p:spPr>
          <a:xfrm>
            <a:off x="1508760" y="2103120"/>
            <a:ext cx="4297680" cy="438912"/>
          </a:xfrm>
          <a:prstGeom prst="rect">
            <a:avLst/>
          </a:prstGeom>
          <a:noFill/>
          <a:ln/>
        </p:spPr>
        <p:txBody>
          <a:bodyPr wrap="square" lIns="0" tIns="0" rIns="0" bIns="0" rtlCol="0" anchor="ctr"/>
          <a:lstStyle/>
          <a:p>
            <a:pPr marL="0" indent="0">
              <a:buNone/>
            </a:pPr>
            <a:r>
              <a:rPr lang="en-US" sz="1600" b="1" dirty="0">
                <a:solidFill>
                  <a:srgbClr val="FFFFFF"/>
                </a:solidFill>
                <a:latin typeface="Palatino Linotype" pitchFamily="34" charset="0"/>
                <a:ea typeface="Palatino Linotype" pitchFamily="34" charset="-122"/>
                <a:cs typeface="Palatino Linotype" pitchFamily="34" charset="-120"/>
              </a:rPr>
              <a:t>Cifrele pentru morfină și etanol</a:t>
            </a:r>
            <a:endParaRPr lang="en-US" sz="1600" dirty="0"/>
          </a:p>
        </p:txBody>
      </p:sp>
      <p:sp>
        <p:nvSpPr>
          <p:cNvPr id="9" name="Text 7"/>
          <p:cNvSpPr/>
          <p:nvPr/>
        </p:nvSpPr>
        <p:spPr>
          <a:xfrm>
            <a:off x="914400" y="2743200"/>
            <a:ext cx="4846320" cy="2286000"/>
          </a:xfrm>
          <a:prstGeom prst="rect">
            <a:avLst/>
          </a:prstGeom>
          <a:noFill/>
          <a:ln/>
        </p:spPr>
        <p:txBody>
          <a:bodyPr wrap="square" lIns="0" tIns="0" rIns="0" bIns="0" rtlCol="0" anchor="t"/>
          <a:lstStyle/>
          <a:p>
            <a:pPr marL="0" indent="0">
              <a:lnSpc>
                <a:spcPts val="2100"/>
              </a:lnSpc>
              <a:buNone/>
            </a:pPr>
            <a:r>
              <a:rPr lang="en-US" sz="1300" dirty="0">
                <a:solidFill>
                  <a:srgbClr val="959BB0"/>
                </a:solidFill>
                <a:latin typeface="Palatino Linotype" pitchFamily="34" charset="0"/>
                <a:ea typeface="Palatino Linotype" pitchFamily="34" charset="-122"/>
                <a:cs typeface="Palatino Linotype" pitchFamily="34" charset="-120"/>
              </a:rPr>
              <a:t>Articolul nu tipărește procente pentru morfină și etanol: creșterea apare numai grafic, în figurile 4 și 6.</a:t>
            </a:r>
            <a:endParaRPr lang="en-US" sz="1300" dirty="0"/>
          </a:p>
          <a:p>
            <a:pPr marL="0" indent="0">
              <a:lnSpc>
                <a:spcPts val="2100"/>
              </a:lnSpc>
              <a:buNone/>
            </a:pPr>
            <a:endParaRPr lang="en-US" sz="1300" dirty="0"/>
          </a:p>
          <a:p>
            <a:pPr marL="0" indent="0">
              <a:lnSpc>
                <a:spcPts val="2100"/>
              </a:lnSpc>
              <a:buNone/>
            </a:pPr>
            <a:r>
              <a:rPr lang="en-US" sz="1300" dirty="0">
                <a:solidFill>
                  <a:srgbClr val="959BB0"/>
                </a:solidFill>
                <a:latin typeface="Palatino Linotype" pitchFamily="34" charset="0"/>
                <a:ea typeface="Palatino Linotype" pitchFamily="34" charset="-122"/>
                <a:cs typeface="Palatino Linotype" pitchFamily="34" charset="-120"/>
              </a:rPr>
              <a:t>O cifră care apare în multe prezentări ce citează același articol nu apare, prin aceasta, în articol.</a:t>
            </a:r>
            <a:endParaRPr lang="en-US" sz="1300" dirty="0"/>
          </a:p>
        </p:txBody>
      </p:sp>
      <p:sp>
        <p:nvSpPr>
          <p:cNvPr id="10" name="Shape 8"/>
          <p:cNvSpPr/>
          <p:nvPr/>
        </p:nvSpPr>
        <p:spPr>
          <a:xfrm>
            <a:off x="6309360" y="1847088"/>
            <a:ext cx="5257800" cy="3429000"/>
          </a:xfrm>
          <a:prstGeom prst="roundRect">
            <a:avLst>
              <a:gd name="adj" fmla="val 2400"/>
            </a:avLst>
          </a:prstGeom>
          <a:solidFill>
            <a:srgbClr val="272A38"/>
          </a:solidFill>
          <a:ln w="12700">
            <a:solidFill>
              <a:srgbClr val="272A38"/>
            </a:solidFill>
            <a:prstDash val="solid"/>
          </a:ln>
        </p:spPr>
        <p:txBody>
          <a:bodyPr/>
          <a:lstStyle/>
          <a:p>
            <a:endParaRPr lang="ro-RO"/>
          </a:p>
        </p:txBody>
      </p:sp>
      <p:sp>
        <p:nvSpPr>
          <p:cNvPr id="11" name="Shape 9"/>
          <p:cNvSpPr/>
          <p:nvPr/>
        </p:nvSpPr>
        <p:spPr>
          <a:xfrm>
            <a:off x="6629400" y="2103120"/>
            <a:ext cx="438912" cy="438912"/>
          </a:xfrm>
          <a:prstGeom prst="ellipse">
            <a:avLst/>
          </a:prstGeom>
          <a:solidFill>
            <a:srgbClr val="27D3BE"/>
          </a:solidFill>
          <a:ln w="12700">
            <a:solidFill>
              <a:srgbClr val="27D3BE"/>
            </a:solidFill>
            <a:prstDash val="solid"/>
          </a:ln>
        </p:spPr>
        <p:txBody>
          <a:bodyPr/>
          <a:lstStyle/>
          <a:p>
            <a:endParaRPr lang="ro-RO"/>
          </a:p>
        </p:txBody>
      </p:sp>
      <p:sp>
        <p:nvSpPr>
          <p:cNvPr id="12" name="Text 10"/>
          <p:cNvSpPr/>
          <p:nvPr/>
        </p:nvSpPr>
        <p:spPr>
          <a:xfrm>
            <a:off x="6629400" y="2103120"/>
            <a:ext cx="438912" cy="438912"/>
          </a:xfrm>
          <a:prstGeom prst="rect">
            <a:avLst/>
          </a:prstGeom>
          <a:noFill/>
          <a:ln/>
        </p:spPr>
        <p:txBody>
          <a:bodyPr wrap="square" lIns="0" tIns="0" rIns="0" bIns="0" rtlCol="0" anchor="ctr"/>
          <a:lstStyle/>
          <a:p>
            <a:pPr marL="0" indent="0" algn="ctr">
              <a:buNone/>
            </a:pPr>
            <a:r>
              <a:rPr lang="en-US" sz="1600" b="1" dirty="0">
                <a:solidFill>
                  <a:srgbClr val="073B34"/>
                </a:solidFill>
                <a:latin typeface="Palatino Linotype" pitchFamily="34" charset="0"/>
                <a:ea typeface="Palatino Linotype" pitchFamily="34" charset="-122"/>
                <a:cs typeface="Palatino Linotype" pitchFamily="34" charset="-120"/>
              </a:rPr>
              <a:t>2</a:t>
            </a:r>
            <a:endParaRPr lang="en-US" sz="1600" dirty="0"/>
          </a:p>
        </p:txBody>
      </p:sp>
      <p:sp>
        <p:nvSpPr>
          <p:cNvPr id="13" name="Text 11"/>
          <p:cNvSpPr/>
          <p:nvPr/>
        </p:nvSpPr>
        <p:spPr>
          <a:xfrm>
            <a:off x="7223760" y="2103120"/>
            <a:ext cx="4023360" cy="438912"/>
          </a:xfrm>
          <a:prstGeom prst="rect">
            <a:avLst/>
          </a:prstGeom>
          <a:noFill/>
          <a:ln/>
        </p:spPr>
        <p:txBody>
          <a:bodyPr wrap="square" lIns="0" tIns="0" rIns="0" bIns="0" rtlCol="0" anchor="ctr"/>
          <a:lstStyle/>
          <a:p>
            <a:pPr marL="0" indent="0">
              <a:buNone/>
            </a:pPr>
            <a:r>
              <a:rPr lang="en-US" sz="1600" b="1" dirty="0">
                <a:solidFill>
                  <a:srgbClr val="FFFFFF"/>
                </a:solidFill>
                <a:latin typeface="Palatino Linotype" pitchFamily="34" charset="0"/>
                <a:ea typeface="Palatino Linotype" pitchFamily="34" charset="-122"/>
                <a:cs typeface="Palatino Linotype" pitchFamily="34" charset="-120"/>
              </a:rPr>
              <a:t>Opioidele care SCAD dopamina</a:t>
            </a:r>
            <a:endParaRPr lang="en-US" sz="1600" dirty="0"/>
          </a:p>
        </p:txBody>
      </p:sp>
      <p:sp>
        <p:nvSpPr>
          <p:cNvPr id="14" name="Text 12"/>
          <p:cNvSpPr/>
          <p:nvPr/>
        </p:nvSpPr>
        <p:spPr>
          <a:xfrm>
            <a:off x="6629400" y="2743200"/>
            <a:ext cx="4663440" cy="2286000"/>
          </a:xfrm>
          <a:prstGeom prst="rect">
            <a:avLst/>
          </a:prstGeom>
          <a:noFill/>
          <a:ln/>
        </p:spPr>
        <p:txBody>
          <a:bodyPr wrap="square" lIns="0" tIns="0" rIns="0" bIns="0" rtlCol="0" anchor="t"/>
          <a:lstStyle/>
          <a:p>
            <a:pPr marL="0" indent="0">
              <a:lnSpc>
                <a:spcPts val="2100"/>
              </a:lnSpc>
              <a:buNone/>
            </a:pPr>
            <a:r>
              <a:rPr lang="en-US" sz="1300" dirty="0">
                <a:solidFill>
                  <a:srgbClr val="959BB0"/>
                </a:solidFill>
                <a:latin typeface="Palatino Linotype" pitchFamily="34" charset="0"/>
                <a:ea typeface="Palatino Linotype" pitchFamily="34" charset="-122"/>
                <a:cs typeface="Palatino Linotype" pitchFamily="34" charset="-120"/>
              </a:rPr>
              <a:t>În același studiu, agoniștii receptorilor kappa — U-50,488, bremazocina, tifluadomul — au scăzut dopamina în nucleul accumbens și în caudat și au produs hipomotilitate.</a:t>
            </a:r>
            <a:endParaRPr lang="en-US" sz="1300" dirty="0"/>
          </a:p>
          <a:p>
            <a:pPr marL="0" indent="0">
              <a:lnSpc>
                <a:spcPts val="2100"/>
              </a:lnSpc>
              <a:buNone/>
            </a:pPr>
            <a:endParaRPr lang="en-US" sz="1300" dirty="0"/>
          </a:p>
          <a:p>
            <a:pPr marL="0" indent="0">
              <a:lnSpc>
                <a:spcPts val="2100"/>
              </a:lnSpc>
              <a:buNone/>
            </a:pPr>
            <a:r>
              <a:rPr lang="en-US" sz="1300" dirty="0">
                <a:solidFill>
                  <a:srgbClr val="959BB0"/>
                </a:solidFill>
                <a:latin typeface="Palatino Linotype" pitchFamily="34" charset="0"/>
                <a:ea typeface="Palatino Linotype" pitchFamily="34" charset="-122"/>
                <a:cs typeface="Palatino Linotype" pitchFamily="34" charset="-120"/>
              </a:rPr>
              <a:t>Sunt opioide. Scad dopamina. La animale au efecte aversive; la om, un agonist kappa a produs disforie (studiu din 1986).</a:t>
            </a:r>
            <a:endParaRPr lang="en-US" sz="1300" dirty="0"/>
          </a:p>
        </p:txBody>
      </p:sp>
      <p:sp>
        <p:nvSpPr>
          <p:cNvPr id="15" name="Text 13"/>
          <p:cNvSpPr/>
          <p:nvPr/>
        </p:nvSpPr>
        <p:spPr>
          <a:xfrm>
            <a:off x="594360" y="5468112"/>
            <a:ext cx="10972800" cy="365760"/>
          </a:xfrm>
          <a:prstGeom prst="rect">
            <a:avLst/>
          </a:prstGeom>
          <a:noFill/>
          <a:ln/>
        </p:spPr>
        <p:txBody>
          <a:bodyPr wrap="square" lIns="0" tIns="0" rIns="0" bIns="0" rtlCol="0" anchor="ctr"/>
          <a:lstStyle/>
          <a:p>
            <a:pPr marL="0" indent="0">
              <a:buNone/>
            </a:pPr>
            <a:r>
              <a:rPr lang="en-US" sz="1400" b="1" dirty="0">
                <a:solidFill>
                  <a:srgbClr val="9B7EF7"/>
                </a:solidFill>
                <a:latin typeface="Palatino Linotype" pitchFamily="34" charset="0"/>
                <a:ea typeface="Palatino Linotype" pitchFamily="34" charset="-122"/>
                <a:cs typeface="Palatino Linotype" pitchFamily="34" charset="-120"/>
              </a:rPr>
              <a:t>„Opioidele cresc dopamina” este fals ca formulare generală. Contează subtipul de receptor — aceeași clasă conține molecule cu efecte opuse pe exact circuitul despre care vorbim.</a:t>
            </a:r>
            <a:endParaRPr lang="en-US" sz="1400" dirty="0"/>
          </a:p>
        </p:txBody>
      </p:sp>
      <p:sp>
        <p:nvSpPr>
          <p:cNvPr id="16" name="Text 14"/>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Di Chiara și Imperato, Proc Natl Acad Sci USA, 1988, figurile 4 și 6 · Pfeiffer și colab., Science, 1986</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0E7C6B"/>
                </a:solidFill>
                <a:latin typeface="Palatino Linotype" pitchFamily="34" charset="0"/>
                <a:ea typeface="Palatino Linotype" pitchFamily="34" charset="-122"/>
                <a:cs typeface="Palatino Linotype" pitchFamily="34" charset="-120"/>
              </a:rPr>
              <a:t>MECANISMUL PROXIMAL · 1 DIN 2</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Cine face ce, înainte ca dopamina să crească</a:t>
            </a:r>
            <a:endParaRPr lang="en-US" sz="3000" dirty="0"/>
          </a:p>
        </p:txBody>
      </p:sp>
      <p:sp>
        <p:nvSpPr>
          <p:cNvPr id="4" name="Shape 2"/>
          <p:cNvSpPr/>
          <p:nvPr/>
        </p:nvSpPr>
        <p:spPr>
          <a:xfrm>
            <a:off x="594360" y="1755648"/>
            <a:ext cx="10972800" cy="1316736"/>
          </a:xfrm>
          <a:prstGeom prst="roundRect">
            <a:avLst>
              <a:gd name="adj" fmla="val 6250"/>
            </a:avLst>
          </a:prstGeom>
          <a:solidFill>
            <a:srgbClr val="ECEAE4"/>
          </a:solidFill>
          <a:ln w="12700">
            <a:solidFill>
              <a:srgbClr val="ECEAE4"/>
            </a:solidFill>
            <a:prstDash val="solid"/>
          </a:ln>
        </p:spPr>
        <p:txBody>
          <a:bodyPr/>
          <a:lstStyle/>
          <a:p>
            <a:endParaRPr lang="ro-RO"/>
          </a:p>
        </p:txBody>
      </p:sp>
      <p:sp>
        <p:nvSpPr>
          <p:cNvPr id="5" name="Shape 3"/>
          <p:cNvSpPr/>
          <p:nvPr/>
        </p:nvSpPr>
        <p:spPr>
          <a:xfrm>
            <a:off x="594360" y="1755648"/>
            <a:ext cx="50292" cy="1316736"/>
          </a:xfrm>
          <a:prstGeom prst="rect">
            <a:avLst/>
          </a:prstGeom>
          <a:solidFill>
            <a:srgbClr val="B02532"/>
          </a:solidFill>
          <a:ln w="12700">
            <a:solidFill>
              <a:srgbClr val="B02532"/>
            </a:solidFill>
            <a:prstDash val="solid"/>
          </a:ln>
        </p:spPr>
        <p:txBody>
          <a:bodyPr/>
          <a:lstStyle/>
          <a:p>
            <a:endParaRPr lang="ro-RO"/>
          </a:p>
        </p:txBody>
      </p:sp>
      <p:sp>
        <p:nvSpPr>
          <p:cNvPr id="6" name="Text 4"/>
          <p:cNvSpPr/>
          <p:nvPr/>
        </p:nvSpPr>
        <p:spPr>
          <a:xfrm>
            <a:off x="896112" y="1901952"/>
            <a:ext cx="2286000" cy="384048"/>
          </a:xfrm>
          <a:prstGeom prst="rect">
            <a:avLst/>
          </a:prstGeom>
          <a:noFill/>
          <a:ln/>
        </p:spPr>
        <p:txBody>
          <a:bodyPr wrap="square" lIns="0" tIns="0" rIns="0" bIns="0" rtlCol="0" anchor="ctr"/>
          <a:lstStyle/>
          <a:p>
            <a:pPr marL="0" indent="0">
              <a:buNone/>
            </a:pPr>
            <a:r>
              <a:rPr lang="en-US" sz="1600" b="1" dirty="0">
                <a:solidFill>
                  <a:srgbClr val="B02532"/>
                </a:solidFill>
                <a:latin typeface="Palatino Linotype" pitchFamily="34" charset="0"/>
                <a:ea typeface="Palatino Linotype" pitchFamily="34" charset="-122"/>
                <a:cs typeface="Palatino Linotype" pitchFamily="34" charset="-120"/>
              </a:rPr>
              <a:t>Opioide (μ)</a:t>
            </a:r>
            <a:endParaRPr lang="en-US" sz="1600" dirty="0"/>
          </a:p>
        </p:txBody>
      </p:sp>
      <p:sp>
        <p:nvSpPr>
          <p:cNvPr id="7" name="Text 5"/>
          <p:cNvSpPr/>
          <p:nvPr/>
        </p:nvSpPr>
        <p:spPr>
          <a:xfrm>
            <a:off x="896112" y="2359152"/>
            <a:ext cx="2377440" cy="621792"/>
          </a:xfrm>
          <a:prstGeom prst="rect">
            <a:avLst/>
          </a:prstGeom>
          <a:noFill/>
          <a:ln/>
        </p:spPr>
        <p:txBody>
          <a:bodyPr wrap="square" lIns="0" tIns="0" rIns="0" bIns="0" rtlCol="0" anchor="t"/>
          <a:lstStyle/>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Johnson și North</a:t>
            </a:r>
            <a:endParaRPr lang="en-US" sz="950" dirty="0"/>
          </a:p>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J Neurosci, 1992</a:t>
            </a:r>
            <a:endParaRPr lang="en-US" sz="950" dirty="0"/>
          </a:p>
        </p:txBody>
      </p:sp>
      <p:sp>
        <p:nvSpPr>
          <p:cNvPr id="8" name="Text 6"/>
          <p:cNvSpPr/>
          <p:nvPr/>
        </p:nvSpPr>
        <p:spPr>
          <a:xfrm>
            <a:off x="3474720" y="1938528"/>
            <a:ext cx="7818120" cy="969264"/>
          </a:xfrm>
          <a:prstGeom prst="rect">
            <a:avLst/>
          </a:prstGeom>
          <a:noFill/>
          <a:ln/>
        </p:spPr>
        <p:txBody>
          <a:bodyPr wrap="square" lIns="0" tIns="0" rIns="0" bIns="0" rtlCol="0" anchor="ctr"/>
          <a:lstStyle/>
          <a:p>
            <a:pPr marL="0" indent="0">
              <a:lnSpc>
                <a:spcPts val="2000"/>
              </a:lnSpc>
              <a:buNone/>
            </a:pPr>
            <a:r>
              <a:rPr lang="en-US" sz="1300" dirty="0">
                <a:solidFill>
                  <a:srgbClr val="11121A"/>
                </a:solidFill>
                <a:latin typeface="Palatino Linotype" pitchFamily="34" charset="0"/>
                <a:ea typeface="Palatino Linotype" pitchFamily="34" charset="-122"/>
                <a:cs typeface="Palatino Linotype" pitchFamily="34" charset="-120"/>
              </a:rPr>
              <a:t>Agonism μ pe interneuronii GABA-ergici din VTA → hiperpolarizarea lor → DEZINHIBIȚIA neuronilor dopaminergici. Neuronii DA nu sunt afectați direct.</a:t>
            </a:r>
            <a:endParaRPr lang="en-US" sz="1300" dirty="0"/>
          </a:p>
        </p:txBody>
      </p:sp>
      <p:sp>
        <p:nvSpPr>
          <p:cNvPr id="9" name="Shape 7"/>
          <p:cNvSpPr/>
          <p:nvPr/>
        </p:nvSpPr>
        <p:spPr>
          <a:xfrm>
            <a:off x="594360" y="3200400"/>
            <a:ext cx="10972800" cy="1316736"/>
          </a:xfrm>
          <a:prstGeom prst="roundRect">
            <a:avLst>
              <a:gd name="adj" fmla="val 6250"/>
            </a:avLst>
          </a:prstGeom>
          <a:solidFill>
            <a:srgbClr val="F9F8F5"/>
          </a:solidFill>
          <a:ln w="12700">
            <a:solidFill>
              <a:srgbClr val="F9F8F5"/>
            </a:solidFill>
            <a:prstDash val="solid"/>
          </a:ln>
        </p:spPr>
        <p:txBody>
          <a:bodyPr/>
          <a:lstStyle/>
          <a:p>
            <a:endParaRPr lang="ro-RO"/>
          </a:p>
        </p:txBody>
      </p:sp>
      <p:sp>
        <p:nvSpPr>
          <p:cNvPr id="10" name="Shape 8"/>
          <p:cNvSpPr/>
          <p:nvPr/>
        </p:nvSpPr>
        <p:spPr>
          <a:xfrm>
            <a:off x="594360" y="3200400"/>
            <a:ext cx="50292" cy="1316736"/>
          </a:xfrm>
          <a:prstGeom prst="rect">
            <a:avLst/>
          </a:prstGeom>
          <a:solidFill>
            <a:srgbClr val="9C4A0A"/>
          </a:solidFill>
          <a:ln w="12700">
            <a:solidFill>
              <a:srgbClr val="9C4A0A"/>
            </a:solidFill>
            <a:prstDash val="solid"/>
          </a:ln>
        </p:spPr>
        <p:txBody>
          <a:bodyPr/>
          <a:lstStyle/>
          <a:p>
            <a:endParaRPr lang="ro-RO"/>
          </a:p>
        </p:txBody>
      </p:sp>
      <p:sp>
        <p:nvSpPr>
          <p:cNvPr id="11" name="Text 9"/>
          <p:cNvSpPr/>
          <p:nvPr/>
        </p:nvSpPr>
        <p:spPr>
          <a:xfrm>
            <a:off x="896112" y="3346704"/>
            <a:ext cx="2286000" cy="384048"/>
          </a:xfrm>
          <a:prstGeom prst="rect">
            <a:avLst/>
          </a:prstGeom>
          <a:noFill/>
          <a:ln/>
        </p:spPr>
        <p:txBody>
          <a:bodyPr wrap="square" lIns="0" tIns="0" rIns="0" bIns="0" rtlCol="0" anchor="ctr"/>
          <a:lstStyle/>
          <a:p>
            <a:pPr marL="0" indent="0">
              <a:buNone/>
            </a:pPr>
            <a:r>
              <a:rPr lang="en-US" sz="1600" b="1" dirty="0">
                <a:solidFill>
                  <a:srgbClr val="9C4A0A"/>
                </a:solidFill>
                <a:latin typeface="Palatino Linotype" pitchFamily="34" charset="0"/>
                <a:ea typeface="Palatino Linotype" pitchFamily="34" charset="-122"/>
                <a:cs typeface="Palatino Linotype" pitchFamily="34" charset="-120"/>
              </a:rPr>
              <a:t>Cocaină</a:t>
            </a:r>
            <a:endParaRPr lang="en-US" sz="1600" dirty="0"/>
          </a:p>
        </p:txBody>
      </p:sp>
      <p:sp>
        <p:nvSpPr>
          <p:cNvPr id="12" name="Text 10"/>
          <p:cNvSpPr/>
          <p:nvPr/>
        </p:nvSpPr>
        <p:spPr>
          <a:xfrm>
            <a:off x="896112" y="3803904"/>
            <a:ext cx="2377440" cy="621792"/>
          </a:xfrm>
          <a:prstGeom prst="rect">
            <a:avLst/>
          </a:prstGeom>
          <a:noFill/>
          <a:ln/>
        </p:spPr>
        <p:txBody>
          <a:bodyPr wrap="square" lIns="0" tIns="0" rIns="0" bIns="0" rtlCol="0" anchor="t"/>
          <a:lstStyle/>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Ritz și colab.</a:t>
            </a:r>
            <a:endParaRPr lang="en-US" sz="950" dirty="0"/>
          </a:p>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Science, 1987</a:t>
            </a:r>
            <a:endParaRPr lang="en-US" sz="950" dirty="0"/>
          </a:p>
        </p:txBody>
      </p:sp>
      <p:sp>
        <p:nvSpPr>
          <p:cNvPr id="13" name="Text 11"/>
          <p:cNvSpPr/>
          <p:nvPr/>
        </p:nvSpPr>
        <p:spPr>
          <a:xfrm>
            <a:off x="3474720" y="3383280"/>
            <a:ext cx="7818120" cy="969264"/>
          </a:xfrm>
          <a:prstGeom prst="rect">
            <a:avLst/>
          </a:prstGeom>
          <a:noFill/>
          <a:ln/>
        </p:spPr>
        <p:txBody>
          <a:bodyPr wrap="square" lIns="0" tIns="0" rIns="0" bIns="0" rtlCol="0" anchor="ctr"/>
          <a:lstStyle/>
          <a:p>
            <a:pPr marL="0" indent="0">
              <a:lnSpc>
                <a:spcPts val="2000"/>
              </a:lnSpc>
              <a:buNone/>
            </a:pPr>
            <a:r>
              <a:rPr lang="en-US" sz="1300" dirty="0">
                <a:solidFill>
                  <a:srgbClr val="11121A"/>
                </a:solidFill>
                <a:latin typeface="Palatino Linotype" pitchFamily="34" charset="0"/>
                <a:ea typeface="Palatino Linotype" pitchFamily="34" charset="-122"/>
                <a:cs typeface="Palatino Linotype" pitchFamily="34" charset="-120"/>
              </a:rPr>
              <a:t>Blocarea transportorului de dopamină (DAT). Potența în autoadministrare corelează cu inhibarea legării la DAT striatal, nu cu alte situsuri pre- sau postsinaptice.</a:t>
            </a:r>
            <a:endParaRPr lang="en-US" sz="1300" dirty="0"/>
          </a:p>
        </p:txBody>
      </p:sp>
      <p:sp>
        <p:nvSpPr>
          <p:cNvPr id="14" name="Shape 12"/>
          <p:cNvSpPr/>
          <p:nvPr/>
        </p:nvSpPr>
        <p:spPr>
          <a:xfrm>
            <a:off x="594360" y="4645152"/>
            <a:ext cx="10972800" cy="1316736"/>
          </a:xfrm>
          <a:prstGeom prst="roundRect">
            <a:avLst>
              <a:gd name="adj" fmla="val 6250"/>
            </a:avLst>
          </a:prstGeom>
          <a:solidFill>
            <a:srgbClr val="ECEAE4"/>
          </a:solidFill>
          <a:ln w="12700">
            <a:solidFill>
              <a:srgbClr val="ECEAE4"/>
            </a:solidFill>
            <a:prstDash val="solid"/>
          </a:ln>
        </p:spPr>
        <p:txBody>
          <a:bodyPr/>
          <a:lstStyle/>
          <a:p>
            <a:endParaRPr lang="ro-RO"/>
          </a:p>
        </p:txBody>
      </p:sp>
      <p:sp>
        <p:nvSpPr>
          <p:cNvPr id="15" name="Shape 13"/>
          <p:cNvSpPr/>
          <p:nvPr/>
        </p:nvSpPr>
        <p:spPr>
          <a:xfrm>
            <a:off x="594360" y="4645152"/>
            <a:ext cx="50292" cy="1316736"/>
          </a:xfrm>
          <a:prstGeom prst="rect">
            <a:avLst/>
          </a:prstGeom>
          <a:solidFill>
            <a:srgbClr val="8A6100"/>
          </a:solidFill>
          <a:ln w="12700">
            <a:solidFill>
              <a:srgbClr val="8A6100"/>
            </a:solidFill>
            <a:prstDash val="solid"/>
          </a:ln>
        </p:spPr>
        <p:txBody>
          <a:bodyPr/>
          <a:lstStyle/>
          <a:p>
            <a:endParaRPr lang="ro-RO"/>
          </a:p>
        </p:txBody>
      </p:sp>
      <p:sp>
        <p:nvSpPr>
          <p:cNvPr id="16" name="Text 14"/>
          <p:cNvSpPr/>
          <p:nvPr/>
        </p:nvSpPr>
        <p:spPr>
          <a:xfrm>
            <a:off x="896112" y="4791456"/>
            <a:ext cx="2286000" cy="384048"/>
          </a:xfrm>
          <a:prstGeom prst="rect">
            <a:avLst/>
          </a:prstGeom>
          <a:noFill/>
          <a:ln/>
        </p:spPr>
        <p:txBody>
          <a:bodyPr wrap="square" lIns="0" tIns="0" rIns="0" bIns="0" rtlCol="0" anchor="ctr"/>
          <a:lstStyle/>
          <a:p>
            <a:pPr marL="0" indent="0">
              <a:buNone/>
            </a:pPr>
            <a:r>
              <a:rPr lang="en-US" sz="1600" b="1" dirty="0">
                <a:solidFill>
                  <a:srgbClr val="8A6100"/>
                </a:solidFill>
                <a:latin typeface="Palatino Linotype" pitchFamily="34" charset="0"/>
                <a:ea typeface="Palatino Linotype" pitchFamily="34" charset="-122"/>
                <a:cs typeface="Palatino Linotype" pitchFamily="34" charset="-120"/>
              </a:rPr>
              <a:t>Nicotină</a:t>
            </a:r>
            <a:endParaRPr lang="en-US" sz="1600" dirty="0"/>
          </a:p>
        </p:txBody>
      </p:sp>
      <p:sp>
        <p:nvSpPr>
          <p:cNvPr id="17" name="Text 15"/>
          <p:cNvSpPr/>
          <p:nvPr/>
        </p:nvSpPr>
        <p:spPr>
          <a:xfrm>
            <a:off x="896112" y="5248656"/>
            <a:ext cx="2377440" cy="621792"/>
          </a:xfrm>
          <a:prstGeom prst="rect">
            <a:avLst/>
          </a:prstGeom>
          <a:noFill/>
          <a:ln/>
        </p:spPr>
        <p:txBody>
          <a:bodyPr wrap="square" lIns="0" tIns="0" rIns="0" bIns="0" rtlCol="0" anchor="t"/>
          <a:lstStyle/>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Picciotto și colab., Nature, 1998</a:t>
            </a:r>
            <a:endParaRPr lang="en-US" sz="950" dirty="0"/>
          </a:p>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Tapper și colab., Science, 2004</a:t>
            </a:r>
            <a:endParaRPr lang="en-US" sz="950" dirty="0"/>
          </a:p>
        </p:txBody>
      </p:sp>
      <p:sp>
        <p:nvSpPr>
          <p:cNvPr id="18" name="Text 16"/>
          <p:cNvSpPr/>
          <p:nvPr/>
        </p:nvSpPr>
        <p:spPr>
          <a:xfrm>
            <a:off x="3474720" y="4828032"/>
            <a:ext cx="7818120" cy="969264"/>
          </a:xfrm>
          <a:prstGeom prst="rect">
            <a:avLst/>
          </a:prstGeom>
          <a:noFill/>
          <a:ln/>
        </p:spPr>
        <p:txBody>
          <a:bodyPr wrap="square" lIns="0" tIns="0" rIns="0" bIns="0" rtlCol="0" anchor="ctr"/>
          <a:lstStyle/>
          <a:p>
            <a:pPr marL="0" indent="0">
              <a:lnSpc>
                <a:spcPts val="2000"/>
              </a:lnSpc>
              <a:buNone/>
            </a:pPr>
            <a:r>
              <a:rPr lang="en-US" sz="1300" dirty="0">
                <a:solidFill>
                  <a:srgbClr val="11121A"/>
                </a:solidFill>
                <a:latin typeface="Palatino Linotype" pitchFamily="34" charset="0"/>
                <a:ea typeface="Palatino Linotype" pitchFamily="34" charset="-122"/>
                <a:cs typeface="Palatino Linotype" pitchFamily="34" charset="-120"/>
              </a:rPr>
              <a:t>Receptori nAChR conținând subunitatea β2, pe neuronii DA din VTA. La șoarecii fără β2, nicotina nu mai eliberează dopamină în striatul ventral; activarea receptorilor α4, făcuți hipersensibili, e suficientă pentru recompensă.</a:t>
            </a:r>
            <a:endParaRPr lang="en-US" sz="1300" dirty="0"/>
          </a:p>
        </p:txBody>
      </p:sp>
      <p:sp>
        <p:nvSpPr>
          <p:cNvPr id="19" name="Text 17"/>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Continuare pe diapozitivul următor: THC, alcool, benzodiazepine — cele trei cazuri care strică orice regulă simplă</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0E7C6B"/>
                </a:solidFill>
                <a:latin typeface="Palatino Linotype" pitchFamily="34" charset="0"/>
                <a:ea typeface="Palatino Linotype" pitchFamily="34" charset="-122"/>
                <a:cs typeface="Palatino Linotype" pitchFamily="34" charset="-120"/>
              </a:rPr>
              <a:t>MECANISMUL PROXIMAL · 2 DIN 2</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Trei cazuri care strică orice regulă simplă</a:t>
            </a:r>
            <a:endParaRPr lang="en-US" sz="3000" dirty="0"/>
          </a:p>
        </p:txBody>
      </p:sp>
      <p:sp>
        <p:nvSpPr>
          <p:cNvPr id="4" name="Shape 2"/>
          <p:cNvSpPr/>
          <p:nvPr/>
        </p:nvSpPr>
        <p:spPr>
          <a:xfrm>
            <a:off x="594360" y="1755648"/>
            <a:ext cx="10972800" cy="1316736"/>
          </a:xfrm>
          <a:prstGeom prst="roundRect">
            <a:avLst>
              <a:gd name="adj" fmla="val 6250"/>
            </a:avLst>
          </a:prstGeom>
          <a:solidFill>
            <a:srgbClr val="ECEAE4"/>
          </a:solidFill>
          <a:ln w="12700">
            <a:solidFill>
              <a:srgbClr val="ECEAE4"/>
            </a:solidFill>
            <a:prstDash val="solid"/>
          </a:ln>
        </p:spPr>
        <p:txBody>
          <a:bodyPr/>
          <a:lstStyle/>
          <a:p>
            <a:endParaRPr lang="ro-RO"/>
          </a:p>
        </p:txBody>
      </p:sp>
      <p:sp>
        <p:nvSpPr>
          <p:cNvPr id="5" name="Shape 3"/>
          <p:cNvSpPr/>
          <p:nvPr/>
        </p:nvSpPr>
        <p:spPr>
          <a:xfrm>
            <a:off x="594360" y="1755648"/>
            <a:ext cx="50292" cy="1316736"/>
          </a:xfrm>
          <a:prstGeom prst="rect">
            <a:avLst/>
          </a:prstGeom>
          <a:solidFill>
            <a:srgbClr val="4A2D8C"/>
          </a:solidFill>
          <a:ln w="12700">
            <a:solidFill>
              <a:srgbClr val="4A2D8C"/>
            </a:solidFill>
            <a:prstDash val="solid"/>
          </a:ln>
        </p:spPr>
        <p:txBody>
          <a:bodyPr/>
          <a:lstStyle/>
          <a:p>
            <a:endParaRPr lang="ro-RO"/>
          </a:p>
        </p:txBody>
      </p:sp>
      <p:sp>
        <p:nvSpPr>
          <p:cNvPr id="6" name="Text 4"/>
          <p:cNvSpPr/>
          <p:nvPr/>
        </p:nvSpPr>
        <p:spPr>
          <a:xfrm>
            <a:off x="896112" y="1901952"/>
            <a:ext cx="2286000" cy="384048"/>
          </a:xfrm>
          <a:prstGeom prst="rect">
            <a:avLst/>
          </a:prstGeom>
          <a:noFill/>
          <a:ln/>
        </p:spPr>
        <p:txBody>
          <a:bodyPr wrap="square" lIns="0" tIns="0" rIns="0" bIns="0" rtlCol="0" anchor="ctr"/>
          <a:lstStyle/>
          <a:p>
            <a:pPr marL="0" indent="0">
              <a:buNone/>
            </a:pPr>
            <a:r>
              <a:rPr lang="en-US" sz="1600" b="1" dirty="0">
                <a:solidFill>
                  <a:srgbClr val="4A2D8C"/>
                </a:solidFill>
                <a:latin typeface="Palatino Linotype" pitchFamily="34" charset="0"/>
                <a:ea typeface="Palatino Linotype" pitchFamily="34" charset="-122"/>
                <a:cs typeface="Palatino Linotype" pitchFamily="34" charset="-120"/>
              </a:rPr>
              <a:t>THC</a:t>
            </a:r>
            <a:endParaRPr lang="en-US" sz="1600" dirty="0"/>
          </a:p>
        </p:txBody>
      </p:sp>
      <p:sp>
        <p:nvSpPr>
          <p:cNvPr id="7" name="Text 5"/>
          <p:cNvSpPr/>
          <p:nvPr/>
        </p:nvSpPr>
        <p:spPr>
          <a:xfrm>
            <a:off x="896112" y="2359152"/>
            <a:ext cx="2377440" cy="621792"/>
          </a:xfrm>
          <a:prstGeom prst="rect">
            <a:avLst/>
          </a:prstGeom>
          <a:noFill/>
          <a:ln/>
        </p:spPr>
        <p:txBody>
          <a:bodyPr wrap="square" lIns="0" tIns="0" rIns="0" bIns="0" rtlCol="0" anchor="t"/>
          <a:lstStyle/>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Pertwee</a:t>
            </a:r>
            <a:endParaRPr lang="en-US" sz="950" dirty="0"/>
          </a:p>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Br J Pharmacol, 2008</a:t>
            </a:r>
            <a:endParaRPr lang="en-US" sz="950" dirty="0"/>
          </a:p>
        </p:txBody>
      </p:sp>
      <p:sp>
        <p:nvSpPr>
          <p:cNvPr id="8" name="Text 6"/>
          <p:cNvSpPr/>
          <p:nvPr/>
        </p:nvSpPr>
        <p:spPr>
          <a:xfrm>
            <a:off x="3474720" y="1938528"/>
            <a:ext cx="7818120" cy="969264"/>
          </a:xfrm>
          <a:prstGeom prst="rect">
            <a:avLst/>
          </a:prstGeom>
          <a:noFill/>
          <a:ln/>
        </p:spPr>
        <p:txBody>
          <a:bodyPr wrap="square" lIns="0" tIns="0" rIns="0" bIns="0" rtlCol="0" anchor="ctr"/>
          <a:lstStyle/>
          <a:p>
            <a:pPr marL="0" indent="0">
              <a:lnSpc>
                <a:spcPts val="2000"/>
              </a:lnSpc>
              <a:buNone/>
            </a:pPr>
            <a:r>
              <a:rPr lang="en-US" sz="1300" dirty="0">
                <a:solidFill>
                  <a:srgbClr val="11121A"/>
                </a:solidFill>
                <a:latin typeface="Palatino Linotype" pitchFamily="34" charset="0"/>
                <a:ea typeface="Palatino Linotype" pitchFamily="34" charset="-122"/>
                <a:cs typeface="Palatino Linotype" pitchFamily="34" charset="-120"/>
              </a:rPr>
              <a:t>Agonist PARȚIAL al receptorilor CB1 și CB2; prin CB1 presinaptici poate inhiba eliberarea neurotransmițătorilor. Răspunsul depinde de nivelul de expresie și de eficiența receptorilor și de eliberarea în curs a endocanabinoizilor.</a:t>
            </a:r>
            <a:endParaRPr lang="en-US" sz="1300" dirty="0"/>
          </a:p>
        </p:txBody>
      </p:sp>
      <p:sp>
        <p:nvSpPr>
          <p:cNvPr id="9" name="Shape 7"/>
          <p:cNvSpPr/>
          <p:nvPr/>
        </p:nvSpPr>
        <p:spPr>
          <a:xfrm>
            <a:off x="594360" y="3200400"/>
            <a:ext cx="10972800" cy="1316736"/>
          </a:xfrm>
          <a:prstGeom prst="roundRect">
            <a:avLst>
              <a:gd name="adj" fmla="val 6250"/>
            </a:avLst>
          </a:prstGeom>
          <a:solidFill>
            <a:srgbClr val="F9F8F5"/>
          </a:solidFill>
          <a:ln w="12700">
            <a:solidFill>
              <a:srgbClr val="F9F8F5"/>
            </a:solidFill>
            <a:prstDash val="solid"/>
          </a:ln>
        </p:spPr>
        <p:txBody>
          <a:bodyPr/>
          <a:lstStyle/>
          <a:p>
            <a:endParaRPr lang="ro-RO"/>
          </a:p>
        </p:txBody>
      </p:sp>
      <p:sp>
        <p:nvSpPr>
          <p:cNvPr id="10" name="Shape 8"/>
          <p:cNvSpPr/>
          <p:nvPr/>
        </p:nvSpPr>
        <p:spPr>
          <a:xfrm>
            <a:off x="594360" y="3200400"/>
            <a:ext cx="50292" cy="1316736"/>
          </a:xfrm>
          <a:prstGeom prst="rect">
            <a:avLst/>
          </a:prstGeom>
          <a:solidFill>
            <a:srgbClr val="B02532"/>
          </a:solidFill>
          <a:ln w="12700">
            <a:solidFill>
              <a:srgbClr val="B02532"/>
            </a:solidFill>
            <a:prstDash val="solid"/>
          </a:ln>
        </p:spPr>
        <p:txBody>
          <a:bodyPr/>
          <a:lstStyle/>
          <a:p>
            <a:endParaRPr lang="ro-RO"/>
          </a:p>
        </p:txBody>
      </p:sp>
      <p:sp>
        <p:nvSpPr>
          <p:cNvPr id="11" name="Text 9"/>
          <p:cNvSpPr/>
          <p:nvPr/>
        </p:nvSpPr>
        <p:spPr>
          <a:xfrm>
            <a:off x="896112" y="3346704"/>
            <a:ext cx="2286000" cy="384048"/>
          </a:xfrm>
          <a:prstGeom prst="rect">
            <a:avLst/>
          </a:prstGeom>
          <a:noFill/>
          <a:ln/>
        </p:spPr>
        <p:txBody>
          <a:bodyPr wrap="square" lIns="0" tIns="0" rIns="0" bIns="0" rtlCol="0" anchor="ctr"/>
          <a:lstStyle/>
          <a:p>
            <a:pPr marL="0" indent="0">
              <a:buNone/>
            </a:pPr>
            <a:r>
              <a:rPr lang="en-US" sz="1600" b="1" dirty="0">
                <a:solidFill>
                  <a:srgbClr val="B02532"/>
                </a:solidFill>
                <a:latin typeface="Palatino Linotype" pitchFamily="34" charset="0"/>
                <a:ea typeface="Palatino Linotype" pitchFamily="34" charset="-122"/>
                <a:cs typeface="Palatino Linotype" pitchFamily="34" charset="-120"/>
              </a:rPr>
              <a:t>Alcool</a:t>
            </a:r>
            <a:endParaRPr lang="en-US" sz="1600" dirty="0"/>
          </a:p>
        </p:txBody>
      </p:sp>
      <p:sp>
        <p:nvSpPr>
          <p:cNvPr id="12" name="Text 10"/>
          <p:cNvSpPr/>
          <p:nvPr/>
        </p:nvSpPr>
        <p:spPr>
          <a:xfrm>
            <a:off x="896112" y="3803904"/>
            <a:ext cx="2377440" cy="621792"/>
          </a:xfrm>
          <a:prstGeom prst="rect">
            <a:avLst/>
          </a:prstGeom>
          <a:noFill/>
          <a:ln/>
        </p:spPr>
        <p:txBody>
          <a:bodyPr wrap="square" lIns="0" tIns="0" rIns="0" bIns="0" rtlCol="0" anchor="t"/>
          <a:lstStyle/>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Vengeliene și colab.</a:t>
            </a:r>
            <a:endParaRPr lang="en-US" sz="950" dirty="0"/>
          </a:p>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Br J Pharmacol, 2008</a:t>
            </a:r>
            <a:endParaRPr lang="en-US" sz="950" dirty="0"/>
          </a:p>
        </p:txBody>
      </p:sp>
      <p:sp>
        <p:nvSpPr>
          <p:cNvPr id="13" name="Text 11"/>
          <p:cNvSpPr/>
          <p:nvPr/>
        </p:nvSpPr>
        <p:spPr>
          <a:xfrm>
            <a:off x="3474720" y="3383280"/>
            <a:ext cx="7818120" cy="969264"/>
          </a:xfrm>
          <a:prstGeom prst="rect">
            <a:avLst/>
          </a:prstGeom>
          <a:noFill/>
          <a:ln/>
        </p:spPr>
        <p:txBody>
          <a:bodyPr wrap="square" lIns="0" tIns="0" rIns="0" bIns="0" rtlCol="0" anchor="ctr"/>
          <a:lstStyle/>
          <a:p>
            <a:pPr marL="0" indent="0">
              <a:lnSpc>
                <a:spcPts val="2000"/>
              </a:lnSpc>
              <a:buNone/>
            </a:pPr>
            <a:r>
              <a:rPr lang="en-US" sz="1300" dirty="0">
                <a:solidFill>
                  <a:srgbClr val="11121A"/>
                </a:solidFill>
                <a:latin typeface="Palatino Linotype" pitchFamily="34" charset="0"/>
                <a:ea typeface="Palatino Linotype" pitchFamily="34" charset="-122"/>
                <a:cs typeface="Palatino Linotype" pitchFamily="34" charset="-120"/>
              </a:rPr>
              <a:t>NU are un receptor unic. Ținte primare documentate: NMDA, GABA-A, glicină, 5-HT3, nAChR, canale de calciu tip L, canale GIRK. Urmează un „al doilea val” de efecte indirecte.</a:t>
            </a:r>
            <a:endParaRPr lang="en-US" sz="1300" dirty="0"/>
          </a:p>
        </p:txBody>
      </p:sp>
      <p:sp>
        <p:nvSpPr>
          <p:cNvPr id="14" name="Shape 12"/>
          <p:cNvSpPr/>
          <p:nvPr/>
        </p:nvSpPr>
        <p:spPr>
          <a:xfrm>
            <a:off x="594360" y="4645152"/>
            <a:ext cx="10972800" cy="1316736"/>
          </a:xfrm>
          <a:prstGeom prst="roundRect">
            <a:avLst>
              <a:gd name="adj" fmla="val 6250"/>
            </a:avLst>
          </a:prstGeom>
          <a:solidFill>
            <a:srgbClr val="ECEAE4"/>
          </a:solidFill>
          <a:ln w="12700">
            <a:solidFill>
              <a:srgbClr val="ECEAE4"/>
            </a:solidFill>
            <a:prstDash val="solid"/>
          </a:ln>
        </p:spPr>
        <p:txBody>
          <a:bodyPr/>
          <a:lstStyle/>
          <a:p>
            <a:endParaRPr lang="ro-RO"/>
          </a:p>
        </p:txBody>
      </p:sp>
      <p:sp>
        <p:nvSpPr>
          <p:cNvPr id="15" name="Shape 13"/>
          <p:cNvSpPr/>
          <p:nvPr/>
        </p:nvSpPr>
        <p:spPr>
          <a:xfrm>
            <a:off x="594360" y="4645152"/>
            <a:ext cx="50292" cy="1316736"/>
          </a:xfrm>
          <a:prstGeom prst="rect">
            <a:avLst/>
          </a:prstGeom>
          <a:solidFill>
            <a:srgbClr val="0E7C6B"/>
          </a:solidFill>
          <a:ln w="12700">
            <a:solidFill>
              <a:srgbClr val="0E7C6B"/>
            </a:solidFill>
            <a:prstDash val="solid"/>
          </a:ln>
        </p:spPr>
        <p:txBody>
          <a:bodyPr/>
          <a:lstStyle/>
          <a:p>
            <a:endParaRPr lang="ro-RO"/>
          </a:p>
        </p:txBody>
      </p:sp>
      <p:sp>
        <p:nvSpPr>
          <p:cNvPr id="16" name="Text 14"/>
          <p:cNvSpPr/>
          <p:nvPr/>
        </p:nvSpPr>
        <p:spPr>
          <a:xfrm>
            <a:off x="896112" y="4791456"/>
            <a:ext cx="2286000" cy="384048"/>
          </a:xfrm>
          <a:prstGeom prst="rect">
            <a:avLst/>
          </a:prstGeom>
          <a:noFill/>
          <a:ln/>
        </p:spPr>
        <p:txBody>
          <a:bodyPr wrap="square" lIns="0" tIns="0" rIns="0" bIns="0" rtlCol="0" anchor="ctr"/>
          <a:lstStyle/>
          <a:p>
            <a:pPr marL="0" indent="0">
              <a:buNone/>
            </a:pPr>
            <a:r>
              <a:rPr lang="en-US" sz="1600" b="1" dirty="0">
                <a:solidFill>
                  <a:srgbClr val="0E7C6B"/>
                </a:solidFill>
                <a:latin typeface="Palatino Linotype" pitchFamily="34" charset="0"/>
                <a:ea typeface="Palatino Linotype" pitchFamily="34" charset="-122"/>
                <a:cs typeface="Palatino Linotype" pitchFamily="34" charset="-120"/>
              </a:rPr>
              <a:t>Benzodiazepine</a:t>
            </a:r>
            <a:endParaRPr lang="en-US" sz="1600" dirty="0"/>
          </a:p>
        </p:txBody>
      </p:sp>
      <p:sp>
        <p:nvSpPr>
          <p:cNvPr id="17" name="Text 15"/>
          <p:cNvSpPr/>
          <p:nvPr/>
        </p:nvSpPr>
        <p:spPr>
          <a:xfrm>
            <a:off x="896112" y="5248656"/>
            <a:ext cx="2377440" cy="621792"/>
          </a:xfrm>
          <a:prstGeom prst="rect">
            <a:avLst/>
          </a:prstGeom>
          <a:noFill/>
          <a:ln/>
        </p:spPr>
        <p:txBody>
          <a:bodyPr wrap="square" lIns="0" tIns="0" rIns="0" bIns="0" rtlCol="0" anchor="t"/>
          <a:lstStyle/>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Tan și colab., Nature, 2010</a:t>
            </a:r>
            <a:endParaRPr lang="en-US" sz="950" dirty="0"/>
          </a:p>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Löw și colab., Science, 2000</a:t>
            </a:r>
            <a:endParaRPr lang="en-US" sz="950" dirty="0"/>
          </a:p>
          <a:p>
            <a:pPr marL="0" indent="0">
              <a:lnSpc>
                <a:spcPts val="1400"/>
              </a:lnSpc>
              <a:buNone/>
            </a:pPr>
            <a:r>
              <a:rPr lang="en-US" sz="950" i="1" dirty="0">
                <a:solidFill>
                  <a:srgbClr val="585A64"/>
                </a:solidFill>
                <a:latin typeface="Palatino Linotype" pitchFamily="34" charset="0"/>
                <a:ea typeface="Palatino Linotype" pitchFamily="34" charset="-122"/>
                <a:cs typeface="Palatino Linotype" pitchFamily="34" charset="-120"/>
              </a:rPr>
              <a:t>Engin și colab., 2014 · Engin, 2023</a:t>
            </a:r>
            <a:endParaRPr lang="en-US" sz="950" dirty="0"/>
          </a:p>
        </p:txBody>
      </p:sp>
      <p:sp>
        <p:nvSpPr>
          <p:cNvPr id="18" name="Text 16"/>
          <p:cNvSpPr/>
          <p:nvPr/>
        </p:nvSpPr>
        <p:spPr>
          <a:xfrm>
            <a:off x="3474720" y="4828032"/>
            <a:ext cx="7818120" cy="969264"/>
          </a:xfrm>
          <a:prstGeom prst="rect">
            <a:avLst/>
          </a:prstGeom>
          <a:noFill/>
          <a:ln/>
        </p:spPr>
        <p:txBody>
          <a:bodyPr wrap="square" lIns="0" tIns="0" rIns="0" bIns="0" rtlCol="0" anchor="ctr"/>
          <a:lstStyle/>
          <a:p>
            <a:pPr marL="0" indent="0">
              <a:lnSpc>
                <a:spcPts val="2000"/>
              </a:lnSpc>
              <a:buNone/>
            </a:pPr>
            <a:r>
              <a:rPr lang="en-US" sz="1300" dirty="0">
                <a:solidFill>
                  <a:srgbClr val="11121A"/>
                </a:solidFill>
                <a:latin typeface="Palatino Linotype" pitchFamily="34" charset="0"/>
                <a:ea typeface="Palatino Linotype" pitchFamily="34" charset="-122"/>
                <a:cs typeface="Palatino Linotype" pitchFamily="34" charset="-120"/>
              </a:rPr>
              <a:t>La șoarece: modulare alosterică pozitivă a GABA-A pe interneuronii din VTA → dezinhibiție prin α1 (Tan 2010). Recompensa cere și α2, posibil α3 (Engin 2023).</a:t>
            </a:r>
            <a:endParaRPr lang="en-US" sz="1300" dirty="0"/>
          </a:p>
        </p:txBody>
      </p:sp>
      <p:sp>
        <p:nvSpPr>
          <p:cNvPr id="19" name="Text 17"/>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Șase mecanisme moleculare diferite; ipoteza unui punct de convergență.</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0E7C6B"/>
                </a:solidFill>
                <a:latin typeface="Palatino Linotype" pitchFamily="34" charset="0"/>
                <a:ea typeface="Palatino Linotype" pitchFamily="34" charset="-122"/>
                <a:cs typeface="Palatino Linotype" pitchFamily="34" charset="-120"/>
              </a:rPr>
              <a:t>COMPARAȚIE</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Două clase pe care le veți prescrie amândouă</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585A64"/>
                </a:solidFill>
                <a:latin typeface="Palatino Linotype" pitchFamily="34" charset="0"/>
                <a:ea typeface="Palatino Linotype" pitchFamily="34" charset="-122"/>
                <a:cs typeface="Palatino Linotype" pitchFamily="34" charset="-120"/>
              </a:rPr>
              <a:t>Priviți primul și ultimul rând al tabelului anterior. Aceeași țintă, aceeași strategie.</a:t>
            </a:r>
            <a:endParaRPr lang="en-US" sz="1450" dirty="0"/>
          </a:p>
        </p:txBody>
      </p:sp>
      <p:sp>
        <p:nvSpPr>
          <p:cNvPr id="5" name="Text 3"/>
          <p:cNvSpPr/>
          <p:nvPr/>
        </p:nvSpPr>
        <p:spPr>
          <a:xfrm>
            <a:off x="594360" y="1847088"/>
            <a:ext cx="3291840" cy="329184"/>
          </a:xfrm>
          <a:prstGeom prst="rect">
            <a:avLst/>
          </a:prstGeom>
          <a:noFill/>
          <a:ln/>
        </p:spPr>
        <p:txBody>
          <a:bodyPr wrap="square" lIns="0" tIns="0" rIns="0" bIns="0" rtlCol="0" anchor="ctr"/>
          <a:lstStyle/>
          <a:p>
            <a:pPr marL="0" indent="0">
              <a:buNone/>
            </a:pPr>
            <a:endParaRPr lang="en-US" sz="1050" dirty="0"/>
          </a:p>
        </p:txBody>
      </p:sp>
      <p:sp>
        <p:nvSpPr>
          <p:cNvPr id="6" name="Text 4"/>
          <p:cNvSpPr/>
          <p:nvPr/>
        </p:nvSpPr>
        <p:spPr>
          <a:xfrm>
            <a:off x="3886200" y="1847088"/>
            <a:ext cx="3840480" cy="329184"/>
          </a:xfrm>
          <a:prstGeom prst="rect">
            <a:avLst/>
          </a:prstGeom>
          <a:noFill/>
          <a:ln/>
        </p:spPr>
        <p:txBody>
          <a:bodyPr wrap="square" lIns="0" tIns="0" rIns="0" bIns="0" rtlCol="0" anchor="ctr"/>
          <a:lstStyle/>
          <a:p>
            <a:pPr marL="0" indent="0">
              <a:buNone/>
            </a:pPr>
            <a:r>
              <a:rPr lang="en-US" sz="1050" b="1" kern="0" spc="120" dirty="0">
                <a:solidFill>
                  <a:srgbClr val="B02532"/>
                </a:solidFill>
                <a:latin typeface="Palatino Linotype" pitchFamily="34" charset="0"/>
                <a:ea typeface="Palatino Linotype" pitchFamily="34" charset="-122"/>
                <a:cs typeface="Palatino Linotype" pitchFamily="34" charset="-120"/>
              </a:rPr>
              <a:t>AGONIȘTI OPIOIZI μ</a:t>
            </a:r>
            <a:endParaRPr lang="en-US" sz="1050" dirty="0"/>
          </a:p>
        </p:txBody>
      </p:sp>
      <p:sp>
        <p:nvSpPr>
          <p:cNvPr id="7" name="Text 5"/>
          <p:cNvSpPr/>
          <p:nvPr/>
        </p:nvSpPr>
        <p:spPr>
          <a:xfrm>
            <a:off x="7726680" y="1847088"/>
            <a:ext cx="3840480" cy="329184"/>
          </a:xfrm>
          <a:prstGeom prst="rect">
            <a:avLst/>
          </a:prstGeom>
          <a:noFill/>
          <a:ln/>
        </p:spPr>
        <p:txBody>
          <a:bodyPr wrap="square" lIns="0" tIns="0" rIns="0" bIns="0" rtlCol="0" anchor="ctr"/>
          <a:lstStyle/>
          <a:p>
            <a:pPr marL="0" indent="0">
              <a:buNone/>
            </a:pPr>
            <a:r>
              <a:rPr lang="en-US" sz="1050" b="1" kern="0" spc="120" dirty="0">
                <a:solidFill>
                  <a:srgbClr val="0E7C6B"/>
                </a:solidFill>
                <a:latin typeface="Palatino Linotype" pitchFamily="34" charset="0"/>
                <a:ea typeface="Palatino Linotype" pitchFamily="34" charset="-122"/>
                <a:cs typeface="Palatino Linotype" pitchFamily="34" charset="-120"/>
              </a:rPr>
              <a:t>BENZODIAZEPINE</a:t>
            </a:r>
            <a:endParaRPr lang="en-US" sz="1050" dirty="0"/>
          </a:p>
        </p:txBody>
      </p:sp>
      <p:sp>
        <p:nvSpPr>
          <p:cNvPr id="8" name="Shape 6"/>
          <p:cNvSpPr/>
          <p:nvPr/>
        </p:nvSpPr>
        <p:spPr>
          <a:xfrm>
            <a:off x="594360" y="2249424"/>
            <a:ext cx="10972800" cy="539496"/>
          </a:xfrm>
          <a:prstGeom prst="roundRect">
            <a:avLst>
              <a:gd name="adj" fmla="val 15254"/>
            </a:avLst>
          </a:prstGeom>
          <a:solidFill>
            <a:srgbClr val="ECEAE4"/>
          </a:solidFill>
          <a:ln w="12700">
            <a:solidFill>
              <a:srgbClr val="ECEAE4"/>
            </a:solidFill>
            <a:prstDash val="solid"/>
          </a:ln>
        </p:spPr>
        <p:txBody>
          <a:bodyPr/>
          <a:lstStyle/>
          <a:p>
            <a:endParaRPr lang="ro-RO"/>
          </a:p>
        </p:txBody>
      </p:sp>
      <p:sp>
        <p:nvSpPr>
          <p:cNvPr id="9" name="Text 7"/>
          <p:cNvSpPr/>
          <p:nvPr/>
        </p:nvSpPr>
        <p:spPr>
          <a:xfrm>
            <a:off x="868680" y="2249424"/>
            <a:ext cx="3017520" cy="539496"/>
          </a:xfrm>
          <a:prstGeom prst="rect">
            <a:avLst/>
          </a:prstGeom>
          <a:noFill/>
          <a:ln/>
        </p:spPr>
        <p:txBody>
          <a:bodyPr wrap="square" lIns="0" tIns="0" rIns="0" bIns="0" rtlCol="0" anchor="ctr"/>
          <a:lstStyle/>
          <a:p>
            <a:pPr marL="0" indent="0">
              <a:lnSpc>
                <a:spcPts val="1700"/>
              </a:lnSpc>
              <a:buNone/>
            </a:pPr>
            <a:r>
              <a:rPr lang="en-US" sz="1250" b="1" dirty="0">
                <a:solidFill>
                  <a:srgbClr val="11121A"/>
                </a:solidFill>
                <a:latin typeface="Palatino Linotype" pitchFamily="34" charset="0"/>
                <a:ea typeface="Palatino Linotype" pitchFamily="34" charset="-122"/>
                <a:cs typeface="Palatino Linotype" pitchFamily="34" charset="-120"/>
              </a:rPr>
              <a:t>Ținta moleculară</a:t>
            </a:r>
            <a:endParaRPr lang="en-US" sz="1250" dirty="0"/>
          </a:p>
        </p:txBody>
      </p:sp>
      <p:sp>
        <p:nvSpPr>
          <p:cNvPr id="10" name="Text 8"/>
          <p:cNvSpPr/>
          <p:nvPr/>
        </p:nvSpPr>
        <p:spPr>
          <a:xfrm>
            <a:off x="3886200" y="2249424"/>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receptor μ-opioid (felii de creier de șobolan)</a:t>
            </a:r>
            <a:endParaRPr lang="en-US" sz="1250" dirty="0"/>
          </a:p>
        </p:txBody>
      </p:sp>
      <p:sp>
        <p:nvSpPr>
          <p:cNvPr id="11" name="Text 9"/>
          <p:cNvSpPr/>
          <p:nvPr/>
        </p:nvSpPr>
        <p:spPr>
          <a:xfrm>
            <a:off x="7726680" y="2249424"/>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receptor GABA-A: α1 pentru dezinhibiția din ATV (șoarece); recompensa cere și α2, posibil α3</a:t>
            </a:r>
            <a:endParaRPr lang="en-US" sz="1250" dirty="0"/>
          </a:p>
        </p:txBody>
      </p:sp>
      <p:sp>
        <p:nvSpPr>
          <p:cNvPr id="12" name="Text 10"/>
          <p:cNvSpPr/>
          <p:nvPr/>
        </p:nvSpPr>
        <p:spPr>
          <a:xfrm>
            <a:off x="868680" y="2834640"/>
            <a:ext cx="3017520" cy="539496"/>
          </a:xfrm>
          <a:prstGeom prst="rect">
            <a:avLst/>
          </a:prstGeom>
          <a:noFill/>
          <a:ln/>
        </p:spPr>
        <p:txBody>
          <a:bodyPr wrap="square" lIns="0" tIns="0" rIns="0" bIns="0" rtlCol="0" anchor="ctr"/>
          <a:lstStyle/>
          <a:p>
            <a:pPr marL="0" indent="0">
              <a:lnSpc>
                <a:spcPts val="1700"/>
              </a:lnSpc>
              <a:buNone/>
            </a:pPr>
            <a:r>
              <a:rPr lang="en-US" sz="1250" b="1" dirty="0">
                <a:solidFill>
                  <a:srgbClr val="11121A"/>
                </a:solidFill>
                <a:latin typeface="Palatino Linotype" pitchFamily="34" charset="0"/>
                <a:ea typeface="Palatino Linotype" pitchFamily="34" charset="-122"/>
                <a:cs typeface="Palatino Linotype" pitchFamily="34" charset="-120"/>
              </a:rPr>
              <a:t>Celula-țintă</a:t>
            </a:r>
            <a:endParaRPr lang="en-US" sz="1250" dirty="0"/>
          </a:p>
        </p:txBody>
      </p:sp>
      <p:sp>
        <p:nvSpPr>
          <p:cNvPr id="13" name="Text 11"/>
          <p:cNvSpPr/>
          <p:nvPr/>
        </p:nvSpPr>
        <p:spPr>
          <a:xfrm>
            <a:off x="3886200" y="2834640"/>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interneuronii GABA-ergici din VTA</a:t>
            </a:r>
            <a:endParaRPr lang="en-US" sz="1250" dirty="0"/>
          </a:p>
        </p:txBody>
      </p:sp>
      <p:sp>
        <p:nvSpPr>
          <p:cNvPr id="14" name="Text 12"/>
          <p:cNvSpPr/>
          <p:nvPr/>
        </p:nvSpPr>
        <p:spPr>
          <a:xfrm>
            <a:off x="7726680" y="2834640"/>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interneuronii GABA-ergici din VTA</a:t>
            </a:r>
            <a:endParaRPr lang="en-US" sz="1250" dirty="0"/>
          </a:p>
        </p:txBody>
      </p:sp>
      <p:sp>
        <p:nvSpPr>
          <p:cNvPr id="15" name="Shape 13"/>
          <p:cNvSpPr/>
          <p:nvPr/>
        </p:nvSpPr>
        <p:spPr>
          <a:xfrm>
            <a:off x="594360" y="3419856"/>
            <a:ext cx="10972800" cy="539496"/>
          </a:xfrm>
          <a:prstGeom prst="roundRect">
            <a:avLst>
              <a:gd name="adj" fmla="val 15254"/>
            </a:avLst>
          </a:prstGeom>
          <a:solidFill>
            <a:srgbClr val="ECEAE4"/>
          </a:solidFill>
          <a:ln w="12700">
            <a:solidFill>
              <a:srgbClr val="ECEAE4"/>
            </a:solidFill>
            <a:prstDash val="solid"/>
          </a:ln>
        </p:spPr>
        <p:txBody>
          <a:bodyPr/>
          <a:lstStyle/>
          <a:p>
            <a:endParaRPr lang="ro-RO"/>
          </a:p>
        </p:txBody>
      </p:sp>
      <p:sp>
        <p:nvSpPr>
          <p:cNvPr id="16" name="Text 14"/>
          <p:cNvSpPr/>
          <p:nvPr/>
        </p:nvSpPr>
        <p:spPr>
          <a:xfrm>
            <a:off x="868680" y="3419856"/>
            <a:ext cx="3017520" cy="539496"/>
          </a:xfrm>
          <a:prstGeom prst="rect">
            <a:avLst/>
          </a:prstGeom>
          <a:noFill/>
          <a:ln/>
        </p:spPr>
        <p:txBody>
          <a:bodyPr wrap="square" lIns="0" tIns="0" rIns="0" bIns="0" rtlCol="0" anchor="ctr"/>
          <a:lstStyle/>
          <a:p>
            <a:pPr marL="0" indent="0">
              <a:lnSpc>
                <a:spcPts val="1700"/>
              </a:lnSpc>
              <a:buNone/>
            </a:pPr>
            <a:r>
              <a:rPr lang="en-US" sz="1250" b="1" dirty="0">
                <a:solidFill>
                  <a:srgbClr val="11121A"/>
                </a:solidFill>
                <a:latin typeface="Palatino Linotype" pitchFamily="34" charset="0"/>
                <a:ea typeface="Palatino Linotype" pitchFamily="34" charset="-122"/>
                <a:cs typeface="Palatino Linotype" pitchFamily="34" charset="-120"/>
              </a:rPr>
              <a:t>Ce fac cu ei</a:t>
            </a:r>
            <a:endParaRPr lang="en-US" sz="1250" dirty="0"/>
          </a:p>
        </p:txBody>
      </p:sp>
      <p:sp>
        <p:nvSpPr>
          <p:cNvPr id="17" name="Text 15"/>
          <p:cNvSpPr/>
          <p:nvPr/>
        </p:nvSpPr>
        <p:spPr>
          <a:xfrm>
            <a:off x="3886200" y="3419856"/>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hiperpolarizare, prin receptorii μ</a:t>
            </a:r>
            <a:endParaRPr lang="en-US" sz="1250" dirty="0"/>
          </a:p>
        </p:txBody>
      </p:sp>
      <p:sp>
        <p:nvSpPr>
          <p:cNvPr id="18" name="Text 16"/>
          <p:cNvSpPr/>
          <p:nvPr/>
        </p:nvSpPr>
        <p:spPr>
          <a:xfrm>
            <a:off x="7726680" y="3419856"/>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modulare pozitivă GABA-A, care le reduce activitatea</a:t>
            </a:r>
            <a:endParaRPr lang="en-US" sz="1250" dirty="0"/>
          </a:p>
        </p:txBody>
      </p:sp>
      <p:sp>
        <p:nvSpPr>
          <p:cNvPr id="19" name="Text 17"/>
          <p:cNvSpPr/>
          <p:nvPr/>
        </p:nvSpPr>
        <p:spPr>
          <a:xfrm>
            <a:off x="868680" y="4005072"/>
            <a:ext cx="3017520" cy="539496"/>
          </a:xfrm>
          <a:prstGeom prst="rect">
            <a:avLst/>
          </a:prstGeom>
          <a:noFill/>
          <a:ln/>
        </p:spPr>
        <p:txBody>
          <a:bodyPr wrap="square" lIns="0" tIns="0" rIns="0" bIns="0" rtlCol="0" anchor="ctr"/>
          <a:lstStyle/>
          <a:p>
            <a:pPr marL="0" indent="0">
              <a:lnSpc>
                <a:spcPts val="1700"/>
              </a:lnSpc>
              <a:buNone/>
            </a:pPr>
            <a:r>
              <a:rPr lang="en-US" sz="1250" b="1" dirty="0">
                <a:solidFill>
                  <a:srgbClr val="11121A"/>
                </a:solidFill>
                <a:latin typeface="Palatino Linotype" pitchFamily="34" charset="0"/>
                <a:ea typeface="Palatino Linotype" pitchFamily="34" charset="-122"/>
                <a:cs typeface="Palatino Linotype" pitchFamily="34" charset="-120"/>
              </a:rPr>
              <a:t>Efectul net</a:t>
            </a:r>
            <a:endParaRPr lang="en-US" sz="1250" dirty="0"/>
          </a:p>
        </p:txBody>
      </p:sp>
      <p:sp>
        <p:nvSpPr>
          <p:cNvPr id="20" name="Text 18"/>
          <p:cNvSpPr/>
          <p:nvPr/>
        </p:nvSpPr>
        <p:spPr>
          <a:xfrm>
            <a:off x="3886200" y="4005072"/>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dezinhibiția neuronului dopaminergic</a:t>
            </a:r>
            <a:endParaRPr lang="en-US" sz="1250" dirty="0"/>
          </a:p>
        </p:txBody>
      </p:sp>
      <p:sp>
        <p:nvSpPr>
          <p:cNvPr id="21" name="Text 19"/>
          <p:cNvSpPr/>
          <p:nvPr/>
        </p:nvSpPr>
        <p:spPr>
          <a:xfrm>
            <a:off x="7726680" y="4005072"/>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dezinhibiția neuronului dopaminergic</a:t>
            </a:r>
            <a:endParaRPr lang="en-US" sz="1250" dirty="0"/>
          </a:p>
        </p:txBody>
      </p:sp>
      <p:sp>
        <p:nvSpPr>
          <p:cNvPr id="22" name="Shape 20"/>
          <p:cNvSpPr/>
          <p:nvPr/>
        </p:nvSpPr>
        <p:spPr>
          <a:xfrm>
            <a:off x="594360" y="4590288"/>
            <a:ext cx="10972800" cy="539496"/>
          </a:xfrm>
          <a:prstGeom prst="roundRect">
            <a:avLst>
              <a:gd name="adj" fmla="val 15254"/>
            </a:avLst>
          </a:prstGeom>
          <a:solidFill>
            <a:srgbClr val="ECEAE4"/>
          </a:solidFill>
          <a:ln w="12700">
            <a:solidFill>
              <a:srgbClr val="ECEAE4"/>
            </a:solidFill>
            <a:prstDash val="solid"/>
          </a:ln>
        </p:spPr>
        <p:txBody>
          <a:bodyPr/>
          <a:lstStyle/>
          <a:p>
            <a:endParaRPr lang="ro-RO"/>
          </a:p>
        </p:txBody>
      </p:sp>
      <p:sp>
        <p:nvSpPr>
          <p:cNvPr id="23" name="Text 21"/>
          <p:cNvSpPr/>
          <p:nvPr/>
        </p:nvSpPr>
        <p:spPr>
          <a:xfrm>
            <a:off x="868680" y="4590288"/>
            <a:ext cx="3017520" cy="539496"/>
          </a:xfrm>
          <a:prstGeom prst="rect">
            <a:avLst/>
          </a:prstGeom>
          <a:noFill/>
          <a:ln/>
        </p:spPr>
        <p:txBody>
          <a:bodyPr wrap="square" lIns="0" tIns="0" rIns="0" bIns="0" rtlCol="0" anchor="ctr"/>
          <a:lstStyle/>
          <a:p>
            <a:pPr marL="0" indent="0">
              <a:lnSpc>
                <a:spcPts val="1700"/>
              </a:lnSpc>
              <a:buNone/>
            </a:pPr>
            <a:r>
              <a:rPr lang="en-US" sz="1250" b="1" dirty="0">
                <a:solidFill>
                  <a:srgbClr val="11121A"/>
                </a:solidFill>
                <a:latin typeface="Palatino Linotype" pitchFamily="34" charset="0"/>
                <a:ea typeface="Palatino Linotype" pitchFamily="34" charset="-122"/>
                <a:cs typeface="Palatino Linotype" pitchFamily="34" charset="-120"/>
              </a:rPr>
              <a:t>Neuronul DA e stimulat direct?</a:t>
            </a:r>
            <a:endParaRPr lang="en-US" sz="1250" dirty="0"/>
          </a:p>
        </p:txBody>
      </p:sp>
      <p:sp>
        <p:nvSpPr>
          <p:cNvPr id="24" name="Text 22"/>
          <p:cNvSpPr/>
          <p:nvPr/>
        </p:nvSpPr>
        <p:spPr>
          <a:xfrm>
            <a:off x="3886200" y="4590288"/>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nu</a:t>
            </a:r>
            <a:endParaRPr lang="en-US" sz="1250" dirty="0"/>
          </a:p>
        </p:txBody>
      </p:sp>
      <p:sp>
        <p:nvSpPr>
          <p:cNvPr id="25" name="Text 23"/>
          <p:cNvSpPr/>
          <p:nvPr/>
        </p:nvSpPr>
        <p:spPr>
          <a:xfrm>
            <a:off x="7726680" y="4590288"/>
            <a:ext cx="3657600" cy="539496"/>
          </a:xfrm>
          <a:prstGeom prst="rect">
            <a:avLst/>
          </a:prstGeom>
          <a:noFill/>
          <a:ln/>
        </p:spPr>
        <p:txBody>
          <a:bodyPr wrap="square" lIns="0" tIns="0" rIns="0" bIns="0" rtlCol="0" anchor="ctr"/>
          <a:lstStyle/>
          <a:p>
            <a:pPr marL="0" indent="0">
              <a:lnSpc>
                <a:spcPts val="1700"/>
              </a:lnSpc>
              <a:buNone/>
            </a:pPr>
            <a:r>
              <a:rPr lang="en-US" sz="1250" dirty="0">
                <a:solidFill>
                  <a:srgbClr val="11121A"/>
                </a:solidFill>
                <a:latin typeface="Palatino Linotype" pitchFamily="34" charset="0"/>
                <a:ea typeface="Palatino Linotype" pitchFamily="34" charset="-122"/>
                <a:cs typeface="Palatino Linotype" pitchFamily="34" charset="-120"/>
              </a:rPr>
              <a:t>nu</a:t>
            </a:r>
            <a:endParaRPr lang="en-US" sz="1250" dirty="0"/>
          </a:p>
        </p:txBody>
      </p:sp>
      <p:sp>
        <p:nvSpPr>
          <p:cNvPr id="26" name="Shape 24"/>
          <p:cNvSpPr/>
          <p:nvPr/>
        </p:nvSpPr>
        <p:spPr>
          <a:xfrm>
            <a:off x="594360" y="5376672"/>
            <a:ext cx="10972800" cy="749808"/>
          </a:xfrm>
          <a:prstGeom prst="roundRect">
            <a:avLst>
              <a:gd name="adj" fmla="val 10976"/>
            </a:avLst>
          </a:prstGeom>
          <a:solidFill>
            <a:srgbClr val="11121A"/>
          </a:solidFill>
          <a:ln w="12700">
            <a:solidFill>
              <a:srgbClr val="11121A"/>
            </a:solidFill>
            <a:prstDash val="solid"/>
          </a:ln>
        </p:spPr>
        <p:txBody>
          <a:bodyPr/>
          <a:lstStyle/>
          <a:p>
            <a:endParaRPr lang="ro-RO"/>
          </a:p>
        </p:txBody>
      </p:sp>
      <p:sp>
        <p:nvSpPr>
          <p:cNvPr id="27" name="Text 25"/>
          <p:cNvSpPr/>
          <p:nvPr/>
        </p:nvSpPr>
        <p:spPr>
          <a:xfrm>
            <a:off x="960120" y="5376672"/>
            <a:ext cx="10241280" cy="749808"/>
          </a:xfrm>
          <a:prstGeom prst="rect">
            <a:avLst/>
          </a:prstGeom>
          <a:noFill/>
          <a:ln/>
        </p:spPr>
        <p:txBody>
          <a:bodyPr wrap="square" lIns="0" tIns="0" rIns="0" bIns="0" rtlCol="0" anchor="ctr"/>
          <a:lstStyle/>
          <a:p>
            <a:pPr marL="0" indent="0">
              <a:buNone/>
            </a:pPr>
            <a:r>
              <a:rPr lang="en-US" sz="1450" b="1" dirty="0">
                <a:solidFill>
                  <a:srgbClr val="FFC24B"/>
                </a:solidFill>
                <a:latin typeface="Palatino Linotype" pitchFamily="34" charset="0"/>
                <a:ea typeface="Palatino Linotype" pitchFamily="34" charset="-122"/>
                <a:cs typeface="Palatino Linotype" pitchFamily="34" charset="-120"/>
              </a:rPr>
              <a:t>Niciuna nu stimulează direct neuronul dopaminergic: amândouă reduc activitatea paznicului GABA-ergic care îl ține în frâu.</a:t>
            </a:r>
            <a:endParaRPr lang="en-US" sz="1450" dirty="0"/>
          </a:p>
        </p:txBody>
      </p:sp>
      <p:sp>
        <p:nvSpPr>
          <p:cNvPr id="28" name="Text 26"/>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Johnson și North, J Neurosci, 1992 · Tan și colab., Nature, 2010 · Engin, 2023</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564B"/>
        </a:solidFill>
        <a:effectLst/>
      </p:bgPr>
    </p:bg>
    <p:spTree>
      <p:nvGrpSpPr>
        <p:cNvPr id="1" name=""/>
        <p:cNvGrpSpPr/>
        <p:nvPr/>
      </p:nvGrpSpPr>
      <p:grpSpPr>
        <a:xfrm>
          <a:off x="0" y="0"/>
          <a:ext cx="0" cy="0"/>
          <a:chOff x="0" y="0"/>
          <a:chExt cx="0" cy="0"/>
        </a:xfrm>
      </p:grpSpPr>
      <p:sp>
        <p:nvSpPr>
          <p:cNvPr id="2" name="Text 0"/>
          <p:cNvSpPr/>
          <p:nvPr/>
        </p:nvSpPr>
        <p:spPr>
          <a:xfrm>
            <a:off x="822960" y="777240"/>
            <a:ext cx="10515600" cy="329184"/>
          </a:xfrm>
          <a:prstGeom prst="rect">
            <a:avLst/>
          </a:prstGeom>
          <a:noFill/>
          <a:ln/>
        </p:spPr>
        <p:txBody>
          <a:bodyPr wrap="square" lIns="0" tIns="0" rIns="0" bIns="0" rtlCol="0" anchor="ctr"/>
          <a:lstStyle/>
          <a:p>
            <a:pPr marL="0" indent="0">
              <a:buNone/>
            </a:pPr>
            <a:r>
              <a:rPr lang="en-US" sz="1100" b="1" kern="0" spc="300" dirty="0">
                <a:solidFill>
                  <a:srgbClr val="A9E8DE"/>
                </a:solidFill>
                <a:latin typeface="Palatino Linotype" pitchFamily="34" charset="0"/>
                <a:ea typeface="Palatino Linotype" pitchFamily="34" charset="-122"/>
                <a:cs typeface="Palatino Linotype" pitchFamily="34" charset="-120"/>
              </a:rPr>
              <a:t>CONSECINȚA CLINICĂ</a:t>
            </a:r>
            <a:endParaRPr lang="en-US" sz="1100" dirty="0"/>
          </a:p>
        </p:txBody>
      </p:sp>
      <p:sp>
        <p:nvSpPr>
          <p:cNvPr id="3" name="Text 1"/>
          <p:cNvSpPr/>
          <p:nvPr/>
        </p:nvSpPr>
        <p:spPr>
          <a:xfrm>
            <a:off x="822960" y="1298448"/>
            <a:ext cx="10515600" cy="1417320"/>
          </a:xfrm>
          <a:prstGeom prst="rect">
            <a:avLst/>
          </a:prstGeom>
          <a:noFill/>
          <a:ln/>
        </p:spPr>
        <p:txBody>
          <a:bodyPr wrap="square" lIns="0" tIns="0" rIns="0" bIns="0" rtlCol="0" anchor="ctr"/>
          <a:lstStyle/>
          <a:p>
            <a:pPr marL="0" indent="0">
              <a:lnSpc>
                <a:spcPts val="4800"/>
              </a:lnSpc>
              <a:buNone/>
            </a:pPr>
            <a:r>
              <a:rPr lang="en-US" sz="3100" b="1" dirty="0">
                <a:solidFill>
                  <a:srgbClr val="FFFFFF"/>
                </a:solidFill>
                <a:latin typeface="Palatino Linotype" pitchFamily="34" charset="0"/>
                <a:ea typeface="Palatino Linotype" pitchFamily="34" charset="-122"/>
                <a:cs typeface="Palatino Linotype" pitchFamily="34" charset="-120"/>
              </a:rPr>
              <a:t>O rețetă de alprazolam prelungită „ca să treacă perioada asta”</a:t>
            </a:r>
            <a:endParaRPr lang="en-US" sz="3100" dirty="0"/>
          </a:p>
          <a:p>
            <a:pPr marL="0" indent="0">
              <a:lnSpc>
                <a:spcPts val="4800"/>
              </a:lnSpc>
              <a:buNone/>
            </a:pPr>
            <a:r>
              <a:rPr lang="en-US" sz="3100" b="1" dirty="0">
                <a:solidFill>
                  <a:srgbClr val="FFFFFF"/>
                </a:solidFill>
                <a:latin typeface="Palatino Linotype" pitchFamily="34" charset="0"/>
                <a:ea typeface="Palatino Linotype" pitchFamily="34" charset="-122"/>
                <a:cs typeface="Palatino Linotype" pitchFamily="34" charset="-120"/>
              </a:rPr>
              <a:t>nu este o decizie farmacologic neutră.</a:t>
            </a:r>
            <a:endParaRPr lang="en-US" sz="3100" dirty="0"/>
          </a:p>
        </p:txBody>
      </p:sp>
      <p:sp>
        <p:nvSpPr>
          <p:cNvPr id="4" name="Shape 2"/>
          <p:cNvSpPr/>
          <p:nvPr/>
        </p:nvSpPr>
        <p:spPr>
          <a:xfrm>
            <a:off x="822960" y="2926080"/>
            <a:ext cx="1600200" cy="32004"/>
          </a:xfrm>
          <a:prstGeom prst="rect">
            <a:avLst/>
          </a:prstGeom>
          <a:solidFill>
            <a:srgbClr val="6FD9C9"/>
          </a:solidFill>
          <a:ln w="12700">
            <a:solidFill>
              <a:srgbClr val="6FD9C9"/>
            </a:solidFill>
            <a:prstDash val="solid"/>
          </a:ln>
        </p:spPr>
        <p:txBody>
          <a:bodyPr/>
          <a:lstStyle/>
          <a:p>
            <a:endParaRPr lang="ro-RO"/>
          </a:p>
        </p:txBody>
      </p:sp>
      <p:sp>
        <p:nvSpPr>
          <p:cNvPr id="5" name="Shape 3"/>
          <p:cNvSpPr/>
          <p:nvPr/>
        </p:nvSpPr>
        <p:spPr>
          <a:xfrm>
            <a:off x="822960" y="3273552"/>
            <a:ext cx="5029200" cy="1325880"/>
          </a:xfrm>
          <a:prstGeom prst="roundRect">
            <a:avLst>
              <a:gd name="adj" fmla="val 6207"/>
            </a:avLst>
          </a:prstGeom>
          <a:solidFill>
            <a:srgbClr val="0A6D5F"/>
          </a:solidFill>
          <a:ln w="12700">
            <a:solidFill>
              <a:srgbClr val="333333"/>
            </a:solidFill>
            <a:prstDash val="solid"/>
          </a:ln>
        </p:spPr>
        <p:txBody>
          <a:bodyPr/>
          <a:lstStyle/>
          <a:p>
            <a:endParaRPr lang="ro-RO"/>
          </a:p>
        </p:txBody>
      </p:sp>
      <p:sp>
        <p:nvSpPr>
          <p:cNvPr id="6" name="Text 4"/>
          <p:cNvSpPr/>
          <p:nvPr/>
        </p:nvSpPr>
        <p:spPr>
          <a:xfrm>
            <a:off x="1143000" y="3456432"/>
            <a:ext cx="4389120" cy="292608"/>
          </a:xfrm>
          <a:prstGeom prst="rect">
            <a:avLst/>
          </a:prstGeom>
          <a:noFill/>
          <a:ln/>
        </p:spPr>
        <p:txBody>
          <a:bodyPr wrap="square" lIns="0" tIns="0" rIns="0" bIns="0" rtlCol="0" anchor="ctr"/>
          <a:lstStyle/>
          <a:p>
            <a:pPr marL="0" indent="0">
              <a:buNone/>
            </a:pPr>
            <a:r>
              <a:rPr lang="en-US" sz="1050" b="1" kern="0" spc="200" dirty="0">
                <a:solidFill>
                  <a:srgbClr val="A9E8DE"/>
                </a:solidFill>
                <a:latin typeface="Palatino Linotype" pitchFamily="34" charset="0"/>
                <a:ea typeface="Palatino Linotype" pitchFamily="34" charset="-122"/>
                <a:cs typeface="Palatino Linotype" pitchFamily="34" charset="-120"/>
              </a:rPr>
              <a:t>CE ȘTIȚI ACUM</a:t>
            </a:r>
            <a:endParaRPr lang="en-US" sz="1050" dirty="0"/>
          </a:p>
        </p:txBody>
      </p:sp>
      <p:sp>
        <p:nvSpPr>
          <p:cNvPr id="7" name="Text 5"/>
          <p:cNvSpPr/>
          <p:nvPr/>
        </p:nvSpPr>
        <p:spPr>
          <a:xfrm>
            <a:off x="1143000" y="3785616"/>
            <a:ext cx="4389120" cy="685800"/>
          </a:xfrm>
          <a:prstGeom prst="rect">
            <a:avLst/>
          </a:prstGeom>
          <a:noFill/>
          <a:ln/>
        </p:spPr>
        <p:txBody>
          <a:bodyPr wrap="square" lIns="0" tIns="0" rIns="0" bIns="0" rtlCol="0" anchor="t"/>
          <a:lstStyle/>
          <a:p>
            <a:pPr marL="0" indent="0">
              <a:lnSpc>
                <a:spcPts val="2100"/>
              </a:lnSpc>
              <a:buNone/>
            </a:pPr>
            <a:r>
              <a:rPr lang="en-US" sz="1400" dirty="0">
                <a:solidFill>
                  <a:srgbClr val="FFFFFF"/>
                </a:solidFill>
                <a:latin typeface="Palatino Linotype" pitchFamily="34" charset="0"/>
                <a:ea typeface="Palatino Linotype" pitchFamily="34" charset="-122"/>
                <a:cs typeface="Palatino Linotype" pitchFamily="34" charset="-120"/>
              </a:rPr>
              <a:t>FDA (2020), ghidul din 2025: dependența fizică poate apărea chiar conform prescripției.</a:t>
            </a:r>
            <a:endParaRPr lang="en-US" sz="1400" dirty="0"/>
          </a:p>
        </p:txBody>
      </p:sp>
      <p:sp>
        <p:nvSpPr>
          <p:cNvPr id="8" name="Shape 6"/>
          <p:cNvSpPr/>
          <p:nvPr/>
        </p:nvSpPr>
        <p:spPr>
          <a:xfrm>
            <a:off x="6309360" y="3273552"/>
            <a:ext cx="5029200" cy="1325880"/>
          </a:xfrm>
          <a:prstGeom prst="roundRect">
            <a:avLst>
              <a:gd name="adj" fmla="val 6207"/>
            </a:avLst>
          </a:prstGeom>
          <a:solidFill>
            <a:srgbClr val="0A6D5F"/>
          </a:solidFill>
          <a:ln w="12700">
            <a:solidFill>
              <a:srgbClr val="333333"/>
            </a:solidFill>
            <a:prstDash val="solid"/>
          </a:ln>
        </p:spPr>
        <p:txBody>
          <a:bodyPr/>
          <a:lstStyle/>
          <a:p>
            <a:endParaRPr lang="ro-RO"/>
          </a:p>
        </p:txBody>
      </p:sp>
      <p:sp>
        <p:nvSpPr>
          <p:cNvPr id="9" name="Text 7"/>
          <p:cNvSpPr/>
          <p:nvPr/>
        </p:nvSpPr>
        <p:spPr>
          <a:xfrm>
            <a:off x="6629400" y="3456432"/>
            <a:ext cx="4389120" cy="292608"/>
          </a:xfrm>
          <a:prstGeom prst="rect">
            <a:avLst/>
          </a:prstGeom>
          <a:noFill/>
          <a:ln/>
        </p:spPr>
        <p:txBody>
          <a:bodyPr wrap="square" lIns="0" tIns="0" rIns="0" bIns="0" rtlCol="0" anchor="ctr"/>
          <a:lstStyle/>
          <a:p>
            <a:pPr marL="0" indent="0">
              <a:buNone/>
            </a:pPr>
            <a:r>
              <a:rPr lang="en-US" sz="1050" b="1" kern="0" spc="200" dirty="0">
                <a:solidFill>
                  <a:srgbClr val="A9E8DE"/>
                </a:solidFill>
                <a:latin typeface="Palatino Linotype" pitchFamily="34" charset="0"/>
                <a:ea typeface="Palatino Linotype" pitchFamily="34" charset="-122"/>
                <a:cs typeface="Palatino Linotype" pitchFamily="34" charset="-120"/>
              </a:rPr>
              <a:t>CE ÎNSEAMNĂ</a:t>
            </a:r>
            <a:endParaRPr lang="en-US" sz="1050" dirty="0"/>
          </a:p>
        </p:txBody>
      </p:sp>
      <p:sp>
        <p:nvSpPr>
          <p:cNvPr id="10" name="Text 8"/>
          <p:cNvSpPr/>
          <p:nvPr/>
        </p:nvSpPr>
        <p:spPr>
          <a:xfrm>
            <a:off x="6629400" y="3785616"/>
            <a:ext cx="4389120" cy="685800"/>
          </a:xfrm>
          <a:prstGeom prst="rect">
            <a:avLst/>
          </a:prstGeom>
          <a:noFill/>
          <a:ln/>
        </p:spPr>
        <p:txBody>
          <a:bodyPr wrap="square" lIns="0" tIns="0" rIns="0" bIns="0" rtlCol="0" anchor="t"/>
          <a:lstStyle/>
          <a:p>
            <a:pPr marL="0" indent="0">
              <a:lnSpc>
                <a:spcPts val="2100"/>
              </a:lnSpc>
              <a:buNone/>
            </a:pPr>
            <a:r>
              <a:rPr lang="en-US" sz="1400" dirty="0">
                <a:solidFill>
                  <a:srgbClr val="FFFFFF"/>
                </a:solidFill>
                <a:latin typeface="Palatino Linotype" pitchFamily="34" charset="0"/>
                <a:ea typeface="Palatino Linotype" pitchFamily="34" charset="-122"/>
                <a:cs typeface="Palatino Linotype" pitchFamily="34" charset="-120"/>
              </a:rPr>
              <a:t>Mecanismul de întărire ține de acțiunea moleculei, nu de intenția celui care prescrie (interpretare).</a:t>
            </a:r>
            <a:endParaRPr lang="en-US" sz="1400" dirty="0"/>
          </a:p>
        </p:txBody>
      </p:sp>
      <p:sp>
        <p:nvSpPr>
          <p:cNvPr id="11" name="Text 9"/>
          <p:cNvSpPr/>
          <p:nvPr/>
        </p:nvSpPr>
        <p:spPr>
          <a:xfrm>
            <a:off x="822960" y="4846320"/>
            <a:ext cx="10515600" cy="685800"/>
          </a:xfrm>
          <a:prstGeom prst="rect">
            <a:avLst/>
          </a:prstGeom>
          <a:noFill/>
          <a:ln/>
        </p:spPr>
        <p:txBody>
          <a:bodyPr wrap="square" lIns="0" tIns="0" rIns="0" bIns="0" rtlCol="0" anchor="t"/>
          <a:lstStyle/>
          <a:p>
            <a:pPr marL="0" indent="0">
              <a:lnSpc>
                <a:spcPts val="2300"/>
              </a:lnSpc>
              <a:buNone/>
            </a:pPr>
            <a:r>
              <a:rPr lang="en-US" sz="1450" dirty="0">
                <a:solidFill>
                  <a:srgbClr val="A9E8DE"/>
                </a:solidFill>
                <a:latin typeface="Palatino Linotype" pitchFamily="34" charset="0"/>
                <a:ea typeface="Palatino Linotype" pitchFamily="34" charset="-122"/>
                <a:cs typeface="Palatino Linotype" pitchFamily="34" charset="-120"/>
              </a:rPr>
              <a:t>Reluăm pe larg în Sesiunea 4, cu ghidurile de prescriere responsabilă și cu patru scenarii de prescripție.</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CÂND SEVRAJUL POATE FI FATAL</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Sevrajul alcoolic: aici distincția nu e academică</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585A64"/>
                </a:solidFill>
                <a:latin typeface="Palatino Linotype" pitchFamily="34" charset="0"/>
                <a:ea typeface="Palatino Linotype" pitchFamily="34" charset="-122"/>
                <a:cs typeface="Palatino Linotype" pitchFamily="34" charset="-120"/>
              </a:rPr>
              <a:t>Ghidul ASAM (2020) pentru sevrajul alcoolic.</a:t>
            </a:r>
            <a:endParaRPr lang="en-US" sz="1450" dirty="0"/>
          </a:p>
        </p:txBody>
      </p:sp>
      <p:sp>
        <p:nvSpPr>
          <p:cNvPr id="5" name="Shape 3"/>
          <p:cNvSpPr/>
          <p:nvPr/>
        </p:nvSpPr>
        <p:spPr>
          <a:xfrm>
            <a:off x="594360" y="1874520"/>
            <a:ext cx="5440680" cy="1691640"/>
          </a:xfrm>
          <a:prstGeom prst="roundRect">
            <a:avLst>
              <a:gd name="adj" fmla="val 4865"/>
            </a:avLst>
          </a:prstGeom>
          <a:solidFill>
            <a:srgbClr val="ECEAE4"/>
          </a:solidFill>
          <a:ln w="12700">
            <a:solidFill>
              <a:srgbClr val="ECEAE4"/>
            </a:solidFill>
            <a:prstDash val="solid"/>
          </a:ln>
        </p:spPr>
        <p:txBody>
          <a:bodyPr/>
          <a:lstStyle/>
          <a:p>
            <a:endParaRPr lang="ro-RO"/>
          </a:p>
        </p:txBody>
      </p:sp>
      <p:sp>
        <p:nvSpPr>
          <p:cNvPr id="6" name="Text 4"/>
          <p:cNvSpPr/>
          <p:nvPr/>
        </p:nvSpPr>
        <p:spPr>
          <a:xfrm>
            <a:off x="850392" y="2075688"/>
            <a:ext cx="4928616" cy="658368"/>
          </a:xfrm>
          <a:prstGeom prst="rect">
            <a:avLst/>
          </a:prstGeom>
          <a:noFill/>
          <a:ln/>
        </p:spPr>
        <p:txBody>
          <a:bodyPr wrap="square" lIns="0" tIns="0" rIns="0" bIns="0" rtlCol="0" anchor="ctr"/>
          <a:lstStyle/>
          <a:p>
            <a:pPr marL="0" indent="0">
              <a:buNone/>
            </a:pPr>
            <a:r>
              <a:rPr lang="en-US" sz="4600" b="1" dirty="0">
                <a:solidFill>
                  <a:srgbClr val="B02532"/>
                </a:solidFill>
                <a:latin typeface="Palatino Linotype" pitchFamily="34" charset="0"/>
                <a:ea typeface="Palatino Linotype" pitchFamily="34" charset="-122"/>
                <a:cs typeface="Palatino Linotype" pitchFamily="34" charset="-120"/>
              </a:rPr>
              <a:t>Linia 1</a:t>
            </a:r>
            <a:endParaRPr lang="en-US" sz="4600" dirty="0"/>
          </a:p>
        </p:txBody>
      </p:sp>
      <p:sp>
        <p:nvSpPr>
          <p:cNvPr id="7" name="Text 5"/>
          <p:cNvSpPr/>
          <p:nvPr/>
        </p:nvSpPr>
        <p:spPr>
          <a:xfrm>
            <a:off x="850392" y="2752344"/>
            <a:ext cx="4928616" cy="667512"/>
          </a:xfrm>
          <a:prstGeom prst="rect">
            <a:avLst/>
          </a:prstGeom>
          <a:noFill/>
          <a:ln/>
        </p:spPr>
        <p:txBody>
          <a:bodyPr wrap="square" lIns="0" tIns="0" rIns="0" bIns="0" rtlCol="0" anchor="t"/>
          <a:lstStyle/>
          <a:p>
            <a:pPr marL="0" indent="0">
              <a:lnSpc>
                <a:spcPts val="1700"/>
              </a:lnSpc>
              <a:buNone/>
            </a:pPr>
            <a:r>
              <a:rPr lang="en-US" sz="1150" dirty="0">
                <a:solidFill>
                  <a:srgbClr val="585A64"/>
                </a:solidFill>
                <a:latin typeface="Palatino Linotype" pitchFamily="34" charset="0"/>
                <a:ea typeface="Palatino Linotype" pitchFamily="34" charset="-122"/>
                <a:cs typeface="Palatino Linotype" pitchFamily="34" charset="-120"/>
              </a:rPr>
              <a:t>benzodiazepinele: tratamentul de primă linie în sevrajul alcoolic; reduc convulsiile și delirul</a:t>
            </a:r>
            <a:endParaRPr lang="en-US" sz="1150" dirty="0"/>
          </a:p>
        </p:txBody>
      </p:sp>
      <p:sp>
        <p:nvSpPr>
          <p:cNvPr id="8" name="Shape 6"/>
          <p:cNvSpPr/>
          <p:nvPr/>
        </p:nvSpPr>
        <p:spPr>
          <a:xfrm>
            <a:off x="6309360" y="1874520"/>
            <a:ext cx="5257800" cy="1691640"/>
          </a:xfrm>
          <a:prstGeom prst="roundRect">
            <a:avLst>
              <a:gd name="adj" fmla="val 4865"/>
            </a:avLst>
          </a:prstGeom>
          <a:solidFill>
            <a:srgbClr val="0E7C6B"/>
          </a:solidFill>
          <a:ln w="12700">
            <a:solidFill>
              <a:srgbClr val="0E7C6B"/>
            </a:solidFill>
            <a:prstDash val="solid"/>
          </a:ln>
        </p:spPr>
        <p:txBody>
          <a:bodyPr/>
          <a:lstStyle/>
          <a:p>
            <a:endParaRPr lang="ro-RO"/>
          </a:p>
        </p:txBody>
      </p:sp>
      <p:sp>
        <p:nvSpPr>
          <p:cNvPr id="9" name="Text 7"/>
          <p:cNvSpPr/>
          <p:nvPr/>
        </p:nvSpPr>
        <p:spPr>
          <a:xfrm>
            <a:off x="6565392" y="2075688"/>
            <a:ext cx="4745736" cy="658368"/>
          </a:xfrm>
          <a:prstGeom prst="rect">
            <a:avLst/>
          </a:prstGeom>
          <a:noFill/>
          <a:ln/>
        </p:spPr>
        <p:txBody>
          <a:bodyPr wrap="square" lIns="0" tIns="0" rIns="0" bIns="0" rtlCol="0" anchor="ctr"/>
          <a:lstStyle/>
          <a:p>
            <a:pPr marL="0" indent="0">
              <a:buNone/>
            </a:pPr>
            <a:r>
              <a:rPr lang="en-US" sz="4600" b="1" dirty="0">
                <a:solidFill>
                  <a:srgbClr val="FFFFFF"/>
                </a:solidFill>
                <a:latin typeface="Palatino Linotype" pitchFamily="34" charset="0"/>
                <a:ea typeface="Palatino Linotype" pitchFamily="34" charset="-122"/>
                <a:cs typeface="Palatino Linotype" pitchFamily="34" charset="-120"/>
              </a:rPr>
              <a:t>Adjuvant</a:t>
            </a:r>
            <a:endParaRPr lang="en-US" sz="4600" dirty="0"/>
          </a:p>
        </p:txBody>
      </p:sp>
      <p:sp>
        <p:nvSpPr>
          <p:cNvPr id="10" name="Text 8"/>
          <p:cNvSpPr/>
          <p:nvPr/>
        </p:nvSpPr>
        <p:spPr>
          <a:xfrm>
            <a:off x="6565392" y="2752344"/>
            <a:ext cx="4745736" cy="667512"/>
          </a:xfrm>
          <a:prstGeom prst="rect">
            <a:avLst/>
          </a:prstGeom>
          <a:noFill/>
          <a:ln/>
        </p:spPr>
        <p:txBody>
          <a:bodyPr wrap="square" lIns="0" tIns="0" rIns="0" bIns="0" rtlCol="0" anchor="t"/>
          <a:lstStyle/>
          <a:p>
            <a:pPr marL="0" indent="0">
              <a:lnSpc>
                <a:spcPts val="1700"/>
              </a:lnSpc>
              <a:buNone/>
            </a:pPr>
            <a:r>
              <a:rPr lang="en-US" sz="1150" dirty="0">
                <a:solidFill>
                  <a:srgbClr val="C4EDE5"/>
                </a:solidFill>
                <a:latin typeface="Palatino Linotype" pitchFamily="34" charset="0"/>
                <a:ea typeface="Palatino Linotype" pitchFamily="34" charset="-122"/>
                <a:cs typeface="Palatino Linotype" pitchFamily="34" charset="-120"/>
              </a:rPr>
              <a:t>antipsihoticele: numai adăugate, nu ca tratament unic al delirului; scad pragul convulsivant</a:t>
            </a:r>
            <a:endParaRPr lang="en-US" sz="1150" dirty="0"/>
          </a:p>
        </p:txBody>
      </p:sp>
      <p:sp>
        <p:nvSpPr>
          <p:cNvPr id="11" name="Shape 9"/>
          <p:cNvSpPr/>
          <p:nvPr/>
        </p:nvSpPr>
        <p:spPr>
          <a:xfrm>
            <a:off x="594360" y="3767328"/>
            <a:ext cx="10972800" cy="841248"/>
          </a:xfrm>
          <a:prstGeom prst="roundRect">
            <a:avLst>
              <a:gd name="adj" fmla="val 9783"/>
            </a:avLst>
          </a:prstGeom>
          <a:solidFill>
            <a:srgbClr val="F9F8F5"/>
          </a:solidFill>
          <a:ln w="12700">
            <a:solidFill>
              <a:srgbClr val="F9F8F5"/>
            </a:solidFill>
            <a:prstDash val="solid"/>
          </a:ln>
        </p:spPr>
        <p:txBody>
          <a:bodyPr/>
          <a:lstStyle/>
          <a:p>
            <a:endParaRPr lang="ro-RO"/>
          </a:p>
        </p:txBody>
      </p:sp>
      <p:sp>
        <p:nvSpPr>
          <p:cNvPr id="12" name="Text 10"/>
          <p:cNvSpPr/>
          <p:nvPr/>
        </p:nvSpPr>
        <p:spPr>
          <a:xfrm>
            <a:off x="960120" y="3767328"/>
            <a:ext cx="10241280" cy="841248"/>
          </a:xfrm>
          <a:prstGeom prst="rect">
            <a:avLst/>
          </a:prstGeom>
          <a:noFill/>
          <a:ln/>
        </p:spPr>
        <p:txBody>
          <a:bodyPr wrap="square" lIns="0" tIns="0" rIns="0" bIns="0" rtlCol="0" anchor="ctr"/>
          <a:lstStyle/>
          <a:p>
            <a:pPr marL="0" indent="0">
              <a:lnSpc>
                <a:spcPts val="2000"/>
              </a:lnSpc>
              <a:buNone/>
            </a:pPr>
            <a:r>
              <a:rPr lang="en-US" sz="1200" dirty="0">
                <a:solidFill>
                  <a:srgbClr val="11121A"/>
                </a:solidFill>
                <a:latin typeface="Palatino Linotype" pitchFamily="34" charset="0"/>
                <a:ea typeface="Palatino Linotype" pitchFamily="34" charset="-122"/>
                <a:cs typeface="Palatino Linotype" pitchFamily="34" charset="-120"/>
              </a:rPr>
              <a:t>ASAM, J Addict Med, 2020</a:t>
            </a:r>
            <a:endParaRPr lang="en-US" sz="1200" dirty="0"/>
          </a:p>
          <a:p>
            <a:pPr marL="0" indent="0">
              <a:lnSpc>
                <a:spcPts val="2000"/>
              </a:lnSpc>
              <a:buNone/>
            </a:pPr>
            <a:r>
              <a:rPr lang="en-US" sz="1200" dirty="0">
                <a:solidFill>
                  <a:srgbClr val="11121A"/>
                </a:solidFill>
                <a:latin typeface="Palatino Linotype" pitchFamily="34" charset="0"/>
                <a:ea typeface="Palatino Linotype" pitchFamily="34" charset="-122"/>
                <a:cs typeface="Palatino Linotype" pitchFamily="34" charset="-120"/>
              </a:rPr>
              <a:t>Sevrajul alcoolic sever poate pune viața în pericol: convulsii, delir, deces.</a:t>
            </a:r>
            <a:endParaRPr lang="en-US" sz="1200" dirty="0"/>
          </a:p>
        </p:txBody>
      </p:sp>
      <p:sp>
        <p:nvSpPr>
          <p:cNvPr id="13" name="Shape 11"/>
          <p:cNvSpPr/>
          <p:nvPr/>
        </p:nvSpPr>
        <p:spPr>
          <a:xfrm>
            <a:off x="594360" y="4809744"/>
            <a:ext cx="10972800" cy="1170432"/>
          </a:xfrm>
          <a:prstGeom prst="roundRect">
            <a:avLst>
              <a:gd name="adj" fmla="val 7031"/>
            </a:avLst>
          </a:prstGeom>
          <a:solidFill>
            <a:srgbClr val="E8E0CC"/>
          </a:solidFill>
          <a:ln w="12700">
            <a:solidFill>
              <a:srgbClr val="E8E0CC"/>
            </a:solidFill>
            <a:prstDash val="solid"/>
          </a:ln>
        </p:spPr>
        <p:txBody>
          <a:bodyPr/>
          <a:lstStyle/>
          <a:p>
            <a:endParaRPr lang="ro-RO"/>
          </a:p>
        </p:txBody>
      </p:sp>
      <p:sp>
        <p:nvSpPr>
          <p:cNvPr id="14" name="Shape 12"/>
          <p:cNvSpPr/>
          <p:nvPr/>
        </p:nvSpPr>
        <p:spPr>
          <a:xfrm>
            <a:off x="594360" y="4809744"/>
            <a:ext cx="50292" cy="1170432"/>
          </a:xfrm>
          <a:prstGeom prst="rect">
            <a:avLst/>
          </a:prstGeom>
          <a:solidFill>
            <a:srgbClr val="8A6100"/>
          </a:solidFill>
          <a:ln w="12700">
            <a:solidFill>
              <a:srgbClr val="8A6100"/>
            </a:solidFill>
            <a:prstDash val="solid"/>
          </a:ln>
        </p:spPr>
        <p:txBody>
          <a:bodyPr/>
          <a:lstStyle/>
          <a:p>
            <a:endParaRPr lang="ro-RO"/>
          </a:p>
        </p:txBody>
      </p:sp>
      <p:sp>
        <p:nvSpPr>
          <p:cNvPr id="15" name="Text 13"/>
          <p:cNvSpPr/>
          <p:nvPr/>
        </p:nvSpPr>
        <p:spPr>
          <a:xfrm>
            <a:off x="960120" y="4974336"/>
            <a:ext cx="10241280" cy="274320"/>
          </a:xfrm>
          <a:prstGeom prst="rect">
            <a:avLst/>
          </a:prstGeom>
          <a:noFill/>
          <a:ln/>
        </p:spPr>
        <p:txBody>
          <a:bodyPr wrap="square" lIns="0" tIns="0" rIns="0" bIns="0" rtlCol="0" anchor="ctr"/>
          <a:lstStyle/>
          <a:p>
            <a:pPr marL="0" indent="0">
              <a:buNone/>
            </a:pPr>
            <a:r>
              <a:rPr lang="en-US" sz="1000" b="1" kern="0" spc="200" dirty="0">
                <a:solidFill>
                  <a:srgbClr val="8A6100"/>
                </a:solidFill>
                <a:latin typeface="Palatino Linotype" pitchFamily="34" charset="0"/>
                <a:ea typeface="Palatino Linotype" pitchFamily="34" charset="-122"/>
                <a:cs typeface="Palatino Linotype" pitchFamily="34" charset="-120"/>
              </a:rPr>
              <a:t>BENZODIAZEPINE: AVERTISMENTUL FDA ȘI O LIMITĂ A DATELOR</a:t>
            </a:r>
            <a:endParaRPr lang="en-US" sz="1000" dirty="0"/>
          </a:p>
        </p:txBody>
      </p:sp>
      <p:sp>
        <p:nvSpPr>
          <p:cNvPr id="16" name="Text 14"/>
          <p:cNvSpPr/>
          <p:nvPr/>
        </p:nvSpPr>
        <p:spPr>
          <a:xfrm>
            <a:off x="960120" y="5266944"/>
            <a:ext cx="10241280" cy="658368"/>
          </a:xfrm>
          <a:prstGeom prst="rect">
            <a:avLst/>
          </a:prstGeom>
          <a:noFill/>
          <a:ln/>
        </p:spPr>
        <p:txBody>
          <a:bodyPr wrap="square" lIns="0" tIns="0" rIns="0" bIns="0" rtlCol="0" anchor="t"/>
          <a:lstStyle/>
          <a:p>
            <a:pPr marL="0" indent="0">
              <a:lnSpc>
                <a:spcPts val="1700"/>
              </a:lnSpc>
              <a:buNone/>
            </a:pPr>
            <a:r>
              <a:rPr lang="en-US" sz="1150" dirty="0">
                <a:solidFill>
                  <a:srgbClr val="11121A"/>
                </a:solidFill>
                <a:latin typeface="Palatino Linotype" pitchFamily="34" charset="0"/>
                <a:ea typeface="Palatino Linotype" pitchFamily="34" charset="-122"/>
                <a:cs typeface="Palatino Linotype" pitchFamily="34" charset="-120"/>
              </a:rPr>
              <a:t>FDA: dependența fizică poate apărea chiar la administrarea conform prescripției; întreruperea bruscă sau reducerea prea rapidă a dozei poate produce reacții de sevraj, inclusiv convulsii, care pot pune viața în pericol. Doza se reduce treptat, după un plan individualizat (FDA; ghidul ASAM, 2025). Estimări de mortalitate nu au fost identificate.</a:t>
            </a:r>
            <a:endParaRPr lang="en-US" sz="1150" dirty="0"/>
          </a:p>
        </p:txBody>
      </p:sp>
      <p:sp>
        <p:nvSpPr>
          <p:cNvPr id="17" name="Text 15"/>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Sevrajul la opioide, „severely distressing”, prin hiperactivitate noradrenergică: Kosten și Baxter, Am J Addict, 2019 · FDA, comunicare de siguranță, 2020 · ghidul ASAM pentru alcool, J Addict Med, 2020 · ghidul ASAM pentru benzodiazepine, J Gen Intern Med, 2025</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marL="0" indent="0">
              <a:buNone/>
            </a:pPr>
            <a:r>
              <a:rPr lang="en-US" sz="13500" b="1" dirty="0">
                <a:solidFill>
                  <a:srgbClr val="FFC24B"/>
                </a:solidFill>
                <a:latin typeface="Palatino Linotype" pitchFamily="34" charset="0"/>
                <a:ea typeface="Palatino Linotype" pitchFamily="34" charset="-122"/>
                <a:cs typeface="Palatino Linotype" pitchFamily="34" charset="-120"/>
              </a:rPr>
              <a:t>05</a:t>
            </a:r>
            <a:endParaRPr lang="en-US" sz="13500" dirty="0"/>
          </a:p>
        </p:txBody>
      </p:sp>
      <p:sp>
        <p:nvSpPr>
          <p:cNvPr id="3" name="Shape 1"/>
          <p:cNvSpPr/>
          <p:nvPr/>
        </p:nvSpPr>
        <p:spPr>
          <a:xfrm>
            <a:off x="4160520" y="1691640"/>
            <a:ext cx="27432" cy="1737360"/>
          </a:xfrm>
          <a:prstGeom prst="rect">
            <a:avLst/>
          </a:prstGeom>
          <a:solidFill>
            <a:srgbClr val="FFC24B"/>
          </a:solidFill>
          <a:ln w="12700">
            <a:solidFill>
              <a:srgbClr val="FFC24B"/>
            </a:solidFill>
            <a:prstDash val="solid"/>
          </a:ln>
        </p:spPr>
        <p:txBody>
          <a:bodyPr/>
          <a:lstStyle/>
          <a:p>
            <a:endParaRPr lang="ro-RO"/>
          </a:p>
        </p:txBody>
      </p:sp>
      <p:sp>
        <p:nvSpPr>
          <p:cNvPr id="4" name="Text 2"/>
          <p:cNvSpPr/>
          <p:nvPr/>
        </p:nvSpPr>
        <p:spPr>
          <a:xfrm>
            <a:off x="4709160" y="1737360"/>
            <a:ext cx="6858000" cy="822960"/>
          </a:xfrm>
          <a:prstGeom prst="rect">
            <a:avLst/>
          </a:prstGeom>
          <a:noFill/>
          <a:ln/>
        </p:spPr>
        <p:txBody>
          <a:bodyPr wrap="square" lIns="0" tIns="0" rIns="0" bIns="0" rtlCol="0" anchor="ctr"/>
          <a:lstStyle/>
          <a:p>
            <a:pPr marL="0" indent="0">
              <a:buNone/>
            </a:pPr>
            <a:r>
              <a:rPr lang="en-US" sz="3300" b="1" dirty="0">
                <a:solidFill>
                  <a:srgbClr val="FFFFFF"/>
                </a:solidFill>
                <a:latin typeface="Palatino Linotype" pitchFamily="34" charset="0"/>
                <a:ea typeface="Palatino Linotype" pitchFamily="34" charset="-122"/>
                <a:cs typeface="Palatino Linotype" pitchFamily="34" charset="-120"/>
              </a:rPr>
              <a:t>TREI REZULTATE INCOMODE</a:t>
            </a:r>
            <a:endParaRPr lang="en-US" sz="3300" dirty="0"/>
          </a:p>
        </p:txBody>
      </p:sp>
      <p:sp>
        <p:nvSpPr>
          <p:cNvPr id="5" name="Text 3"/>
          <p:cNvSpPr/>
          <p:nvPr/>
        </p:nvSpPr>
        <p:spPr>
          <a:xfrm>
            <a:off x="4709160" y="2606040"/>
            <a:ext cx="6858000" cy="685800"/>
          </a:xfrm>
          <a:prstGeom prst="rect">
            <a:avLst/>
          </a:prstGeom>
          <a:noFill/>
          <a:ln/>
        </p:spPr>
        <p:txBody>
          <a:bodyPr wrap="square" lIns="0" tIns="0" rIns="0" bIns="0" rtlCol="0" anchor="t"/>
          <a:lstStyle/>
          <a:p>
            <a:pPr marL="0" indent="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Povestea construită până acum, supusă testului a trei rezultate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4A2D8C"/>
                </a:solidFill>
                <a:latin typeface="Palatino Linotype" pitchFamily="34" charset="0"/>
                <a:ea typeface="Palatino Linotype" pitchFamily="34" charset="-122"/>
                <a:cs typeface="Palatino Linotype" pitchFamily="34" charset="-120"/>
              </a:rPr>
              <a:t>CIFRA ÎNTÂI · THC LA OM</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Patru studii PET și SPET. Un rezultat incomod.</a:t>
            </a:r>
            <a:endParaRPr lang="en-US" sz="3000" dirty="0"/>
          </a:p>
        </p:txBody>
      </p:sp>
      <p:sp>
        <p:nvSpPr>
          <p:cNvPr id="4" name="Text 2"/>
          <p:cNvSpPr/>
          <p:nvPr/>
        </p:nvSpPr>
        <p:spPr>
          <a:xfrm>
            <a:off x="594360" y="1783080"/>
            <a:ext cx="1828800" cy="329184"/>
          </a:xfrm>
          <a:prstGeom prst="rect">
            <a:avLst/>
          </a:prstGeom>
          <a:noFill/>
          <a:ln/>
        </p:spPr>
        <p:txBody>
          <a:bodyPr wrap="square" lIns="0" tIns="0" rIns="0" bIns="0" rtlCol="0" anchor="ctr"/>
          <a:lstStyle/>
          <a:p>
            <a:pPr marL="0" indent="0">
              <a:buNone/>
            </a:pPr>
            <a:r>
              <a:rPr lang="en-US" sz="1050" b="1" kern="0" spc="120" dirty="0">
                <a:solidFill>
                  <a:srgbClr val="585A64"/>
                </a:solidFill>
                <a:latin typeface="Palatino Linotype" pitchFamily="34" charset="0"/>
                <a:ea typeface="Palatino Linotype" pitchFamily="34" charset="-122"/>
                <a:cs typeface="Palatino Linotype" pitchFamily="34" charset="-120"/>
              </a:rPr>
              <a:t>STUDIU</a:t>
            </a:r>
            <a:endParaRPr lang="en-US" sz="1050" dirty="0"/>
          </a:p>
        </p:txBody>
      </p:sp>
      <p:sp>
        <p:nvSpPr>
          <p:cNvPr id="5" name="Text 3"/>
          <p:cNvSpPr/>
          <p:nvPr/>
        </p:nvSpPr>
        <p:spPr>
          <a:xfrm>
            <a:off x="2423160" y="1783080"/>
            <a:ext cx="3200400" cy="329184"/>
          </a:xfrm>
          <a:prstGeom prst="rect">
            <a:avLst/>
          </a:prstGeom>
          <a:noFill/>
          <a:ln/>
        </p:spPr>
        <p:txBody>
          <a:bodyPr wrap="square" lIns="0" tIns="0" rIns="0" bIns="0" rtlCol="0" anchor="ctr"/>
          <a:lstStyle/>
          <a:p>
            <a:pPr marL="0" indent="0">
              <a:buNone/>
            </a:pPr>
            <a:r>
              <a:rPr lang="en-US" sz="1050" b="1" kern="0" spc="120" dirty="0">
                <a:solidFill>
                  <a:srgbClr val="585A64"/>
                </a:solidFill>
                <a:latin typeface="Palatino Linotype" pitchFamily="34" charset="0"/>
                <a:ea typeface="Palatino Linotype" pitchFamily="34" charset="-122"/>
                <a:cs typeface="Palatino Linotype" pitchFamily="34" charset="-120"/>
              </a:rPr>
              <a:t>REVISTĂ</a:t>
            </a:r>
            <a:endParaRPr lang="en-US" sz="1050" dirty="0"/>
          </a:p>
        </p:txBody>
      </p:sp>
      <p:sp>
        <p:nvSpPr>
          <p:cNvPr id="6" name="Text 4"/>
          <p:cNvSpPr/>
          <p:nvPr/>
        </p:nvSpPr>
        <p:spPr>
          <a:xfrm>
            <a:off x="5623560" y="1783080"/>
            <a:ext cx="868680" cy="329184"/>
          </a:xfrm>
          <a:prstGeom prst="rect">
            <a:avLst/>
          </a:prstGeom>
          <a:noFill/>
          <a:ln/>
        </p:spPr>
        <p:txBody>
          <a:bodyPr wrap="square" lIns="0" tIns="0" rIns="0" bIns="0" rtlCol="0" anchor="ctr"/>
          <a:lstStyle/>
          <a:p>
            <a:pPr marL="0" indent="0">
              <a:buNone/>
            </a:pPr>
            <a:r>
              <a:rPr lang="en-US" sz="1050" b="1" kern="0" spc="120" dirty="0">
                <a:solidFill>
                  <a:srgbClr val="585A64"/>
                </a:solidFill>
                <a:latin typeface="Palatino Linotype" pitchFamily="34" charset="0"/>
                <a:ea typeface="Palatino Linotype" pitchFamily="34" charset="-122"/>
                <a:cs typeface="Palatino Linotype" pitchFamily="34" charset="-120"/>
              </a:rPr>
              <a:t>N</a:t>
            </a:r>
            <a:endParaRPr lang="en-US" sz="1050" dirty="0"/>
          </a:p>
        </p:txBody>
      </p:sp>
      <p:sp>
        <p:nvSpPr>
          <p:cNvPr id="7" name="Text 5"/>
          <p:cNvSpPr/>
          <p:nvPr/>
        </p:nvSpPr>
        <p:spPr>
          <a:xfrm>
            <a:off x="6492240" y="1783080"/>
            <a:ext cx="1508760" cy="329184"/>
          </a:xfrm>
          <a:prstGeom prst="rect">
            <a:avLst/>
          </a:prstGeom>
          <a:noFill/>
          <a:ln/>
        </p:spPr>
        <p:txBody>
          <a:bodyPr wrap="square" lIns="0" tIns="0" rIns="0" bIns="0" rtlCol="0" anchor="ctr"/>
          <a:lstStyle/>
          <a:p>
            <a:pPr marL="0" indent="0">
              <a:buNone/>
            </a:pPr>
            <a:r>
              <a:rPr lang="en-US" sz="1050" b="1" kern="0" spc="120" dirty="0">
                <a:solidFill>
                  <a:srgbClr val="585A64"/>
                </a:solidFill>
                <a:latin typeface="Palatino Linotype" pitchFamily="34" charset="0"/>
                <a:ea typeface="Palatino Linotype" pitchFamily="34" charset="-122"/>
                <a:cs typeface="Palatino Linotype" pitchFamily="34" charset="-120"/>
              </a:rPr>
              <a:t>DOZĂ</a:t>
            </a:r>
            <a:endParaRPr lang="en-US" sz="1050" dirty="0"/>
          </a:p>
        </p:txBody>
      </p:sp>
      <p:sp>
        <p:nvSpPr>
          <p:cNvPr id="8" name="Text 6"/>
          <p:cNvSpPr/>
          <p:nvPr/>
        </p:nvSpPr>
        <p:spPr>
          <a:xfrm>
            <a:off x="8001000" y="1783080"/>
            <a:ext cx="3566160" cy="329184"/>
          </a:xfrm>
          <a:prstGeom prst="rect">
            <a:avLst/>
          </a:prstGeom>
          <a:noFill/>
          <a:ln/>
        </p:spPr>
        <p:txBody>
          <a:bodyPr wrap="square" lIns="0" tIns="0" rIns="0" bIns="0" rtlCol="0" anchor="ctr"/>
          <a:lstStyle/>
          <a:p>
            <a:pPr marL="0" indent="0">
              <a:buNone/>
            </a:pPr>
            <a:r>
              <a:rPr lang="en-US" sz="1050" b="1" kern="0" spc="120" dirty="0">
                <a:solidFill>
                  <a:srgbClr val="585A64"/>
                </a:solidFill>
                <a:latin typeface="Palatino Linotype" pitchFamily="34" charset="0"/>
                <a:ea typeface="Palatino Linotype" pitchFamily="34" charset="-122"/>
                <a:cs typeface="Palatino Linotype" pitchFamily="34" charset="-120"/>
              </a:rPr>
              <a:t>REZULTAT</a:t>
            </a:r>
            <a:endParaRPr lang="en-US" sz="1050" dirty="0"/>
          </a:p>
        </p:txBody>
      </p:sp>
      <p:sp>
        <p:nvSpPr>
          <p:cNvPr id="9" name="Shape 7"/>
          <p:cNvSpPr/>
          <p:nvPr/>
        </p:nvSpPr>
        <p:spPr>
          <a:xfrm>
            <a:off x="594360" y="2185416"/>
            <a:ext cx="10972800" cy="685800"/>
          </a:xfrm>
          <a:prstGeom prst="roundRect">
            <a:avLst>
              <a:gd name="adj" fmla="val 12000"/>
            </a:avLst>
          </a:prstGeom>
          <a:solidFill>
            <a:srgbClr val="ECEAE4"/>
          </a:solidFill>
          <a:ln w="12700">
            <a:solidFill>
              <a:srgbClr val="ECEAE4"/>
            </a:solidFill>
            <a:prstDash val="solid"/>
          </a:ln>
        </p:spPr>
        <p:txBody>
          <a:bodyPr/>
          <a:lstStyle/>
          <a:p>
            <a:endParaRPr lang="ro-RO"/>
          </a:p>
        </p:txBody>
      </p:sp>
      <p:sp>
        <p:nvSpPr>
          <p:cNvPr id="10" name="Text 8"/>
          <p:cNvSpPr/>
          <p:nvPr/>
        </p:nvSpPr>
        <p:spPr>
          <a:xfrm>
            <a:off x="868680" y="2185416"/>
            <a:ext cx="1554480" cy="685800"/>
          </a:xfrm>
          <a:prstGeom prst="rect">
            <a:avLst/>
          </a:prstGeom>
          <a:noFill/>
          <a:ln/>
        </p:spPr>
        <p:txBody>
          <a:bodyPr wrap="square" lIns="0" tIns="0" rIns="0" bIns="0" rtlCol="0" anchor="ctr"/>
          <a:lstStyle/>
          <a:p>
            <a:pPr marL="0" indent="0">
              <a:lnSpc>
                <a:spcPts val="1700"/>
              </a:lnSpc>
              <a:buNone/>
            </a:pPr>
            <a:r>
              <a:rPr lang="en-US" sz="1200" b="1" dirty="0">
                <a:solidFill>
                  <a:srgbClr val="11121A"/>
                </a:solidFill>
                <a:latin typeface="Palatino Linotype" pitchFamily="34" charset="0"/>
                <a:ea typeface="Palatino Linotype" pitchFamily="34" charset="-122"/>
                <a:cs typeface="Palatino Linotype" pitchFamily="34" charset="-120"/>
              </a:rPr>
              <a:t>Bossong 2009</a:t>
            </a:r>
            <a:endParaRPr lang="en-US" sz="1200" dirty="0"/>
          </a:p>
        </p:txBody>
      </p:sp>
      <p:sp>
        <p:nvSpPr>
          <p:cNvPr id="11" name="Text 9"/>
          <p:cNvSpPr/>
          <p:nvPr/>
        </p:nvSpPr>
        <p:spPr>
          <a:xfrm>
            <a:off x="2423160" y="2185416"/>
            <a:ext cx="301752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Neuropsychopharmacology</a:t>
            </a:r>
            <a:endParaRPr lang="en-US" sz="1200" dirty="0"/>
          </a:p>
        </p:txBody>
      </p:sp>
      <p:sp>
        <p:nvSpPr>
          <p:cNvPr id="12" name="Text 10"/>
          <p:cNvSpPr/>
          <p:nvPr/>
        </p:nvSpPr>
        <p:spPr>
          <a:xfrm>
            <a:off x="5623560" y="2185416"/>
            <a:ext cx="68580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7</a:t>
            </a:r>
            <a:endParaRPr lang="en-US" sz="1200" dirty="0"/>
          </a:p>
        </p:txBody>
      </p:sp>
      <p:sp>
        <p:nvSpPr>
          <p:cNvPr id="13" name="Text 11"/>
          <p:cNvSpPr/>
          <p:nvPr/>
        </p:nvSpPr>
        <p:spPr>
          <a:xfrm>
            <a:off x="6492240" y="2185416"/>
            <a:ext cx="132588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8 mg inhalat</a:t>
            </a:r>
            <a:endParaRPr lang="en-US" sz="1200" dirty="0"/>
          </a:p>
        </p:txBody>
      </p:sp>
      <p:sp>
        <p:nvSpPr>
          <p:cNvPr id="14" name="Text 12"/>
          <p:cNvSpPr/>
          <p:nvPr/>
        </p:nvSpPr>
        <p:spPr>
          <a:xfrm>
            <a:off x="8001000" y="2185416"/>
            <a:ext cx="338328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3,4% striat limbic · 3,9% putamen</a:t>
            </a:r>
            <a:endParaRPr lang="en-US" sz="1200" dirty="0"/>
          </a:p>
        </p:txBody>
      </p:sp>
      <p:sp>
        <p:nvSpPr>
          <p:cNvPr id="15" name="Text 13"/>
          <p:cNvSpPr/>
          <p:nvPr/>
        </p:nvSpPr>
        <p:spPr>
          <a:xfrm>
            <a:off x="868680" y="2916936"/>
            <a:ext cx="1554480" cy="685800"/>
          </a:xfrm>
          <a:prstGeom prst="rect">
            <a:avLst/>
          </a:prstGeom>
          <a:noFill/>
          <a:ln/>
        </p:spPr>
        <p:txBody>
          <a:bodyPr wrap="square" lIns="0" tIns="0" rIns="0" bIns="0" rtlCol="0" anchor="ctr"/>
          <a:lstStyle/>
          <a:p>
            <a:pPr marL="0" indent="0">
              <a:lnSpc>
                <a:spcPts val="1700"/>
              </a:lnSpc>
              <a:buNone/>
            </a:pPr>
            <a:r>
              <a:rPr lang="en-US" sz="1200" b="1" dirty="0">
                <a:solidFill>
                  <a:srgbClr val="11121A"/>
                </a:solidFill>
                <a:latin typeface="Palatino Linotype" pitchFamily="34" charset="0"/>
                <a:ea typeface="Palatino Linotype" pitchFamily="34" charset="-122"/>
                <a:cs typeface="Palatino Linotype" pitchFamily="34" charset="-120"/>
              </a:rPr>
              <a:t>Stokes 2009</a:t>
            </a:r>
            <a:endParaRPr lang="en-US" sz="1200" dirty="0"/>
          </a:p>
        </p:txBody>
      </p:sp>
      <p:sp>
        <p:nvSpPr>
          <p:cNvPr id="16" name="Text 14"/>
          <p:cNvSpPr/>
          <p:nvPr/>
        </p:nvSpPr>
        <p:spPr>
          <a:xfrm>
            <a:off x="2423160" y="2916936"/>
            <a:ext cx="301752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NeuroImage</a:t>
            </a:r>
            <a:endParaRPr lang="en-US" sz="1200" dirty="0"/>
          </a:p>
        </p:txBody>
      </p:sp>
      <p:sp>
        <p:nvSpPr>
          <p:cNvPr id="17" name="Text 15"/>
          <p:cNvSpPr/>
          <p:nvPr/>
        </p:nvSpPr>
        <p:spPr>
          <a:xfrm>
            <a:off x="5623560" y="2916936"/>
            <a:ext cx="68580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13</a:t>
            </a:r>
            <a:endParaRPr lang="en-US" sz="1200" dirty="0"/>
          </a:p>
        </p:txBody>
      </p:sp>
      <p:sp>
        <p:nvSpPr>
          <p:cNvPr id="18" name="Text 16"/>
          <p:cNvSpPr/>
          <p:nvPr/>
        </p:nvSpPr>
        <p:spPr>
          <a:xfrm>
            <a:off x="6492240" y="2916936"/>
            <a:ext cx="132588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10 mg oral</a:t>
            </a:r>
            <a:endParaRPr lang="en-US" sz="1200" dirty="0"/>
          </a:p>
        </p:txBody>
      </p:sp>
      <p:sp>
        <p:nvSpPr>
          <p:cNvPr id="19" name="Text 17"/>
          <p:cNvSpPr/>
          <p:nvPr/>
        </p:nvSpPr>
        <p:spPr>
          <a:xfrm>
            <a:off x="8001000" y="2916936"/>
            <a:ext cx="338328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FĂRĂ efect semnificativ</a:t>
            </a:r>
            <a:endParaRPr lang="en-US" sz="1200" dirty="0"/>
          </a:p>
        </p:txBody>
      </p:sp>
      <p:sp>
        <p:nvSpPr>
          <p:cNvPr id="20" name="Shape 18"/>
          <p:cNvSpPr/>
          <p:nvPr/>
        </p:nvSpPr>
        <p:spPr>
          <a:xfrm>
            <a:off x="594360" y="3648456"/>
            <a:ext cx="10972800" cy="685800"/>
          </a:xfrm>
          <a:prstGeom prst="roundRect">
            <a:avLst>
              <a:gd name="adj" fmla="val 12000"/>
            </a:avLst>
          </a:prstGeom>
          <a:solidFill>
            <a:srgbClr val="ECEAE4"/>
          </a:solidFill>
          <a:ln w="12700">
            <a:solidFill>
              <a:srgbClr val="ECEAE4"/>
            </a:solidFill>
            <a:prstDash val="solid"/>
          </a:ln>
        </p:spPr>
        <p:txBody>
          <a:bodyPr/>
          <a:lstStyle/>
          <a:p>
            <a:endParaRPr lang="ro-RO"/>
          </a:p>
        </p:txBody>
      </p:sp>
      <p:sp>
        <p:nvSpPr>
          <p:cNvPr id="21" name="Text 19"/>
          <p:cNvSpPr/>
          <p:nvPr/>
        </p:nvSpPr>
        <p:spPr>
          <a:xfrm>
            <a:off x="868680" y="3648456"/>
            <a:ext cx="1554480" cy="685800"/>
          </a:xfrm>
          <a:prstGeom prst="rect">
            <a:avLst/>
          </a:prstGeom>
          <a:noFill/>
          <a:ln/>
        </p:spPr>
        <p:txBody>
          <a:bodyPr wrap="square" lIns="0" tIns="0" rIns="0" bIns="0" rtlCol="0" anchor="ctr"/>
          <a:lstStyle/>
          <a:p>
            <a:pPr marL="0" indent="0">
              <a:lnSpc>
                <a:spcPts val="1700"/>
              </a:lnSpc>
              <a:buNone/>
            </a:pPr>
            <a:r>
              <a:rPr lang="en-US" sz="1200" b="1" dirty="0">
                <a:solidFill>
                  <a:srgbClr val="11121A"/>
                </a:solidFill>
                <a:latin typeface="Palatino Linotype" pitchFamily="34" charset="0"/>
                <a:ea typeface="Palatino Linotype" pitchFamily="34" charset="-122"/>
                <a:cs typeface="Palatino Linotype" pitchFamily="34" charset="-120"/>
              </a:rPr>
              <a:t>Barkus 2011</a:t>
            </a:r>
            <a:endParaRPr lang="en-US" sz="1200" dirty="0"/>
          </a:p>
        </p:txBody>
      </p:sp>
      <p:sp>
        <p:nvSpPr>
          <p:cNvPr id="22" name="Text 20"/>
          <p:cNvSpPr/>
          <p:nvPr/>
        </p:nvSpPr>
        <p:spPr>
          <a:xfrm>
            <a:off x="2423160" y="3648456"/>
            <a:ext cx="301752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J Psychopharmacol</a:t>
            </a:r>
            <a:endParaRPr lang="en-US" sz="1200" dirty="0"/>
          </a:p>
        </p:txBody>
      </p:sp>
      <p:sp>
        <p:nvSpPr>
          <p:cNvPr id="23" name="Text 21"/>
          <p:cNvSpPr/>
          <p:nvPr/>
        </p:nvSpPr>
        <p:spPr>
          <a:xfrm>
            <a:off x="5623560" y="3648456"/>
            <a:ext cx="68580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11 (9)</a:t>
            </a:r>
            <a:endParaRPr lang="en-US" sz="1200" dirty="0"/>
          </a:p>
        </p:txBody>
      </p:sp>
      <p:sp>
        <p:nvSpPr>
          <p:cNvPr id="24" name="Text 22"/>
          <p:cNvSpPr/>
          <p:nvPr/>
        </p:nvSpPr>
        <p:spPr>
          <a:xfrm>
            <a:off x="6492240" y="3648456"/>
            <a:ext cx="132588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2,5 mg i.v.</a:t>
            </a:r>
            <a:endParaRPr lang="en-US" sz="1200" dirty="0"/>
          </a:p>
        </p:txBody>
      </p:sp>
      <p:sp>
        <p:nvSpPr>
          <p:cNvPr id="25" name="Text 23"/>
          <p:cNvSpPr/>
          <p:nvPr/>
        </p:nvSpPr>
        <p:spPr>
          <a:xfrm>
            <a:off x="8001000" y="3648456"/>
            <a:ext cx="338328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FĂRĂ diferență semnificativă</a:t>
            </a:r>
            <a:endParaRPr lang="en-US" sz="1200" dirty="0"/>
          </a:p>
        </p:txBody>
      </p:sp>
      <p:sp>
        <p:nvSpPr>
          <p:cNvPr id="26" name="Text 24"/>
          <p:cNvSpPr/>
          <p:nvPr/>
        </p:nvSpPr>
        <p:spPr>
          <a:xfrm>
            <a:off x="868680" y="4379976"/>
            <a:ext cx="1554480" cy="685800"/>
          </a:xfrm>
          <a:prstGeom prst="rect">
            <a:avLst/>
          </a:prstGeom>
          <a:noFill/>
          <a:ln/>
        </p:spPr>
        <p:txBody>
          <a:bodyPr wrap="square" lIns="0" tIns="0" rIns="0" bIns="0" rtlCol="0" anchor="ctr"/>
          <a:lstStyle/>
          <a:p>
            <a:pPr marL="0" indent="0">
              <a:lnSpc>
                <a:spcPts val="1700"/>
              </a:lnSpc>
              <a:buNone/>
            </a:pPr>
            <a:r>
              <a:rPr lang="en-US" sz="1200" b="1" dirty="0">
                <a:solidFill>
                  <a:srgbClr val="11121A"/>
                </a:solidFill>
                <a:latin typeface="Palatino Linotype" pitchFamily="34" charset="0"/>
                <a:ea typeface="Palatino Linotype" pitchFamily="34" charset="-122"/>
                <a:cs typeface="Palatino Linotype" pitchFamily="34" charset="-120"/>
              </a:rPr>
              <a:t>Bossong 2015</a:t>
            </a:r>
            <a:endParaRPr lang="en-US" sz="1200" dirty="0"/>
          </a:p>
        </p:txBody>
      </p:sp>
      <p:sp>
        <p:nvSpPr>
          <p:cNvPr id="27" name="Text 25"/>
          <p:cNvSpPr/>
          <p:nvPr/>
        </p:nvSpPr>
        <p:spPr>
          <a:xfrm>
            <a:off x="2423160" y="4379976"/>
            <a:ext cx="301752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Psychopharmacology</a:t>
            </a:r>
            <a:endParaRPr lang="en-US" sz="1200" dirty="0"/>
          </a:p>
        </p:txBody>
      </p:sp>
      <p:sp>
        <p:nvSpPr>
          <p:cNvPr id="28" name="Text 26"/>
          <p:cNvSpPr/>
          <p:nvPr/>
        </p:nvSpPr>
        <p:spPr>
          <a:xfrm>
            <a:off x="5623560" y="4379976"/>
            <a:ext cx="68580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19</a:t>
            </a:r>
            <a:endParaRPr lang="en-US" sz="1200" dirty="0"/>
          </a:p>
        </p:txBody>
      </p:sp>
      <p:sp>
        <p:nvSpPr>
          <p:cNvPr id="29" name="Text 27"/>
          <p:cNvSpPr/>
          <p:nvPr/>
        </p:nvSpPr>
        <p:spPr>
          <a:xfrm>
            <a:off x="6492240" y="4379976"/>
            <a:ext cx="132588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reunite</a:t>
            </a:r>
            <a:endParaRPr lang="en-US" sz="1200" dirty="0"/>
          </a:p>
        </p:txBody>
      </p:sp>
      <p:sp>
        <p:nvSpPr>
          <p:cNvPr id="30" name="Text 28"/>
          <p:cNvSpPr/>
          <p:nvPr/>
        </p:nvSpPr>
        <p:spPr>
          <a:xfrm>
            <a:off x="8001000" y="4379976"/>
            <a:ext cx="3383280" cy="685800"/>
          </a:xfrm>
          <a:prstGeom prst="rect">
            <a:avLst/>
          </a:prstGeom>
          <a:noFill/>
          <a:ln/>
        </p:spPr>
        <p:txBody>
          <a:bodyPr wrap="square" lIns="0" tIns="0" rIns="0" bIns="0" rtlCol="0" anchor="ctr"/>
          <a:lstStyle/>
          <a:p>
            <a:pPr marL="0" indent="0">
              <a:lnSpc>
                <a:spcPts val="1700"/>
              </a:lnSpc>
              <a:buNone/>
            </a:pPr>
            <a:r>
              <a:rPr lang="en-US" sz="1200" dirty="0">
                <a:solidFill>
                  <a:srgbClr val="11121A"/>
                </a:solidFill>
                <a:latin typeface="Palatino Linotype" pitchFamily="34" charset="0"/>
                <a:ea typeface="Palatino Linotype" pitchFamily="34" charset="-122"/>
                <a:cs typeface="Palatino Linotype" pitchFamily="34" charset="-120"/>
              </a:rPr>
              <a:t>3,65% striat limbic · p = 0,023</a:t>
            </a:r>
            <a:endParaRPr lang="en-US" sz="1200" dirty="0"/>
          </a:p>
        </p:txBody>
      </p:sp>
      <p:sp>
        <p:nvSpPr>
          <p:cNvPr id="31" name="Shape 29"/>
          <p:cNvSpPr/>
          <p:nvPr/>
        </p:nvSpPr>
        <p:spPr>
          <a:xfrm>
            <a:off x="594360" y="4956048"/>
            <a:ext cx="10972800" cy="1005840"/>
          </a:xfrm>
          <a:prstGeom prst="roundRect">
            <a:avLst>
              <a:gd name="adj" fmla="val 8182"/>
            </a:avLst>
          </a:prstGeom>
          <a:solidFill>
            <a:srgbClr val="E8E0CC"/>
          </a:solidFill>
          <a:ln w="12700">
            <a:solidFill>
              <a:srgbClr val="E8E0CC"/>
            </a:solidFill>
            <a:prstDash val="solid"/>
          </a:ln>
        </p:spPr>
        <p:txBody>
          <a:bodyPr/>
          <a:lstStyle/>
          <a:p>
            <a:endParaRPr lang="ro-RO"/>
          </a:p>
        </p:txBody>
      </p:sp>
      <p:sp>
        <p:nvSpPr>
          <p:cNvPr id="32" name="Shape 30"/>
          <p:cNvSpPr/>
          <p:nvPr/>
        </p:nvSpPr>
        <p:spPr>
          <a:xfrm>
            <a:off x="594360" y="4956048"/>
            <a:ext cx="50292" cy="1005840"/>
          </a:xfrm>
          <a:prstGeom prst="rect">
            <a:avLst/>
          </a:prstGeom>
          <a:solidFill>
            <a:srgbClr val="8A6100"/>
          </a:solidFill>
          <a:ln w="12700">
            <a:solidFill>
              <a:srgbClr val="8A6100"/>
            </a:solidFill>
            <a:prstDash val="solid"/>
          </a:ln>
        </p:spPr>
        <p:txBody>
          <a:bodyPr/>
          <a:lstStyle/>
          <a:p>
            <a:endParaRPr lang="ro-RO"/>
          </a:p>
        </p:txBody>
      </p:sp>
      <p:sp>
        <p:nvSpPr>
          <p:cNvPr id="33" name="Text 31"/>
          <p:cNvSpPr/>
          <p:nvPr/>
        </p:nvSpPr>
        <p:spPr>
          <a:xfrm>
            <a:off x="960120" y="4956048"/>
            <a:ext cx="10241280" cy="1005840"/>
          </a:xfrm>
          <a:prstGeom prst="rect">
            <a:avLst/>
          </a:prstGeom>
          <a:noFill/>
          <a:ln/>
        </p:spPr>
        <p:txBody>
          <a:bodyPr wrap="square" lIns="0" tIns="0" rIns="0" bIns="0" rtlCol="0" anchor="ctr"/>
          <a:lstStyle/>
          <a:p>
            <a:pPr marL="0" indent="0">
              <a:lnSpc>
                <a:spcPts val="1900"/>
              </a:lnSpc>
              <a:buNone/>
            </a:pPr>
            <a:r>
              <a:rPr lang="en-US" sz="1250" dirty="0">
                <a:solidFill>
                  <a:srgbClr val="11121A"/>
                </a:solidFill>
                <a:latin typeface="Palatino Linotype" pitchFamily="34" charset="0"/>
                <a:ea typeface="Palatino Linotype" pitchFamily="34" charset="-122"/>
                <a:cs typeface="Palatino Linotype" pitchFamily="34" charset="-120"/>
              </a:rPr>
              <a:t>Studiile la om din sinteză au folosit ≤ 10 mg THC, față de ≈ 1 mg/kg în microdializa la animale: comparația nu este echivalentă ca doză. Sinteza narativă din Nature (2016): analiza reunită arată eliberare de dopamină; rezultatul negativ SPECT poate ține de eșantionul mic (n = 9).</a:t>
            </a:r>
            <a:endParaRPr lang="en-US" sz="1250" dirty="0"/>
          </a:p>
        </p:txBody>
      </p:sp>
      <p:sp>
        <p:nvSpPr>
          <p:cNvPr id="34" name="Text 32"/>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Bloomfield și colab., Nature, 2016 · Bossong și colab., 2009 și 2015 · Stokes și colab., 2009 · Barkus și colab., 2011</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4A2D8C"/>
                </a:solidFill>
                <a:latin typeface="Palatino Linotype" pitchFamily="34" charset="0"/>
                <a:ea typeface="Palatino Linotype" pitchFamily="34" charset="-122"/>
                <a:cs typeface="Palatino Linotype" pitchFamily="34" charset="-120"/>
              </a:rPr>
              <a:t>COMPARATORUL</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Cât deplasează fiecare substanță raclopride la om</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585A64"/>
                </a:solidFill>
                <a:latin typeface="Palatino Linotype" pitchFamily="34" charset="0"/>
                <a:ea typeface="Palatino Linotype" pitchFamily="34" charset="-122"/>
                <a:cs typeface="Palatino Linotype" pitchFamily="34" charset="-120"/>
              </a:rPr>
              <a:t>Reducerea legării de [11C]raclopride — proxy pentru dopamina eliberată.</a:t>
            </a:r>
            <a:endParaRPr lang="en-US" sz="1450" dirty="0"/>
          </a:p>
        </p:txBody>
      </p:sp>
      <p:sp>
        <p:nvSpPr>
          <p:cNvPr id="5" name="Text 3"/>
          <p:cNvSpPr/>
          <p:nvPr/>
        </p:nvSpPr>
        <p:spPr>
          <a:xfrm>
            <a:off x="594360" y="2029968"/>
            <a:ext cx="2743200" cy="40233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Amfetamină</a:t>
            </a:r>
            <a:endParaRPr lang="en-US" sz="1300" dirty="0"/>
          </a:p>
        </p:txBody>
      </p:sp>
      <p:sp>
        <p:nvSpPr>
          <p:cNvPr id="6" name="Shape 4"/>
          <p:cNvSpPr/>
          <p:nvPr/>
        </p:nvSpPr>
        <p:spPr>
          <a:xfrm>
            <a:off x="3520440" y="2075688"/>
            <a:ext cx="4450080" cy="329184"/>
          </a:xfrm>
          <a:prstGeom prst="roundRect">
            <a:avLst>
              <a:gd name="adj" fmla="val 13889"/>
            </a:avLst>
          </a:prstGeom>
          <a:solidFill>
            <a:srgbClr val="B02532"/>
          </a:solidFill>
          <a:ln w="12700">
            <a:solidFill>
              <a:srgbClr val="B02532"/>
            </a:solidFill>
            <a:prstDash val="solid"/>
          </a:ln>
        </p:spPr>
        <p:txBody>
          <a:bodyPr/>
          <a:lstStyle/>
          <a:p>
            <a:endParaRPr lang="ro-RO"/>
          </a:p>
        </p:txBody>
      </p:sp>
      <p:sp>
        <p:nvSpPr>
          <p:cNvPr id="7" name="Text 5"/>
          <p:cNvSpPr/>
          <p:nvPr/>
        </p:nvSpPr>
        <p:spPr>
          <a:xfrm>
            <a:off x="10323576" y="2075688"/>
            <a:ext cx="2194560" cy="329184"/>
          </a:xfrm>
          <a:prstGeom prst="rect">
            <a:avLst/>
          </a:prstGeom>
          <a:noFill/>
          <a:ln/>
        </p:spPr>
        <p:txBody>
          <a:bodyPr wrap="square" lIns="0" tIns="0" rIns="0" bIns="0" rtlCol="0" anchor="ctr"/>
          <a:lstStyle/>
          <a:p>
            <a:pPr marL="0" indent="0" algn="l">
              <a:buNone/>
            </a:pPr>
            <a:r>
              <a:rPr lang="en-US" sz="1350" b="1" dirty="0">
                <a:solidFill>
                  <a:srgbClr val="B02532"/>
                </a:solidFill>
                <a:latin typeface="Palatino Linotype" pitchFamily="34" charset="0"/>
                <a:ea typeface="Palatino Linotype" pitchFamily="34" charset="-122"/>
                <a:cs typeface="Palatino Linotype" pitchFamily="34" charset="-120"/>
              </a:rPr>
              <a:t>10–15%</a:t>
            </a:r>
            <a:endParaRPr lang="en-US" sz="1350" dirty="0"/>
          </a:p>
        </p:txBody>
      </p:sp>
      <p:sp>
        <p:nvSpPr>
          <p:cNvPr id="8" name="Text 6"/>
          <p:cNvSpPr/>
          <p:nvPr/>
        </p:nvSpPr>
        <p:spPr>
          <a:xfrm>
            <a:off x="594360" y="2944368"/>
            <a:ext cx="2743200" cy="40233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Alcool</a:t>
            </a:r>
            <a:endParaRPr lang="en-US" sz="1300" dirty="0"/>
          </a:p>
        </p:txBody>
      </p:sp>
      <p:sp>
        <p:nvSpPr>
          <p:cNvPr id="9" name="Shape 7"/>
          <p:cNvSpPr/>
          <p:nvPr/>
        </p:nvSpPr>
        <p:spPr>
          <a:xfrm>
            <a:off x="3520440" y="2990088"/>
            <a:ext cx="4450080" cy="329184"/>
          </a:xfrm>
          <a:prstGeom prst="roundRect">
            <a:avLst>
              <a:gd name="adj" fmla="val 13889"/>
            </a:avLst>
          </a:prstGeom>
          <a:solidFill>
            <a:srgbClr val="B02532"/>
          </a:solidFill>
          <a:ln w="12700">
            <a:solidFill>
              <a:srgbClr val="B02532"/>
            </a:solidFill>
            <a:prstDash val="solid"/>
          </a:ln>
        </p:spPr>
        <p:txBody>
          <a:bodyPr/>
          <a:lstStyle/>
          <a:p>
            <a:endParaRPr lang="ro-RO"/>
          </a:p>
        </p:txBody>
      </p:sp>
      <p:sp>
        <p:nvSpPr>
          <p:cNvPr id="10" name="Text 8"/>
          <p:cNvSpPr/>
          <p:nvPr/>
        </p:nvSpPr>
        <p:spPr>
          <a:xfrm>
            <a:off x="10323576" y="2990088"/>
            <a:ext cx="2194560" cy="329184"/>
          </a:xfrm>
          <a:prstGeom prst="rect">
            <a:avLst/>
          </a:prstGeom>
          <a:noFill/>
          <a:ln/>
        </p:spPr>
        <p:txBody>
          <a:bodyPr wrap="square" lIns="0" tIns="0" rIns="0" bIns="0" rtlCol="0" anchor="ctr"/>
          <a:lstStyle/>
          <a:p>
            <a:pPr marL="0" indent="0" algn="l">
              <a:buNone/>
            </a:pPr>
            <a:r>
              <a:rPr lang="en-US" sz="1350" b="1" dirty="0">
                <a:solidFill>
                  <a:srgbClr val="B02532"/>
                </a:solidFill>
                <a:latin typeface="Palatino Linotype" pitchFamily="34" charset="0"/>
                <a:ea typeface="Palatino Linotype" pitchFamily="34" charset="-122"/>
                <a:cs typeface="Palatino Linotype" pitchFamily="34" charset="-120"/>
              </a:rPr>
              <a:t>10–15%</a:t>
            </a:r>
            <a:endParaRPr lang="en-US" sz="1350" dirty="0"/>
          </a:p>
        </p:txBody>
      </p:sp>
      <p:sp>
        <p:nvSpPr>
          <p:cNvPr id="11" name="Text 9"/>
          <p:cNvSpPr/>
          <p:nvPr/>
        </p:nvSpPr>
        <p:spPr>
          <a:xfrm>
            <a:off x="594360" y="3858768"/>
            <a:ext cx="2743200" cy="40233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Nicotină</a:t>
            </a:r>
            <a:endParaRPr lang="en-US" sz="1300" dirty="0"/>
          </a:p>
        </p:txBody>
      </p:sp>
      <p:sp>
        <p:nvSpPr>
          <p:cNvPr id="12" name="Shape 10"/>
          <p:cNvSpPr/>
          <p:nvPr/>
        </p:nvSpPr>
        <p:spPr>
          <a:xfrm>
            <a:off x="3520440" y="3904488"/>
            <a:ext cx="4450080" cy="329184"/>
          </a:xfrm>
          <a:prstGeom prst="roundRect">
            <a:avLst>
              <a:gd name="adj" fmla="val 13889"/>
            </a:avLst>
          </a:prstGeom>
          <a:solidFill>
            <a:srgbClr val="9C4A0A"/>
          </a:solidFill>
          <a:ln w="12700">
            <a:solidFill>
              <a:srgbClr val="9C4A0A"/>
            </a:solidFill>
            <a:prstDash val="solid"/>
          </a:ln>
        </p:spPr>
        <p:txBody>
          <a:bodyPr/>
          <a:lstStyle/>
          <a:p>
            <a:endParaRPr lang="ro-RO"/>
          </a:p>
        </p:txBody>
      </p:sp>
      <p:sp>
        <p:nvSpPr>
          <p:cNvPr id="13" name="Text 11"/>
          <p:cNvSpPr/>
          <p:nvPr/>
        </p:nvSpPr>
        <p:spPr>
          <a:xfrm>
            <a:off x="8098536" y="3904488"/>
            <a:ext cx="2194560" cy="329184"/>
          </a:xfrm>
          <a:prstGeom prst="rect">
            <a:avLst/>
          </a:prstGeom>
          <a:noFill/>
          <a:ln/>
        </p:spPr>
        <p:txBody>
          <a:bodyPr wrap="square" lIns="0" tIns="0" rIns="0" bIns="0" rtlCol="0" anchor="ctr"/>
          <a:lstStyle/>
          <a:p>
            <a:pPr marL="0" indent="0" algn="l">
              <a:buNone/>
            </a:pPr>
            <a:r>
              <a:rPr lang="en-US" sz="1350" b="1" dirty="0">
                <a:solidFill>
                  <a:srgbClr val="9C4A0A"/>
                </a:solidFill>
                <a:latin typeface="Palatino Linotype" pitchFamily="34" charset="0"/>
                <a:ea typeface="Palatino Linotype" pitchFamily="34" charset="-122"/>
                <a:cs typeface="Palatino Linotype" pitchFamily="34" charset="-120"/>
              </a:rPr>
              <a:t>≈ 10%</a:t>
            </a:r>
            <a:endParaRPr lang="en-US" sz="1350" dirty="0"/>
          </a:p>
        </p:txBody>
      </p:sp>
      <p:sp>
        <p:nvSpPr>
          <p:cNvPr id="14" name="Text 12"/>
          <p:cNvSpPr/>
          <p:nvPr/>
        </p:nvSpPr>
        <p:spPr>
          <a:xfrm>
            <a:off x="594360" y="4773168"/>
            <a:ext cx="2743200" cy="40233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THC</a:t>
            </a:r>
            <a:endParaRPr lang="en-US" sz="1300" dirty="0"/>
          </a:p>
        </p:txBody>
      </p:sp>
      <p:sp>
        <p:nvSpPr>
          <p:cNvPr id="15" name="Shape 13"/>
          <p:cNvSpPr/>
          <p:nvPr/>
        </p:nvSpPr>
        <p:spPr>
          <a:xfrm>
            <a:off x="3520440" y="4818888"/>
            <a:ext cx="1646530" cy="329184"/>
          </a:xfrm>
          <a:prstGeom prst="roundRect">
            <a:avLst>
              <a:gd name="adj" fmla="val 13889"/>
            </a:avLst>
          </a:prstGeom>
          <a:solidFill>
            <a:srgbClr val="4A2D8C"/>
          </a:solidFill>
          <a:ln w="12700">
            <a:solidFill>
              <a:srgbClr val="4A2D8C"/>
            </a:solidFill>
            <a:prstDash val="solid"/>
          </a:ln>
        </p:spPr>
        <p:txBody>
          <a:bodyPr/>
          <a:lstStyle/>
          <a:p>
            <a:endParaRPr lang="ro-RO"/>
          </a:p>
        </p:txBody>
      </p:sp>
      <p:sp>
        <p:nvSpPr>
          <p:cNvPr id="16" name="Text 14"/>
          <p:cNvSpPr/>
          <p:nvPr/>
        </p:nvSpPr>
        <p:spPr>
          <a:xfrm>
            <a:off x="5294986" y="4818888"/>
            <a:ext cx="2194560" cy="329184"/>
          </a:xfrm>
          <a:prstGeom prst="rect">
            <a:avLst/>
          </a:prstGeom>
          <a:noFill/>
          <a:ln/>
        </p:spPr>
        <p:txBody>
          <a:bodyPr wrap="square" lIns="0" tIns="0" rIns="0" bIns="0" rtlCol="0" anchor="ctr"/>
          <a:lstStyle/>
          <a:p>
            <a:pPr marL="0" indent="0" algn="l">
              <a:buNone/>
            </a:pPr>
            <a:r>
              <a:rPr lang="en-US" sz="1350" b="1" dirty="0">
                <a:solidFill>
                  <a:srgbClr val="4A2D8C"/>
                </a:solidFill>
                <a:latin typeface="Palatino Linotype" pitchFamily="34" charset="0"/>
                <a:ea typeface="Palatino Linotype" pitchFamily="34" charset="-122"/>
                <a:cs typeface="Palatino Linotype" pitchFamily="34" charset="-120"/>
              </a:rPr>
              <a:t>3,7%</a:t>
            </a:r>
            <a:endParaRPr lang="en-US" sz="1350" dirty="0"/>
          </a:p>
        </p:txBody>
      </p:sp>
      <p:sp>
        <p:nvSpPr>
          <p:cNvPr id="17" name="Shape 15"/>
          <p:cNvSpPr/>
          <p:nvPr/>
        </p:nvSpPr>
        <p:spPr>
          <a:xfrm>
            <a:off x="594360" y="5532120"/>
            <a:ext cx="10972800" cy="658368"/>
          </a:xfrm>
          <a:prstGeom prst="roundRect">
            <a:avLst>
              <a:gd name="adj" fmla="val 12500"/>
            </a:avLst>
          </a:prstGeom>
          <a:solidFill>
            <a:srgbClr val="4A2D8C"/>
          </a:solidFill>
          <a:ln w="12700">
            <a:solidFill>
              <a:srgbClr val="4A2D8C"/>
            </a:solidFill>
            <a:prstDash val="solid"/>
          </a:ln>
        </p:spPr>
        <p:txBody>
          <a:bodyPr/>
          <a:lstStyle/>
          <a:p>
            <a:endParaRPr lang="ro-RO"/>
          </a:p>
        </p:txBody>
      </p:sp>
      <p:sp>
        <p:nvSpPr>
          <p:cNvPr id="18" name="Text 16"/>
          <p:cNvSpPr/>
          <p:nvPr/>
        </p:nvSpPr>
        <p:spPr>
          <a:xfrm>
            <a:off x="960120" y="5532120"/>
            <a:ext cx="10241280" cy="658368"/>
          </a:xfrm>
          <a:prstGeom prst="rect">
            <a:avLst/>
          </a:prstGeom>
          <a:noFill/>
          <a:ln/>
        </p:spPr>
        <p:txBody>
          <a:bodyPr wrap="square" lIns="0" tIns="0" rIns="0" bIns="0" rtlCol="0" anchor="ctr"/>
          <a:lstStyle/>
          <a:p>
            <a:pPr marL="0" indent="0">
              <a:buNone/>
            </a:pPr>
            <a:r>
              <a:rPr lang="en-US" sz="1450" b="1" dirty="0">
                <a:solidFill>
                  <a:srgbClr val="FFFFFF"/>
                </a:solidFill>
                <a:latin typeface="Palatino Linotype" pitchFamily="34" charset="0"/>
                <a:ea typeface="Palatino Linotype" pitchFamily="34" charset="-122"/>
                <a:cs typeface="Palatino Linotype" pitchFamily="34" charset="-120"/>
              </a:rPr>
              <a:t>Autorii analizei reunite: la animale, THC crește dopamina din striat cu 25–100%, compatibil cu efectul mic de la om. THC &lt; alcool și în dependență (canabis &lt; alcool); discordanța: nicotină față de cocaină (interpretare).</a:t>
            </a:r>
            <a:endParaRPr lang="en-US" sz="1450" dirty="0"/>
          </a:p>
        </p:txBody>
      </p:sp>
      <p:sp>
        <p:nvSpPr>
          <p:cNvPr id="19" name="Text 17"/>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Comparator citat din Bossong și colab., Psychopharmacology, 2015. Nu concluzionăm că THC e inofensiv — aceea ar fi eroarea inversă, la fel de gravă.</a:t>
            </a:r>
            <a:endParaRPr lang="en-US" sz="950" dirty="0"/>
          </a:p>
        </p:txBody>
      </p:sp>
      <p:sp>
        <p:nvSpPr>
          <p:cNvPr id="20" name="Interval 10-15%"/>
          <p:cNvSpPr/>
          <p:nvPr/>
        </p:nvSpPr>
        <p:spPr>
          <a:xfrm>
            <a:off x="7970520" y="2075688"/>
            <a:ext cx="2225040" cy="329184"/>
          </a:xfrm>
          <a:prstGeom prst="rect">
            <a:avLst>
              <a:gd name="adj" fmla="val 13889"/>
            </a:avLst>
          </a:prstGeom>
          <a:solidFill>
            <a:srgbClr val="B02532">
              <a:alpha val="35000"/>
            </a:srgbClr>
          </a:solidFill>
          <a:ln w="12700">
            <a:solidFill>
              <a:srgbClr val="B02532">
                <a:alpha val="35000"/>
              </a:srgbClr>
            </a:solidFill>
            <a:prstDash val="solid"/>
          </a:ln>
        </p:spPr>
        <p:txBody>
          <a:bodyPr/>
          <a:lstStyle/>
          <a:p>
            <a:endParaRPr lang="ro-RO"/>
          </a:p>
        </p:txBody>
      </p:sp>
      <p:sp>
        <p:nvSpPr>
          <p:cNvPr id="21" name="Interval 10-15%"/>
          <p:cNvSpPr/>
          <p:nvPr/>
        </p:nvSpPr>
        <p:spPr>
          <a:xfrm>
            <a:off x="7970520" y="2990088"/>
            <a:ext cx="2225040" cy="329184"/>
          </a:xfrm>
          <a:prstGeom prst="rect">
            <a:avLst>
              <a:gd name="adj" fmla="val 13889"/>
            </a:avLst>
          </a:prstGeom>
          <a:solidFill>
            <a:srgbClr val="B02532">
              <a:alpha val="35000"/>
            </a:srgbClr>
          </a:solidFill>
          <a:ln w="12700">
            <a:solidFill>
              <a:srgbClr val="B02532">
                <a:alpha val="35000"/>
              </a:srgbClr>
            </a:solidFill>
            <a:prstDash val="solid"/>
          </a:ln>
        </p:spPr>
        <p:txBody>
          <a:bodyPr/>
          <a:lstStyle/>
          <a:p>
            <a:endParaRPr lang="ro-RO"/>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9B7EF7"/>
                </a:solidFill>
                <a:latin typeface="Palatino Linotype" pitchFamily="34" charset="0"/>
                <a:ea typeface="Palatino Linotype" pitchFamily="34" charset="-122"/>
                <a:cs typeface="Palatino Linotype" pitchFamily="34" charset="-120"/>
              </a:rPr>
              <a:t>AȚI CREDE ACEST TITLU? · 3 DIN 4</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2800" b="1" dirty="0">
                <a:solidFill>
                  <a:srgbClr val="FFFFFF"/>
                </a:solidFill>
                <a:latin typeface="Palatino Linotype" pitchFamily="34" charset="0"/>
                <a:ea typeface="Palatino Linotype" pitchFamily="34" charset="-122"/>
                <a:cs typeface="Palatino Linotype" pitchFamily="34" charset="-120"/>
              </a:rPr>
              <a:t>„Iată ce fac drogurile creierului tău”</a:t>
            </a:r>
            <a:endParaRPr lang="en-US" sz="28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959BB0"/>
                </a:solidFill>
                <a:latin typeface="Palatino Linotype" pitchFamily="34" charset="0"/>
                <a:ea typeface="Palatino Linotype" pitchFamily="34" charset="-122"/>
                <a:cs typeface="Palatino Linotype" pitchFamily="34" charset="-120"/>
              </a:rPr>
              <a:t>Imaginea tomografică a receptorilor D2 la persoanele dependente de cocaină.</a:t>
            </a:r>
            <a:endParaRPr lang="en-US" sz="1450" dirty="0"/>
          </a:p>
        </p:txBody>
      </p:sp>
      <p:sp>
        <p:nvSpPr>
          <p:cNvPr id="5" name="Shape 3"/>
          <p:cNvSpPr/>
          <p:nvPr/>
        </p:nvSpPr>
        <p:spPr>
          <a:xfrm>
            <a:off x="594360" y="1847088"/>
            <a:ext cx="5440680" cy="3310128"/>
          </a:xfrm>
          <a:prstGeom prst="roundRect">
            <a:avLst>
              <a:gd name="adj" fmla="val 2486"/>
            </a:avLst>
          </a:prstGeom>
          <a:solidFill>
            <a:srgbClr val="1D1F2B"/>
          </a:solidFill>
          <a:ln w="12700">
            <a:solidFill>
              <a:srgbClr val="1D1F2B"/>
            </a:solidFill>
            <a:prstDash val="solid"/>
          </a:ln>
        </p:spPr>
        <p:txBody>
          <a:bodyPr/>
          <a:lstStyle/>
          <a:p>
            <a:endParaRPr lang="ro-RO"/>
          </a:p>
        </p:txBody>
      </p:sp>
      <p:sp>
        <p:nvSpPr>
          <p:cNvPr id="6" name="Shape 4"/>
          <p:cNvSpPr/>
          <p:nvPr/>
        </p:nvSpPr>
        <p:spPr>
          <a:xfrm>
            <a:off x="914400" y="2084832"/>
            <a:ext cx="365760" cy="365760"/>
          </a:xfrm>
          <a:prstGeom prst="ellipse">
            <a:avLst/>
          </a:prstGeom>
          <a:solidFill>
            <a:srgbClr val="27D3BE"/>
          </a:solidFill>
          <a:ln w="12700">
            <a:solidFill>
              <a:srgbClr val="27D3BE"/>
            </a:solidFill>
            <a:prstDash val="solid"/>
          </a:ln>
        </p:spPr>
        <p:txBody>
          <a:bodyPr/>
          <a:lstStyle/>
          <a:p>
            <a:endParaRPr lang="ro-RO"/>
          </a:p>
        </p:txBody>
      </p:sp>
      <p:sp>
        <p:nvSpPr>
          <p:cNvPr id="7" name="Text 5"/>
          <p:cNvSpPr/>
          <p:nvPr/>
        </p:nvSpPr>
        <p:spPr>
          <a:xfrm>
            <a:off x="914400" y="2084832"/>
            <a:ext cx="365760" cy="365760"/>
          </a:xfrm>
          <a:prstGeom prst="rect">
            <a:avLst/>
          </a:prstGeom>
          <a:noFill/>
          <a:ln/>
        </p:spPr>
        <p:txBody>
          <a:bodyPr wrap="square" lIns="0" tIns="0" rIns="0" bIns="0" rtlCol="0" anchor="ctr"/>
          <a:lstStyle/>
          <a:p>
            <a:pPr marL="0" indent="0" algn="ctr">
              <a:buNone/>
            </a:pPr>
            <a:r>
              <a:rPr lang="en-US" sz="1300" b="1" dirty="0">
                <a:solidFill>
                  <a:srgbClr val="073B34"/>
                </a:solidFill>
                <a:latin typeface="Palatino Linotype" pitchFamily="34" charset="0"/>
                <a:ea typeface="Palatino Linotype" pitchFamily="34" charset="-122"/>
                <a:cs typeface="Palatino Linotype" pitchFamily="34" charset="-120"/>
              </a:rPr>
              <a:t>✓</a:t>
            </a:r>
            <a:endParaRPr lang="en-US" sz="1300" dirty="0"/>
          </a:p>
        </p:txBody>
      </p:sp>
      <p:sp>
        <p:nvSpPr>
          <p:cNvPr id="8" name="Text 6"/>
          <p:cNvSpPr/>
          <p:nvPr/>
        </p:nvSpPr>
        <p:spPr>
          <a:xfrm>
            <a:off x="1444752" y="2084832"/>
            <a:ext cx="4389120" cy="365760"/>
          </a:xfrm>
          <a:prstGeom prst="rect">
            <a:avLst/>
          </a:prstGeom>
          <a:noFill/>
          <a:ln/>
        </p:spPr>
        <p:txBody>
          <a:bodyPr wrap="square" lIns="0" tIns="0" rIns="0" bIns="0" rtlCol="0" anchor="ctr"/>
          <a:lstStyle/>
          <a:p>
            <a:pPr marL="0" indent="0">
              <a:buNone/>
            </a:pPr>
            <a:r>
              <a:rPr lang="en-US" sz="1100" b="1" kern="0" spc="200" dirty="0">
                <a:solidFill>
                  <a:srgbClr val="27D3BE"/>
                </a:solidFill>
                <a:latin typeface="Palatino Linotype" pitchFamily="34" charset="0"/>
                <a:ea typeface="Palatino Linotype" pitchFamily="34" charset="-122"/>
                <a:cs typeface="Palatino Linotype" pitchFamily="34" charset="-120"/>
              </a:rPr>
              <a:t>CE ARATĂ IMAGINEA</a:t>
            </a:r>
            <a:endParaRPr lang="en-US" sz="1100" dirty="0"/>
          </a:p>
        </p:txBody>
      </p:sp>
      <p:sp>
        <p:nvSpPr>
          <p:cNvPr id="9" name="Text 7"/>
          <p:cNvSpPr/>
          <p:nvPr/>
        </p:nvSpPr>
        <p:spPr>
          <a:xfrm>
            <a:off x="914400" y="2633472"/>
            <a:ext cx="4846320" cy="2331720"/>
          </a:xfrm>
          <a:prstGeom prst="rect">
            <a:avLst/>
          </a:prstGeom>
          <a:noFill/>
          <a:ln/>
        </p:spPr>
        <p:txBody>
          <a:bodyPr wrap="square" lIns="0" tIns="0" rIns="0" bIns="0" rtlCol="0" anchor="t"/>
          <a:lstStyle/>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Disponibilitate redusă a receptorilor D2 la persoanele dependente de cocaină, persistentă 3–4 luni după dezintoxicare, asociată cu metabolism redus orbitofrontal și cingulat.</a:t>
            </a:r>
            <a:endParaRPr lang="en-US" sz="1300" dirty="0"/>
          </a:p>
          <a:p>
            <a:pPr marL="0" indent="0">
              <a:lnSpc>
                <a:spcPts val="2100"/>
              </a:lnSpc>
              <a:buNone/>
            </a:pPr>
            <a:endParaRPr lang="en-US" sz="1300" dirty="0"/>
          </a:p>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Volkow și colab., Synapse, 1993</a:t>
            </a:r>
            <a:endParaRPr lang="en-US" sz="1300" dirty="0"/>
          </a:p>
        </p:txBody>
      </p:sp>
      <p:sp>
        <p:nvSpPr>
          <p:cNvPr id="10" name="Shape 8"/>
          <p:cNvSpPr/>
          <p:nvPr/>
        </p:nvSpPr>
        <p:spPr>
          <a:xfrm>
            <a:off x="6309360" y="1847088"/>
            <a:ext cx="5257800" cy="3310128"/>
          </a:xfrm>
          <a:prstGeom prst="roundRect">
            <a:avLst>
              <a:gd name="adj" fmla="val 2486"/>
            </a:avLst>
          </a:prstGeom>
          <a:solidFill>
            <a:srgbClr val="272A38"/>
          </a:solidFill>
          <a:ln w="12700">
            <a:solidFill>
              <a:srgbClr val="272A38"/>
            </a:solidFill>
            <a:prstDash val="solid"/>
          </a:ln>
        </p:spPr>
        <p:txBody>
          <a:bodyPr/>
          <a:lstStyle/>
          <a:p>
            <a:endParaRPr lang="ro-RO"/>
          </a:p>
        </p:txBody>
      </p:sp>
      <p:sp>
        <p:nvSpPr>
          <p:cNvPr id="11" name="Shape 9"/>
          <p:cNvSpPr/>
          <p:nvPr/>
        </p:nvSpPr>
        <p:spPr>
          <a:xfrm>
            <a:off x="6629400" y="2084832"/>
            <a:ext cx="365760" cy="365760"/>
          </a:xfrm>
          <a:prstGeom prst="ellipse">
            <a:avLst/>
          </a:prstGeom>
          <a:solidFill>
            <a:srgbClr val="FF4757"/>
          </a:solidFill>
          <a:ln w="12700">
            <a:solidFill>
              <a:srgbClr val="FF4757"/>
            </a:solidFill>
            <a:prstDash val="solid"/>
          </a:ln>
        </p:spPr>
        <p:txBody>
          <a:bodyPr/>
          <a:lstStyle/>
          <a:p>
            <a:endParaRPr lang="ro-RO"/>
          </a:p>
        </p:txBody>
      </p:sp>
      <p:sp>
        <p:nvSpPr>
          <p:cNvPr id="12" name="Text 10"/>
          <p:cNvSpPr/>
          <p:nvPr/>
        </p:nvSpPr>
        <p:spPr>
          <a:xfrm>
            <a:off x="6629400" y="20848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a:t>
            </a:r>
            <a:endParaRPr lang="en-US" sz="1300" dirty="0"/>
          </a:p>
        </p:txBody>
      </p:sp>
      <p:sp>
        <p:nvSpPr>
          <p:cNvPr id="13" name="Text 11"/>
          <p:cNvSpPr/>
          <p:nvPr/>
        </p:nvSpPr>
        <p:spPr>
          <a:xfrm>
            <a:off x="7159752" y="2084832"/>
            <a:ext cx="4114800" cy="365760"/>
          </a:xfrm>
          <a:prstGeom prst="rect">
            <a:avLst/>
          </a:prstGeom>
          <a:noFill/>
          <a:ln/>
        </p:spPr>
        <p:txBody>
          <a:bodyPr wrap="square" lIns="0" tIns="0" rIns="0" bIns="0" rtlCol="0" anchor="ctr"/>
          <a:lstStyle/>
          <a:p>
            <a:pPr marL="0" indent="0">
              <a:buNone/>
            </a:pPr>
            <a:r>
              <a:rPr lang="en-US" sz="1100" b="1" kern="0" spc="200" dirty="0">
                <a:solidFill>
                  <a:srgbClr val="FF4757"/>
                </a:solidFill>
                <a:latin typeface="Palatino Linotype" pitchFamily="34" charset="0"/>
                <a:ea typeface="Palatino Linotype" pitchFamily="34" charset="-122"/>
                <a:cs typeface="Palatino Linotype" pitchFamily="34" charset="-120"/>
              </a:rPr>
              <a:t>CE NU POATE ARĂTA</a:t>
            </a:r>
            <a:endParaRPr lang="en-US" sz="1100" dirty="0"/>
          </a:p>
        </p:txBody>
      </p:sp>
      <p:sp>
        <p:nvSpPr>
          <p:cNvPr id="14" name="Text 12"/>
          <p:cNvSpPr/>
          <p:nvPr/>
        </p:nvSpPr>
        <p:spPr>
          <a:xfrm>
            <a:off x="6629400" y="2633472"/>
            <a:ext cx="4663440" cy="2331720"/>
          </a:xfrm>
          <a:prstGeom prst="rect">
            <a:avLst/>
          </a:prstGeom>
          <a:noFill/>
          <a:ln/>
        </p:spPr>
        <p:txBody>
          <a:bodyPr wrap="square" lIns="0" tIns="0" rIns="0" bIns="0" rtlCol="0" anchor="t"/>
          <a:lstStyle/>
          <a:p>
            <a:pPr marL="0" indent="0">
              <a:lnSpc>
                <a:spcPts val="2100"/>
              </a:lnSpc>
              <a:buNone/>
            </a:pPr>
            <a:r>
              <a:rPr lang="en-US" sz="1300" dirty="0">
                <a:solidFill>
                  <a:srgbClr val="959BB0"/>
                </a:solidFill>
                <a:latin typeface="Palatino Linotype" pitchFamily="34" charset="0"/>
                <a:ea typeface="Palatino Linotype" pitchFamily="34" charset="-122"/>
                <a:cs typeface="Palatino Linotype" pitchFamily="34" charset="-120"/>
              </a:rPr>
              <a:t>Studiul este TRANSVERSAL. Nu poate spune dacă receptorii erau așa înainte de expunere.</a:t>
            </a:r>
            <a:endParaRPr lang="en-US" sz="1300" dirty="0"/>
          </a:p>
          <a:p>
            <a:pPr marL="0" indent="0">
              <a:lnSpc>
                <a:spcPts val="2100"/>
              </a:lnSpc>
              <a:buNone/>
            </a:pPr>
            <a:endParaRPr lang="en-US" sz="1300" dirty="0"/>
          </a:p>
          <a:p>
            <a:pPr marL="0" indent="0">
              <a:lnSpc>
                <a:spcPts val="2100"/>
              </a:lnSpc>
              <a:buNone/>
            </a:pPr>
            <a:r>
              <a:rPr lang="en-US" sz="1300" dirty="0">
                <a:solidFill>
                  <a:srgbClr val="959BB0"/>
                </a:solidFill>
                <a:latin typeface="Palatino Linotype" pitchFamily="34" charset="0"/>
                <a:ea typeface="Palatino Linotype" pitchFamily="34" charset="-122"/>
                <a:cs typeface="Palatino Linotype" pitchFamily="34" charset="-120"/>
              </a:rPr>
              <a:t>Orice prezentare care afișează acest scan cu subtitlul „iată ce fac drogurile creierului tău” afirmă ceva ce imaginea nu demonstrează.</a:t>
            </a:r>
            <a:endParaRPr lang="en-US" sz="1300" dirty="0"/>
          </a:p>
        </p:txBody>
      </p:sp>
      <p:sp>
        <p:nvSpPr>
          <p:cNvPr id="15" name="Text 13"/>
          <p:cNvSpPr/>
          <p:nvPr/>
        </p:nvSpPr>
        <p:spPr>
          <a:xfrm>
            <a:off x="594360" y="5394960"/>
            <a:ext cx="10972800" cy="365760"/>
          </a:xfrm>
          <a:prstGeom prst="rect">
            <a:avLst/>
          </a:prstGeom>
          <a:noFill/>
          <a:ln/>
        </p:spPr>
        <p:txBody>
          <a:bodyPr wrap="square" lIns="0" tIns="0" rIns="0" bIns="0" rtlCol="0" anchor="ctr"/>
          <a:lstStyle/>
          <a:p>
            <a:pPr marL="0" indent="0">
              <a:buNone/>
            </a:pPr>
            <a:r>
              <a:rPr lang="en-US" sz="1400" b="1" dirty="0">
                <a:solidFill>
                  <a:srgbClr val="9B7EF7"/>
                </a:solidFill>
                <a:latin typeface="Palatino Linotype" pitchFamily="34" charset="0"/>
                <a:ea typeface="Palatino Linotype" pitchFamily="34" charset="-122"/>
                <a:cs typeface="Palatino Linotype" pitchFamily="34" charset="-120"/>
              </a:rPr>
              <a:t>Două studii longitudinale au răspuns la această întrebare la maimuțe. Diapozitivul următor.</a:t>
            </a:r>
            <a:endParaRPr lang="en-US" sz="1400" dirty="0"/>
          </a:p>
        </p:txBody>
      </p:sp>
      <p:sp>
        <p:nvSpPr>
          <p:cNvPr id="16" name="Text 14"/>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Volkow și colab., Synapse, 1993 · N și mărimea efectului nu apar în rezumat; textul integral nu a fost consultat</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DOVADA LONGITUDINALĂ</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2800" b="1" dirty="0">
                <a:solidFill>
                  <a:srgbClr val="FFFFFF"/>
                </a:solidFill>
                <a:latin typeface="Palatino Linotype" pitchFamily="34" charset="0"/>
                <a:ea typeface="Palatino Linotype" pitchFamily="34" charset="-122"/>
                <a:cs typeface="Palatino Linotype" pitchFamily="34" charset="-120"/>
              </a:rPr>
              <a:t>Poziția socială a modificat neurochimia înainte de drog</a:t>
            </a:r>
            <a:endParaRPr lang="en-US" sz="2800" dirty="0"/>
          </a:p>
        </p:txBody>
      </p:sp>
      <p:sp>
        <p:nvSpPr>
          <p:cNvPr id="4" name="Shape 2"/>
          <p:cNvSpPr/>
          <p:nvPr/>
        </p:nvSpPr>
        <p:spPr>
          <a:xfrm>
            <a:off x="594360" y="1810512"/>
            <a:ext cx="3429000" cy="2212848"/>
          </a:xfrm>
          <a:prstGeom prst="roundRect">
            <a:avLst>
              <a:gd name="adj" fmla="val 3719"/>
            </a:avLst>
          </a:prstGeom>
          <a:solidFill>
            <a:srgbClr val="1D1F2B"/>
          </a:solidFill>
          <a:ln w="12700">
            <a:solidFill>
              <a:srgbClr val="1D1F2B"/>
            </a:solidFill>
            <a:prstDash val="solid"/>
          </a:ln>
        </p:spPr>
        <p:txBody>
          <a:bodyPr/>
          <a:lstStyle/>
          <a:p>
            <a:endParaRPr lang="ro-RO"/>
          </a:p>
        </p:txBody>
      </p:sp>
      <p:sp>
        <p:nvSpPr>
          <p:cNvPr id="5" name="Shape 3"/>
          <p:cNvSpPr/>
          <p:nvPr/>
        </p:nvSpPr>
        <p:spPr>
          <a:xfrm>
            <a:off x="850392" y="2029968"/>
            <a:ext cx="420624" cy="420624"/>
          </a:xfrm>
          <a:prstGeom prst="ellipse">
            <a:avLst/>
          </a:prstGeom>
          <a:solidFill>
            <a:srgbClr val="27D3BE"/>
          </a:solidFill>
          <a:ln w="12700">
            <a:solidFill>
              <a:srgbClr val="27D3BE"/>
            </a:solidFill>
            <a:prstDash val="solid"/>
          </a:ln>
        </p:spPr>
        <p:txBody>
          <a:bodyPr/>
          <a:lstStyle/>
          <a:p>
            <a:endParaRPr lang="ro-RO"/>
          </a:p>
        </p:txBody>
      </p:sp>
      <p:sp>
        <p:nvSpPr>
          <p:cNvPr id="6" name="Text 4"/>
          <p:cNvSpPr/>
          <p:nvPr/>
        </p:nvSpPr>
        <p:spPr>
          <a:xfrm>
            <a:off x="850392" y="2029968"/>
            <a:ext cx="420624" cy="420624"/>
          </a:xfrm>
          <a:prstGeom prst="rect">
            <a:avLst/>
          </a:prstGeom>
          <a:noFill/>
          <a:ln/>
        </p:spPr>
        <p:txBody>
          <a:bodyPr wrap="square" lIns="0" tIns="0" rIns="0" bIns="0" rtlCol="0" anchor="ctr"/>
          <a:lstStyle/>
          <a:p>
            <a:pPr marL="0" indent="0" algn="ctr">
              <a:buNone/>
            </a:pPr>
            <a:r>
              <a:rPr lang="en-US" sz="1500" b="1" dirty="0">
                <a:solidFill>
                  <a:srgbClr val="11121A"/>
                </a:solidFill>
                <a:latin typeface="Palatino Linotype" pitchFamily="34" charset="0"/>
                <a:ea typeface="Palatino Linotype" pitchFamily="34" charset="-122"/>
                <a:cs typeface="Palatino Linotype" pitchFamily="34" charset="-120"/>
              </a:rPr>
              <a:t>1</a:t>
            </a:r>
            <a:endParaRPr lang="en-US" sz="1500" dirty="0"/>
          </a:p>
        </p:txBody>
      </p:sp>
      <p:sp>
        <p:nvSpPr>
          <p:cNvPr id="7" name="Text 5"/>
          <p:cNvSpPr/>
          <p:nvPr/>
        </p:nvSpPr>
        <p:spPr>
          <a:xfrm>
            <a:off x="850392" y="2578608"/>
            <a:ext cx="2926080" cy="329184"/>
          </a:xfrm>
          <a:prstGeom prst="rect">
            <a:avLst/>
          </a:prstGeom>
          <a:noFill/>
          <a:ln/>
        </p:spPr>
        <p:txBody>
          <a:bodyPr wrap="square" lIns="0" tIns="0" rIns="0" bIns="0" rtlCol="0" anchor="ctr"/>
          <a:lstStyle/>
          <a:p>
            <a:pPr marL="0" indent="0">
              <a:buNone/>
            </a:pPr>
            <a:r>
              <a:rPr lang="en-US" sz="1250" b="1" kern="0" spc="140" dirty="0">
                <a:solidFill>
                  <a:srgbClr val="27D3BE"/>
                </a:solidFill>
                <a:latin typeface="Palatino Linotype" pitchFamily="34" charset="0"/>
                <a:ea typeface="Palatino Linotype" pitchFamily="34" charset="-122"/>
                <a:cs typeface="Palatino Linotype" pitchFamily="34" charset="-120"/>
              </a:rPr>
              <a:t>ÎNAINTE</a:t>
            </a:r>
            <a:endParaRPr lang="en-US" sz="1250" dirty="0"/>
          </a:p>
        </p:txBody>
      </p:sp>
      <p:sp>
        <p:nvSpPr>
          <p:cNvPr id="8" name="Text 6"/>
          <p:cNvSpPr/>
          <p:nvPr/>
        </p:nvSpPr>
        <p:spPr>
          <a:xfrm>
            <a:off x="850392" y="2962656"/>
            <a:ext cx="2926080" cy="868680"/>
          </a:xfrm>
          <a:prstGeom prst="rect">
            <a:avLst/>
          </a:prstGeom>
          <a:noFill/>
          <a:ln/>
        </p:spPr>
        <p:txBody>
          <a:bodyPr wrap="square" lIns="0" tIns="0" rIns="0" bIns="0" rtlCol="0" anchor="t"/>
          <a:lstStyle/>
          <a:p>
            <a:pPr marL="0" indent="0">
              <a:lnSpc>
                <a:spcPts val="1900"/>
              </a:lnSpc>
              <a:buNone/>
            </a:pPr>
            <a:r>
              <a:rPr lang="en-US" sz="1250" dirty="0">
                <a:solidFill>
                  <a:srgbClr val="959BB0"/>
                </a:solidFill>
                <a:latin typeface="Palatino Linotype" pitchFamily="34" charset="0"/>
                <a:ea typeface="Palatino Linotype" pitchFamily="34" charset="-122"/>
                <a:cs typeface="Palatino Linotype" pitchFamily="34" charset="-120"/>
              </a:rPr>
              <a:t>Cazați individual, cele 20 de animale NU difereau în disponibilitatea D2.</a:t>
            </a:r>
            <a:endParaRPr lang="en-US" sz="1250" dirty="0"/>
          </a:p>
        </p:txBody>
      </p:sp>
      <p:sp>
        <p:nvSpPr>
          <p:cNvPr id="9" name="Shape 7"/>
          <p:cNvSpPr/>
          <p:nvPr/>
        </p:nvSpPr>
        <p:spPr>
          <a:xfrm>
            <a:off x="4389120" y="1810512"/>
            <a:ext cx="3429000" cy="2212848"/>
          </a:xfrm>
          <a:prstGeom prst="roundRect">
            <a:avLst>
              <a:gd name="adj" fmla="val 3719"/>
            </a:avLst>
          </a:prstGeom>
          <a:solidFill>
            <a:srgbClr val="272A38"/>
          </a:solidFill>
          <a:ln w="12700">
            <a:solidFill>
              <a:srgbClr val="272A38"/>
            </a:solidFill>
            <a:prstDash val="solid"/>
          </a:ln>
        </p:spPr>
        <p:txBody>
          <a:bodyPr/>
          <a:lstStyle/>
          <a:p>
            <a:endParaRPr lang="ro-RO"/>
          </a:p>
        </p:txBody>
      </p:sp>
      <p:sp>
        <p:nvSpPr>
          <p:cNvPr id="10" name="Shape 8"/>
          <p:cNvSpPr/>
          <p:nvPr/>
        </p:nvSpPr>
        <p:spPr>
          <a:xfrm>
            <a:off x="4645152" y="2029968"/>
            <a:ext cx="420624" cy="420624"/>
          </a:xfrm>
          <a:prstGeom prst="ellipse">
            <a:avLst/>
          </a:prstGeom>
          <a:solidFill>
            <a:srgbClr val="FFC24B"/>
          </a:solidFill>
          <a:ln w="12700">
            <a:solidFill>
              <a:srgbClr val="FFC24B"/>
            </a:solidFill>
            <a:prstDash val="solid"/>
          </a:ln>
        </p:spPr>
        <p:txBody>
          <a:bodyPr/>
          <a:lstStyle/>
          <a:p>
            <a:endParaRPr lang="ro-RO"/>
          </a:p>
        </p:txBody>
      </p:sp>
      <p:sp>
        <p:nvSpPr>
          <p:cNvPr id="11" name="Text 9"/>
          <p:cNvSpPr/>
          <p:nvPr/>
        </p:nvSpPr>
        <p:spPr>
          <a:xfrm>
            <a:off x="4645152" y="2029968"/>
            <a:ext cx="420624" cy="420624"/>
          </a:xfrm>
          <a:prstGeom prst="rect">
            <a:avLst/>
          </a:prstGeom>
          <a:noFill/>
          <a:ln/>
        </p:spPr>
        <p:txBody>
          <a:bodyPr wrap="square" lIns="0" tIns="0" rIns="0" bIns="0" rtlCol="0" anchor="ctr"/>
          <a:lstStyle/>
          <a:p>
            <a:pPr marL="0" indent="0" algn="ctr">
              <a:buNone/>
            </a:pPr>
            <a:r>
              <a:rPr lang="en-US" sz="1500" b="1" dirty="0">
                <a:solidFill>
                  <a:srgbClr val="11121A"/>
                </a:solidFill>
                <a:latin typeface="Palatino Linotype" pitchFamily="34" charset="0"/>
                <a:ea typeface="Palatino Linotype" pitchFamily="34" charset="-122"/>
                <a:cs typeface="Palatino Linotype" pitchFamily="34" charset="-120"/>
              </a:rPr>
              <a:t>2</a:t>
            </a:r>
            <a:endParaRPr lang="en-US" sz="1500" dirty="0"/>
          </a:p>
        </p:txBody>
      </p:sp>
      <p:sp>
        <p:nvSpPr>
          <p:cNvPr id="12" name="Text 10"/>
          <p:cNvSpPr/>
          <p:nvPr/>
        </p:nvSpPr>
        <p:spPr>
          <a:xfrm>
            <a:off x="4645152" y="2578608"/>
            <a:ext cx="2926080" cy="329184"/>
          </a:xfrm>
          <a:prstGeom prst="rect">
            <a:avLst/>
          </a:prstGeom>
          <a:noFill/>
          <a:ln/>
        </p:spPr>
        <p:txBody>
          <a:bodyPr wrap="square" lIns="0" tIns="0" rIns="0" bIns="0" rtlCol="0" anchor="ctr"/>
          <a:lstStyle/>
          <a:p>
            <a:pPr marL="0" indent="0">
              <a:buNone/>
            </a:pPr>
            <a:r>
              <a:rPr lang="en-US" sz="1250" b="1" kern="0" spc="140" dirty="0">
                <a:solidFill>
                  <a:srgbClr val="FFC24B"/>
                </a:solidFill>
                <a:latin typeface="Palatino Linotype" pitchFamily="34" charset="0"/>
                <a:ea typeface="Palatino Linotype" pitchFamily="34" charset="-122"/>
                <a:cs typeface="Palatino Linotype" pitchFamily="34" charset="-120"/>
              </a:rPr>
              <a:t>CAZARE SOCIALĂ</a:t>
            </a:r>
            <a:endParaRPr lang="en-US" sz="1250" dirty="0"/>
          </a:p>
        </p:txBody>
      </p:sp>
      <p:sp>
        <p:nvSpPr>
          <p:cNvPr id="13" name="Text 11"/>
          <p:cNvSpPr/>
          <p:nvPr/>
        </p:nvSpPr>
        <p:spPr>
          <a:xfrm>
            <a:off x="4645152" y="2962656"/>
            <a:ext cx="2926080" cy="868680"/>
          </a:xfrm>
          <a:prstGeom prst="rect">
            <a:avLst/>
          </a:prstGeom>
          <a:noFill/>
          <a:ln/>
        </p:spPr>
        <p:txBody>
          <a:bodyPr wrap="square" lIns="0" tIns="0" rIns="0" bIns="0" rtlCol="0" anchor="t"/>
          <a:lstStyle/>
          <a:p>
            <a:pPr marL="0" indent="0">
              <a:lnSpc>
                <a:spcPts val="1900"/>
              </a:lnSpc>
              <a:buNone/>
            </a:pPr>
            <a:r>
              <a:rPr lang="en-US" sz="1250" dirty="0">
                <a:solidFill>
                  <a:srgbClr val="FFC24B"/>
                </a:solidFill>
                <a:latin typeface="Palatino Linotype" pitchFamily="34" charset="0"/>
                <a:ea typeface="Palatino Linotype" pitchFamily="34" charset="-122"/>
                <a:cs typeface="Palatino Linotype" pitchFamily="34" charset="-120"/>
              </a:rPr>
              <a:t>D2 a CRESCUT la animalele devenite dominante. Fără schimbare la subordonați.</a:t>
            </a:r>
            <a:endParaRPr lang="en-US" sz="1250" dirty="0"/>
          </a:p>
        </p:txBody>
      </p:sp>
      <p:sp>
        <p:nvSpPr>
          <p:cNvPr id="14" name="Shape 12"/>
          <p:cNvSpPr/>
          <p:nvPr/>
        </p:nvSpPr>
        <p:spPr>
          <a:xfrm>
            <a:off x="8183880" y="1810512"/>
            <a:ext cx="3429000" cy="2212848"/>
          </a:xfrm>
          <a:prstGeom prst="roundRect">
            <a:avLst>
              <a:gd name="adj" fmla="val 3719"/>
            </a:avLst>
          </a:prstGeom>
          <a:solidFill>
            <a:srgbClr val="FF4757"/>
          </a:solidFill>
          <a:ln w="12700">
            <a:solidFill>
              <a:srgbClr val="FF4757"/>
            </a:solidFill>
            <a:prstDash val="solid"/>
          </a:ln>
        </p:spPr>
        <p:txBody>
          <a:bodyPr/>
          <a:lstStyle/>
          <a:p>
            <a:endParaRPr lang="ro-RO"/>
          </a:p>
        </p:txBody>
      </p:sp>
      <p:sp>
        <p:nvSpPr>
          <p:cNvPr id="15" name="Shape 13"/>
          <p:cNvSpPr/>
          <p:nvPr/>
        </p:nvSpPr>
        <p:spPr>
          <a:xfrm>
            <a:off x="8439912" y="2029968"/>
            <a:ext cx="420624" cy="420624"/>
          </a:xfrm>
          <a:prstGeom prst="ellipse">
            <a:avLst/>
          </a:prstGeom>
          <a:solidFill>
            <a:srgbClr val="2E060B"/>
          </a:solidFill>
          <a:ln w="12700">
            <a:solidFill>
              <a:srgbClr val="2E060B"/>
            </a:solidFill>
            <a:prstDash val="solid"/>
          </a:ln>
        </p:spPr>
        <p:txBody>
          <a:bodyPr/>
          <a:lstStyle/>
          <a:p>
            <a:endParaRPr lang="ro-RO"/>
          </a:p>
        </p:txBody>
      </p:sp>
      <p:sp>
        <p:nvSpPr>
          <p:cNvPr id="16" name="Text 14"/>
          <p:cNvSpPr/>
          <p:nvPr/>
        </p:nvSpPr>
        <p:spPr>
          <a:xfrm>
            <a:off x="8439912" y="2029968"/>
            <a:ext cx="420624" cy="420624"/>
          </a:xfrm>
          <a:prstGeom prst="rect">
            <a:avLst/>
          </a:prstGeom>
          <a:noFill/>
          <a:ln/>
        </p:spPr>
        <p:txBody>
          <a:bodyPr wrap="square" lIns="0" tIns="0" rIns="0" bIns="0" rtlCol="0" anchor="ctr"/>
          <a:lstStyle/>
          <a:p>
            <a:pPr marL="0" indent="0" algn="ctr">
              <a:buNone/>
            </a:pPr>
            <a:r>
              <a:rPr lang="en-US" sz="1500" b="1" dirty="0">
                <a:solidFill>
                  <a:srgbClr val="FF4757"/>
                </a:solidFill>
                <a:latin typeface="Palatino Linotype" pitchFamily="34" charset="0"/>
                <a:ea typeface="Palatino Linotype" pitchFamily="34" charset="-122"/>
                <a:cs typeface="Palatino Linotype" pitchFamily="34" charset="-120"/>
              </a:rPr>
              <a:t>3</a:t>
            </a:r>
            <a:endParaRPr lang="en-US" sz="1500" dirty="0"/>
          </a:p>
        </p:txBody>
      </p:sp>
      <p:sp>
        <p:nvSpPr>
          <p:cNvPr id="17" name="Text 15"/>
          <p:cNvSpPr/>
          <p:nvPr/>
        </p:nvSpPr>
        <p:spPr>
          <a:xfrm>
            <a:off x="8439912" y="2578608"/>
            <a:ext cx="2926080" cy="329184"/>
          </a:xfrm>
          <a:prstGeom prst="rect">
            <a:avLst/>
          </a:prstGeom>
          <a:noFill/>
          <a:ln/>
        </p:spPr>
        <p:txBody>
          <a:bodyPr wrap="square" lIns="0" tIns="0" rIns="0" bIns="0" rtlCol="0" anchor="ctr"/>
          <a:lstStyle/>
          <a:p>
            <a:pPr marL="0" indent="0">
              <a:buNone/>
            </a:pPr>
            <a:r>
              <a:rPr lang="en-US" sz="1250" b="1" kern="0" spc="140" dirty="0">
                <a:solidFill>
                  <a:srgbClr val="2E060B"/>
                </a:solidFill>
                <a:latin typeface="Palatino Linotype" pitchFamily="34" charset="0"/>
                <a:ea typeface="Palatino Linotype" pitchFamily="34" charset="-122"/>
                <a:cs typeface="Palatino Linotype" pitchFamily="34" charset="-120"/>
              </a:rPr>
              <a:t>ABIA APOI COCAINĂ</a:t>
            </a:r>
            <a:endParaRPr lang="en-US" sz="1250" dirty="0"/>
          </a:p>
        </p:txBody>
      </p:sp>
      <p:sp>
        <p:nvSpPr>
          <p:cNvPr id="18" name="Text 16"/>
          <p:cNvSpPr/>
          <p:nvPr/>
        </p:nvSpPr>
        <p:spPr>
          <a:xfrm>
            <a:off x="8439912" y="2962656"/>
            <a:ext cx="2926080" cy="868680"/>
          </a:xfrm>
          <a:prstGeom prst="rect">
            <a:avLst/>
          </a:prstGeom>
          <a:noFill/>
          <a:ln/>
        </p:spPr>
        <p:txBody>
          <a:bodyPr wrap="square" lIns="0" tIns="0" rIns="0" bIns="0" rtlCol="0" anchor="t"/>
          <a:lstStyle/>
          <a:p>
            <a:pPr marL="0" indent="0">
              <a:lnSpc>
                <a:spcPts val="1900"/>
              </a:lnSpc>
              <a:buNone/>
            </a:pPr>
            <a:r>
              <a:rPr lang="en-US" sz="1250" dirty="0">
                <a:solidFill>
                  <a:srgbClr val="2E060B"/>
                </a:solidFill>
                <a:latin typeface="Palatino Linotype" pitchFamily="34" charset="0"/>
                <a:ea typeface="Palatino Linotype" pitchFamily="34" charset="-122"/>
                <a:cs typeface="Palatino Linotype" pitchFamily="34" charset="-120"/>
              </a:rPr>
              <a:t>A funcționat ca întăritor la subordonați. NU a funcționat la dominanți.</a:t>
            </a:r>
            <a:endParaRPr lang="en-US" sz="1250" dirty="0"/>
          </a:p>
        </p:txBody>
      </p:sp>
      <p:sp>
        <p:nvSpPr>
          <p:cNvPr id="19" name="Shape 17"/>
          <p:cNvSpPr/>
          <p:nvPr/>
        </p:nvSpPr>
        <p:spPr>
          <a:xfrm>
            <a:off x="594360" y="4224528"/>
            <a:ext cx="10972800" cy="932688"/>
          </a:xfrm>
          <a:prstGeom prst="roundRect">
            <a:avLst>
              <a:gd name="adj" fmla="val 8824"/>
            </a:avLst>
          </a:prstGeom>
          <a:solidFill>
            <a:srgbClr val="272A38"/>
          </a:solidFill>
          <a:ln w="12700">
            <a:solidFill>
              <a:srgbClr val="272A38"/>
            </a:solidFill>
            <a:prstDash val="solid"/>
          </a:ln>
        </p:spPr>
        <p:txBody>
          <a:bodyPr/>
          <a:lstStyle/>
          <a:p>
            <a:endParaRPr lang="ro-RO"/>
          </a:p>
        </p:txBody>
      </p:sp>
      <p:sp>
        <p:nvSpPr>
          <p:cNvPr id="20" name="Text 18"/>
          <p:cNvSpPr/>
          <p:nvPr/>
        </p:nvSpPr>
        <p:spPr>
          <a:xfrm>
            <a:off x="960120" y="4224528"/>
            <a:ext cx="10241280" cy="932688"/>
          </a:xfrm>
          <a:prstGeom prst="rect">
            <a:avLst/>
          </a:prstGeom>
          <a:noFill/>
          <a:ln/>
        </p:spPr>
        <p:txBody>
          <a:bodyPr wrap="square" lIns="0" tIns="0" rIns="0" bIns="0" rtlCol="0" anchor="ctr"/>
          <a:lstStyle/>
          <a:p>
            <a:pPr marL="0" indent="0">
              <a:lnSpc>
                <a:spcPts val="2000"/>
              </a:lnSpc>
              <a:buNone/>
            </a:pPr>
            <a:r>
              <a:rPr lang="en-US" sz="1300" dirty="0">
                <a:solidFill>
                  <a:srgbClr val="FFFFFF"/>
                </a:solidFill>
                <a:latin typeface="Palatino Linotype" pitchFamily="34" charset="0"/>
                <a:ea typeface="Palatino Linotype" pitchFamily="34" charset="-122"/>
                <a:cs typeface="Palatino Linotype" pitchFamily="34" charset="-120"/>
              </a:rPr>
              <a:t>Iar Nader 2006, pe 12 macaci rhesus, arată cealaltă direcție: D2 bazal corelat NEGATIV cu rata autoadministrării ulterioare, apoi D2 scade cu 15–20% în prima săptămână și rămâne redus cu ≈ 20% pe parcursul unui an.</a:t>
            </a:r>
            <a:endParaRPr lang="en-US" sz="1300" dirty="0"/>
          </a:p>
        </p:txBody>
      </p:sp>
      <p:sp>
        <p:nvSpPr>
          <p:cNvPr id="21" name="Shape 19"/>
          <p:cNvSpPr/>
          <p:nvPr/>
        </p:nvSpPr>
        <p:spPr>
          <a:xfrm>
            <a:off x="594360" y="5358384"/>
            <a:ext cx="10972800" cy="658368"/>
          </a:xfrm>
          <a:prstGeom prst="roundRect">
            <a:avLst>
              <a:gd name="adj" fmla="val 12500"/>
            </a:avLst>
          </a:prstGeom>
          <a:solidFill>
            <a:srgbClr val="9B7EF7"/>
          </a:solidFill>
          <a:ln w="12700">
            <a:solidFill>
              <a:srgbClr val="9B7EF7"/>
            </a:solidFill>
            <a:prstDash val="solid"/>
          </a:ln>
        </p:spPr>
        <p:txBody>
          <a:bodyPr/>
          <a:lstStyle/>
          <a:p>
            <a:endParaRPr lang="ro-RO"/>
          </a:p>
        </p:txBody>
      </p:sp>
      <p:sp>
        <p:nvSpPr>
          <p:cNvPr id="22" name="Text 20"/>
          <p:cNvSpPr/>
          <p:nvPr/>
        </p:nvSpPr>
        <p:spPr>
          <a:xfrm>
            <a:off x="960120" y="5358384"/>
            <a:ext cx="10241280" cy="658368"/>
          </a:xfrm>
          <a:prstGeom prst="rect">
            <a:avLst/>
          </a:prstGeom>
          <a:noFill/>
          <a:ln/>
        </p:spPr>
        <p:txBody>
          <a:bodyPr wrap="square" lIns="0" tIns="0" rIns="0" bIns="0" rtlCol="0" anchor="ctr"/>
          <a:lstStyle/>
          <a:p>
            <a:pPr marL="0" indent="0">
              <a:buNone/>
            </a:pPr>
            <a:r>
              <a:rPr lang="en-US" sz="1250" b="1" dirty="0">
                <a:solidFill>
                  <a:srgbClr val="1F1040"/>
                </a:solidFill>
                <a:latin typeface="Palatino Linotype" pitchFamily="34" charset="0"/>
                <a:ea typeface="Palatino Linotype" pitchFamily="34" charset="-122"/>
                <a:cs typeface="Palatino Linotype" pitchFamily="34" charset="-120"/>
              </a:rPr>
              <a:t>INFERENȚA NOASTRĂ, NU AFIRMAȚIA AUTORILOR: D2 scăzut este și predictor preexistent, modelat de mediul social, și consecință a consumului. Un PET transversal la om nu poate separa cele două direcții.</a:t>
            </a:r>
            <a:endParaRPr lang="en-US" sz="1250" dirty="0"/>
          </a:p>
        </p:txBody>
      </p:sp>
      <p:sp>
        <p:nvSpPr>
          <p:cNvPr id="23" name="Text 21"/>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Morgan și colab., Nat Neurosci, 2002 · Nader și colab., Nat Neurosci, 2006</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CIFRA A TREIA · DISOCIEREA</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Dopamina nu este molecula plăcerii</a:t>
            </a:r>
            <a:endParaRPr lang="en-US" sz="3000" dirty="0"/>
          </a:p>
        </p:txBody>
      </p:sp>
      <p:sp>
        <p:nvSpPr>
          <p:cNvPr id="4" name="Shape 2"/>
          <p:cNvSpPr/>
          <p:nvPr/>
        </p:nvSpPr>
        <p:spPr>
          <a:xfrm>
            <a:off x="594360" y="1783080"/>
            <a:ext cx="5440680" cy="1965960"/>
          </a:xfrm>
          <a:prstGeom prst="roundRect">
            <a:avLst>
              <a:gd name="adj" fmla="val 4186"/>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914400" y="1965960"/>
            <a:ext cx="4846320" cy="384048"/>
          </a:xfrm>
          <a:prstGeom prst="rect">
            <a:avLst/>
          </a:prstGeom>
          <a:noFill/>
          <a:ln/>
        </p:spPr>
        <p:txBody>
          <a:bodyPr wrap="square" lIns="0" tIns="0" rIns="0" bIns="0" rtlCol="0" anchor="ctr"/>
          <a:lstStyle/>
          <a:p>
            <a:pPr marL="0" indent="0">
              <a:buNone/>
            </a:pPr>
            <a:r>
              <a:rPr lang="en-US" sz="2100" b="1" kern="0" spc="200" dirty="0">
                <a:solidFill>
                  <a:srgbClr val="FF4757"/>
                </a:solidFill>
                <a:latin typeface="Palatino Linotype" pitchFamily="34" charset="0"/>
                <a:ea typeface="Palatino Linotype" pitchFamily="34" charset="-122"/>
                <a:cs typeface="Palatino Linotype" pitchFamily="34" charset="-120"/>
              </a:rPr>
              <a:t>WANTING</a:t>
            </a:r>
            <a:endParaRPr lang="en-US" sz="2100" dirty="0"/>
          </a:p>
        </p:txBody>
      </p:sp>
      <p:sp>
        <p:nvSpPr>
          <p:cNvPr id="6" name="Text 4"/>
          <p:cNvSpPr/>
          <p:nvPr/>
        </p:nvSpPr>
        <p:spPr>
          <a:xfrm>
            <a:off x="914400" y="2432304"/>
            <a:ext cx="4846320" cy="1170432"/>
          </a:xfrm>
          <a:prstGeom prst="rect">
            <a:avLst/>
          </a:prstGeom>
          <a:noFill/>
          <a:ln/>
        </p:spPr>
        <p:txBody>
          <a:bodyPr wrap="square" lIns="0" tIns="0" rIns="0" bIns="0" rtlCol="0" anchor="t"/>
          <a:lstStyle/>
          <a:p>
            <a:pPr marL="0" indent="0">
              <a:lnSpc>
                <a:spcPts val="2200"/>
              </a:lnSpc>
              <a:buNone/>
            </a:pPr>
            <a:r>
              <a:rPr lang="en-US" sz="1350" dirty="0">
                <a:solidFill>
                  <a:srgbClr val="FFFFFF"/>
                </a:solidFill>
                <a:latin typeface="Palatino Linotype" pitchFamily="34" charset="0"/>
                <a:ea typeface="Palatino Linotype" pitchFamily="34" charset="-122"/>
                <a:cs typeface="Palatino Linotype" pitchFamily="34" charset="-120"/>
              </a:rPr>
              <a:t>Saliența stimulativă. Dorința motivată.</a:t>
            </a:r>
            <a:endParaRPr lang="en-US" sz="1350" dirty="0"/>
          </a:p>
          <a:p>
            <a:pPr marL="0" indent="0">
              <a:lnSpc>
                <a:spcPts val="2200"/>
              </a:lnSpc>
              <a:buNone/>
            </a:pPr>
            <a:r>
              <a:rPr lang="en-US" sz="1350" dirty="0">
                <a:solidFill>
                  <a:srgbClr val="FFFFFF"/>
                </a:solidFill>
                <a:latin typeface="Palatino Linotype" pitchFamily="34" charset="0"/>
                <a:ea typeface="Palatino Linotype" pitchFamily="34" charset="-122"/>
                <a:cs typeface="Palatino Linotype" pitchFamily="34" charset="-120"/>
              </a:rPr>
              <a:t>Sisteme MARI și ROBUSTE, incluzând dopamina mezolimbică. Se sensibilizează cu consumul repetat.</a:t>
            </a:r>
            <a:endParaRPr lang="en-US" sz="1350" dirty="0"/>
          </a:p>
        </p:txBody>
      </p:sp>
      <p:sp>
        <p:nvSpPr>
          <p:cNvPr id="7" name="Shape 5"/>
          <p:cNvSpPr/>
          <p:nvPr/>
        </p:nvSpPr>
        <p:spPr>
          <a:xfrm>
            <a:off x="6309360" y="1783080"/>
            <a:ext cx="5257800" cy="1965960"/>
          </a:xfrm>
          <a:prstGeom prst="roundRect">
            <a:avLst>
              <a:gd name="adj" fmla="val 4186"/>
            </a:avLst>
          </a:prstGeom>
          <a:solidFill>
            <a:srgbClr val="1D1F2B"/>
          </a:solidFill>
          <a:ln w="12700">
            <a:solidFill>
              <a:srgbClr val="1D1F2B"/>
            </a:solidFill>
            <a:prstDash val="solid"/>
          </a:ln>
        </p:spPr>
        <p:txBody>
          <a:bodyPr/>
          <a:lstStyle/>
          <a:p>
            <a:endParaRPr lang="ro-RO"/>
          </a:p>
        </p:txBody>
      </p:sp>
      <p:sp>
        <p:nvSpPr>
          <p:cNvPr id="8" name="Text 6"/>
          <p:cNvSpPr/>
          <p:nvPr/>
        </p:nvSpPr>
        <p:spPr>
          <a:xfrm>
            <a:off x="6629400" y="1965960"/>
            <a:ext cx="4663440" cy="384048"/>
          </a:xfrm>
          <a:prstGeom prst="rect">
            <a:avLst/>
          </a:prstGeom>
          <a:noFill/>
          <a:ln/>
        </p:spPr>
        <p:txBody>
          <a:bodyPr wrap="square" lIns="0" tIns="0" rIns="0" bIns="0" rtlCol="0" anchor="ctr"/>
          <a:lstStyle/>
          <a:p>
            <a:pPr marL="0" indent="0">
              <a:buNone/>
            </a:pPr>
            <a:r>
              <a:rPr lang="en-US" sz="2100" b="1" kern="0" spc="200" dirty="0">
                <a:solidFill>
                  <a:srgbClr val="27D3BE"/>
                </a:solidFill>
                <a:latin typeface="Palatino Linotype" pitchFamily="34" charset="0"/>
                <a:ea typeface="Palatino Linotype" pitchFamily="34" charset="-122"/>
                <a:cs typeface="Palatino Linotype" pitchFamily="34" charset="-120"/>
              </a:rPr>
              <a:t>LIKING</a:t>
            </a:r>
            <a:endParaRPr lang="en-US" sz="2100" dirty="0"/>
          </a:p>
        </p:txBody>
      </p:sp>
      <p:sp>
        <p:nvSpPr>
          <p:cNvPr id="9" name="Text 7"/>
          <p:cNvSpPr/>
          <p:nvPr/>
        </p:nvSpPr>
        <p:spPr>
          <a:xfrm>
            <a:off x="6629400" y="2432304"/>
            <a:ext cx="4663440" cy="1170432"/>
          </a:xfrm>
          <a:prstGeom prst="rect">
            <a:avLst/>
          </a:prstGeom>
          <a:noFill/>
          <a:ln/>
        </p:spPr>
        <p:txBody>
          <a:bodyPr wrap="square" lIns="0" tIns="0" rIns="0" bIns="0" rtlCol="0" anchor="t"/>
          <a:lstStyle/>
          <a:p>
            <a:pPr marL="0" indent="0">
              <a:lnSpc>
                <a:spcPts val="2200"/>
              </a:lnSpc>
              <a:buNone/>
            </a:pPr>
            <a:r>
              <a:rPr lang="en-US" sz="1350" dirty="0">
                <a:solidFill>
                  <a:srgbClr val="FFFFFF"/>
                </a:solidFill>
                <a:latin typeface="Palatino Linotype" pitchFamily="34" charset="0"/>
                <a:ea typeface="Palatino Linotype" pitchFamily="34" charset="-122"/>
                <a:cs typeface="Palatino Linotype" pitchFamily="34" charset="-120"/>
              </a:rPr>
              <a:t>Plăcerea hedonică propriu-zisă.</a:t>
            </a:r>
            <a:endParaRPr lang="en-US" sz="1350" dirty="0"/>
          </a:p>
          <a:p>
            <a:pPr marL="0" indent="0">
              <a:lnSpc>
                <a:spcPts val="2200"/>
              </a:lnSpc>
              <a:buNone/>
            </a:pPr>
            <a:r>
              <a:rPr lang="en-US" sz="1350" dirty="0">
                <a:solidFill>
                  <a:srgbClr val="FFFFFF"/>
                </a:solidFill>
                <a:latin typeface="Palatino Linotype" pitchFamily="34" charset="0"/>
                <a:ea typeface="Palatino Linotype" pitchFamily="34" charset="-122"/>
                <a:cs typeface="Palatino Linotype" pitchFamily="34" charset="-120"/>
              </a:rPr>
              <a:t>Sisteme MICI și FRAGILE, care NU depind de dopamină. Nu se sensibilizează în mod necesar.</a:t>
            </a:r>
            <a:endParaRPr lang="en-US" sz="1350" dirty="0"/>
          </a:p>
        </p:txBody>
      </p:sp>
      <p:sp>
        <p:nvSpPr>
          <p:cNvPr id="10" name="Shape 8"/>
          <p:cNvSpPr/>
          <p:nvPr/>
        </p:nvSpPr>
        <p:spPr>
          <a:xfrm>
            <a:off x="594360" y="3950208"/>
            <a:ext cx="10972800" cy="1170432"/>
          </a:xfrm>
          <a:prstGeom prst="roundRect">
            <a:avLst>
              <a:gd name="adj" fmla="val 7031"/>
            </a:avLst>
          </a:prstGeom>
          <a:solidFill>
            <a:srgbClr val="272A38"/>
          </a:solidFill>
          <a:ln w="12700">
            <a:solidFill>
              <a:srgbClr val="272A38"/>
            </a:solidFill>
            <a:prstDash val="solid"/>
          </a:ln>
        </p:spPr>
        <p:txBody>
          <a:bodyPr/>
          <a:lstStyle/>
          <a:p>
            <a:endParaRPr lang="ro-RO"/>
          </a:p>
        </p:txBody>
      </p:sp>
      <p:sp>
        <p:nvSpPr>
          <p:cNvPr id="11" name="Text 9"/>
          <p:cNvSpPr/>
          <p:nvPr/>
        </p:nvSpPr>
        <p:spPr>
          <a:xfrm>
            <a:off x="960120" y="4114800"/>
            <a:ext cx="10241280" cy="274320"/>
          </a:xfrm>
          <a:prstGeom prst="rect">
            <a:avLst/>
          </a:prstGeom>
          <a:noFill/>
          <a:ln/>
        </p:spPr>
        <p:txBody>
          <a:bodyPr wrap="square" lIns="0" tIns="0" rIns="0" bIns="0" rtlCol="0" anchor="ctr"/>
          <a:lstStyle/>
          <a:p>
            <a:pPr marL="0" indent="0">
              <a:buNone/>
            </a:pPr>
            <a:r>
              <a:rPr lang="en-US" sz="1000" b="1" kern="0" spc="200" dirty="0">
                <a:solidFill>
                  <a:srgbClr val="27D3BE"/>
                </a:solidFill>
                <a:latin typeface="Palatino Linotype" pitchFamily="34" charset="0"/>
                <a:ea typeface="Palatino Linotype" pitchFamily="34" charset="-122"/>
                <a:cs typeface="Palatino Linotype" pitchFamily="34" charset="-120"/>
              </a:rPr>
              <a:t>O DOVADĂ EXPERIMENTALĂ</a:t>
            </a:r>
            <a:endParaRPr lang="en-US" sz="1000" dirty="0"/>
          </a:p>
        </p:txBody>
      </p:sp>
      <p:sp>
        <p:nvSpPr>
          <p:cNvPr id="12" name="Text 10"/>
          <p:cNvSpPr/>
          <p:nvPr/>
        </p:nvSpPr>
        <p:spPr>
          <a:xfrm>
            <a:off x="960120" y="4407408"/>
            <a:ext cx="10241280" cy="621792"/>
          </a:xfrm>
          <a:prstGeom prst="rect">
            <a:avLst/>
          </a:prstGeom>
          <a:noFill/>
          <a:ln/>
        </p:spPr>
        <p:txBody>
          <a:bodyPr wrap="square" lIns="0" tIns="0" rIns="0" bIns="0" rtlCol="0" anchor="t"/>
          <a:lstStyle/>
          <a:p>
            <a:pPr marL="0" indent="0">
              <a:lnSpc>
                <a:spcPts val="2000"/>
              </a:lnSpc>
              <a:buNone/>
            </a:pPr>
            <a:r>
              <a:rPr lang="en-US" sz="1300" dirty="0">
                <a:solidFill>
                  <a:srgbClr val="FFFFFF"/>
                </a:solidFill>
                <a:latin typeface="Palatino Linotype" pitchFamily="34" charset="0"/>
                <a:ea typeface="Palatino Linotype" pitchFamily="34" charset="-122"/>
                <a:cs typeface="Palatino Linotype" pitchFamily="34" charset="-120"/>
              </a:rPr>
              <a:t>Șoarecii incapabili genetic să sintetizeze dopamină preferă zaharoza față de apă — și preferă și zaharina, care nu are calorii. Rata de lins, mărimea și durata seriilor sunt MAI MARI decât la controale. Ce fac mai puțin: inițiază mai rar seriile de lins și ling mai puțin în total.</a:t>
            </a:r>
            <a:endParaRPr lang="en-US" sz="1300" dirty="0"/>
          </a:p>
        </p:txBody>
      </p:sp>
      <p:sp>
        <p:nvSpPr>
          <p:cNvPr id="13" name="Shape 11"/>
          <p:cNvSpPr/>
          <p:nvPr/>
        </p:nvSpPr>
        <p:spPr>
          <a:xfrm>
            <a:off x="594360" y="5303520"/>
            <a:ext cx="10972800" cy="713232"/>
          </a:xfrm>
          <a:prstGeom prst="roundRect">
            <a:avLst>
              <a:gd name="adj" fmla="val 11538"/>
            </a:avLst>
          </a:prstGeom>
          <a:solidFill>
            <a:srgbClr val="FF4757"/>
          </a:solidFill>
          <a:ln w="12700">
            <a:solidFill>
              <a:srgbClr val="FF4757"/>
            </a:solidFill>
            <a:prstDash val="solid"/>
          </a:ln>
        </p:spPr>
        <p:txBody>
          <a:bodyPr/>
          <a:lstStyle/>
          <a:p>
            <a:endParaRPr lang="ro-RO"/>
          </a:p>
        </p:txBody>
      </p:sp>
      <p:sp>
        <p:nvSpPr>
          <p:cNvPr id="14" name="Text 12"/>
          <p:cNvSpPr/>
          <p:nvPr/>
        </p:nvSpPr>
        <p:spPr>
          <a:xfrm>
            <a:off x="960120" y="5303520"/>
            <a:ext cx="10241280" cy="713232"/>
          </a:xfrm>
          <a:prstGeom prst="rect">
            <a:avLst/>
          </a:prstGeom>
          <a:noFill/>
          <a:ln/>
        </p:spPr>
        <p:txBody>
          <a:bodyPr wrap="square" lIns="0" tIns="0" rIns="0" bIns="0" rtlCol="0" anchor="ctr"/>
          <a:lstStyle/>
          <a:p>
            <a:pPr marL="0" indent="0">
              <a:buNone/>
            </a:pPr>
            <a:r>
              <a:rPr lang="en-US" sz="1450" b="1" dirty="0">
                <a:solidFill>
                  <a:srgbClr val="2E060B"/>
                </a:solidFill>
                <a:latin typeface="Palatino Linotype" pitchFamily="34" charset="0"/>
                <a:ea typeface="Palatino Linotype" pitchFamily="34" charset="-122"/>
                <a:cs typeface="Palatino Linotype" pitchFamily="34" charset="-120"/>
              </a:rPr>
              <a:t>În acest cadru teoretic, dopamina nu produce plăcerea, ci urmărirea ei. Pacientul căruia nu îi mai face plăcere, dar continuă, nu minte neapărat (interpretare).</a:t>
            </a:r>
            <a:endParaRPr lang="en-US" sz="1450" dirty="0"/>
          </a:p>
        </p:txBody>
      </p:sp>
      <p:sp>
        <p:nvSpPr>
          <p:cNvPr id="15" name="Text 13"/>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Berridge și Robinson, Am Psychol, 2016 · Cannon și Palmiter, J Neurosci, 2003</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marL="0" indent="0">
              <a:buNone/>
            </a:pPr>
            <a:r>
              <a:rPr lang="en-US" sz="13500" b="1" dirty="0">
                <a:solidFill>
                  <a:srgbClr val="9B7EF7"/>
                </a:solidFill>
                <a:latin typeface="Palatino Linotype" pitchFamily="34" charset="0"/>
                <a:ea typeface="Palatino Linotype" pitchFamily="34" charset="-122"/>
                <a:cs typeface="Palatino Linotype" pitchFamily="34" charset="-120"/>
              </a:rPr>
              <a:t>06</a:t>
            </a:r>
            <a:endParaRPr lang="en-US" sz="13500" dirty="0"/>
          </a:p>
        </p:txBody>
      </p:sp>
      <p:sp>
        <p:nvSpPr>
          <p:cNvPr id="3" name="Shape 1"/>
          <p:cNvSpPr/>
          <p:nvPr/>
        </p:nvSpPr>
        <p:spPr>
          <a:xfrm>
            <a:off x="4160520" y="1691640"/>
            <a:ext cx="27432" cy="1737360"/>
          </a:xfrm>
          <a:prstGeom prst="rect">
            <a:avLst/>
          </a:prstGeom>
          <a:solidFill>
            <a:srgbClr val="9B7EF7"/>
          </a:solidFill>
          <a:ln w="12700">
            <a:solidFill>
              <a:srgbClr val="9B7EF7"/>
            </a:solidFill>
            <a:prstDash val="solid"/>
          </a:ln>
        </p:spPr>
        <p:txBody>
          <a:bodyPr/>
          <a:lstStyle/>
          <a:p>
            <a:endParaRPr lang="ro-RO"/>
          </a:p>
        </p:txBody>
      </p:sp>
      <p:sp>
        <p:nvSpPr>
          <p:cNvPr id="4" name="Text 2"/>
          <p:cNvSpPr/>
          <p:nvPr/>
        </p:nvSpPr>
        <p:spPr>
          <a:xfrm>
            <a:off x="4709160" y="1737360"/>
            <a:ext cx="6858000" cy="822960"/>
          </a:xfrm>
          <a:prstGeom prst="rect">
            <a:avLst/>
          </a:prstGeom>
          <a:noFill/>
          <a:ln/>
        </p:spPr>
        <p:txBody>
          <a:bodyPr wrap="square" lIns="0" tIns="0" rIns="0" bIns="0" rtlCol="0" anchor="ctr"/>
          <a:lstStyle/>
          <a:p>
            <a:pPr marL="0" indent="0">
              <a:buNone/>
            </a:pPr>
            <a:r>
              <a:rPr lang="en-US" sz="3300" b="1" dirty="0">
                <a:solidFill>
                  <a:srgbClr val="FFFFFF"/>
                </a:solidFill>
                <a:latin typeface="Palatino Linotype" pitchFamily="34" charset="0"/>
                <a:ea typeface="Palatino Linotype" pitchFamily="34" charset="-122"/>
                <a:cs typeface="Palatino Linotype" pitchFamily="34" charset="-120"/>
              </a:rPr>
              <a:t>CINE DEVINE DEPENDENT</a:t>
            </a:r>
            <a:endParaRPr lang="en-US" sz="3300" dirty="0"/>
          </a:p>
        </p:txBody>
      </p:sp>
      <p:sp>
        <p:nvSpPr>
          <p:cNvPr id="5" name="Text 3"/>
          <p:cNvSpPr/>
          <p:nvPr/>
        </p:nvSpPr>
        <p:spPr>
          <a:xfrm>
            <a:off x="4709160" y="2606040"/>
            <a:ext cx="6858000" cy="685800"/>
          </a:xfrm>
          <a:prstGeom prst="rect">
            <a:avLst/>
          </a:prstGeom>
          <a:noFill/>
          <a:ln/>
        </p:spPr>
        <p:txBody>
          <a:bodyPr wrap="square" lIns="0" tIns="0" rIns="0" bIns="0" rtlCol="0" anchor="t"/>
          <a:lstStyle/>
          <a:p>
            <a:pPr marL="0" indent="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Și cine se oprește. Aici se închide argumentul sesiunii.</a:t>
            </a:r>
            <a:endParaRPr lang="en-US" sz="15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DATE ACTUALE · UNODC 2026 · EUDA 2026</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2800" b="1" dirty="0">
                <a:solidFill>
                  <a:srgbClr val="FFFFFF"/>
                </a:solidFill>
                <a:latin typeface="Palatino Linotype" pitchFamily="34" charset="0"/>
                <a:ea typeface="Palatino Linotype" pitchFamily="34" charset="-122"/>
                <a:cs typeface="Palatino Linotype" pitchFamily="34" charset="-120"/>
              </a:rPr>
              <a:t>Consumul de droguri, astăzi: lumea și Uniunea Europeană</a:t>
            </a:r>
            <a:endParaRPr lang="en-US" sz="2800" dirty="0"/>
          </a:p>
        </p:txBody>
      </p:sp>
      <p:sp>
        <p:nvSpPr>
          <p:cNvPr id="4" name="Shape 2"/>
          <p:cNvSpPr/>
          <p:nvPr/>
        </p:nvSpPr>
        <p:spPr>
          <a:xfrm>
            <a:off x="594360" y="1783080"/>
            <a:ext cx="2606040" cy="1481328"/>
          </a:xfrm>
          <a:prstGeom prst="roundRect">
            <a:avLst>
              <a:gd name="adj" fmla="val 5556"/>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850392" y="1984248"/>
            <a:ext cx="2093976"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331 mil.</a:t>
            </a:r>
            <a:endParaRPr lang="en-US" sz="3800" dirty="0"/>
          </a:p>
        </p:txBody>
      </p:sp>
      <p:sp>
        <p:nvSpPr>
          <p:cNvPr id="6" name="Text 4"/>
          <p:cNvSpPr/>
          <p:nvPr/>
        </p:nvSpPr>
        <p:spPr>
          <a:xfrm>
            <a:off x="850392" y="2660904"/>
            <a:ext cx="2093976"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au consumat un drog în 2024 · 6,2% (15–64 de ani)</a:t>
            </a:r>
            <a:endParaRPr lang="en-US" sz="1150" dirty="0"/>
          </a:p>
        </p:txBody>
      </p:sp>
      <p:sp>
        <p:nvSpPr>
          <p:cNvPr id="7" name="Shape 5"/>
          <p:cNvSpPr/>
          <p:nvPr/>
        </p:nvSpPr>
        <p:spPr>
          <a:xfrm>
            <a:off x="3364992" y="1783080"/>
            <a:ext cx="2606040" cy="1481328"/>
          </a:xfrm>
          <a:prstGeom prst="roundRect">
            <a:avLst>
              <a:gd name="adj" fmla="val 5556"/>
            </a:avLst>
          </a:prstGeom>
          <a:solidFill>
            <a:srgbClr val="1D1F2B"/>
          </a:solidFill>
          <a:ln w="12700">
            <a:solidFill>
              <a:srgbClr val="1D1F2B"/>
            </a:solidFill>
            <a:prstDash val="solid"/>
          </a:ln>
        </p:spPr>
        <p:txBody>
          <a:bodyPr/>
          <a:lstStyle/>
          <a:p>
            <a:endParaRPr lang="ro-RO"/>
          </a:p>
        </p:txBody>
      </p:sp>
      <p:sp>
        <p:nvSpPr>
          <p:cNvPr id="8" name="Text 6"/>
          <p:cNvSpPr/>
          <p:nvPr/>
        </p:nvSpPr>
        <p:spPr>
          <a:xfrm>
            <a:off x="3621024" y="1984248"/>
            <a:ext cx="2093976"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256 mil.</a:t>
            </a:r>
            <a:endParaRPr lang="en-US" sz="3800" dirty="0"/>
          </a:p>
        </p:txBody>
      </p:sp>
      <p:sp>
        <p:nvSpPr>
          <p:cNvPr id="9" name="Text 7"/>
          <p:cNvSpPr/>
          <p:nvPr/>
        </p:nvSpPr>
        <p:spPr>
          <a:xfrm>
            <a:off x="3621024" y="2660904"/>
            <a:ext cx="2093976"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consumatori de canabis în 2024</a:t>
            </a:r>
            <a:endParaRPr lang="en-US" sz="1150" dirty="0"/>
          </a:p>
        </p:txBody>
      </p:sp>
      <p:sp>
        <p:nvSpPr>
          <p:cNvPr id="10" name="Shape 8"/>
          <p:cNvSpPr/>
          <p:nvPr/>
        </p:nvSpPr>
        <p:spPr>
          <a:xfrm>
            <a:off x="6135624" y="1783080"/>
            <a:ext cx="2606040" cy="1481328"/>
          </a:xfrm>
          <a:prstGeom prst="roundRect">
            <a:avLst>
              <a:gd name="adj" fmla="val 5556"/>
            </a:avLst>
          </a:prstGeom>
          <a:solidFill>
            <a:srgbClr val="1D1F2B"/>
          </a:solidFill>
          <a:ln w="12700">
            <a:solidFill>
              <a:srgbClr val="1D1F2B"/>
            </a:solidFill>
            <a:prstDash val="solid"/>
          </a:ln>
        </p:spPr>
        <p:txBody>
          <a:bodyPr/>
          <a:lstStyle/>
          <a:p>
            <a:endParaRPr lang="ro-RO"/>
          </a:p>
        </p:txBody>
      </p:sp>
      <p:sp>
        <p:nvSpPr>
          <p:cNvPr id="11" name="Text 9"/>
          <p:cNvSpPr/>
          <p:nvPr/>
        </p:nvSpPr>
        <p:spPr>
          <a:xfrm>
            <a:off x="6391656" y="1984248"/>
            <a:ext cx="2093976"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63 mil.</a:t>
            </a:r>
            <a:endParaRPr lang="en-US" sz="3800" dirty="0"/>
          </a:p>
        </p:txBody>
      </p:sp>
      <p:sp>
        <p:nvSpPr>
          <p:cNvPr id="12" name="Text 10"/>
          <p:cNvSpPr/>
          <p:nvPr/>
        </p:nvSpPr>
        <p:spPr>
          <a:xfrm>
            <a:off x="6391656" y="2660904"/>
            <a:ext cx="2093976"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persoane cu tulburări de consum de droguri în 2024</a:t>
            </a:r>
            <a:endParaRPr lang="en-US" sz="1150" dirty="0"/>
          </a:p>
        </p:txBody>
      </p:sp>
      <p:sp>
        <p:nvSpPr>
          <p:cNvPr id="13" name="Shape 11"/>
          <p:cNvSpPr/>
          <p:nvPr/>
        </p:nvSpPr>
        <p:spPr>
          <a:xfrm>
            <a:off x="8906256" y="1783080"/>
            <a:ext cx="2660904" cy="1481328"/>
          </a:xfrm>
          <a:prstGeom prst="roundRect">
            <a:avLst>
              <a:gd name="adj" fmla="val 5556"/>
            </a:avLst>
          </a:prstGeom>
          <a:solidFill>
            <a:srgbClr val="272A38"/>
          </a:solidFill>
          <a:ln w="12700">
            <a:solidFill>
              <a:srgbClr val="272A38"/>
            </a:solidFill>
            <a:prstDash val="solid"/>
          </a:ln>
        </p:spPr>
        <p:txBody>
          <a:bodyPr/>
          <a:lstStyle/>
          <a:p>
            <a:endParaRPr lang="ro-RO"/>
          </a:p>
        </p:txBody>
      </p:sp>
      <p:sp>
        <p:nvSpPr>
          <p:cNvPr id="14" name="Text 12"/>
          <p:cNvSpPr/>
          <p:nvPr/>
        </p:nvSpPr>
        <p:spPr>
          <a:xfrm>
            <a:off x="9162288" y="1984248"/>
            <a:ext cx="2148840" cy="658368"/>
          </a:xfrm>
          <a:prstGeom prst="rect">
            <a:avLst/>
          </a:prstGeom>
          <a:noFill/>
          <a:ln/>
        </p:spPr>
        <p:txBody>
          <a:bodyPr wrap="square" lIns="0" tIns="0" rIns="0" bIns="0" rtlCol="0" anchor="ctr"/>
          <a:lstStyle/>
          <a:p>
            <a:pPr marL="0" indent="0">
              <a:buNone/>
            </a:pPr>
            <a:r>
              <a:rPr lang="en-US" sz="3000" b="1" dirty="0">
                <a:solidFill>
                  <a:srgbClr val="FFC24B"/>
                </a:solidFill>
                <a:latin typeface="Palatino Linotype" pitchFamily="34" charset="0"/>
                <a:ea typeface="Palatino Linotype" pitchFamily="34" charset="-122"/>
                <a:cs typeface="Palatino Linotype" pitchFamily="34" charset="-120"/>
              </a:rPr>
              <a:t>8,7%</a:t>
            </a:r>
            <a:endParaRPr lang="en-US" sz="3800" dirty="0"/>
          </a:p>
        </p:txBody>
      </p:sp>
      <p:sp>
        <p:nvSpPr>
          <p:cNvPr id="15" name="Text 13"/>
          <p:cNvSpPr/>
          <p:nvPr/>
        </p:nvSpPr>
        <p:spPr>
          <a:xfrm>
            <a:off x="9162288" y="2660904"/>
            <a:ext cx="2148840"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adulți din UE (15–64 de ani) cu consum de canabis în ultimul an</a:t>
            </a:r>
            <a:endParaRPr lang="en-US" sz="1150" dirty="0"/>
          </a:p>
        </p:txBody>
      </p:sp>
      <p:sp>
        <p:nvSpPr>
          <p:cNvPr id="16" name="Shape 14"/>
          <p:cNvSpPr/>
          <p:nvPr/>
        </p:nvSpPr>
        <p:spPr>
          <a:xfrm>
            <a:off x="594360" y="3493008"/>
            <a:ext cx="10972800" cy="2377440"/>
          </a:xfrm>
          <a:prstGeom prst="roundRect">
            <a:avLst>
              <a:gd name="adj" fmla="val 3462"/>
            </a:avLst>
          </a:prstGeom>
          <a:solidFill>
            <a:srgbClr val="FF4757"/>
          </a:solidFill>
          <a:ln w="12700">
            <a:solidFill>
              <a:srgbClr val="FF4757"/>
            </a:solidFill>
            <a:prstDash val="solid"/>
          </a:ln>
        </p:spPr>
        <p:txBody>
          <a:bodyPr/>
          <a:lstStyle/>
          <a:p>
            <a:endParaRPr lang="ro-RO"/>
          </a:p>
        </p:txBody>
      </p:sp>
      <p:sp>
        <p:nvSpPr>
          <p:cNvPr id="17" name="Text 15"/>
          <p:cNvSpPr/>
          <p:nvPr/>
        </p:nvSpPr>
        <p:spPr>
          <a:xfrm>
            <a:off x="960120" y="3675888"/>
            <a:ext cx="10241280" cy="329184"/>
          </a:xfrm>
          <a:prstGeom prst="rect">
            <a:avLst/>
          </a:prstGeom>
          <a:noFill/>
          <a:ln/>
        </p:spPr>
        <p:txBody>
          <a:bodyPr wrap="square" lIns="0" tIns="0" rIns="0" bIns="0" rtlCol="0" anchor="ctr"/>
          <a:lstStyle/>
          <a:p>
            <a:pPr marL="0" indent="0">
              <a:buNone/>
            </a:pPr>
            <a:r>
              <a:rPr lang="en-US" sz="1450" b="1" dirty="0">
                <a:solidFill>
                  <a:srgbClr val="2E060B"/>
                </a:solidFill>
                <a:latin typeface="Palatino Linotype" pitchFamily="34" charset="0"/>
                <a:ea typeface="Palatino Linotype" pitchFamily="34" charset="-122"/>
                <a:cs typeface="Palatino Linotype" pitchFamily="34" charset="-120"/>
              </a:rPr>
              <a:t>Accesul la tratament, 2024:</a:t>
            </a:r>
            <a:endParaRPr lang="en-US" sz="1450" dirty="0"/>
          </a:p>
        </p:txBody>
      </p:sp>
      <p:sp>
        <p:nvSpPr>
          <p:cNvPr id="18" name="Text 16"/>
          <p:cNvSpPr/>
          <p:nvPr/>
        </p:nvSpPr>
        <p:spPr>
          <a:xfrm>
            <a:off x="960120" y="4041648"/>
            <a:ext cx="2286000" cy="1051560"/>
          </a:xfrm>
          <a:prstGeom prst="rect">
            <a:avLst/>
          </a:prstGeom>
          <a:noFill/>
          <a:ln/>
        </p:spPr>
        <p:txBody>
          <a:bodyPr wrap="square" lIns="0" tIns="0" rIns="0" bIns="0" rtlCol="0" anchor="ctr"/>
          <a:lstStyle/>
          <a:p>
            <a:pPr marL="0" indent="0">
              <a:buNone/>
            </a:pPr>
            <a:r>
              <a:rPr lang="en-US" sz="5400" b="1" dirty="0">
                <a:solidFill>
                  <a:srgbClr val="2E060B"/>
                </a:solidFill>
                <a:latin typeface="Palatino Linotype" pitchFamily="34" charset="0"/>
                <a:ea typeface="Palatino Linotype" pitchFamily="34" charset="-122"/>
                <a:cs typeface="Palatino Linotype" pitchFamily="34" charset="-120"/>
              </a:rPr>
              <a:t>1 / 12</a:t>
            </a:r>
            <a:endParaRPr lang="en-US" sz="7400" dirty="0"/>
          </a:p>
        </p:txBody>
      </p:sp>
      <p:sp>
        <p:nvSpPr>
          <p:cNvPr id="19" name="Text 17"/>
          <p:cNvSpPr/>
          <p:nvPr/>
        </p:nvSpPr>
        <p:spPr>
          <a:xfrm>
            <a:off x="3566160" y="4041648"/>
            <a:ext cx="7635240" cy="1188720"/>
          </a:xfrm>
          <a:prstGeom prst="rect">
            <a:avLst/>
          </a:prstGeom>
          <a:noFill/>
          <a:ln/>
        </p:spPr>
        <p:txBody>
          <a:bodyPr wrap="square" lIns="0" tIns="0" rIns="0" bIns="0" rtlCol="0" anchor="ctr"/>
          <a:lstStyle/>
          <a:p>
            <a:pPr marL="0" indent="0">
              <a:lnSpc>
                <a:spcPts val="2300"/>
              </a:lnSpc>
              <a:buNone/>
            </a:pPr>
            <a:r>
              <a:rPr lang="en-US" sz="1400" dirty="0">
                <a:solidFill>
                  <a:srgbClr val="2E060B"/>
                </a:solidFill>
                <a:latin typeface="Palatino Linotype" pitchFamily="34" charset="0"/>
                <a:ea typeface="Palatino Linotype" pitchFamily="34" charset="-122"/>
                <a:cs typeface="Palatino Linotype" pitchFamily="34" charset="-120"/>
              </a:rPr>
              <a:t>persoane cu tulburări de consum a primit o formă de tratament.</a:t>
            </a:r>
            <a:endParaRPr lang="en-US" sz="1400" dirty="0"/>
          </a:p>
          <a:p>
            <a:pPr marL="0" indent="0">
              <a:lnSpc>
                <a:spcPts val="2300"/>
              </a:lnSpc>
              <a:buNone/>
            </a:pPr>
            <a:r>
              <a:rPr lang="en-US" sz="1400" dirty="0">
                <a:solidFill>
                  <a:srgbClr val="2E060B"/>
                </a:solidFill>
                <a:latin typeface="Palatino Linotype" pitchFamily="34" charset="0"/>
                <a:ea typeface="Palatino Linotype" pitchFamily="34" charset="-122"/>
                <a:cs typeface="Palatino Linotype" pitchFamily="34" charset="-120"/>
              </a:rPr>
              <a:t>Datele de consum provin din anchete prin autodeclarare: descriu consumul declarat, nu consumul măsurat.</a:t>
            </a:r>
            <a:endParaRPr lang="en-US" sz="1400" dirty="0"/>
          </a:p>
          <a:p>
            <a:pPr marL="0" indent="0">
              <a:lnSpc>
                <a:spcPts val="2300"/>
              </a:lnSpc>
              <a:buNone/>
            </a:pPr>
            <a:r>
              <a:rPr lang="en-US" sz="1400" dirty="0">
                <a:solidFill>
                  <a:srgbClr val="2E060B"/>
                </a:solidFill>
                <a:latin typeface="Palatino Linotype" pitchFamily="34" charset="0"/>
                <a:ea typeface="Palatino Linotype" pitchFamily="34" charset="-122"/>
                <a:cs typeface="Palatino Linotype" pitchFamily="34" charset="-120"/>
              </a:rPr>
              <a:t>Pentru UE, cele mai recente date de țară provin din studii efectuate între 2015 și 2024.</a:t>
            </a:r>
            <a:endParaRPr lang="en-US" sz="1400" dirty="0"/>
          </a:p>
        </p:txBody>
      </p:sp>
      <p:sp>
        <p:nvSpPr>
          <p:cNvPr id="20" name="Text 18"/>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UNODC. World Drug Report 2026 (date pentru 2024) · EUDA. European Drug Report 2026, modulul „Canabis” (anchete naționale 2015–2024)</a:t>
            </a:r>
            <a:endParaRPr lang="en-US" sz="95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DATE ACTUALE · DECESE ȘI TRATAMENT</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Decese și tratament: lumea și Uniunea Europeană</a:t>
            </a:r>
            <a:endParaRPr lang="en-US" sz="3000" dirty="0"/>
          </a:p>
        </p:txBody>
      </p:sp>
      <p:sp>
        <p:nvSpPr>
          <p:cNvPr id="4" name="Shape 2"/>
          <p:cNvSpPr/>
          <p:nvPr/>
        </p:nvSpPr>
        <p:spPr>
          <a:xfrm>
            <a:off x="594360" y="1810512"/>
            <a:ext cx="2697480" cy="1572768"/>
          </a:xfrm>
          <a:prstGeom prst="roundRect">
            <a:avLst>
              <a:gd name="adj" fmla="val 5233"/>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850392" y="2011680"/>
            <a:ext cx="2185416" cy="658368"/>
          </a:xfrm>
          <a:prstGeom prst="rect">
            <a:avLst/>
          </a:prstGeom>
          <a:noFill/>
          <a:ln/>
        </p:spPr>
        <p:txBody>
          <a:bodyPr wrap="square" lIns="0" tIns="0" rIns="0" bIns="0" rtlCol="0" anchor="ctr"/>
          <a:lstStyle/>
          <a:p>
            <a:pPr marL="0" indent="0">
              <a:buNone/>
            </a:pPr>
            <a:r>
              <a:rPr lang="en-US" sz="3000" b="1" dirty="0">
                <a:solidFill>
                  <a:srgbClr val="27D3BE"/>
                </a:solidFill>
                <a:latin typeface="Palatino Linotype" pitchFamily="34" charset="0"/>
                <a:ea typeface="Palatino Linotype" pitchFamily="34" charset="-122"/>
                <a:cs typeface="Palatino Linotype" pitchFamily="34" charset="-120"/>
              </a:rPr>
              <a:t>492 000</a:t>
            </a:r>
            <a:endParaRPr lang="en-US" sz="4600" dirty="0"/>
          </a:p>
        </p:txBody>
      </p:sp>
      <p:sp>
        <p:nvSpPr>
          <p:cNvPr id="6" name="Text 4"/>
          <p:cNvSpPr/>
          <p:nvPr/>
        </p:nvSpPr>
        <p:spPr>
          <a:xfrm>
            <a:off x="850392" y="2688336"/>
            <a:ext cx="2185416" cy="54864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decese atribuite consumului de droguri în lume, 2023</a:t>
            </a:r>
            <a:endParaRPr lang="en-US" sz="1150" dirty="0"/>
          </a:p>
        </p:txBody>
      </p:sp>
      <p:sp>
        <p:nvSpPr>
          <p:cNvPr id="7" name="Shape 5"/>
          <p:cNvSpPr/>
          <p:nvPr/>
        </p:nvSpPr>
        <p:spPr>
          <a:xfrm>
            <a:off x="3456432" y="1810512"/>
            <a:ext cx="2697480" cy="1572768"/>
          </a:xfrm>
          <a:prstGeom prst="roundRect">
            <a:avLst>
              <a:gd name="adj" fmla="val 5233"/>
            </a:avLst>
          </a:prstGeom>
          <a:solidFill>
            <a:srgbClr val="1D1F2B"/>
          </a:solidFill>
          <a:ln w="12700">
            <a:solidFill>
              <a:srgbClr val="1D1F2B"/>
            </a:solidFill>
            <a:prstDash val="solid"/>
          </a:ln>
        </p:spPr>
        <p:txBody>
          <a:bodyPr/>
          <a:lstStyle/>
          <a:p>
            <a:endParaRPr lang="ro-RO"/>
          </a:p>
        </p:txBody>
      </p:sp>
      <p:sp>
        <p:nvSpPr>
          <p:cNvPr id="8" name="Text 6"/>
          <p:cNvSpPr/>
          <p:nvPr/>
        </p:nvSpPr>
        <p:spPr>
          <a:xfrm>
            <a:off x="3712464" y="2011680"/>
            <a:ext cx="2185416" cy="658368"/>
          </a:xfrm>
          <a:prstGeom prst="rect">
            <a:avLst/>
          </a:prstGeom>
          <a:noFill/>
          <a:ln/>
        </p:spPr>
        <p:txBody>
          <a:bodyPr wrap="square" lIns="0" tIns="0" rIns="0" bIns="0" rtlCol="0" anchor="ctr"/>
          <a:lstStyle/>
          <a:p>
            <a:pPr marL="0" indent="0">
              <a:buNone/>
            </a:pPr>
            <a:r>
              <a:rPr lang="en-US" sz="3000" b="1" dirty="0">
                <a:solidFill>
                  <a:srgbClr val="27D3BE"/>
                </a:solidFill>
                <a:latin typeface="Palatino Linotype" pitchFamily="34" charset="0"/>
                <a:ea typeface="Palatino Linotype" pitchFamily="34" charset="-122"/>
                <a:cs typeface="Palatino Linotype" pitchFamily="34" charset="-120"/>
              </a:rPr>
              <a:t>172 500</a:t>
            </a:r>
            <a:endParaRPr lang="en-US" sz="4600" dirty="0"/>
          </a:p>
        </p:txBody>
      </p:sp>
      <p:sp>
        <p:nvSpPr>
          <p:cNvPr id="9" name="Text 7"/>
          <p:cNvSpPr/>
          <p:nvPr/>
        </p:nvSpPr>
        <p:spPr>
          <a:xfrm>
            <a:off x="3712464" y="2688336"/>
            <a:ext cx="2185416" cy="54864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dintre ele, decese directe</a:t>
            </a:r>
            <a:endParaRPr lang="en-US" sz="1150" dirty="0"/>
          </a:p>
        </p:txBody>
      </p:sp>
      <p:sp>
        <p:nvSpPr>
          <p:cNvPr id="10" name="Shape 8"/>
          <p:cNvSpPr/>
          <p:nvPr/>
        </p:nvSpPr>
        <p:spPr>
          <a:xfrm>
            <a:off x="6318504" y="1810512"/>
            <a:ext cx="2697480" cy="1572768"/>
          </a:xfrm>
          <a:prstGeom prst="roundRect">
            <a:avLst>
              <a:gd name="adj" fmla="val 5233"/>
            </a:avLst>
          </a:prstGeom>
          <a:solidFill>
            <a:srgbClr val="1D1F2B"/>
          </a:solidFill>
          <a:ln w="12700">
            <a:solidFill>
              <a:srgbClr val="1D1F2B"/>
            </a:solidFill>
            <a:prstDash val="solid"/>
          </a:ln>
        </p:spPr>
        <p:txBody>
          <a:bodyPr/>
          <a:lstStyle/>
          <a:p>
            <a:endParaRPr lang="ro-RO"/>
          </a:p>
        </p:txBody>
      </p:sp>
      <p:sp>
        <p:nvSpPr>
          <p:cNvPr id="11" name="Text 9"/>
          <p:cNvSpPr/>
          <p:nvPr/>
        </p:nvSpPr>
        <p:spPr>
          <a:xfrm>
            <a:off x="6574536" y="2011680"/>
            <a:ext cx="2185416" cy="658368"/>
          </a:xfrm>
          <a:prstGeom prst="rect">
            <a:avLst/>
          </a:prstGeom>
          <a:noFill/>
          <a:ln/>
        </p:spPr>
        <p:txBody>
          <a:bodyPr wrap="square" lIns="0" tIns="0" rIns="0" bIns="0" rtlCol="0" anchor="ctr"/>
          <a:lstStyle/>
          <a:p>
            <a:pPr marL="0" indent="0">
              <a:buNone/>
            </a:pPr>
            <a:r>
              <a:rPr lang="en-US" sz="3000" b="1" dirty="0">
                <a:solidFill>
                  <a:srgbClr val="27D3BE"/>
                </a:solidFill>
                <a:latin typeface="Palatino Linotype" pitchFamily="34" charset="0"/>
                <a:ea typeface="Palatino Linotype" pitchFamily="34" charset="-122"/>
                <a:cs typeface="Palatino Linotype" pitchFamily="34" charset="-120"/>
              </a:rPr>
              <a:t>≥ 7 589</a:t>
            </a:r>
            <a:endParaRPr lang="en-US" sz="4600" dirty="0"/>
          </a:p>
        </p:txBody>
      </p:sp>
      <p:sp>
        <p:nvSpPr>
          <p:cNvPr id="12" name="Text 10"/>
          <p:cNvSpPr/>
          <p:nvPr/>
        </p:nvSpPr>
        <p:spPr>
          <a:xfrm>
            <a:off x="6574536" y="2688336"/>
            <a:ext cx="2185416" cy="54864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decese prin supradoză în UE, 2024 (estimare minimă)</a:t>
            </a:r>
            <a:endParaRPr lang="en-US" sz="1150" dirty="0"/>
          </a:p>
        </p:txBody>
      </p:sp>
      <p:sp>
        <p:nvSpPr>
          <p:cNvPr id="13" name="Shape 11"/>
          <p:cNvSpPr/>
          <p:nvPr/>
        </p:nvSpPr>
        <p:spPr>
          <a:xfrm>
            <a:off x="9180576" y="1810512"/>
            <a:ext cx="2386584" cy="1572768"/>
          </a:xfrm>
          <a:prstGeom prst="roundRect">
            <a:avLst>
              <a:gd name="adj" fmla="val 5233"/>
            </a:avLst>
          </a:prstGeom>
          <a:solidFill>
            <a:srgbClr val="1D1F2B"/>
          </a:solidFill>
          <a:ln w="12700">
            <a:solidFill>
              <a:srgbClr val="1D1F2B"/>
            </a:solidFill>
            <a:prstDash val="solid"/>
          </a:ln>
        </p:spPr>
        <p:txBody>
          <a:bodyPr/>
          <a:lstStyle/>
          <a:p>
            <a:endParaRPr lang="ro-RO"/>
          </a:p>
        </p:txBody>
      </p:sp>
      <p:sp>
        <p:nvSpPr>
          <p:cNvPr id="14" name="Text 12"/>
          <p:cNvSpPr/>
          <p:nvPr/>
        </p:nvSpPr>
        <p:spPr>
          <a:xfrm>
            <a:off x="9436608" y="2011680"/>
            <a:ext cx="1874520" cy="658368"/>
          </a:xfrm>
          <a:prstGeom prst="rect">
            <a:avLst/>
          </a:prstGeom>
          <a:noFill/>
          <a:ln/>
        </p:spPr>
        <p:txBody>
          <a:bodyPr wrap="square" lIns="0" tIns="0" rIns="0" bIns="0" rtlCol="0" anchor="ctr"/>
          <a:lstStyle/>
          <a:p>
            <a:pPr marL="0" indent="0">
              <a:buNone/>
            </a:pPr>
            <a:r>
              <a:rPr lang="en-US" sz="3000" b="1" dirty="0">
                <a:solidFill>
                  <a:srgbClr val="27D3BE"/>
                </a:solidFill>
                <a:latin typeface="Palatino Linotype" pitchFamily="34" charset="0"/>
                <a:ea typeface="Palatino Linotype" pitchFamily="34" charset="-122"/>
                <a:cs typeface="Palatino Linotype" pitchFamily="34" charset="-120"/>
              </a:rPr>
              <a:t>505 000</a:t>
            </a:r>
            <a:endParaRPr lang="en-US" sz="4600" dirty="0"/>
          </a:p>
        </p:txBody>
      </p:sp>
      <p:sp>
        <p:nvSpPr>
          <p:cNvPr id="15" name="Text 13"/>
          <p:cNvSpPr/>
          <p:nvPr/>
        </p:nvSpPr>
        <p:spPr>
          <a:xfrm>
            <a:off x="9436608" y="2688336"/>
            <a:ext cx="1874520" cy="54864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persoane în tratament cu agoniști opioizi în UE, 2024</a:t>
            </a:r>
            <a:endParaRPr lang="en-US" sz="1150" dirty="0"/>
          </a:p>
        </p:txBody>
      </p:sp>
      <p:sp>
        <p:nvSpPr>
          <p:cNvPr id="16" name="Text 14"/>
          <p:cNvSpPr/>
          <p:nvPr/>
        </p:nvSpPr>
        <p:spPr>
          <a:xfrm>
            <a:off x="594360" y="3529584"/>
            <a:ext cx="10972800" cy="347472"/>
          </a:xfrm>
          <a:prstGeom prst="rect">
            <a:avLst/>
          </a:prstGeom>
          <a:noFill/>
          <a:ln/>
        </p:spPr>
        <p:txBody>
          <a:bodyPr wrap="square" lIns="0" tIns="0" rIns="0" bIns="0" rtlCol="0" anchor="ctr"/>
          <a:lstStyle/>
          <a:p>
            <a:pPr marL="0" indent="0">
              <a:buNone/>
            </a:pPr>
            <a:r>
              <a:rPr lang="en-US" sz="1300" dirty="0">
                <a:solidFill>
                  <a:srgbClr val="959BB0"/>
                </a:solidFill>
                <a:latin typeface="Palatino Linotype" pitchFamily="34" charset="0"/>
                <a:ea typeface="Palatino Linotype" pitchFamily="34" charset="-122"/>
                <a:cs typeface="Palatino Linotype" pitchFamily="34" charset="-120"/>
              </a:rPr>
              <a:t>Decesele atribuite provin din estimările GBD preluate de UNODC; intervalul raportat de UNODC: 440 000–549 000.</a:t>
            </a:r>
            <a:endParaRPr lang="en-US" sz="1300" dirty="0"/>
          </a:p>
        </p:txBody>
      </p:sp>
      <p:sp>
        <p:nvSpPr>
          <p:cNvPr id="17" name="Shape 15"/>
          <p:cNvSpPr/>
          <p:nvPr/>
        </p:nvSpPr>
        <p:spPr>
          <a:xfrm>
            <a:off x="594360" y="4005072"/>
            <a:ext cx="10972800" cy="932688"/>
          </a:xfrm>
          <a:prstGeom prst="roundRect">
            <a:avLst>
              <a:gd name="adj" fmla="val 8824"/>
            </a:avLst>
          </a:prstGeom>
          <a:solidFill>
            <a:srgbClr val="272A38"/>
          </a:solidFill>
          <a:ln w="12700">
            <a:solidFill>
              <a:srgbClr val="272A38"/>
            </a:solidFill>
            <a:prstDash val="solid"/>
          </a:ln>
        </p:spPr>
        <p:txBody>
          <a:bodyPr/>
          <a:lstStyle/>
          <a:p>
            <a:endParaRPr lang="ro-RO"/>
          </a:p>
        </p:txBody>
      </p:sp>
      <p:sp>
        <p:nvSpPr>
          <p:cNvPr id="18" name="Text 16"/>
          <p:cNvSpPr/>
          <p:nvPr/>
        </p:nvSpPr>
        <p:spPr>
          <a:xfrm>
            <a:off x="960120" y="4005072"/>
            <a:ext cx="10241280" cy="932688"/>
          </a:xfrm>
          <a:prstGeom prst="rect">
            <a:avLst/>
          </a:prstGeom>
          <a:noFill/>
          <a:ln/>
        </p:spPr>
        <p:txBody>
          <a:bodyPr wrap="square" lIns="0" tIns="0" rIns="0" bIns="0" rtlCol="0" anchor="ctr"/>
          <a:lstStyle/>
          <a:p>
            <a:pPr marL="0" indent="0">
              <a:lnSpc>
                <a:spcPts val="2100"/>
              </a:lnSpc>
              <a:buNone/>
            </a:pPr>
            <a:r>
              <a:rPr lang="en-US" sz="1350" dirty="0">
                <a:solidFill>
                  <a:srgbClr val="FFFFFF"/>
                </a:solidFill>
                <a:latin typeface="Palatino Linotype" pitchFamily="34" charset="0"/>
                <a:ea typeface="Palatino Linotype" pitchFamily="34" charset="-122"/>
                <a:cs typeface="Palatino Linotype" pitchFamily="34" charset="-120"/>
              </a:rPr>
              <a:t>Decesele atribuite consumului, decesele directe și decesele prin supradoză sunt indicatori diferiți, calculați din surse diferite; nu se adună și nu se compară direct (interpretare).</a:t>
            </a:r>
            <a:endParaRPr lang="en-US" sz="1350" dirty="0"/>
          </a:p>
        </p:txBody>
      </p:sp>
      <p:sp>
        <p:nvSpPr>
          <p:cNvPr id="19" name="Shape 17"/>
          <p:cNvSpPr/>
          <p:nvPr/>
        </p:nvSpPr>
        <p:spPr>
          <a:xfrm>
            <a:off x="594360" y="5120640"/>
            <a:ext cx="10972800" cy="896112"/>
          </a:xfrm>
          <a:prstGeom prst="roundRect">
            <a:avLst>
              <a:gd name="adj" fmla="val 9184"/>
            </a:avLst>
          </a:prstGeom>
          <a:solidFill>
            <a:srgbClr val="3A2E12"/>
          </a:solidFill>
          <a:ln w="12700">
            <a:solidFill>
              <a:srgbClr val="3A2E12"/>
            </a:solidFill>
            <a:prstDash val="solid"/>
          </a:ln>
        </p:spPr>
        <p:txBody>
          <a:bodyPr/>
          <a:lstStyle/>
          <a:p>
            <a:endParaRPr lang="ro-RO"/>
          </a:p>
        </p:txBody>
      </p:sp>
      <p:sp>
        <p:nvSpPr>
          <p:cNvPr id="20" name="Shape 18"/>
          <p:cNvSpPr/>
          <p:nvPr/>
        </p:nvSpPr>
        <p:spPr>
          <a:xfrm>
            <a:off x="594360" y="5120640"/>
            <a:ext cx="50292" cy="896112"/>
          </a:xfrm>
          <a:prstGeom prst="rect">
            <a:avLst/>
          </a:prstGeom>
          <a:solidFill>
            <a:srgbClr val="FFC24B"/>
          </a:solidFill>
          <a:ln w="12700">
            <a:solidFill>
              <a:srgbClr val="FFC24B"/>
            </a:solidFill>
            <a:prstDash val="solid"/>
          </a:ln>
        </p:spPr>
        <p:txBody>
          <a:bodyPr/>
          <a:lstStyle/>
          <a:p>
            <a:endParaRPr lang="ro-RO"/>
          </a:p>
        </p:txBody>
      </p:sp>
      <p:sp>
        <p:nvSpPr>
          <p:cNvPr id="21" name="Text 19"/>
          <p:cNvSpPr/>
          <p:nvPr/>
        </p:nvSpPr>
        <p:spPr>
          <a:xfrm>
            <a:off x="960120" y="5120640"/>
            <a:ext cx="10241280" cy="896112"/>
          </a:xfrm>
          <a:prstGeom prst="rect">
            <a:avLst/>
          </a:prstGeom>
          <a:noFill/>
          <a:ln/>
        </p:spPr>
        <p:txBody>
          <a:bodyPr wrap="square" lIns="0" tIns="0" rIns="0" bIns="0" rtlCol="0" anchor="ctr"/>
          <a:lstStyle/>
          <a:p>
            <a:pPr marL="0" indent="0">
              <a:lnSpc>
                <a:spcPts val="1800"/>
              </a:lnSpc>
              <a:buNone/>
            </a:pPr>
            <a:r>
              <a:rPr lang="en-US" sz="1200" dirty="0">
                <a:solidFill>
                  <a:srgbClr val="FFC24B"/>
                </a:solidFill>
                <a:latin typeface="Palatino Linotype" pitchFamily="34" charset="0"/>
                <a:ea typeface="Palatino Linotype" pitchFamily="34" charset="-122"/>
                <a:cs typeface="Palatino Linotype" pitchFamily="34" charset="-120"/>
              </a:rPr>
              <a:t>Pentru UE, 7 589 este o estimare minimă: țările raportează decesele după definiții și cu acoperiri diferite.</a:t>
            </a:r>
            <a:endParaRPr lang="en-US" sz="1200" dirty="0"/>
          </a:p>
        </p:txBody>
      </p:sp>
      <p:sp>
        <p:nvSpPr>
          <p:cNvPr id="22" name="Text 20"/>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UNODC. World Drug Report 2026 (estimări GBD 2023) · EUDA. European Drug Report 2026, modulele „Drug-induced deaths” și „Opioid agonist treatment”</a:t>
            </a:r>
            <a:endParaRPr lang="en-US" sz="95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DATE ACTUALE · ROMÂNIA · RAPORTUL NAȚIONAL 2025</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2800" b="1" dirty="0">
                <a:solidFill>
                  <a:srgbClr val="FFFFFF"/>
                </a:solidFill>
                <a:latin typeface="Palatino Linotype" pitchFamily="34" charset="0"/>
                <a:ea typeface="Palatino Linotype" pitchFamily="34" charset="-122"/>
                <a:cs typeface="Palatino Linotype" pitchFamily="34" charset="-120"/>
              </a:rPr>
              <a:t>România, 2024: consum declarat, decese, solicitări de asistență</a:t>
            </a:r>
            <a:endParaRPr lang="en-US" sz="2800" dirty="0"/>
          </a:p>
        </p:txBody>
      </p:sp>
      <p:sp>
        <p:nvSpPr>
          <p:cNvPr id="4" name="Shape 2"/>
          <p:cNvSpPr/>
          <p:nvPr/>
        </p:nvSpPr>
        <p:spPr>
          <a:xfrm>
            <a:off x="594360" y="1783080"/>
            <a:ext cx="2606040" cy="1481328"/>
          </a:xfrm>
          <a:prstGeom prst="roundRect">
            <a:avLst>
              <a:gd name="adj" fmla="val 5556"/>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850392" y="1984248"/>
            <a:ext cx="2093976" cy="658368"/>
          </a:xfrm>
          <a:prstGeom prst="rect">
            <a:avLst/>
          </a:prstGeom>
          <a:noFill/>
          <a:ln/>
        </p:spPr>
        <p:txBody>
          <a:bodyPr wrap="square" lIns="0" tIns="0" rIns="0" bIns="0" rtlCol="0" anchor="ctr"/>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12,6%</a:t>
            </a:r>
            <a:endParaRPr lang="en-US" sz="3800" dirty="0"/>
          </a:p>
        </p:txBody>
      </p:sp>
      <p:sp>
        <p:nvSpPr>
          <p:cNvPr id="6" name="Text 4"/>
          <p:cNvSpPr/>
          <p:nvPr/>
        </p:nvSpPr>
        <p:spPr>
          <a:xfrm>
            <a:off x="850392" y="2660904"/>
            <a:ext cx="2093976"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consum de droguri ilicite pe parcursul vieții (15–64 de ani)</a:t>
            </a:r>
            <a:endParaRPr lang="en-US" sz="1150" dirty="0"/>
          </a:p>
        </p:txBody>
      </p:sp>
      <p:sp>
        <p:nvSpPr>
          <p:cNvPr id="7" name="Shape 5"/>
          <p:cNvSpPr/>
          <p:nvPr/>
        </p:nvSpPr>
        <p:spPr>
          <a:xfrm>
            <a:off x="3364992" y="1783080"/>
            <a:ext cx="2606040" cy="1481328"/>
          </a:xfrm>
          <a:prstGeom prst="roundRect">
            <a:avLst>
              <a:gd name="adj" fmla="val 5556"/>
            </a:avLst>
          </a:prstGeom>
          <a:solidFill>
            <a:srgbClr val="1D1F2B"/>
          </a:solidFill>
          <a:ln w="12700">
            <a:solidFill>
              <a:srgbClr val="1D1F2B"/>
            </a:solidFill>
            <a:prstDash val="solid"/>
          </a:ln>
        </p:spPr>
        <p:txBody>
          <a:bodyPr/>
          <a:lstStyle/>
          <a:p>
            <a:endParaRPr lang="ro-RO"/>
          </a:p>
        </p:txBody>
      </p:sp>
      <p:sp>
        <p:nvSpPr>
          <p:cNvPr id="8" name="Text 6"/>
          <p:cNvSpPr/>
          <p:nvPr/>
        </p:nvSpPr>
        <p:spPr>
          <a:xfrm>
            <a:off x="3621024" y="1984248"/>
            <a:ext cx="2093976" cy="658368"/>
          </a:xfrm>
          <a:prstGeom prst="rect">
            <a:avLst/>
          </a:prstGeom>
          <a:noFill/>
          <a:ln/>
        </p:spPr>
        <p:txBody>
          <a:bodyPr wrap="square" lIns="0" tIns="0" rIns="0" bIns="0" rtlCol="0" anchor="ctr"/>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5,7%</a:t>
            </a:r>
            <a:endParaRPr lang="en-US" sz="3800" dirty="0"/>
          </a:p>
        </p:txBody>
      </p:sp>
      <p:sp>
        <p:nvSpPr>
          <p:cNvPr id="9" name="Text 7"/>
          <p:cNvSpPr/>
          <p:nvPr/>
        </p:nvSpPr>
        <p:spPr>
          <a:xfrm>
            <a:off x="3621024" y="2660904"/>
            <a:ext cx="2093976"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consum în ultimul an dinaintea anchetei</a:t>
            </a:r>
            <a:endParaRPr lang="en-US" sz="1150" dirty="0"/>
          </a:p>
        </p:txBody>
      </p:sp>
      <p:sp>
        <p:nvSpPr>
          <p:cNvPr id="10" name="Shape 8"/>
          <p:cNvSpPr/>
          <p:nvPr/>
        </p:nvSpPr>
        <p:spPr>
          <a:xfrm>
            <a:off x="6135624" y="1783080"/>
            <a:ext cx="2606040" cy="1481328"/>
          </a:xfrm>
          <a:prstGeom prst="roundRect">
            <a:avLst>
              <a:gd name="adj" fmla="val 5556"/>
            </a:avLst>
          </a:prstGeom>
          <a:solidFill>
            <a:srgbClr val="1D1F2B"/>
          </a:solidFill>
          <a:ln w="12700">
            <a:solidFill>
              <a:srgbClr val="1D1F2B"/>
            </a:solidFill>
            <a:prstDash val="solid"/>
          </a:ln>
        </p:spPr>
        <p:txBody>
          <a:bodyPr/>
          <a:lstStyle/>
          <a:p>
            <a:endParaRPr lang="ro-RO"/>
          </a:p>
        </p:txBody>
      </p:sp>
      <p:sp>
        <p:nvSpPr>
          <p:cNvPr id="11" name="Text 9"/>
          <p:cNvSpPr/>
          <p:nvPr/>
        </p:nvSpPr>
        <p:spPr>
          <a:xfrm>
            <a:off x="6391656" y="1984248"/>
            <a:ext cx="2093976" cy="658368"/>
          </a:xfrm>
          <a:prstGeom prst="rect">
            <a:avLst/>
          </a:prstGeom>
          <a:noFill/>
          <a:ln/>
        </p:spPr>
        <p:txBody>
          <a:bodyPr wrap="square" lIns="0" tIns="0" rIns="0" bIns="0" rtlCol="0" anchor="ctr"/>
          <a:lstStyle/>
          <a:p>
            <a:pPr marL="0" indent="0">
              <a:buNone/>
            </a:pPr>
            <a:r>
              <a:rPr lang="en-US" sz="2800" b="1" dirty="0">
                <a:solidFill>
                  <a:srgbClr val="FFFFFF"/>
                </a:solidFill>
                <a:latin typeface="Palatino Linotype" pitchFamily="34" charset="0"/>
                <a:ea typeface="Palatino Linotype" pitchFamily="34" charset="-122"/>
                <a:cs typeface="Palatino Linotype" pitchFamily="34" charset="-120"/>
              </a:rPr>
              <a:t>6,7 · 2,3%</a:t>
            </a:r>
            <a:endParaRPr lang="en-US" sz="3800" dirty="0"/>
          </a:p>
        </p:txBody>
      </p:sp>
      <p:sp>
        <p:nvSpPr>
          <p:cNvPr id="12" name="Text 10"/>
          <p:cNvSpPr/>
          <p:nvPr/>
        </p:nvSpPr>
        <p:spPr>
          <a:xfrm>
            <a:off x="6391656" y="2660904"/>
            <a:ext cx="2093976"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canabis: pe parcursul vieții · în ultimul an</a:t>
            </a:r>
            <a:endParaRPr lang="en-US" sz="1150" dirty="0"/>
          </a:p>
        </p:txBody>
      </p:sp>
      <p:sp>
        <p:nvSpPr>
          <p:cNvPr id="13" name="Shape 11"/>
          <p:cNvSpPr/>
          <p:nvPr/>
        </p:nvSpPr>
        <p:spPr>
          <a:xfrm>
            <a:off x="8906256" y="1783080"/>
            <a:ext cx="2660904" cy="1481328"/>
          </a:xfrm>
          <a:prstGeom prst="roundRect">
            <a:avLst>
              <a:gd name="adj" fmla="val 5556"/>
            </a:avLst>
          </a:prstGeom>
          <a:solidFill>
            <a:srgbClr val="272A38"/>
          </a:solidFill>
          <a:ln w="12700">
            <a:solidFill>
              <a:srgbClr val="272A38"/>
            </a:solidFill>
            <a:prstDash val="solid"/>
          </a:ln>
        </p:spPr>
        <p:txBody>
          <a:bodyPr/>
          <a:lstStyle/>
          <a:p>
            <a:endParaRPr lang="ro-RO"/>
          </a:p>
        </p:txBody>
      </p:sp>
      <p:sp>
        <p:nvSpPr>
          <p:cNvPr id="14" name="Text 12"/>
          <p:cNvSpPr/>
          <p:nvPr/>
        </p:nvSpPr>
        <p:spPr>
          <a:xfrm>
            <a:off x="9162288" y="1984248"/>
            <a:ext cx="2148840" cy="658368"/>
          </a:xfrm>
          <a:prstGeom prst="rect">
            <a:avLst/>
          </a:prstGeom>
          <a:noFill/>
          <a:ln/>
        </p:spPr>
        <p:txBody>
          <a:bodyPr wrap="square" lIns="0" tIns="0" rIns="0" bIns="0" rtlCol="0" anchor="ctr"/>
          <a:lstStyle/>
          <a:p>
            <a:pPr marL="0" indent="0">
              <a:buNone/>
            </a:pPr>
            <a:r>
              <a:rPr lang="en-US" sz="3400" b="1" dirty="0">
                <a:solidFill>
                  <a:srgbClr val="FFC24B"/>
                </a:solidFill>
                <a:latin typeface="Palatino Linotype" pitchFamily="34" charset="0"/>
                <a:ea typeface="Palatino Linotype" pitchFamily="34" charset="-122"/>
                <a:cs typeface="Palatino Linotype" pitchFamily="34" charset="-120"/>
              </a:rPr>
              <a:t>47</a:t>
            </a:r>
            <a:endParaRPr lang="en-US" sz="3800" dirty="0"/>
          </a:p>
        </p:txBody>
      </p:sp>
      <p:sp>
        <p:nvSpPr>
          <p:cNvPr id="15" name="Text 13"/>
          <p:cNvSpPr/>
          <p:nvPr/>
        </p:nvSpPr>
        <p:spPr>
          <a:xfrm>
            <a:off x="9162288" y="2660904"/>
            <a:ext cx="2148840" cy="45720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decese asociate consumului, 40 direct (8 instituții medico-legale)</a:t>
            </a:r>
            <a:endParaRPr lang="en-US" sz="1150" dirty="0"/>
          </a:p>
        </p:txBody>
      </p:sp>
      <p:sp>
        <p:nvSpPr>
          <p:cNvPr id="16" name="Shape 14"/>
          <p:cNvSpPr/>
          <p:nvPr/>
        </p:nvSpPr>
        <p:spPr>
          <a:xfrm>
            <a:off x="594360" y="3493008"/>
            <a:ext cx="10972800" cy="2377440"/>
          </a:xfrm>
          <a:prstGeom prst="roundRect">
            <a:avLst>
              <a:gd name="adj" fmla="val 3462"/>
            </a:avLst>
          </a:prstGeom>
          <a:solidFill>
            <a:srgbClr val="FF4757"/>
          </a:solidFill>
          <a:ln w="12700">
            <a:solidFill>
              <a:srgbClr val="FF4757"/>
            </a:solidFill>
            <a:prstDash val="solid"/>
          </a:ln>
        </p:spPr>
        <p:txBody>
          <a:bodyPr/>
          <a:lstStyle/>
          <a:p>
            <a:endParaRPr lang="ro-RO"/>
          </a:p>
        </p:txBody>
      </p:sp>
      <p:sp>
        <p:nvSpPr>
          <p:cNvPr id="17" name="Text 15"/>
          <p:cNvSpPr/>
          <p:nvPr/>
        </p:nvSpPr>
        <p:spPr>
          <a:xfrm>
            <a:off x="960120" y="3675888"/>
            <a:ext cx="10241280" cy="329184"/>
          </a:xfrm>
          <a:prstGeom prst="rect">
            <a:avLst/>
          </a:prstGeom>
          <a:noFill/>
          <a:ln/>
        </p:spPr>
        <p:txBody>
          <a:bodyPr wrap="square" lIns="0" tIns="0" rIns="0" bIns="0" rtlCol="0" anchor="ctr"/>
          <a:lstStyle/>
          <a:p>
            <a:pPr marL="0" indent="0">
              <a:buNone/>
            </a:pPr>
            <a:r>
              <a:rPr lang="en-US" sz="1450" b="1" dirty="0">
                <a:solidFill>
                  <a:srgbClr val="2E060B"/>
                </a:solidFill>
                <a:latin typeface="Palatino Linotype" pitchFamily="34" charset="0"/>
                <a:ea typeface="Palatino Linotype" pitchFamily="34" charset="-122"/>
                <a:cs typeface="Palatino Linotype" pitchFamily="34" charset="-120"/>
              </a:rPr>
              <a:t>Asistență pentru consum de droguri, 2024:</a:t>
            </a:r>
            <a:endParaRPr lang="en-US" sz="1450" dirty="0"/>
          </a:p>
        </p:txBody>
      </p:sp>
      <p:sp>
        <p:nvSpPr>
          <p:cNvPr id="18" name="Text 16"/>
          <p:cNvSpPr/>
          <p:nvPr/>
        </p:nvSpPr>
        <p:spPr>
          <a:xfrm>
            <a:off x="960120" y="4041648"/>
            <a:ext cx="2286000" cy="1051560"/>
          </a:xfrm>
          <a:prstGeom prst="rect">
            <a:avLst/>
          </a:prstGeom>
          <a:noFill/>
          <a:ln/>
        </p:spPr>
        <p:txBody>
          <a:bodyPr wrap="square" lIns="0" tIns="0" rIns="0" bIns="0" rtlCol="0" anchor="ctr"/>
          <a:lstStyle/>
          <a:p>
            <a:pPr marL="0" indent="0">
              <a:buNone/>
            </a:pPr>
            <a:r>
              <a:rPr lang="en-US" sz="5400" b="1" dirty="0">
                <a:solidFill>
                  <a:srgbClr val="2E060B"/>
                </a:solidFill>
                <a:latin typeface="Palatino Linotype" pitchFamily="34" charset="0"/>
                <a:ea typeface="Palatino Linotype" pitchFamily="34" charset="-122"/>
                <a:cs typeface="Palatino Linotype" pitchFamily="34" charset="-120"/>
              </a:rPr>
              <a:t>2 260</a:t>
            </a:r>
            <a:endParaRPr lang="en-US" sz="7400" dirty="0"/>
          </a:p>
        </p:txBody>
      </p:sp>
      <p:sp>
        <p:nvSpPr>
          <p:cNvPr id="19" name="Text 17"/>
          <p:cNvSpPr/>
          <p:nvPr/>
        </p:nvSpPr>
        <p:spPr>
          <a:xfrm>
            <a:off x="3566160" y="4041648"/>
            <a:ext cx="7635240" cy="1188720"/>
          </a:xfrm>
          <a:prstGeom prst="rect">
            <a:avLst/>
          </a:prstGeom>
          <a:noFill/>
          <a:ln/>
        </p:spPr>
        <p:txBody>
          <a:bodyPr wrap="square" lIns="0" tIns="0" rIns="0" bIns="0" rtlCol="0" anchor="ctr"/>
          <a:lstStyle/>
          <a:p>
            <a:pPr marL="0" indent="0">
              <a:lnSpc>
                <a:spcPts val="2300"/>
              </a:lnSpc>
              <a:buNone/>
            </a:pPr>
            <a:r>
              <a:rPr lang="en-US" sz="1400" dirty="0">
                <a:solidFill>
                  <a:srgbClr val="2E060B"/>
                </a:solidFill>
                <a:latin typeface="Palatino Linotype" pitchFamily="34" charset="0"/>
                <a:ea typeface="Palatino Linotype" pitchFamily="34" charset="-122"/>
                <a:cs typeface="Palatino Linotype" pitchFamily="34" charset="-120"/>
              </a:rPr>
              <a:t>solicitări, cu 33,1% mai puține decât în anul anterior; 44,3% au privit canabisul.</a:t>
            </a:r>
            <a:endParaRPr lang="en-US" sz="1400" dirty="0"/>
          </a:p>
          <a:p>
            <a:pPr marL="0" indent="0">
              <a:lnSpc>
                <a:spcPts val="2300"/>
              </a:lnSpc>
              <a:buNone/>
            </a:pPr>
            <a:r>
              <a:rPr lang="en-US" sz="1400" dirty="0">
                <a:solidFill>
                  <a:srgbClr val="2E060B"/>
                </a:solidFill>
                <a:latin typeface="Palatino Linotype" pitchFamily="34" charset="0"/>
                <a:ea typeface="Palatino Linotype" pitchFamily="34" charset="-122"/>
                <a:cs typeface="Palatino Linotype" pitchFamily="34" charset="-120"/>
              </a:rPr>
              <a:t>Scăderea solicitărilor nu arată, singură, o scădere a nevoii de tratament.</a:t>
            </a:r>
            <a:endParaRPr lang="en-US" sz="1400" dirty="0"/>
          </a:p>
          <a:p>
            <a:pPr marL="0" indent="0">
              <a:lnSpc>
                <a:spcPts val="2300"/>
              </a:lnSpc>
              <a:buNone/>
            </a:pPr>
            <a:r>
              <a:rPr lang="en-US" sz="1400" dirty="0">
                <a:solidFill>
                  <a:srgbClr val="2E060B"/>
                </a:solidFill>
                <a:latin typeface="Palatino Linotype" pitchFamily="34" charset="0"/>
                <a:ea typeface="Palatino Linotype" pitchFamily="34" charset="-122"/>
                <a:cs typeface="Palatino Linotype" pitchFamily="34" charset="-120"/>
              </a:rPr>
              <a:t>Prezentarea ANA din 2025 dă alte valori pentru aceeași anchetă: 12,3% și 5,4%.</a:t>
            </a:r>
            <a:endParaRPr lang="en-US" sz="1400" dirty="0"/>
          </a:p>
        </p:txBody>
      </p:sp>
      <p:sp>
        <p:nvSpPr>
          <p:cNvPr id="20" name="Text 18"/>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ANPCDDA. Raport național privind situația drogurilor în România 2025 (date pentru 2024) · ANA. Principalele rezultate ale studiului în populația generală 2024 (prezentare, 2025)</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SECVENȚA CENTRALĂ</a:t>
            </a:r>
            <a:endParaRPr lang="en-US" sz="1100" dirty="0"/>
          </a:p>
        </p:txBody>
      </p:sp>
      <p:sp>
        <p:nvSpPr>
          <p:cNvPr id="3" name="Shape 1"/>
          <p:cNvSpPr/>
          <p:nvPr/>
        </p:nvSpPr>
        <p:spPr>
          <a:xfrm>
            <a:off x="9006840" y="329184"/>
            <a:ext cx="2560320" cy="384048"/>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4" name="Text 2"/>
          <p:cNvSpPr/>
          <p:nvPr/>
        </p:nvSpPr>
        <p:spPr>
          <a:xfrm>
            <a:off x="9006840" y="329184"/>
            <a:ext cx="2560320" cy="384048"/>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VOT · MENTIMETER</a:t>
            </a:r>
            <a:endParaRPr lang="en-US" sz="1000" dirty="0"/>
          </a:p>
        </p:txBody>
      </p:sp>
      <p:sp>
        <p:nvSpPr>
          <p:cNvPr id="5" name="Text 3"/>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Trei cifre și o întrebare</a:t>
            </a:r>
            <a:endParaRPr lang="en-US" sz="3000" dirty="0"/>
          </a:p>
        </p:txBody>
      </p:sp>
      <p:sp>
        <p:nvSpPr>
          <p:cNvPr id="6" name="Shape 4"/>
          <p:cNvSpPr/>
          <p:nvPr/>
        </p:nvSpPr>
        <p:spPr>
          <a:xfrm>
            <a:off x="594360" y="1755648"/>
            <a:ext cx="3429000" cy="1847088"/>
          </a:xfrm>
          <a:prstGeom prst="roundRect">
            <a:avLst>
              <a:gd name="adj" fmla="val 4455"/>
            </a:avLst>
          </a:prstGeom>
          <a:solidFill>
            <a:srgbClr val="1D1F2B"/>
          </a:solidFill>
          <a:ln w="12700">
            <a:solidFill>
              <a:srgbClr val="1D1F2B"/>
            </a:solidFill>
            <a:prstDash val="solid"/>
          </a:ln>
        </p:spPr>
        <p:txBody>
          <a:bodyPr/>
          <a:lstStyle/>
          <a:p>
            <a:endParaRPr lang="ro-RO"/>
          </a:p>
        </p:txBody>
      </p:sp>
      <p:sp>
        <p:nvSpPr>
          <p:cNvPr id="7" name="Text 5"/>
          <p:cNvSpPr/>
          <p:nvPr/>
        </p:nvSpPr>
        <p:spPr>
          <a:xfrm>
            <a:off x="850392" y="1901952"/>
            <a:ext cx="2926080" cy="310896"/>
          </a:xfrm>
          <a:prstGeom prst="rect">
            <a:avLst/>
          </a:prstGeom>
          <a:noFill/>
          <a:ln/>
        </p:spPr>
        <p:txBody>
          <a:bodyPr wrap="square" lIns="0" tIns="0" rIns="0" bIns="0" rtlCol="0" anchor="ctr"/>
          <a:lstStyle/>
          <a:p>
            <a:pPr marL="0" indent="0">
              <a:buNone/>
            </a:pPr>
            <a:r>
              <a:rPr lang="en-US" sz="1350" b="1" dirty="0">
                <a:solidFill>
                  <a:srgbClr val="FF4757"/>
                </a:solidFill>
                <a:latin typeface="Palatino Linotype" pitchFamily="34" charset="0"/>
                <a:ea typeface="Palatino Linotype" pitchFamily="34" charset="-122"/>
                <a:cs typeface="Palatino Linotype" pitchFamily="34" charset="-120"/>
              </a:rPr>
              <a:t>Nicotină</a:t>
            </a:r>
            <a:endParaRPr lang="en-US" sz="1350" dirty="0"/>
          </a:p>
        </p:txBody>
      </p:sp>
      <p:sp>
        <p:nvSpPr>
          <p:cNvPr id="8" name="Text 6"/>
          <p:cNvSpPr/>
          <p:nvPr/>
        </p:nvSpPr>
        <p:spPr>
          <a:xfrm>
            <a:off x="850392" y="2249424"/>
            <a:ext cx="2926080" cy="658368"/>
          </a:xfrm>
          <a:prstGeom prst="rect">
            <a:avLst/>
          </a:prstGeom>
          <a:noFill/>
          <a:ln/>
        </p:spPr>
        <p:txBody>
          <a:bodyPr wrap="square" lIns="0" tIns="0" rIns="0" bIns="0" rtlCol="0" anchor="ctr"/>
          <a:lstStyle/>
          <a:p>
            <a:pPr marL="0" indent="0">
              <a:buNone/>
            </a:pPr>
            <a:r>
              <a:rPr lang="en-US" sz="4000" b="1" dirty="0">
                <a:solidFill>
                  <a:srgbClr val="FFFFFF"/>
                </a:solidFill>
                <a:latin typeface="Palatino Linotype" pitchFamily="34" charset="0"/>
                <a:ea typeface="Palatino Linotype" pitchFamily="34" charset="-122"/>
                <a:cs typeface="Palatino Linotype" pitchFamily="34" charset="-120"/>
              </a:rPr>
              <a:t>67,5%</a:t>
            </a:r>
            <a:endParaRPr lang="en-US" sz="4000" dirty="0"/>
          </a:p>
        </p:txBody>
      </p:sp>
      <p:sp>
        <p:nvSpPr>
          <p:cNvPr id="9" name="Text 7"/>
          <p:cNvSpPr/>
          <p:nvPr/>
        </p:nvSpPr>
        <p:spPr>
          <a:xfrm>
            <a:off x="850392" y="2944368"/>
            <a:ext cx="2926080" cy="512064"/>
          </a:xfrm>
          <a:prstGeom prst="rect">
            <a:avLst/>
          </a:prstGeom>
          <a:noFill/>
          <a:ln/>
        </p:spPr>
        <p:txBody>
          <a:bodyPr wrap="square" lIns="0" tIns="0" rIns="0" bIns="0" rtlCol="0" anchor="t"/>
          <a:lstStyle/>
          <a:p>
            <a:pPr marL="0" indent="0">
              <a:lnSpc>
                <a:spcPts val="1600"/>
              </a:lnSpc>
              <a:buNone/>
            </a:pPr>
            <a:r>
              <a:rPr lang="en-US" sz="1150" dirty="0">
                <a:solidFill>
                  <a:srgbClr val="959BB0"/>
                </a:solidFill>
                <a:latin typeface="Palatino Linotype" pitchFamily="34" charset="0"/>
                <a:ea typeface="Palatino Linotype" pitchFamily="34" charset="-122"/>
                <a:cs typeface="Palatino Linotype" pitchFamily="34" charset="-120"/>
              </a:rPr>
              <a:t>din consumatorii pe viață ar deveni dependenți (SUA)</a:t>
            </a:r>
            <a:endParaRPr lang="en-US" sz="1150" dirty="0"/>
          </a:p>
        </p:txBody>
      </p:sp>
      <p:sp>
        <p:nvSpPr>
          <p:cNvPr id="10" name="Shape 8"/>
          <p:cNvSpPr/>
          <p:nvPr/>
        </p:nvSpPr>
        <p:spPr>
          <a:xfrm>
            <a:off x="4389120" y="1755648"/>
            <a:ext cx="3429000" cy="1847088"/>
          </a:xfrm>
          <a:prstGeom prst="roundRect">
            <a:avLst>
              <a:gd name="adj" fmla="val 4455"/>
            </a:avLst>
          </a:prstGeom>
          <a:solidFill>
            <a:srgbClr val="1D1F2B"/>
          </a:solidFill>
          <a:ln w="12700">
            <a:solidFill>
              <a:srgbClr val="1D1F2B"/>
            </a:solidFill>
            <a:prstDash val="solid"/>
          </a:ln>
        </p:spPr>
        <p:txBody>
          <a:bodyPr/>
          <a:lstStyle/>
          <a:p>
            <a:endParaRPr lang="ro-RO"/>
          </a:p>
        </p:txBody>
      </p:sp>
      <p:sp>
        <p:nvSpPr>
          <p:cNvPr id="11" name="Text 9"/>
          <p:cNvSpPr/>
          <p:nvPr/>
        </p:nvSpPr>
        <p:spPr>
          <a:xfrm>
            <a:off x="4645152" y="1901952"/>
            <a:ext cx="2926080" cy="310896"/>
          </a:xfrm>
          <a:prstGeom prst="rect">
            <a:avLst/>
          </a:prstGeom>
          <a:noFill/>
          <a:ln/>
        </p:spPr>
        <p:txBody>
          <a:bodyPr wrap="square" lIns="0" tIns="0" rIns="0" bIns="0" rtlCol="0" anchor="ctr"/>
          <a:lstStyle/>
          <a:p>
            <a:pPr marL="0" indent="0">
              <a:buNone/>
            </a:pPr>
            <a:r>
              <a:rPr lang="en-US" sz="1350" b="1" dirty="0">
                <a:solidFill>
                  <a:srgbClr val="FFC24B"/>
                </a:solidFill>
                <a:latin typeface="Palatino Linotype" pitchFamily="34" charset="0"/>
                <a:ea typeface="Palatino Linotype" pitchFamily="34" charset="-122"/>
                <a:cs typeface="Palatino Linotype" pitchFamily="34" charset="-120"/>
              </a:rPr>
              <a:t>Alcool</a:t>
            </a:r>
            <a:endParaRPr lang="en-US" sz="1350" dirty="0"/>
          </a:p>
        </p:txBody>
      </p:sp>
      <p:sp>
        <p:nvSpPr>
          <p:cNvPr id="12" name="Text 10"/>
          <p:cNvSpPr/>
          <p:nvPr/>
        </p:nvSpPr>
        <p:spPr>
          <a:xfrm>
            <a:off x="4645152" y="2249424"/>
            <a:ext cx="2926080" cy="658368"/>
          </a:xfrm>
          <a:prstGeom prst="rect">
            <a:avLst/>
          </a:prstGeom>
          <a:noFill/>
          <a:ln/>
        </p:spPr>
        <p:txBody>
          <a:bodyPr wrap="square" lIns="0" tIns="0" rIns="0" bIns="0" rtlCol="0" anchor="ctr"/>
          <a:lstStyle/>
          <a:p>
            <a:pPr marL="0" indent="0">
              <a:buNone/>
            </a:pPr>
            <a:r>
              <a:rPr lang="en-US" sz="4000" b="1" dirty="0">
                <a:solidFill>
                  <a:srgbClr val="FFFFFF"/>
                </a:solidFill>
                <a:latin typeface="Palatino Linotype" pitchFamily="34" charset="0"/>
                <a:ea typeface="Palatino Linotype" pitchFamily="34" charset="-122"/>
                <a:cs typeface="Palatino Linotype" pitchFamily="34" charset="-120"/>
              </a:rPr>
              <a:t>22,7%</a:t>
            </a:r>
            <a:endParaRPr lang="en-US" sz="4000" dirty="0"/>
          </a:p>
        </p:txBody>
      </p:sp>
      <p:sp>
        <p:nvSpPr>
          <p:cNvPr id="13" name="Text 11"/>
          <p:cNvSpPr/>
          <p:nvPr/>
        </p:nvSpPr>
        <p:spPr>
          <a:xfrm>
            <a:off x="4645152" y="2944368"/>
            <a:ext cx="2926080" cy="512064"/>
          </a:xfrm>
          <a:prstGeom prst="rect">
            <a:avLst/>
          </a:prstGeom>
          <a:noFill/>
          <a:ln/>
        </p:spPr>
        <p:txBody>
          <a:bodyPr wrap="square" lIns="0" tIns="0" rIns="0" bIns="0" rtlCol="0" anchor="t"/>
          <a:lstStyle/>
          <a:p>
            <a:pPr marL="0" indent="0">
              <a:lnSpc>
                <a:spcPts val="1600"/>
              </a:lnSpc>
              <a:buNone/>
            </a:pPr>
            <a:r>
              <a:rPr lang="en-US" sz="1150" dirty="0">
                <a:solidFill>
                  <a:srgbClr val="959BB0"/>
                </a:solidFill>
                <a:latin typeface="Palatino Linotype" pitchFamily="34" charset="0"/>
                <a:ea typeface="Palatino Linotype" pitchFamily="34" charset="-122"/>
                <a:cs typeface="Palatino Linotype" pitchFamily="34" charset="-120"/>
              </a:rPr>
              <a:t>din consumatorii pe viață</a:t>
            </a:r>
            <a:endParaRPr lang="en-US" sz="1150" dirty="0"/>
          </a:p>
        </p:txBody>
      </p:sp>
      <p:sp>
        <p:nvSpPr>
          <p:cNvPr id="14" name="Shape 12"/>
          <p:cNvSpPr/>
          <p:nvPr/>
        </p:nvSpPr>
        <p:spPr>
          <a:xfrm>
            <a:off x="8183880" y="1755648"/>
            <a:ext cx="3429000" cy="1847088"/>
          </a:xfrm>
          <a:prstGeom prst="roundRect">
            <a:avLst>
              <a:gd name="adj" fmla="val 4455"/>
            </a:avLst>
          </a:prstGeom>
          <a:solidFill>
            <a:srgbClr val="1D1F2B"/>
          </a:solidFill>
          <a:ln w="12700">
            <a:solidFill>
              <a:srgbClr val="1D1F2B"/>
            </a:solidFill>
            <a:prstDash val="solid"/>
          </a:ln>
        </p:spPr>
        <p:txBody>
          <a:bodyPr/>
          <a:lstStyle/>
          <a:p>
            <a:endParaRPr lang="ro-RO"/>
          </a:p>
        </p:txBody>
      </p:sp>
      <p:sp>
        <p:nvSpPr>
          <p:cNvPr id="15" name="Text 13"/>
          <p:cNvSpPr/>
          <p:nvPr/>
        </p:nvSpPr>
        <p:spPr>
          <a:xfrm>
            <a:off x="8439912" y="1901952"/>
            <a:ext cx="2926080" cy="310896"/>
          </a:xfrm>
          <a:prstGeom prst="rect">
            <a:avLst/>
          </a:prstGeom>
          <a:noFill/>
          <a:ln/>
        </p:spPr>
        <p:txBody>
          <a:bodyPr wrap="square" lIns="0" tIns="0" rIns="0" bIns="0" rtlCol="0" anchor="ctr"/>
          <a:lstStyle/>
          <a:p>
            <a:pPr marL="0" indent="0">
              <a:buNone/>
            </a:pPr>
            <a:r>
              <a:rPr lang="en-US" sz="1350" b="1" dirty="0">
                <a:solidFill>
                  <a:srgbClr val="27D3BE"/>
                </a:solidFill>
                <a:latin typeface="Palatino Linotype" pitchFamily="34" charset="0"/>
                <a:ea typeface="Palatino Linotype" pitchFamily="34" charset="-122"/>
                <a:cs typeface="Palatino Linotype" pitchFamily="34" charset="-120"/>
              </a:rPr>
              <a:t>Canabis</a:t>
            </a:r>
            <a:endParaRPr lang="en-US" sz="1350" dirty="0"/>
          </a:p>
        </p:txBody>
      </p:sp>
      <p:sp>
        <p:nvSpPr>
          <p:cNvPr id="16" name="Text 14"/>
          <p:cNvSpPr/>
          <p:nvPr/>
        </p:nvSpPr>
        <p:spPr>
          <a:xfrm>
            <a:off x="8439912" y="2249424"/>
            <a:ext cx="2926080" cy="658368"/>
          </a:xfrm>
          <a:prstGeom prst="rect">
            <a:avLst/>
          </a:prstGeom>
          <a:noFill/>
          <a:ln/>
        </p:spPr>
        <p:txBody>
          <a:bodyPr wrap="square" lIns="0" tIns="0" rIns="0" bIns="0" rtlCol="0" anchor="ctr"/>
          <a:lstStyle/>
          <a:p>
            <a:pPr marL="0" indent="0">
              <a:buNone/>
            </a:pPr>
            <a:r>
              <a:rPr lang="en-US" sz="4000" b="1" dirty="0">
                <a:solidFill>
                  <a:srgbClr val="FFFFFF"/>
                </a:solidFill>
                <a:latin typeface="Palatino Linotype" pitchFamily="34" charset="0"/>
                <a:ea typeface="Palatino Linotype" pitchFamily="34" charset="-122"/>
                <a:cs typeface="Palatino Linotype" pitchFamily="34" charset="-120"/>
              </a:rPr>
              <a:t>8,9%</a:t>
            </a:r>
            <a:endParaRPr lang="en-US" sz="4000" dirty="0"/>
          </a:p>
        </p:txBody>
      </p:sp>
      <p:sp>
        <p:nvSpPr>
          <p:cNvPr id="17" name="Text 15"/>
          <p:cNvSpPr/>
          <p:nvPr/>
        </p:nvSpPr>
        <p:spPr>
          <a:xfrm>
            <a:off x="8439912" y="2944368"/>
            <a:ext cx="2926080" cy="512064"/>
          </a:xfrm>
          <a:prstGeom prst="rect">
            <a:avLst/>
          </a:prstGeom>
          <a:noFill/>
          <a:ln/>
        </p:spPr>
        <p:txBody>
          <a:bodyPr wrap="square" lIns="0" tIns="0" rIns="0" bIns="0" rtlCol="0" anchor="t"/>
          <a:lstStyle/>
          <a:p>
            <a:pPr marL="0" indent="0">
              <a:lnSpc>
                <a:spcPts val="1600"/>
              </a:lnSpc>
              <a:buNone/>
            </a:pPr>
            <a:r>
              <a:rPr lang="en-US" sz="1150" dirty="0">
                <a:solidFill>
                  <a:srgbClr val="959BB0"/>
                </a:solidFill>
                <a:latin typeface="Palatino Linotype" pitchFamily="34" charset="0"/>
                <a:ea typeface="Palatino Linotype" pitchFamily="34" charset="-122"/>
                <a:cs typeface="Palatino Linotype" pitchFamily="34" charset="-120"/>
              </a:rPr>
              <a:t>din consumatorii pe viață</a:t>
            </a:r>
            <a:endParaRPr lang="en-US" sz="1150" dirty="0"/>
          </a:p>
        </p:txBody>
      </p:sp>
      <p:sp>
        <p:nvSpPr>
          <p:cNvPr id="18" name="Text 16"/>
          <p:cNvSpPr/>
          <p:nvPr/>
        </p:nvSpPr>
        <p:spPr>
          <a:xfrm>
            <a:off x="594360" y="3749040"/>
            <a:ext cx="10972800" cy="384048"/>
          </a:xfrm>
          <a:prstGeom prst="rect">
            <a:avLst/>
          </a:prstGeom>
          <a:noFill/>
          <a:ln/>
        </p:spPr>
        <p:txBody>
          <a:bodyPr wrap="square" lIns="0" tIns="0" rIns="0" bIns="0" rtlCol="0" anchor="ctr"/>
          <a:lstStyle/>
          <a:p>
            <a:pPr marL="0" indent="0">
              <a:buNone/>
            </a:pPr>
            <a:r>
              <a:rPr lang="en-US" sz="1700" b="1" dirty="0">
                <a:solidFill>
                  <a:srgbClr val="FFC24B"/>
                </a:solidFill>
                <a:latin typeface="Palatino Linotype" pitchFamily="34" charset="0"/>
                <a:ea typeface="Palatino Linotype" pitchFamily="34" charset="-122"/>
                <a:cs typeface="Palatino Linotype" pitchFamily="34" charset="-120"/>
              </a:rPr>
              <a:t>Substanța de pe primul loc este legală și mai bine acceptată social. Care explicație este cea mai bine susținută?</a:t>
            </a:r>
            <a:endParaRPr lang="en-US" sz="1700" dirty="0"/>
          </a:p>
        </p:txBody>
      </p:sp>
      <p:sp>
        <p:nvSpPr>
          <p:cNvPr id="19" name="Shape 17"/>
          <p:cNvSpPr/>
          <p:nvPr/>
        </p:nvSpPr>
        <p:spPr>
          <a:xfrm>
            <a:off x="594360" y="4206240"/>
            <a:ext cx="10972800" cy="530352"/>
          </a:xfrm>
          <a:prstGeom prst="roundRect">
            <a:avLst>
              <a:gd name="adj" fmla="val 15517"/>
            </a:avLst>
          </a:prstGeom>
          <a:solidFill>
            <a:srgbClr val="1D1F2B"/>
          </a:solidFill>
          <a:ln w="12700">
            <a:solidFill>
              <a:srgbClr val="1D1F2B"/>
            </a:solidFill>
            <a:prstDash val="solid"/>
          </a:ln>
        </p:spPr>
        <p:txBody>
          <a:bodyPr/>
          <a:lstStyle/>
          <a:p>
            <a:endParaRPr lang="ro-RO"/>
          </a:p>
        </p:txBody>
      </p:sp>
      <p:sp>
        <p:nvSpPr>
          <p:cNvPr id="20" name="Shape 18"/>
          <p:cNvSpPr/>
          <p:nvPr/>
        </p:nvSpPr>
        <p:spPr>
          <a:xfrm>
            <a:off x="868680" y="4288536"/>
            <a:ext cx="365760" cy="365760"/>
          </a:xfrm>
          <a:prstGeom prst="ellipse">
            <a:avLst/>
          </a:prstGeom>
          <a:solidFill>
            <a:srgbClr val="FFC24B"/>
          </a:solidFill>
          <a:ln w="12700">
            <a:solidFill>
              <a:srgbClr val="FFC24B"/>
            </a:solidFill>
            <a:prstDash val="solid"/>
          </a:ln>
        </p:spPr>
        <p:txBody>
          <a:bodyPr/>
          <a:lstStyle/>
          <a:p>
            <a:endParaRPr lang="ro-RO"/>
          </a:p>
        </p:txBody>
      </p:sp>
      <p:sp>
        <p:nvSpPr>
          <p:cNvPr id="21" name="Text 19"/>
          <p:cNvSpPr/>
          <p:nvPr/>
        </p:nvSpPr>
        <p:spPr>
          <a:xfrm>
            <a:off x="868680" y="4288536"/>
            <a:ext cx="365760" cy="365760"/>
          </a:xfrm>
          <a:prstGeom prst="rect">
            <a:avLst/>
          </a:prstGeom>
          <a:noFill/>
          <a:ln/>
        </p:spPr>
        <p:txBody>
          <a:bodyPr wrap="square" lIns="0" tIns="0" rIns="0" bIns="0" rtlCol="0" anchor="ctr"/>
          <a:lstStyle/>
          <a:p>
            <a:pPr marL="0" indent="0" algn="ctr">
              <a:buNone/>
            </a:pPr>
            <a:r>
              <a:rPr lang="en-US" sz="1300" b="1" dirty="0">
                <a:solidFill>
                  <a:srgbClr val="3D2A00"/>
                </a:solidFill>
                <a:latin typeface="Palatino Linotype" pitchFamily="34" charset="0"/>
                <a:ea typeface="Palatino Linotype" pitchFamily="34" charset="-122"/>
                <a:cs typeface="Palatino Linotype" pitchFamily="34" charset="-120"/>
              </a:rPr>
              <a:t>a</a:t>
            </a:r>
            <a:endParaRPr lang="en-US" sz="1300" dirty="0"/>
          </a:p>
        </p:txBody>
      </p:sp>
      <p:sp>
        <p:nvSpPr>
          <p:cNvPr id="22" name="Text 20"/>
          <p:cNvSpPr/>
          <p:nvPr/>
        </p:nvSpPr>
        <p:spPr>
          <a:xfrm>
            <a:off x="1417320" y="4206240"/>
            <a:ext cx="9875520" cy="530352"/>
          </a:xfrm>
          <a:prstGeom prst="rect">
            <a:avLst/>
          </a:prstGeom>
          <a:noFill/>
          <a:ln/>
        </p:spPr>
        <p:txBody>
          <a:bodyPr wrap="square" lIns="0" tIns="0" rIns="0" bIns="0" rtlCol="0" anchor="ctr"/>
          <a:lstStyle/>
          <a:p>
            <a:pPr marL="0" indent="0">
              <a:buNone/>
            </a:pPr>
            <a:r>
              <a:rPr lang="en-US" sz="1350" dirty="0">
                <a:solidFill>
                  <a:srgbClr val="FFFFFF"/>
                </a:solidFill>
                <a:latin typeface="Palatino Linotype" pitchFamily="34" charset="0"/>
                <a:ea typeface="Palatino Linotype" pitchFamily="34" charset="-122"/>
                <a:cs typeface="Palatino Linotype" pitchFamily="34" charset="-120"/>
              </a:rPr>
              <a:t>Nicotina produce cea mai mare eliberare de dopamină dintre cele trei.</a:t>
            </a:r>
            <a:endParaRPr lang="en-US" sz="1350" dirty="0"/>
          </a:p>
        </p:txBody>
      </p:sp>
      <p:sp>
        <p:nvSpPr>
          <p:cNvPr id="23" name="Shape 21"/>
          <p:cNvSpPr/>
          <p:nvPr/>
        </p:nvSpPr>
        <p:spPr>
          <a:xfrm>
            <a:off x="594360" y="4809744"/>
            <a:ext cx="10972800" cy="530352"/>
          </a:xfrm>
          <a:prstGeom prst="roundRect">
            <a:avLst>
              <a:gd name="adj" fmla="val 15517"/>
            </a:avLst>
          </a:prstGeom>
          <a:solidFill>
            <a:srgbClr val="272A38"/>
          </a:solidFill>
          <a:ln w="12700">
            <a:solidFill>
              <a:srgbClr val="272A38"/>
            </a:solidFill>
            <a:prstDash val="solid"/>
          </a:ln>
        </p:spPr>
        <p:txBody>
          <a:bodyPr/>
          <a:lstStyle/>
          <a:p>
            <a:endParaRPr lang="ro-RO"/>
          </a:p>
        </p:txBody>
      </p:sp>
      <p:sp>
        <p:nvSpPr>
          <p:cNvPr id="24" name="Shape 22"/>
          <p:cNvSpPr/>
          <p:nvPr/>
        </p:nvSpPr>
        <p:spPr>
          <a:xfrm>
            <a:off x="868680" y="4892040"/>
            <a:ext cx="365760" cy="365760"/>
          </a:xfrm>
          <a:prstGeom prst="ellipse">
            <a:avLst/>
          </a:prstGeom>
          <a:solidFill>
            <a:srgbClr val="FFC24B"/>
          </a:solidFill>
          <a:ln w="12700">
            <a:solidFill>
              <a:srgbClr val="FFC24B"/>
            </a:solidFill>
            <a:prstDash val="solid"/>
          </a:ln>
        </p:spPr>
        <p:txBody>
          <a:bodyPr/>
          <a:lstStyle/>
          <a:p>
            <a:endParaRPr lang="ro-RO"/>
          </a:p>
        </p:txBody>
      </p:sp>
      <p:sp>
        <p:nvSpPr>
          <p:cNvPr id="25" name="Text 23"/>
          <p:cNvSpPr/>
          <p:nvPr/>
        </p:nvSpPr>
        <p:spPr>
          <a:xfrm>
            <a:off x="868680" y="4892040"/>
            <a:ext cx="365760" cy="365760"/>
          </a:xfrm>
          <a:prstGeom prst="rect">
            <a:avLst/>
          </a:prstGeom>
          <a:noFill/>
          <a:ln/>
        </p:spPr>
        <p:txBody>
          <a:bodyPr wrap="square" lIns="0" tIns="0" rIns="0" bIns="0" rtlCol="0" anchor="ctr"/>
          <a:lstStyle/>
          <a:p>
            <a:pPr marL="0" indent="0" algn="ctr">
              <a:buNone/>
            </a:pPr>
            <a:r>
              <a:rPr lang="en-US" sz="1300" b="1" dirty="0">
                <a:solidFill>
                  <a:srgbClr val="3D2A00"/>
                </a:solidFill>
                <a:latin typeface="Palatino Linotype" pitchFamily="34" charset="0"/>
                <a:ea typeface="Palatino Linotype" pitchFamily="34" charset="-122"/>
                <a:cs typeface="Palatino Linotype" pitchFamily="34" charset="-120"/>
              </a:rPr>
              <a:t>b</a:t>
            </a:r>
            <a:endParaRPr lang="en-US" sz="1300" dirty="0"/>
          </a:p>
        </p:txBody>
      </p:sp>
      <p:sp>
        <p:nvSpPr>
          <p:cNvPr id="26" name="Text 24"/>
          <p:cNvSpPr/>
          <p:nvPr/>
        </p:nvSpPr>
        <p:spPr>
          <a:xfrm>
            <a:off x="1417320" y="4809744"/>
            <a:ext cx="9875520" cy="530352"/>
          </a:xfrm>
          <a:prstGeom prst="rect">
            <a:avLst/>
          </a:prstGeom>
          <a:noFill/>
          <a:ln/>
        </p:spPr>
        <p:txBody>
          <a:bodyPr wrap="square" lIns="0" tIns="0" rIns="0" bIns="0" rtlCol="0" anchor="ctr"/>
          <a:lstStyle/>
          <a:p>
            <a:pPr marL="0" indent="0">
              <a:buNone/>
            </a:pPr>
            <a:r>
              <a:rPr lang="en-US" sz="1350" dirty="0">
                <a:solidFill>
                  <a:srgbClr val="FFFFFF"/>
                </a:solidFill>
                <a:latin typeface="Palatino Linotype" pitchFamily="34" charset="0"/>
                <a:ea typeface="Palatino Linotype" pitchFamily="34" charset="-122"/>
                <a:cs typeface="Palatino Linotype" pitchFamily="34" charset="-120"/>
              </a:rPr>
              <a:t>Nicotina este cea mai periculoasă substanță dintre cele trei.</a:t>
            </a:r>
            <a:endParaRPr lang="en-US" sz="1350" dirty="0"/>
          </a:p>
        </p:txBody>
      </p:sp>
      <p:sp>
        <p:nvSpPr>
          <p:cNvPr id="27" name="Shape 25"/>
          <p:cNvSpPr/>
          <p:nvPr/>
        </p:nvSpPr>
        <p:spPr>
          <a:xfrm>
            <a:off x="594360" y="5413248"/>
            <a:ext cx="10972800" cy="530352"/>
          </a:xfrm>
          <a:prstGeom prst="roundRect">
            <a:avLst>
              <a:gd name="adj" fmla="val 15517"/>
            </a:avLst>
          </a:prstGeom>
          <a:solidFill>
            <a:srgbClr val="1D1F2B"/>
          </a:solidFill>
          <a:ln w="12700">
            <a:solidFill>
              <a:srgbClr val="1D1F2B"/>
            </a:solidFill>
            <a:prstDash val="solid"/>
          </a:ln>
        </p:spPr>
        <p:txBody>
          <a:bodyPr/>
          <a:lstStyle/>
          <a:p>
            <a:endParaRPr lang="ro-RO"/>
          </a:p>
        </p:txBody>
      </p:sp>
      <p:sp>
        <p:nvSpPr>
          <p:cNvPr id="28" name="Shape 26"/>
          <p:cNvSpPr/>
          <p:nvPr/>
        </p:nvSpPr>
        <p:spPr>
          <a:xfrm>
            <a:off x="868680" y="5495544"/>
            <a:ext cx="365760" cy="365760"/>
          </a:xfrm>
          <a:prstGeom prst="ellipse">
            <a:avLst/>
          </a:prstGeom>
          <a:solidFill>
            <a:srgbClr val="FFC24B"/>
          </a:solidFill>
          <a:ln w="12700">
            <a:solidFill>
              <a:srgbClr val="FFC24B"/>
            </a:solidFill>
            <a:prstDash val="solid"/>
          </a:ln>
        </p:spPr>
        <p:txBody>
          <a:bodyPr/>
          <a:lstStyle/>
          <a:p>
            <a:endParaRPr lang="ro-RO"/>
          </a:p>
        </p:txBody>
      </p:sp>
      <p:sp>
        <p:nvSpPr>
          <p:cNvPr id="29" name="Text 27"/>
          <p:cNvSpPr/>
          <p:nvPr/>
        </p:nvSpPr>
        <p:spPr>
          <a:xfrm>
            <a:off x="868680" y="5495544"/>
            <a:ext cx="365760" cy="365760"/>
          </a:xfrm>
          <a:prstGeom prst="rect">
            <a:avLst/>
          </a:prstGeom>
          <a:noFill/>
          <a:ln/>
        </p:spPr>
        <p:txBody>
          <a:bodyPr wrap="square" lIns="0" tIns="0" rIns="0" bIns="0" rtlCol="0" anchor="ctr"/>
          <a:lstStyle/>
          <a:p>
            <a:pPr marL="0" indent="0" algn="ctr">
              <a:buNone/>
            </a:pPr>
            <a:r>
              <a:rPr lang="en-US" sz="1300" b="1" dirty="0">
                <a:solidFill>
                  <a:srgbClr val="3D2A00"/>
                </a:solidFill>
                <a:latin typeface="Palatino Linotype" pitchFamily="34" charset="0"/>
                <a:ea typeface="Palatino Linotype" pitchFamily="34" charset="-122"/>
                <a:cs typeface="Palatino Linotype" pitchFamily="34" charset="-120"/>
              </a:rPr>
              <a:t>c</a:t>
            </a:r>
            <a:endParaRPr lang="en-US" sz="1300" dirty="0"/>
          </a:p>
        </p:txBody>
      </p:sp>
      <p:sp>
        <p:nvSpPr>
          <p:cNvPr id="30" name="Text 28"/>
          <p:cNvSpPr/>
          <p:nvPr/>
        </p:nvSpPr>
        <p:spPr>
          <a:xfrm>
            <a:off x="1417320" y="5413248"/>
            <a:ext cx="9875520" cy="530352"/>
          </a:xfrm>
          <a:prstGeom prst="rect">
            <a:avLst/>
          </a:prstGeom>
          <a:noFill/>
          <a:ln/>
        </p:spPr>
        <p:txBody>
          <a:bodyPr wrap="square" lIns="0" tIns="0" rIns="0" bIns="0" rtlCol="0" anchor="ctr"/>
          <a:lstStyle/>
          <a:p>
            <a:pPr marL="0" indent="0">
              <a:buNone/>
            </a:pPr>
            <a:r>
              <a:rPr lang="en-US" sz="1350" dirty="0">
                <a:solidFill>
                  <a:srgbClr val="FFFFFF"/>
                </a:solidFill>
                <a:latin typeface="Palatino Linotype" pitchFamily="34" charset="0"/>
                <a:ea typeface="Palatino Linotype" pitchFamily="34" charset="-122"/>
                <a:cs typeface="Palatino Linotype" pitchFamily="34" charset="-120"/>
              </a:rPr>
              <a:t>Probabilitatea de dependență este o axă distinctă de dopamină și de daună.</a:t>
            </a:r>
            <a:endParaRPr lang="en-US" sz="1350" dirty="0"/>
          </a:p>
        </p:txBody>
      </p:sp>
      <p:sp>
        <p:nvSpPr>
          <p:cNvPr id="31" name="Text 29"/>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Lopez-Quintero și colab., Drug Alcohol Depend, 2011 · NESARC, valurile 1 și 2</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4A2D8C"/>
                </a:solidFill>
                <a:latin typeface="Palatino Linotype" pitchFamily="34" charset="0"/>
                <a:ea typeface="Palatino Linotype" pitchFamily="34" charset="-122"/>
                <a:cs typeface="Palatino Linotype" pitchFamily="34" charset="-120"/>
              </a:rPr>
              <a:t>NESARC · CONSUMATORI PE VIAȚĂ, SUA</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Probabilitatea cumulativă de dependență, pe viață</a:t>
            </a:r>
            <a:endParaRPr lang="en-US" sz="3000" dirty="0"/>
          </a:p>
        </p:txBody>
      </p:sp>
      <p:sp>
        <p:nvSpPr>
          <p:cNvPr id="4" name="Text 2"/>
          <p:cNvSpPr/>
          <p:nvPr/>
        </p:nvSpPr>
        <p:spPr>
          <a:xfrm>
            <a:off x="594360" y="1892808"/>
            <a:ext cx="3383280" cy="40233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Nicotină     N = 15 918</a:t>
            </a:r>
            <a:endParaRPr lang="en-US" sz="1300" dirty="0"/>
          </a:p>
        </p:txBody>
      </p:sp>
      <p:sp>
        <p:nvSpPr>
          <p:cNvPr id="5" name="Shape 3"/>
          <p:cNvSpPr/>
          <p:nvPr/>
        </p:nvSpPr>
        <p:spPr>
          <a:xfrm>
            <a:off x="4160520" y="1938528"/>
            <a:ext cx="5852160" cy="329184"/>
          </a:xfrm>
          <a:prstGeom prst="roundRect">
            <a:avLst>
              <a:gd name="adj" fmla="val 13889"/>
            </a:avLst>
          </a:prstGeom>
          <a:solidFill>
            <a:srgbClr val="B02532"/>
          </a:solidFill>
          <a:ln w="12700">
            <a:solidFill>
              <a:srgbClr val="B02532"/>
            </a:solidFill>
            <a:prstDash val="solid"/>
          </a:ln>
        </p:spPr>
        <p:txBody>
          <a:bodyPr/>
          <a:lstStyle/>
          <a:p>
            <a:endParaRPr lang="ro-RO"/>
          </a:p>
        </p:txBody>
      </p:sp>
      <p:sp>
        <p:nvSpPr>
          <p:cNvPr id="6" name="Text 4"/>
          <p:cNvSpPr/>
          <p:nvPr/>
        </p:nvSpPr>
        <p:spPr>
          <a:xfrm>
            <a:off x="10140696" y="1938528"/>
            <a:ext cx="2011680" cy="329184"/>
          </a:xfrm>
          <a:prstGeom prst="rect">
            <a:avLst/>
          </a:prstGeom>
          <a:noFill/>
          <a:ln/>
        </p:spPr>
        <p:txBody>
          <a:bodyPr wrap="square" lIns="0" tIns="0" rIns="0" bIns="0" rtlCol="0" anchor="ctr"/>
          <a:lstStyle/>
          <a:p>
            <a:pPr marL="0" indent="0" algn="l">
              <a:buNone/>
            </a:pPr>
            <a:r>
              <a:rPr lang="en-US" sz="1350" b="1" dirty="0">
                <a:solidFill>
                  <a:srgbClr val="B02532"/>
                </a:solidFill>
                <a:latin typeface="Palatino Linotype" pitchFamily="34" charset="0"/>
                <a:ea typeface="Palatino Linotype" pitchFamily="34" charset="-122"/>
                <a:cs typeface="Palatino Linotype" pitchFamily="34" charset="-120"/>
              </a:rPr>
              <a:t>67,5%</a:t>
            </a:r>
            <a:endParaRPr lang="en-US" sz="1350" dirty="0"/>
          </a:p>
        </p:txBody>
      </p:sp>
      <p:sp>
        <p:nvSpPr>
          <p:cNvPr id="7" name="Text 5"/>
          <p:cNvSpPr/>
          <p:nvPr/>
        </p:nvSpPr>
        <p:spPr>
          <a:xfrm>
            <a:off x="594360" y="2752344"/>
            <a:ext cx="3383280" cy="40233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Alcool     N = 28 907</a:t>
            </a:r>
            <a:endParaRPr lang="en-US" sz="1300" dirty="0"/>
          </a:p>
        </p:txBody>
      </p:sp>
      <p:sp>
        <p:nvSpPr>
          <p:cNvPr id="8" name="Shape 6"/>
          <p:cNvSpPr/>
          <p:nvPr/>
        </p:nvSpPr>
        <p:spPr>
          <a:xfrm>
            <a:off x="4160520" y="2798064"/>
            <a:ext cx="1968060" cy="329184"/>
          </a:xfrm>
          <a:prstGeom prst="roundRect">
            <a:avLst>
              <a:gd name="adj" fmla="val 13889"/>
            </a:avLst>
          </a:prstGeom>
          <a:solidFill>
            <a:srgbClr val="9C4A0A"/>
          </a:solidFill>
          <a:ln w="12700">
            <a:solidFill>
              <a:srgbClr val="9C4A0A"/>
            </a:solidFill>
            <a:prstDash val="solid"/>
          </a:ln>
        </p:spPr>
        <p:txBody>
          <a:bodyPr/>
          <a:lstStyle/>
          <a:p>
            <a:endParaRPr lang="ro-RO"/>
          </a:p>
        </p:txBody>
      </p:sp>
      <p:sp>
        <p:nvSpPr>
          <p:cNvPr id="9" name="Text 7"/>
          <p:cNvSpPr/>
          <p:nvPr/>
        </p:nvSpPr>
        <p:spPr>
          <a:xfrm>
            <a:off x="6256596" y="2798064"/>
            <a:ext cx="2011680" cy="329184"/>
          </a:xfrm>
          <a:prstGeom prst="rect">
            <a:avLst/>
          </a:prstGeom>
          <a:noFill/>
          <a:ln/>
        </p:spPr>
        <p:txBody>
          <a:bodyPr wrap="square" lIns="0" tIns="0" rIns="0" bIns="0" rtlCol="0" anchor="ctr"/>
          <a:lstStyle/>
          <a:p>
            <a:pPr marL="0" indent="0" algn="l">
              <a:buNone/>
            </a:pPr>
            <a:r>
              <a:rPr lang="en-US" sz="1350" b="1" dirty="0">
                <a:solidFill>
                  <a:srgbClr val="9C4A0A"/>
                </a:solidFill>
                <a:latin typeface="Palatino Linotype" pitchFamily="34" charset="0"/>
                <a:ea typeface="Palatino Linotype" pitchFamily="34" charset="-122"/>
                <a:cs typeface="Palatino Linotype" pitchFamily="34" charset="-120"/>
              </a:rPr>
              <a:t>22,7%</a:t>
            </a:r>
            <a:endParaRPr lang="en-US" sz="1350" dirty="0"/>
          </a:p>
        </p:txBody>
      </p:sp>
      <p:sp>
        <p:nvSpPr>
          <p:cNvPr id="10" name="Text 8"/>
          <p:cNvSpPr/>
          <p:nvPr/>
        </p:nvSpPr>
        <p:spPr>
          <a:xfrm>
            <a:off x="594360" y="3611880"/>
            <a:ext cx="3383280" cy="40233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Cocaină     N = 2 259</a:t>
            </a:r>
            <a:endParaRPr lang="en-US" sz="1300" dirty="0"/>
          </a:p>
        </p:txBody>
      </p:sp>
      <p:sp>
        <p:nvSpPr>
          <p:cNvPr id="11" name="Shape 9"/>
          <p:cNvSpPr/>
          <p:nvPr/>
        </p:nvSpPr>
        <p:spPr>
          <a:xfrm>
            <a:off x="4160520" y="3657600"/>
            <a:ext cx="1812002" cy="329184"/>
          </a:xfrm>
          <a:prstGeom prst="roundRect">
            <a:avLst>
              <a:gd name="adj" fmla="val 13889"/>
            </a:avLst>
          </a:prstGeom>
          <a:solidFill>
            <a:srgbClr val="8A6100"/>
          </a:solidFill>
          <a:ln w="12700">
            <a:solidFill>
              <a:srgbClr val="8A6100"/>
            </a:solidFill>
            <a:prstDash val="solid"/>
          </a:ln>
        </p:spPr>
        <p:txBody>
          <a:bodyPr/>
          <a:lstStyle/>
          <a:p>
            <a:endParaRPr lang="ro-RO"/>
          </a:p>
        </p:txBody>
      </p:sp>
      <p:sp>
        <p:nvSpPr>
          <p:cNvPr id="12" name="Text 10"/>
          <p:cNvSpPr/>
          <p:nvPr/>
        </p:nvSpPr>
        <p:spPr>
          <a:xfrm>
            <a:off x="6100538" y="3657600"/>
            <a:ext cx="2011680" cy="329184"/>
          </a:xfrm>
          <a:prstGeom prst="rect">
            <a:avLst/>
          </a:prstGeom>
          <a:noFill/>
          <a:ln/>
        </p:spPr>
        <p:txBody>
          <a:bodyPr wrap="square" lIns="0" tIns="0" rIns="0" bIns="0" rtlCol="0" anchor="ctr"/>
          <a:lstStyle/>
          <a:p>
            <a:pPr marL="0" indent="0" algn="l">
              <a:buNone/>
            </a:pPr>
            <a:r>
              <a:rPr lang="en-US" sz="1350" b="1" dirty="0">
                <a:solidFill>
                  <a:srgbClr val="8A6100"/>
                </a:solidFill>
                <a:latin typeface="Palatino Linotype" pitchFamily="34" charset="0"/>
                <a:ea typeface="Palatino Linotype" pitchFamily="34" charset="-122"/>
                <a:cs typeface="Palatino Linotype" pitchFamily="34" charset="-120"/>
              </a:rPr>
              <a:t>20,9%</a:t>
            </a:r>
            <a:endParaRPr lang="en-US" sz="1350" dirty="0"/>
          </a:p>
        </p:txBody>
      </p:sp>
      <p:sp>
        <p:nvSpPr>
          <p:cNvPr id="13" name="Text 11"/>
          <p:cNvSpPr/>
          <p:nvPr/>
        </p:nvSpPr>
        <p:spPr>
          <a:xfrm>
            <a:off x="594360" y="4471416"/>
            <a:ext cx="3383280" cy="40233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Canabis     N = 7 389</a:t>
            </a:r>
            <a:endParaRPr lang="en-US" sz="1300" dirty="0"/>
          </a:p>
        </p:txBody>
      </p:sp>
      <p:sp>
        <p:nvSpPr>
          <p:cNvPr id="14" name="Shape 12"/>
          <p:cNvSpPr/>
          <p:nvPr/>
        </p:nvSpPr>
        <p:spPr>
          <a:xfrm>
            <a:off x="4160520" y="4517136"/>
            <a:ext cx="771618" cy="329184"/>
          </a:xfrm>
          <a:prstGeom prst="roundRect">
            <a:avLst>
              <a:gd name="adj" fmla="val 13889"/>
            </a:avLst>
          </a:prstGeom>
          <a:solidFill>
            <a:srgbClr val="0E7C6B"/>
          </a:solidFill>
          <a:ln w="12700">
            <a:solidFill>
              <a:srgbClr val="0E7C6B"/>
            </a:solidFill>
            <a:prstDash val="solid"/>
          </a:ln>
        </p:spPr>
        <p:txBody>
          <a:bodyPr/>
          <a:lstStyle/>
          <a:p>
            <a:endParaRPr lang="ro-RO"/>
          </a:p>
        </p:txBody>
      </p:sp>
      <p:sp>
        <p:nvSpPr>
          <p:cNvPr id="15" name="Text 13"/>
          <p:cNvSpPr/>
          <p:nvPr/>
        </p:nvSpPr>
        <p:spPr>
          <a:xfrm>
            <a:off x="5060154" y="4517136"/>
            <a:ext cx="2011680" cy="329184"/>
          </a:xfrm>
          <a:prstGeom prst="rect">
            <a:avLst/>
          </a:prstGeom>
          <a:noFill/>
          <a:ln/>
        </p:spPr>
        <p:txBody>
          <a:bodyPr wrap="square" lIns="0" tIns="0" rIns="0" bIns="0" rtlCol="0" anchor="ctr"/>
          <a:lstStyle/>
          <a:p>
            <a:pPr marL="0" indent="0" algn="l">
              <a:buNone/>
            </a:pPr>
            <a:r>
              <a:rPr lang="en-US" sz="1350" b="1" dirty="0">
                <a:solidFill>
                  <a:srgbClr val="0E7C6B"/>
                </a:solidFill>
                <a:latin typeface="Palatino Linotype" pitchFamily="34" charset="0"/>
                <a:ea typeface="Palatino Linotype" pitchFamily="34" charset="-122"/>
                <a:cs typeface="Palatino Linotype" pitchFamily="34" charset="-120"/>
              </a:rPr>
              <a:t>8,9%</a:t>
            </a:r>
            <a:endParaRPr lang="en-US" sz="1350" dirty="0"/>
          </a:p>
        </p:txBody>
      </p:sp>
      <p:sp>
        <p:nvSpPr>
          <p:cNvPr id="16" name="Shape 14"/>
          <p:cNvSpPr/>
          <p:nvPr/>
        </p:nvSpPr>
        <p:spPr>
          <a:xfrm>
            <a:off x="594360" y="5394960"/>
            <a:ext cx="10972800" cy="786384"/>
          </a:xfrm>
          <a:prstGeom prst="roundRect">
            <a:avLst>
              <a:gd name="adj" fmla="val 10465"/>
            </a:avLst>
          </a:prstGeom>
          <a:solidFill>
            <a:srgbClr val="4A2D8C"/>
          </a:solidFill>
          <a:ln w="12700">
            <a:solidFill>
              <a:srgbClr val="4A2D8C"/>
            </a:solidFill>
            <a:prstDash val="solid"/>
          </a:ln>
        </p:spPr>
        <p:txBody>
          <a:bodyPr/>
          <a:lstStyle/>
          <a:p>
            <a:endParaRPr lang="ro-RO"/>
          </a:p>
        </p:txBody>
      </p:sp>
      <p:sp>
        <p:nvSpPr>
          <p:cNvPr id="17" name="Text 15"/>
          <p:cNvSpPr/>
          <p:nvPr/>
        </p:nvSpPr>
        <p:spPr>
          <a:xfrm>
            <a:off x="960120" y="5394960"/>
            <a:ext cx="10241280" cy="786384"/>
          </a:xfrm>
          <a:prstGeom prst="rect">
            <a:avLst/>
          </a:prstGeom>
          <a:noFill/>
          <a:ln/>
        </p:spPr>
        <p:txBody>
          <a:bodyPr wrap="square" lIns="0" tIns="0" rIns="0" bIns="0" rtlCol="0" anchor="ctr"/>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Proiecție pentru consumatorii pe viață din SUA: aproximativ nouă din zece care au consumat canabis nu ar dezvolta dependență; aproximativ șapte din zece care au consumat nicotină ar dezvolta-o.</a:t>
            </a:r>
            <a:endParaRPr lang="en-US" sz="1400" dirty="0"/>
          </a:p>
        </p:txBody>
      </p:sp>
      <p:sp>
        <p:nvSpPr>
          <p:cNvPr id="18" name="Text 16"/>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Lopez-Quintero și colab., Drug Alcohol Depend, 2011 · analiză de supraviețuire în timp discret · ARTICOLUL NU RAPORTEAZĂ IÎ pentru aceste probabilități cumulative — orice interval atașat lor ar fi inventat</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0E7C6B"/>
                </a:solidFill>
                <a:latin typeface="Palatino Linotype" pitchFamily="34" charset="0"/>
                <a:ea typeface="Palatino Linotype" pitchFamily="34" charset="-122"/>
                <a:cs typeface="Palatino Linotype" pitchFamily="34" charset="-120"/>
              </a:rPr>
              <a:t>ACEEAȘI CIFRĂ, ALTFEL</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O sută de oameni care au consumat cel puțin o dată</a:t>
            </a:r>
            <a:endParaRPr lang="en-US" sz="3000" dirty="0"/>
          </a:p>
        </p:txBody>
      </p:sp>
      <p:sp>
        <p:nvSpPr>
          <p:cNvPr id="4" name="Shape 2"/>
          <p:cNvSpPr/>
          <p:nvPr/>
        </p:nvSpPr>
        <p:spPr>
          <a:xfrm>
            <a:off x="594360" y="1755648"/>
            <a:ext cx="5440680" cy="4160520"/>
          </a:xfrm>
          <a:prstGeom prst="roundRect">
            <a:avLst>
              <a:gd name="adj" fmla="val 1978"/>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14400" y="1920240"/>
            <a:ext cx="4846320" cy="292608"/>
          </a:xfrm>
          <a:prstGeom prst="rect">
            <a:avLst/>
          </a:prstGeom>
          <a:noFill/>
          <a:ln/>
        </p:spPr>
        <p:txBody>
          <a:bodyPr wrap="square" lIns="0" tIns="0" rIns="0" bIns="0" rtlCol="0" anchor="ctr"/>
          <a:lstStyle/>
          <a:p>
            <a:pPr marL="0" indent="0">
              <a:buNone/>
            </a:pPr>
            <a:r>
              <a:rPr lang="en-US" sz="1200" b="1" kern="0" spc="200" dirty="0">
                <a:solidFill>
                  <a:srgbClr val="0E7C6B"/>
                </a:solidFill>
                <a:latin typeface="Palatino Linotype" pitchFamily="34" charset="0"/>
                <a:ea typeface="Palatino Linotype" pitchFamily="34" charset="-122"/>
                <a:cs typeface="Palatino Linotype" pitchFamily="34" charset="-120"/>
              </a:rPr>
              <a:t>CANABIS</a:t>
            </a:r>
            <a:endParaRPr lang="en-US" sz="1200" dirty="0"/>
          </a:p>
        </p:txBody>
      </p:sp>
      <p:sp>
        <p:nvSpPr>
          <p:cNvPr id="6" name="Shape 4"/>
          <p:cNvSpPr/>
          <p:nvPr/>
        </p:nvSpPr>
        <p:spPr>
          <a:xfrm>
            <a:off x="1417320" y="2304288"/>
            <a:ext cx="224028" cy="224028"/>
          </a:xfrm>
          <a:prstGeom prst="rect">
            <a:avLst/>
          </a:prstGeom>
          <a:solidFill>
            <a:srgbClr val="0E7C6B"/>
          </a:solidFill>
          <a:ln w="12700">
            <a:solidFill>
              <a:srgbClr val="0E7C6B"/>
            </a:solidFill>
            <a:prstDash val="solid"/>
          </a:ln>
        </p:spPr>
        <p:txBody>
          <a:bodyPr/>
          <a:lstStyle/>
          <a:p>
            <a:endParaRPr lang="ro-RO"/>
          </a:p>
        </p:txBody>
      </p:sp>
      <p:sp>
        <p:nvSpPr>
          <p:cNvPr id="7" name="Shape 5"/>
          <p:cNvSpPr/>
          <p:nvPr/>
        </p:nvSpPr>
        <p:spPr>
          <a:xfrm>
            <a:off x="1709928" y="2304288"/>
            <a:ext cx="224028" cy="224028"/>
          </a:xfrm>
          <a:prstGeom prst="rect">
            <a:avLst/>
          </a:prstGeom>
          <a:solidFill>
            <a:srgbClr val="0E7C6B"/>
          </a:solidFill>
          <a:ln w="12700">
            <a:solidFill>
              <a:srgbClr val="0E7C6B"/>
            </a:solidFill>
            <a:prstDash val="solid"/>
          </a:ln>
        </p:spPr>
        <p:txBody>
          <a:bodyPr/>
          <a:lstStyle/>
          <a:p>
            <a:endParaRPr lang="ro-RO"/>
          </a:p>
        </p:txBody>
      </p:sp>
      <p:sp>
        <p:nvSpPr>
          <p:cNvPr id="8" name="Shape 6"/>
          <p:cNvSpPr/>
          <p:nvPr/>
        </p:nvSpPr>
        <p:spPr>
          <a:xfrm>
            <a:off x="2002536" y="2304288"/>
            <a:ext cx="224028" cy="224028"/>
          </a:xfrm>
          <a:prstGeom prst="rect">
            <a:avLst/>
          </a:prstGeom>
          <a:solidFill>
            <a:srgbClr val="0E7C6B"/>
          </a:solidFill>
          <a:ln w="12700">
            <a:solidFill>
              <a:srgbClr val="0E7C6B"/>
            </a:solidFill>
            <a:prstDash val="solid"/>
          </a:ln>
        </p:spPr>
        <p:txBody>
          <a:bodyPr/>
          <a:lstStyle/>
          <a:p>
            <a:endParaRPr lang="ro-RO"/>
          </a:p>
        </p:txBody>
      </p:sp>
      <p:sp>
        <p:nvSpPr>
          <p:cNvPr id="9" name="Shape 7"/>
          <p:cNvSpPr/>
          <p:nvPr/>
        </p:nvSpPr>
        <p:spPr>
          <a:xfrm>
            <a:off x="2295144" y="2304288"/>
            <a:ext cx="224028" cy="224028"/>
          </a:xfrm>
          <a:prstGeom prst="rect">
            <a:avLst/>
          </a:prstGeom>
          <a:solidFill>
            <a:srgbClr val="0E7C6B"/>
          </a:solidFill>
          <a:ln w="12700">
            <a:solidFill>
              <a:srgbClr val="0E7C6B"/>
            </a:solidFill>
            <a:prstDash val="solid"/>
          </a:ln>
        </p:spPr>
        <p:txBody>
          <a:bodyPr/>
          <a:lstStyle/>
          <a:p>
            <a:endParaRPr lang="ro-RO"/>
          </a:p>
        </p:txBody>
      </p:sp>
      <p:sp>
        <p:nvSpPr>
          <p:cNvPr id="10" name="Shape 8"/>
          <p:cNvSpPr/>
          <p:nvPr/>
        </p:nvSpPr>
        <p:spPr>
          <a:xfrm>
            <a:off x="2587752" y="2304288"/>
            <a:ext cx="224028" cy="224028"/>
          </a:xfrm>
          <a:prstGeom prst="rect">
            <a:avLst/>
          </a:prstGeom>
          <a:solidFill>
            <a:srgbClr val="0E7C6B"/>
          </a:solidFill>
          <a:ln w="12700">
            <a:solidFill>
              <a:srgbClr val="0E7C6B"/>
            </a:solidFill>
            <a:prstDash val="solid"/>
          </a:ln>
        </p:spPr>
        <p:txBody>
          <a:bodyPr/>
          <a:lstStyle/>
          <a:p>
            <a:endParaRPr lang="ro-RO"/>
          </a:p>
        </p:txBody>
      </p:sp>
      <p:sp>
        <p:nvSpPr>
          <p:cNvPr id="11" name="Shape 9"/>
          <p:cNvSpPr/>
          <p:nvPr/>
        </p:nvSpPr>
        <p:spPr>
          <a:xfrm>
            <a:off x="2880360" y="2304288"/>
            <a:ext cx="224028" cy="224028"/>
          </a:xfrm>
          <a:prstGeom prst="rect">
            <a:avLst/>
          </a:prstGeom>
          <a:solidFill>
            <a:srgbClr val="0E7C6B"/>
          </a:solidFill>
          <a:ln w="12700">
            <a:solidFill>
              <a:srgbClr val="0E7C6B"/>
            </a:solidFill>
            <a:prstDash val="solid"/>
          </a:ln>
        </p:spPr>
        <p:txBody>
          <a:bodyPr/>
          <a:lstStyle/>
          <a:p>
            <a:endParaRPr lang="ro-RO"/>
          </a:p>
        </p:txBody>
      </p:sp>
      <p:sp>
        <p:nvSpPr>
          <p:cNvPr id="12" name="Shape 10"/>
          <p:cNvSpPr/>
          <p:nvPr/>
        </p:nvSpPr>
        <p:spPr>
          <a:xfrm>
            <a:off x="3172968" y="2304288"/>
            <a:ext cx="224028" cy="224028"/>
          </a:xfrm>
          <a:prstGeom prst="rect">
            <a:avLst/>
          </a:prstGeom>
          <a:solidFill>
            <a:srgbClr val="0E7C6B"/>
          </a:solidFill>
          <a:ln w="12700">
            <a:solidFill>
              <a:srgbClr val="0E7C6B"/>
            </a:solidFill>
            <a:prstDash val="solid"/>
          </a:ln>
        </p:spPr>
        <p:txBody>
          <a:bodyPr/>
          <a:lstStyle/>
          <a:p>
            <a:endParaRPr lang="ro-RO"/>
          </a:p>
        </p:txBody>
      </p:sp>
      <p:sp>
        <p:nvSpPr>
          <p:cNvPr id="13" name="Shape 11"/>
          <p:cNvSpPr/>
          <p:nvPr/>
        </p:nvSpPr>
        <p:spPr>
          <a:xfrm>
            <a:off x="3465576" y="2304288"/>
            <a:ext cx="224028" cy="224028"/>
          </a:xfrm>
          <a:prstGeom prst="rect">
            <a:avLst/>
          </a:prstGeom>
          <a:solidFill>
            <a:srgbClr val="0E7C6B"/>
          </a:solidFill>
          <a:ln w="12700">
            <a:solidFill>
              <a:srgbClr val="0E7C6B"/>
            </a:solidFill>
            <a:prstDash val="solid"/>
          </a:ln>
        </p:spPr>
        <p:txBody>
          <a:bodyPr/>
          <a:lstStyle/>
          <a:p>
            <a:endParaRPr lang="ro-RO"/>
          </a:p>
        </p:txBody>
      </p:sp>
      <p:sp>
        <p:nvSpPr>
          <p:cNvPr id="14" name="Shape 12"/>
          <p:cNvSpPr/>
          <p:nvPr/>
        </p:nvSpPr>
        <p:spPr>
          <a:xfrm>
            <a:off x="3758184" y="2304288"/>
            <a:ext cx="224028" cy="224028"/>
          </a:xfrm>
          <a:prstGeom prst="rect">
            <a:avLst/>
          </a:prstGeom>
          <a:solidFill>
            <a:srgbClr val="0E7C6B"/>
          </a:solidFill>
          <a:ln w="12700">
            <a:solidFill>
              <a:srgbClr val="0E7C6B"/>
            </a:solidFill>
            <a:prstDash val="solid"/>
          </a:ln>
        </p:spPr>
        <p:txBody>
          <a:bodyPr/>
          <a:lstStyle/>
          <a:p>
            <a:endParaRPr lang="ro-RO"/>
          </a:p>
        </p:txBody>
      </p:sp>
      <p:sp>
        <p:nvSpPr>
          <p:cNvPr id="15" name="Shape 13"/>
          <p:cNvSpPr/>
          <p:nvPr/>
        </p:nvSpPr>
        <p:spPr>
          <a:xfrm>
            <a:off x="4050792" y="2304288"/>
            <a:ext cx="224028" cy="224028"/>
          </a:xfrm>
          <a:prstGeom prst="rect">
            <a:avLst/>
          </a:prstGeom>
          <a:solidFill>
            <a:srgbClr val="D4D0C6"/>
          </a:solidFill>
          <a:ln w="12700">
            <a:solidFill>
              <a:srgbClr val="D4D0C6"/>
            </a:solidFill>
            <a:prstDash val="solid"/>
          </a:ln>
        </p:spPr>
        <p:txBody>
          <a:bodyPr/>
          <a:lstStyle/>
          <a:p>
            <a:endParaRPr lang="ro-RO"/>
          </a:p>
        </p:txBody>
      </p:sp>
      <p:sp>
        <p:nvSpPr>
          <p:cNvPr id="16" name="Shape 14"/>
          <p:cNvSpPr/>
          <p:nvPr/>
        </p:nvSpPr>
        <p:spPr>
          <a:xfrm>
            <a:off x="1417320"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17" name="Shape 15"/>
          <p:cNvSpPr/>
          <p:nvPr/>
        </p:nvSpPr>
        <p:spPr>
          <a:xfrm>
            <a:off x="1709928"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18" name="Shape 16"/>
          <p:cNvSpPr/>
          <p:nvPr/>
        </p:nvSpPr>
        <p:spPr>
          <a:xfrm>
            <a:off x="2002536"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19" name="Shape 17"/>
          <p:cNvSpPr/>
          <p:nvPr/>
        </p:nvSpPr>
        <p:spPr>
          <a:xfrm>
            <a:off x="2295144"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20" name="Shape 18"/>
          <p:cNvSpPr/>
          <p:nvPr/>
        </p:nvSpPr>
        <p:spPr>
          <a:xfrm>
            <a:off x="2587752"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21" name="Shape 19"/>
          <p:cNvSpPr/>
          <p:nvPr/>
        </p:nvSpPr>
        <p:spPr>
          <a:xfrm>
            <a:off x="2880360"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22" name="Shape 20"/>
          <p:cNvSpPr/>
          <p:nvPr/>
        </p:nvSpPr>
        <p:spPr>
          <a:xfrm>
            <a:off x="3172968"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23" name="Shape 21"/>
          <p:cNvSpPr/>
          <p:nvPr/>
        </p:nvSpPr>
        <p:spPr>
          <a:xfrm>
            <a:off x="3465576"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24" name="Shape 22"/>
          <p:cNvSpPr/>
          <p:nvPr/>
        </p:nvSpPr>
        <p:spPr>
          <a:xfrm>
            <a:off x="3758184"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25" name="Shape 23"/>
          <p:cNvSpPr/>
          <p:nvPr/>
        </p:nvSpPr>
        <p:spPr>
          <a:xfrm>
            <a:off x="4050792" y="2596896"/>
            <a:ext cx="224028" cy="224028"/>
          </a:xfrm>
          <a:prstGeom prst="rect">
            <a:avLst/>
          </a:prstGeom>
          <a:solidFill>
            <a:srgbClr val="D4D0C6"/>
          </a:solidFill>
          <a:ln w="12700">
            <a:solidFill>
              <a:srgbClr val="D4D0C6"/>
            </a:solidFill>
            <a:prstDash val="solid"/>
          </a:ln>
        </p:spPr>
        <p:txBody>
          <a:bodyPr/>
          <a:lstStyle/>
          <a:p>
            <a:endParaRPr lang="ro-RO"/>
          </a:p>
        </p:txBody>
      </p:sp>
      <p:sp>
        <p:nvSpPr>
          <p:cNvPr id="26" name="Shape 24"/>
          <p:cNvSpPr/>
          <p:nvPr/>
        </p:nvSpPr>
        <p:spPr>
          <a:xfrm>
            <a:off x="1417320"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27" name="Shape 25"/>
          <p:cNvSpPr/>
          <p:nvPr/>
        </p:nvSpPr>
        <p:spPr>
          <a:xfrm>
            <a:off x="1709928"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28" name="Shape 26"/>
          <p:cNvSpPr/>
          <p:nvPr/>
        </p:nvSpPr>
        <p:spPr>
          <a:xfrm>
            <a:off x="2002536"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29" name="Shape 27"/>
          <p:cNvSpPr/>
          <p:nvPr/>
        </p:nvSpPr>
        <p:spPr>
          <a:xfrm>
            <a:off x="2295144"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30" name="Shape 28"/>
          <p:cNvSpPr/>
          <p:nvPr/>
        </p:nvSpPr>
        <p:spPr>
          <a:xfrm>
            <a:off x="2587752"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31" name="Shape 29"/>
          <p:cNvSpPr/>
          <p:nvPr/>
        </p:nvSpPr>
        <p:spPr>
          <a:xfrm>
            <a:off x="2880360"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32" name="Shape 30"/>
          <p:cNvSpPr/>
          <p:nvPr/>
        </p:nvSpPr>
        <p:spPr>
          <a:xfrm>
            <a:off x="3172968"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33" name="Shape 31"/>
          <p:cNvSpPr/>
          <p:nvPr/>
        </p:nvSpPr>
        <p:spPr>
          <a:xfrm>
            <a:off x="3465576"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34" name="Shape 32"/>
          <p:cNvSpPr/>
          <p:nvPr/>
        </p:nvSpPr>
        <p:spPr>
          <a:xfrm>
            <a:off x="3758184"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35" name="Shape 33"/>
          <p:cNvSpPr/>
          <p:nvPr/>
        </p:nvSpPr>
        <p:spPr>
          <a:xfrm>
            <a:off x="4050792" y="2889504"/>
            <a:ext cx="224028" cy="224028"/>
          </a:xfrm>
          <a:prstGeom prst="rect">
            <a:avLst/>
          </a:prstGeom>
          <a:solidFill>
            <a:srgbClr val="D4D0C6"/>
          </a:solidFill>
          <a:ln w="12700">
            <a:solidFill>
              <a:srgbClr val="D4D0C6"/>
            </a:solidFill>
            <a:prstDash val="solid"/>
          </a:ln>
        </p:spPr>
        <p:txBody>
          <a:bodyPr/>
          <a:lstStyle/>
          <a:p>
            <a:endParaRPr lang="ro-RO"/>
          </a:p>
        </p:txBody>
      </p:sp>
      <p:sp>
        <p:nvSpPr>
          <p:cNvPr id="36" name="Shape 34"/>
          <p:cNvSpPr/>
          <p:nvPr/>
        </p:nvSpPr>
        <p:spPr>
          <a:xfrm>
            <a:off x="1417320"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37" name="Shape 35"/>
          <p:cNvSpPr/>
          <p:nvPr/>
        </p:nvSpPr>
        <p:spPr>
          <a:xfrm>
            <a:off x="1709928"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38" name="Shape 36"/>
          <p:cNvSpPr/>
          <p:nvPr/>
        </p:nvSpPr>
        <p:spPr>
          <a:xfrm>
            <a:off x="2002536"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39" name="Shape 37"/>
          <p:cNvSpPr/>
          <p:nvPr/>
        </p:nvSpPr>
        <p:spPr>
          <a:xfrm>
            <a:off x="2295144"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40" name="Shape 38"/>
          <p:cNvSpPr/>
          <p:nvPr/>
        </p:nvSpPr>
        <p:spPr>
          <a:xfrm>
            <a:off x="2587752"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41" name="Shape 39"/>
          <p:cNvSpPr/>
          <p:nvPr/>
        </p:nvSpPr>
        <p:spPr>
          <a:xfrm>
            <a:off x="2880360"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42" name="Shape 40"/>
          <p:cNvSpPr/>
          <p:nvPr/>
        </p:nvSpPr>
        <p:spPr>
          <a:xfrm>
            <a:off x="3172968"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43" name="Shape 41"/>
          <p:cNvSpPr/>
          <p:nvPr/>
        </p:nvSpPr>
        <p:spPr>
          <a:xfrm>
            <a:off x="3465576"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44" name="Shape 42"/>
          <p:cNvSpPr/>
          <p:nvPr/>
        </p:nvSpPr>
        <p:spPr>
          <a:xfrm>
            <a:off x="3758184"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45" name="Shape 43"/>
          <p:cNvSpPr/>
          <p:nvPr/>
        </p:nvSpPr>
        <p:spPr>
          <a:xfrm>
            <a:off x="4050792" y="3182112"/>
            <a:ext cx="224028" cy="224028"/>
          </a:xfrm>
          <a:prstGeom prst="rect">
            <a:avLst/>
          </a:prstGeom>
          <a:solidFill>
            <a:srgbClr val="D4D0C6"/>
          </a:solidFill>
          <a:ln w="12700">
            <a:solidFill>
              <a:srgbClr val="D4D0C6"/>
            </a:solidFill>
            <a:prstDash val="solid"/>
          </a:ln>
        </p:spPr>
        <p:txBody>
          <a:bodyPr/>
          <a:lstStyle/>
          <a:p>
            <a:endParaRPr lang="ro-RO"/>
          </a:p>
        </p:txBody>
      </p:sp>
      <p:sp>
        <p:nvSpPr>
          <p:cNvPr id="46" name="Shape 44"/>
          <p:cNvSpPr/>
          <p:nvPr/>
        </p:nvSpPr>
        <p:spPr>
          <a:xfrm>
            <a:off x="1417320"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47" name="Shape 45"/>
          <p:cNvSpPr/>
          <p:nvPr/>
        </p:nvSpPr>
        <p:spPr>
          <a:xfrm>
            <a:off x="1709928"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48" name="Shape 46"/>
          <p:cNvSpPr/>
          <p:nvPr/>
        </p:nvSpPr>
        <p:spPr>
          <a:xfrm>
            <a:off x="2002536"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49" name="Shape 47"/>
          <p:cNvSpPr/>
          <p:nvPr/>
        </p:nvSpPr>
        <p:spPr>
          <a:xfrm>
            <a:off x="2295144"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50" name="Shape 48"/>
          <p:cNvSpPr/>
          <p:nvPr/>
        </p:nvSpPr>
        <p:spPr>
          <a:xfrm>
            <a:off x="2587752"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51" name="Shape 49"/>
          <p:cNvSpPr/>
          <p:nvPr/>
        </p:nvSpPr>
        <p:spPr>
          <a:xfrm>
            <a:off x="2880360"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52" name="Shape 50"/>
          <p:cNvSpPr/>
          <p:nvPr/>
        </p:nvSpPr>
        <p:spPr>
          <a:xfrm>
            <a:off x="3172968"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53" name="Shape 51"/>
          <p:cNvSpPr/>
          <p:nvPr/>
        </p:nvSpPr>
        <p:spPr>
          <a:xfrm>
            <a:off x="3465576"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54" name="Shape 52"/>
          <p:cNvSpPr/>
          <p:nvPr/>
        </p:nvSpPr>
        <p:spPr>
          <a:xfrm>
            <a:off x="3758184"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55" name="Shape 53"/>
          <p:cNvSpPr/>
          <p:nvPr/>
        </p:nvSpPr>
        <p:spPr>
          <a:xfrm>
            <a:off x="4050792" y="3474720"/>
            <a:ext cx="224028" cy="224028"/>
          </a:xfrm>
          <a:prstGeom prst="rect">
            <a:avLst/>
          </a:prstGeom>
          <a:solidFill>
            <a:srgbClr val="D4D0C6"/>
          </a:solidFill>
          <a:ln w="12700">
            <a:solidFill>
              <a:srgbClr val="D4D0C6"/>
            </a:solidFill>
            <a:prstDash val="solid"/>
          </a:ln>
        </p:spPr>
        <p:txBody>
          <a:bodyPr/>
          <a:lstStyle/>
          <a:p>
            <a:endParaRPr lang="ro-RO"/>
          </a:p>
        </p:txBody>
      </p:sp>
      <p:sp>
        <p:nvSpPr>
          <p:cNvPr id="56" name="Shape 54"/>
          <p:cNvSpPr/>
          <p:nvPr/>
        </p:nvSpPr>
        <p:spPr>
          <a:xfrm>
            <a:off x="1417320"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57" name="Shape 55"/>
          <p:cNvSpPr/>
          <p:nvPr/>
        </p:nvSpPr>
        <p:spPr>
          <a:xfrm>
            <a:off x="1709928"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58" name="Shape 56"/>
          <p:cNvSpPr/>
          <p:nvPr/>
        </p:nvSpPr>
        <p:spPr>
          <a:xfrm>
            <a:off x="2002536"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59" name="Shape 57"/>
          <p:cNvSpPr/>
          <p:nvPr/>
        </p:nvSpPr>
        <p:spPr>
          <a:xfrm>
            <a:off x="2295144"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60" name="Shape 58"/>
          <p:cNvSpPr/>
          <p:nvPr/>
        </p:nvSpPr>
        <p:spPr>
          <a:xfrm>
            <a:off x="2587752"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61" name="Shape 59"/>
          <p:cNvSpPr/>
          <p:nvPr/>
        </p:nvSpPr>
        <p:spPr>
          <a:xfrm>
            <a:off x="2880360"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62" name="Shape 60"/>
          <p:cNvSpPr/>
          <p:nvPr/>
        </p:nvSpPr>
        <p:spPr>
          <a:xfrm>
            <a:off x="3172968"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63" name="Shape 61"/>
          <p:cNvSpPr/>
          <p:nvPr/>
        </p:nvSpPr>
        <p:spPr>
          <a:xfrm>
            <a:off x="3465576"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64" name="Shape 62"/>
          <p:cNvSpPr/>
          <p:nvPr/>
        </p:nvSpPr>
        <p:spPr>
          <a:xfrm>
            <a:off x="3758184"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65" name="Shape 63"/>
          <p:cNvSpPr/>
          <p:nvPr/>
        </p:nvSpPr>
        <p:spPr>
          <a:xfrm>
            <a:off x="4050792" y="3767328"/>
            <a:ext cx="224028" cy="224028"/>
          </a:xfrm>
          <a:prstGeom prst="rect">
            <a:avLst/>
          </a:prstGeom>
          <a:solidFill>
            <a:srgbClr val="D4D0C6"/>
          </a:solidFill>
          <a:ln w="12700">
            <a:solidFill>
              <a:srgbClr val="D4D0C6"/>
            </a:solidFill>
            <a:prstDash val="solid"/>
          </a:ln>
        </p:spPr>
        <p:txBody>
          <a:bodyPr/>
          <a:lstStyle/>
          <a:p>
            <a:endParaRPr lang="ro-RO"/>
          </a:p>
        </p:txBody>
      </p:sp>
      <p:sp>
        <p:nvSpPr>
          <p:cNvPr id="66" name="Shape 64"/>
          <p:cNvSpPr/>
          <p:nvPr/>
        </p:nvSpPr>
        <p:spPr>
          <a:xfrm>
            <a:off x="1417320"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67" name="Shape 65"/>
          <p:cNvSpPr/>
          <p:nvPr/>
        </p:nvSpPr>
        <p:spPr>
          <a:xfrm>
            <a:off x="1709928"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68" name="Shape 66"/>
          <p:cNvSpPr/>
          <p:nvPr/>
        </p:nvSpPr>
        <p:spPr>
          <a:xfrm>
            <a:off x="2002536"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69" name="Shape 67"/>
          <p:cNvSpPr/>
          <p:nvPr/>
        </p:nvSpPr>
        <p:spPr>
          <a:xfrm>
            <a:off x="2295144"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70" name="Shape 68"/>
          <p:cNvSpPr/>
          <p:nvPr/>
        </p:nvSpPr>
        <p:spPr>
          <a:xfrm>
            <a:off x="2587752"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71" name="Shape 69"/>
          <p:cNvSpPr/>
          <p:nvPr/>
        </p:nvSpPr>
        <p:spPr>
          <a:xfrm>
            <a:off x="2880360"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72" name="Shape 70"/>
          <p:cNvSpPr/>
          <p:nvPr/>
        </p:nvSpPr>
        <p:spPr>
          <a:xfrm>
            <a:off x="3172968"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73" name="Shape 71"/>
          <p:cNvSpPr/>
          <p:nvPr/>
        </p:nvSpPr>
        <p:spPr>
          <a:xfrm>
            <a:off x="3465576"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74" name="Shape 72"/>
          <p:cNvSpPr/>
          <p:nvPr/>
        </p:nvSpPr>
        <p:spPr>
          <a:xfrm>
            <a:off x="3758184"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75" name="Shape 73"/>
          <p:cNvSpPr/>
          <p:nvPr/>
        </p:nvSpPr>
        <p:spPr>
          <a:xfrm>
            <a:off x="4050792"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76" name="Shape 74"/>
          <p:cNvSpPr/>
          <p:nvPr/>
        </p:nvSpPr>
        <p:spPr>
          <a:xfrm>
            <a:off x="1417320"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77" name="Shape 75"/>
          <p:cNvSpPr/>
          <p:nvPr/>
        </p:nvSpPr>
        <p:spPr>
          <a:xfrm>
            <a:off x="1709928"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78" name="Shape 76"/>
          <p:cNvSpPr/>
          <p:nvPr/>
        </p:nvSpPr>
        <p:spPr>
          <a:xfrm>
            <a:off x="2002536"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79" name="Shape 77"/>
          <p:cNvSpPr/>
          <p:nvPr/>
        </p:nvSpPr>
        <p:spPr>
          <a:xfrm>
            <a:off x="2295144"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80" name="Shape 78"/>
          <p:cNvSpPr/>
          <p:nvPr/>
        </p:nvSpPr>
        <p:spPr>
          <a:xfrm>
            <a:off x="2587752"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81" name="Shape 79"/>
          <p:cNvSpPr/>
          <p:nvPr/>
        </p:nvSpPr>
        <p:spPr>
          <a:xfrm>
            <a:off x="2880360"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82" name="Shape 80"/>
          <p:cNvSpPr/>
          <p:nvPr/>
        </p:nvSpPr>
        <p:spPr>
          <a:xfrm>
            <a:off x="3172968"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83" name="Shape 81"/>
          <p:cNvSpPr/>
          <p:nvPr/>
        </p:nvSpPr>
        <p:spPr>
          <a:xfrm>
            <a:off x="3465576"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84" name="Shape 82"/>
          <p:cNvSpPr/>
          <p:nvPr/>
        </p:nvSpPr>
        <p:spPr>
          <a:xfrm>
            <a:off x="3758184"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85" name="Shape 83"/>
          <p:cNvSpPr/>
          <p:nvPr/>
        </p:nvSpPr>
        <p:spPr>
          <a:xfrm>
            <a:off x="4050792"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86" name="Shape 84"/>
          <p:cNvSpPr/>
          <p:nvPr/>
        </p:nvSpPr>
        <p:spPr>
          <a:xfrm>
            <a:off x="1417320"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87" name="Shape 85"/>
          <p:cNvSpPr/>
          <p:nvPr/>
        </p:nvSpPr>
        <p:spPr>
          <a:xfrm>
            <a:off x="1709928"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88" name="Shape 86"/>
          <p:cNvSpPr/>
          <p:nvPr/>
        </p:nvSpPr>
        <p:spPr>
          <a:xfrm>
            <a:off x="2002536"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89" name="Shape 87"/>
          <p:cNvSpPr/>
          <p:nvPr/>
        </p:nvSpPr>
        <p:spPr>
          <a:xfrm>
            <a:off x="2295144"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90" name="Shape 88"/>
          <p:cNvSpPr/>
          <p:nvPr/>
        </p:nvSpPr>
        <p:spPr>
          <a:xfrm>
            <a:off x="2587752"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91" name="Shape 89"/>
          <p:cNvSpPr/>
          <p:nvPr/>
        </p:nvSpPr>
        <p:spPr>
          <a:xfrm>
            <a:off x="2880360"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92" name="Shape 90"/>
          <p:cNvSpPr/>
          <p:nvPr/>
        </p:nvSpPr>
        <p:spPr>
          <a:xfrm>
            <a:off x="3172968"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93" name="Shape 91"/>
          <p:cNvSpPr/>
          <p:nvPr/>
        </p:nvSpPr>
        <p:spPr>
          <a:xfrm>
            <a:off x="3465576"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94" name="Shape 92"/>
          <p:cNvSpPr/>
          <p:nvPr/>
        </p:nvSpPr>
        <p:spPr>
          <a:xfrm>
            <a:off x="3758184"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95" name="Shape 93"/>
          <p:cNvSpPr/>
          <p:nvPr/>
        </p:nvSpPr>
        <p:spPr>
          <a:xfrm>
            <a:off x="4050792"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96" name="Shape 94"/>
          <p:cNvSpPr/>
          <p:nvPr/>
        </p:nvSpPr>
        <p:spPr>
          <a:xfrm>
            <a:off x="1417320"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97" name="Shape 95"/>
          <p:cNvSpPr/>
          <p:nvPr/>
        </p:nvSpPr>
        <p:spPr>
          <a:xfrm>
            <a:off x="1709928"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98" name="Shape 96"/>
          <p:cNvSpPr/>
          <p:nvPr/>
        </p:nvSpPr>
        <p:spPr>
          <a:xfrm>
            <a:off x="2002536"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99" name="Shape 97"/>
          <p:cNvSpPr/>
          <p:nvPr/>
        </p:nvSpPr>
        <p:spPr>
          <a:xfrm>
            <a:off x="2295144"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100" name="Shape 98"/>
          <p:cNvSpPr/>
          <p:nvPr/>
        </p:nvSpPr>
        <p:spPr>
          <a:xfrm>
            <a:off x="2587752"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101" name="Shape 99"/>
          <p:cNvSpPr/>
          <p:nvPr/>
        </p:nvSpPr>
        <p:spPr>
          <a:xfrm>
            <a:off x="2880360"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102" name="Shape 100"/>
          <p:cNvSpPr/>
          <p:nvPr/>
        </p:nvSpPr>
        <p:spPr>
          <a:xfrm>
            <a:off x="3172968"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103" name="Shape 101"/>
          <p:cNvSpPr/>
          <p:nvPr/>
        </p:nvSpPr>
        <p:spPr>
          <a:xfrm>
            <a:off x="3465576"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104" name="Shape 102"/>
          <p:cNvSpPr/>
          <p:nvPr/>
        </p:nvSpPr>
        <p:spPr>
          <a:xfrm>
            <a:off x="3758184"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105" name="Shape 103"/>
          <p:cNvSpPr/>
          <p:nvPr/>
        </p:nvSpPr>
        <p:spPr>
          <a:xfrm>
            <a:off x="4050792"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106" name="Text 104"/>
          <p:cNvSpPr/>
          <p:nvPr/>
        </p:nvSpPr>
        <p:spPr>
          <a:xfrm>
            <a:off x="914400" y="5413248"/>
            <a:ext cx="4846320" cy="310896"/>
          </a:xfrm>
          <a:prstGeom prst="rect">
            <a:avLst/>
          </a:prstGeom>
          <a:noFill/>
          <a:ln/>
        </p:spPr>
        <p:txBody>
          <a:bodyPr wrap="square" lIns="0" tIns="0" rIns="0" bIns="0" rtlCol="0" anchor="ctr"/>
          <a:lstStyle/>
          <a:p>
            <a:pPr marL="0" indent="0">
              <a:buNone/>
            </a:pPr>
            <a:r>
              <a:rPr lang="en-US" sz="1350" b="1" dirty="0">
                <a:solidFill>
                  <a:srgbClr val="0E7C6B"/>
                </a:solidFill>
                <a:latin typeface="Palatino Linotype" pitchFamily="34" charset="0"/>
                <a:ea typeface="Palatino Linotype" pitchFamily="34" charset="-122"/>
                <a:cs typeface="Palatino Linotype" pitchFamily="34" charset="-120"/>
              </a:rPr>
              <a:t>9 din 100 ar dezvolta dependență (proiecție, SUA).</a:t>
            </a:r>
            <a:endParaRPr lang="en-US" sz="1350" dirty="0"/>
          </a:p>
        </p:txBody>
      </p:sp>
      <p:sp>
        <p:nvSpPr>
          <p:cNvPr id="107" name="Shape 105"/>
          <p:cNvSpPr/>
          <p:nvPr/>
        </p:nvSpPr>
        <p:spPr>
          <a:xfrm>
            <a:off x="6309360" y="1755648"/>
            <a:ext cx="5257800" cy="4160520"/>
          </a:xfrm>
          <a:prstGeom prst="roundRect">
            <a:avLst>
              <a:gd name="adj" fmla="val 1978"/>
            </a:avLst>
          </a:prstGeom>
          <a:solidFill>
            <a:srgbClr val="ECEAE4"/>
          </a:solidFill>
          <a:ln w="12700">
            <a:solidFill>
              <a:srgbClr val="ECEAE4"/>
            </a:solidFill>
            <a:prstDash val="solid"/>
          </a:ln>
        </p:spPr>
        <p:txBody>
          <a:bodyPr/>
          <a:lstStyle/>
          <a:p>
            <a:endParaRPr lang="ro-RO"/>
          </a:p>
        </p:txBody>
      </p:sp>
      <p:sp>
        <p:nvSpPr>
          <p:cNvPr id="108" name="Text 106"/>
          <p:cNvSpPr/>
          <p:nvPr/>
        </p:nvSpPr>
        <p:spPr>
          <a:xfrm>
            <a:off x="6629400" y="1920240"/>
            <a:ext cx="4663440" cy="292608"/>
          </a:xfrm>
          <a:prstGeom prst="rect">
            <a:avLst/>
          </a:prstGeom>
          <a:noFill/>
          <a:ln/>
        </p:spPr>
        <p:txBody>
          <a:bodyPr wrap="square" lIns="0" tIns="0" rIns="0" bIns="0" rtlCol="0" anchor="ctr"/>
          <a:lstStyle/>
          <a:p>
            <a:pPr marL="0" indent="0">
              <a:buNone/>
            </a:pPr>
            <a:r>
              <a:rPr lang="en-US" sz="1200" b="1" kern="0" spc="200" dirty="0">
                <a:solidFill>
                  <a:srgbClr val="B02532"/>
                </a:solidFill>
                <a:latin typeface="Palatino Linotype" pitchFamily="34" charset="0"/>
                <a:ea typeface="Palatino Linotype" pitchFamily="34" charset="-122"/>
                <a:cs typeface="Palatino Linotype" pitchFamily="34" charset="-120"/>
              </a:rPr>
              <a:t>NICOTINĂ</a:t>
            </a:r>
            <a:endParaRPr lang="en-US" sz="1200" dirty="0"/>
          </a:p>
        </p:txBody>
      </p:sp>
      <p:sp>
        <p:nvSpPr>
          <p:cNvPr id="109" name="Shape 107"/>
          <p:cNvSpPr/>
          <p:nvPr/>
        </p:nvSpPr>
        <p:spPr>
          <a:xfrm>
            <a:off x="7059168"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0" name="Shape 108"/>
          <p:cNvSpPr/>
          <p:nvPr/>
        </p:nvSpPr>
        <p:spPr>
          <a:xfrm>
            <a:off x="7351776"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1" name="Shape 109"/>
          <p:cNvSpPr/>
          <p:nvPr/>
        </p:nvSpPr>
        <p:spPr>
          <a:xfrm>
            <a:off x="7644384"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2" name="Shape 110"/>
          <p:cNvSpPr/>
          <p:nvPr/>
        </p:nvSpPr>
        <p:spPr>
          <a:xfrm>
            <a:off x="7936992"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3" name="Shape 111"/>
          <p:cNvSpPr/>
          <p:nvPr/>
        </p:nvSpPr>
        <p:spPr>
          <a:xfrm>
            <a:off x="8229600"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4" name="Shape 112"/>
          <p:cNvSpPr/>
          <p:nvPr/>
        </p:nvSpPr>
        <p:spPr>
          <a:xfrm>
            <a:off x="8522208"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5" name="Shape 113"/>
          <p:cNvSpPr/>
          <p:nvPr/>
        </p:nvSpPr>
        <p:spPr>
          <a:xfrm>
            <a:off x="8814816"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6" name="Shape 114"/>
          <p:cNvSpPr/>
          <p:nvPr/>
        </p:nvSpPr>
        <p:spPr>
          <a:xfrm>
            <a:off x="9107424"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7" name="Shape 115"/>
          <p:cNvSpPr/>
          <p:nvPr/>
        </p:nvSpPr>
        <p:spPr>
          <a:xfrm>
            <a:off x="9400032"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8" name="Shape 116"/>
          <p:cNvSpPr/>
          <p:nvPr/>
        </p:nvSpPr>
        <p:spPr>
          <a:xfrm>
            <a:off x="9692640" y="2304288"/>
            <a:ext cx="224028" cy="224028"/>
          </a:xfrm>
          <a:prstGeom prst="rect">
            <a:avLst/>
          </a:prstGeom>
          <a:solidFill>
            <a:srgbClr val="B02532"/>
          </a:solidFill>
          <a:ln w="12700">
            <a:solidFill>
              <a:srgbClr val="B02532"/>
            </a:solidFill>
            <a:prstDash val="solid"/>
          </a:ln>
        </p:spPr>
        <p:txBody>
          <a:bodyPr/>
          <a:lstStyle/>
          <a:p>
            <a:endParaRPr lang="ro-RO"/>
          </a:p>
        </p:txBody>
      </p:sp>
      <p:sp>
        <p:nvSpPr>
          <p:cNvPr id="119" name="Shape 117"/>
          <p:cNvSpPr/>
          <p:nvPr/>
        </p:nvSpPr>
        <p:spPr>
          <a:xfrm>
            <a:off x="7059168"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0" name="Shape 118"/>
          <p:cNvSpPr/>
          <p:nvPr/>
        </p:nvSpPr>
        <p:spPr>
          <a:xfrm>
            <a:off x="7351776"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1" name="Shape 119"/>
          <p:cNvSpPr/>
          <p:nvPr/>
        </p:nvSpPr>
        <p:spPr>
          <a:xfrm>
            <a:off x="7644384"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2" name="Shape 120"/>
          <p:cNvSpPr/>
          <p:nvPr/>
        </p:nvSpPr>
        <p:spPr>
          <a:xfrm>
            <a:off x="7936992"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3" name="Shape 121"/>
          <p:cNvSpPr/>
          <p:nvPr/>
        </p:nvSpPr>
        <p:spPr>
          <a:xfrm>
            <a:off x="8229600"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4" name="Shape 122"/>
          <p:cNvSpPr/>
          <p:nvPr/>
        </p:nvSpPr>
        <p:spPr>
          <a:xfrm>
            <a:off x="8522208"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5" name="Shape 123"/>
          <p:cNvSpPr/>
          <p:nvPr/>
        </p:nvSpPr>
        <p:spPr>
          <a:xfrm>
            <a:off x="8814816"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6" name="Shape 124"/>
          <p:cNvSpPr/>
          <p:nvPr/>
        </p:nvSpPr>
        <p:spPr>
          <a:xfrm>
            <a:off x="9107424"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7" name="Shape 125"/>
          <p:cNvSpPr/>
          <p:nvPr/>
        </p:nvSpPr>
        <p:spPr>
          <a:xfrm>
            <a:off x="9400032"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8" name="Shape 126"/>
          <p:cNvSpPr/>
          <p:nvPr/>
        </p:nvSpPr>
        <p:spPr>
          <a:xfrm>
            <a:off x="9692640" y="2596896"/>
            <a:ext cx="224028" cy="224028"/>
          </a:xfrm>
          <a:prstGeom prst="rect">
            <a:avLst/>
          </a:prstGeom>
          <a:solidFill>
            <a:srgbClr val="B02532"/>
          </a:solidFill>
          <a:ln w="12700">
            <a:solidFill>
              <a:srgbClr val="B02532"/>
            </a:solidFill>
            <a:prstDash val="solid"/>
          </a:ln>
        </p:spPr>
        <p:txBody>
          <a:bodyPr/>
          <a:lstStyle/>
          <a:p>
            <a:endParaRPr lang="ro-RO"/>
          </a:p>
        </p:txBody>
      </p:sp>
      <p:sp>
        <p:nvSpPr>
          <p:cNvPr id="129" name="Shape 127"/>
          <p:cNvSpPr/>
          <p:nvPr/>
        </p:nvSpPr>
        <p:spPr>
          <a:xfrm>
            <a:off x="7059168"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0" name="Shape 128"/>
          <p:cNvSpPr/>
          <p:nvPr/>
        </p:nvSpPr>
        <p:spPr>
          <a:xfrm>
            <a:off x="7351776"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1" name="Shape 129"/>
          <p:cNvSpPr/>
          <p:nvPr/>
        </p:nvSpPr>
        <p:spPr>
          <a:xfrm>
            <a:off x="7644384"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2" name="Shape 130"/>
          <p:cNvSpPr/>
          <p:nvPr/>
        </p:nvSpPr>
        <p:spPr>
          <a:xfrm>
            <a:off x="7936992"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3" name="Shape 131"/>
          <p:cNvSpPr/>
          <p:nvPr/>
        </p:nvSpPr>
        <p:spPr>
          <a:xfrm>
            <a:off x="8229600"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4" name="Shape 132"/>
          <p:cNvSpPr/>
          <p:nvPr/>
        </p:nvSpPr>
        <p:spPr>
          <a:xfrm>
            <a:off x="8522208"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5" name="Shape 133"/>
          <p:cNvSpPr/>
          <p:nvPr/>
        </p:nvSpPr>
        <p:spPr>
          <a:xfrm>
            <a:off x="8814816"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6" name="Shape 134"/>
          <p:cNvSpPr/>
          <p:nvPr/>
        </p:nvSpPr>
        <p:spPr>
          <a:xfrm>
            <a:off x="9107424"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7" name="Shape 135"/>
          <p:cNvSpPr/>
          <p:nvPr/>
        </p:nvSpPr>
        <p:spPr>
          <a:xfrm>
            <a:off x="9400032"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8" name="Shape 136"/>
          <p:cNvSpPr/>
          <p:nvPr/>
        </p:nvSpPr>
        <p:spPr>
          <a:xfrm>
            <a:off x="9692640" y="2889504"/>
            <a:ext cx="224028" cy="224028"/>
          </a:xfrm>
          <a:prstGeom prst="rect">
            <a:avLst/>
          </a:prstGeom>
          <a:solidFill>
            <a:srgbClr val="B02532"/>
          </a:solidFill>
          <a:ln w="12700">
            <a:solidFill>
              <a:srgbClr val="B02532"/>
            </a:solidFill>
            <a:prstDash val="solid"/>
          </a:ln>
        </p:spPr>
        <p:txBody>
          <a:bodyPr/>
          <a:lstStyle/>
          <a:p>
            <a:endParaRPr lang="ro-RO"/>
          </a:p>
        </p:txBody>
      </p:sp>
      <p:sp>
        <p:nvSpPr>
          <p:cNvPr id="139" name="Shape 137"/>
          <p:cNvSpPr/>
          <p:nvPr/>
        </p:nvSpPr>
        <p:spPr>
          <a:xfrm>
            <a:off x="7059168"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0" name="Shape 138"/>
          <p:cNvSpPr/>
          <p:nvPr/>
        </p:nvSpPr>
        <p:spPr>
          <a:xfrm>
            <a:off x="7351776"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1" name="Shape 139"/>
          <p:cNvSpPr/>
          <p:nvPr/>
        </p:nvSpPr>
        <p:spPr>
          <a:xfrm>
            <a:off x="7644384"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2" name="Shape 140"/>
          <p:cNvSpPr/>
          <p:nvPr/>
        </p:nvSpPr>
        <p:spPr>
          <a:xfrm>
            <a:off x="7936992"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3" name="Shape 141"/>
          <p:cNvSpPr/>
          <p:nvPr/>
        </p:nvSpPr>
        <p:spPr>
          <a:xfrm>
            <a:off x="8229600"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4" name="Shape 142"/>
          <p:cNvSpPr/>
          <p:nvPr/>
        </p:nvSpPr>
        <p:spPr>
          <a:xfrm>
            <a:off x="8522208"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5" name="Shape 143"/>
          <p:cNvSpPr/>
          <p:nvPr/>
        </p:nvSpPr>
        <p:spPr>
          <a:xfrm>
            <a:off x="8814816"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6" name="Shape 144"/>
          <p:cNvSpPr/>
          <p:nvPr/>
        </p:nvSpPr>
        <p:spPr>
          <a:xfrm>
            <a:off x="9107424"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7" name="Shape 145"/>
          <p:cNvSpPr/>
          <p:nvPr/>
        </p:nvSpPr>
        <p:spPr>
          <a:xfrm>
            <a:off x="9400032"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8" name="Shape 146"/>
          <p:cNvSpPr/>
          <p:nvPr/>
        </p:nvSpPr>
        <p:spPr>
          <a:xfrm>
            <a:off x="9692640" y="3182112"/>
            <a:ext cx="224028" cy="224028"/>
          </a:xfrm>
          <a:prstGeom prst="rect">
            <a:avLst/>
          </a:prstGeom>
          <a:solidFill>
            <a:srgbClr val="B02532"/>
          </a:solidFill>
          <a:ln w="12700">
            <a:solidFill>
              <a:srgbClr val="B02532"/>
            </a:solidFill>
            <a:prstDash val="solid"/>
          </a:ln>
        </p:spPr>
        <p:txBody>
          <a:bodyPr/>
          <a:lstStyle/>
          <a:p>
            <a:endParaRPr lang="ro-RO"/>
          </a:p>
        </p:txBody>
      </p:sp>
      <p:sp>
        <p:nvSpPr>
          <p:cNvPr id="149" name="Shape 147"/>
          <p:cNvSpPr/>
          <p:nvPr/>
        </p:nvSpPr>
        <p:spPr>
          <a:xfrm>
            <a:off x="7059168"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0" name="Shape 148"/>
          <p:cNvSpPr/>
          <p:nvPr/>
        </p:nvSpPr>
        <p:spPr>
          <a:xfrm>
            <a:off x="7351776"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1" name="Shape 149"/>
          <p:cNvSpPr/>
          <p:nvPr/>
        </p:nvSpPr>
        <p:spPr>
          <a:xfrm>
            <a:off x="7644384"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2" name="Shape 150"/>
          <p:cNvSpPr/>
          <p:nvPr/>
        </p:nvSpPr>
        <p:spPr>
          <a:xfrm>
            <a:off x="7936992"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3" name="Shape 151"/>
          <p:cNvSpPr/>
          <p:nvPr/>
        </p:nvSpPr>
        <p:spPr>
          <a:xfrm>
            <a:off x="8229600"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4" name="Shape 152"/>
          <p:cNvSpPr/>
          <p:nvPr/>
        </p:nvSpPr>
        <p:spPr>
          <a:xfrm>
            <a:off x="8522208"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5" name="Shape 153"/>
          <p:cNvSpPr/>
          <p:nvPr/>
        </p:nvSpPr>
        <p:spPr>
          <a:xfrm>
            <a:off x="8814816"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6" name="Shape 154"/>
          <p:cNvSpPr/>
          <p:nvPr/>
        </p:nvSpPr>
        <p:spPr>
          <a:xfrm>
            <a:off x="9107424"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7" name="Shape 155"/>
          <p:cNvSpPr/>
          <p:nvPr/>
        </p:nvSpPr>
        <p:spPr>
          <a:xfrm>
            <a:off x="9400032"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8" name="Shape 156"/>
          <p:cNvSpPr/>
          <p:nvPr/>
        </p:nvSpPr>
        <p:spPr>
          <a:xfrm>
            <a:off x="9692640" y="3474720"/>
            <a:ext cx="224028" cy="224028"/>
          </a:xfrm>
          <a:prstGeom prst="rect">
            <a:avLst/>
          </a:prstGeom>
          <a:solidFill>
            <a:srgbClr val="B02532"/>
          </a:solidFill>
          <a:ln w="12700">
            <a:solidFill>
              <a:srgbClr val="B02532"/>
            </a:solidFill>
            <a:prstDash val="solid"/>
          </a:ln>
        </p:spPr>
        <p:txBody>
          <a:bodyPr/>
          <a:lstStyle/>
          <a:p>
            <a:endParaRPr lang="ro-RO"/>
          </a:p>
        </p:txBody>
      </p:sp>
      <p:sp>
        <p:nvSpPr>
          <p:cNvPr id="159" name="Shape 157"/>
          <p:cNvSpPr/>
          <p:nvPr/>
        </p:nvSpPr>
        <p:spPr>
          <a:xfrm>
            <a:off x="7059168"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0" name="Shape 158"/>
          <p:cNvSpPr/>
          <p:nvPr/>
        </p:nvSpPr>
        <p:spPr>
          <a:xfrm>
            <a:off x="7351776"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1" name="Shape 159"/>
          <p:cNvSpPr/>
          <p:nvPr/>
        </p:nvSpPr>
        <p:spPr>
          <a:xfrm>
            <a:off x="7644384"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2" name="Shape 160"/>
          <p:cNvSpPr/>
          <p:nvPr/>
        </p:nvSpPr>
        <p:spPr>
          <a:xfrm>
            <a:off x="7936992"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3" name="Shape 161"/>
          <p:cNvSpPr/>
          <p:nvPr/>
        </p:nvSpPr>
        <p:spPr>
          <a:xfrm>
            <a:off x="8229600"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4" name="Shape 162"/>
          <p:cNvSpPr/>
          <p:nvPr/>
        </p:nvSpPr>
        <p:spPr>
          <a:xfrm>
            <a:off x="8522208"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5" name="Shape 163"/>
          <p:cNvSpPr/>
          <p:nvPr/>
        </p:nvSpPr>
        <p:spPr>
          <a:xfrm>
            <a:off x="8814816"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6" name="Shape 164"/>
          <p:cNvSpPr/>
          <p:nvPr/>
        </p:nvSpPr>
        <p:spPr>
          <a:xfrm>
            <a:off x="9107424"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7" name="Shape 165"/>
          <p:cNvSpPr/>
          <p:nvPr/>
        </p:nvSpPr>
        <p:spPr>
          <a:xfrm>
            <a:off x="9400032"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8" name="Shape 166"/>
          <p:cNvSpPr/>
          <p:nvPr/>
        </p:nvSpPr>
        <p:spPr>
          <a:xfrm>
            <a:off x="9692640" y="3767328"/>
            <a:ext cx="224028" cy="224028"/>
          </a:xfrm>
          <a:prstGeom prst="rect">
            <a:avLst/>
          </a:prstGeom>
          <a:solidFill>
            <a:srgbClr val="B02532"/>
          </a:solidFill>
          <a:ln w="12700">
            <a:solidFill>
              <a:srgbClr val="B02532"/>
            </a:solidFill>
            <a:prstDash val="solid"/>
          </a:ln>
        </p:spPr>
        <p:txBody>
          <a:bodyPr/>
          <a:lstStyle/>
          <a:p>
            <a:endParaRPr lang="ro-RO"/>
          </a:p>
        </p:txBody>
      </p:sp>
      <p:sp>
        <p:nvSpPr>
          <p:cNvPr id="169" name="Shape 167"/>
          <p:cNvSpPr/>
          <p:nvPr/>
        </p:nvSpPr>
        <p:spPr>
          <a:xfrm>
            <a:off x="7059168" y="4059936"/>
            <a:ext cx="224028" cy="224028"/>
          </a:xfrm>
          <a:prstGeom prst="rect">
            <a:avLst/>
          </a:prstGeom>
          <a:solidFill>
            <a:srgbClr val="B02532"/>
          </a:solidFill>
          <a:ln w="12700">
            <a:solidFill>
              <a:srgbClr val="B02532"/>
            </a:solidFill>
            <a:prstDash val="solid"/>
          </a:ln>
        </p:spPr>
        <p:txBody>
          <a:bodyPr/>
          <a:lstStyle/>
          <a:p>
            <a:endParaRPr lang="ro-RO"/>
          </a:p>
        </p:txBody>
      </p:sp>
      <p:sp>
        <p:nvSpPr>
          <p:cNvPr id="170" name="Shape 168"/>
          <p:cNvSpPr/>
          <p:nvPr/>
        </p:nvSpPr>
        <p:spPr>
          <a:xfrm>
            <a:off x="7351776" y="4059936"/>
            <a:ext cx="224028" cy="224028"/>
          </a:xfrm>
          <a:prstGeom prst="rect">
            <a:avLst/>
          </a:prstGeom>
          <a:solidFill>
            <a:srgbClr val="B02532"/>
          </a:solidFill>
          <a:ln w="12700">
            <a:solidFill>
              <a:srgbClr val="B02532"/>
            </a:solidFill>
            <a:prstDash val="solid"/>
          </a:ln>
        </p:spPr>
        <p:txBody>
          <a:bodyPr/>
          <a:lstStyle/>
          <a:p>
            <a:endParaRPr lang="ro-RO"/>
          </a:p>
        </p:txBody>
      </p:sp>
      <p:sp>
        <p:nvSpPr>
          <p:cNvPr id="171" name="Shape 169"/>
          <p:cNvSpPr/>
          <p:nvPr/>
        </p:nvSpPr>
        <p:spPr>
          <a:xfrm>
            <a:off x="7644384" y="4059936"/>
            <a:ext cx="224028" cy="224028"/>
          </a:xfrm>
          <a:prstGeom prst="rect">
            <a:avLst/>
          </a:prstGeom>
          <a:solidFill>
            <a:srgbClr val="B02532"/>
          </a:solidFill>
          <a:ln w="12700">
            <a:solidFill>
              <a:srgbClr val="B02532"/>
            </a:solidFill>
            <a:prstDash val="solid"/>
          </a:ln>
        </p:spPr>
        <p:txBody>
          <a:bodyPr/>
          <a:lstStyle/>
          <a:p>
            <a:endParaRPr lang="ro-RO"/>
          </a:p>
        </p:txBody>
      </p:sp>
      <p:sp>
        <p:nvSpPr>
          <p:cNvPr id="172" name="Shape 170"/>
          <p:cNvSpPr/>
          <p:nvPr/>
        </p:nvSpPr>
        <p:spPr>
          <a:xfrm>
            <a:off x="7936992" y="4059936"/>
            <a:ext cx="224028" cy="224028"/>
          </a:xfrm>
          <a:prstGeom prst="rect">
            <a:avLst/>
          </a:prstGeom>
          <a:solidFill>
            <a:srgbClr val="B02532"/>
          </a:solidFill>
          <a:ln w="12700">
            <a:solidFill>
              <a:srgbClr val="B02532"/>
            </a:solidFill>
            <a:prstDash val="solid"/>
          </a:ln>
        </p:spPr>
        <p:txBody>
          <a:bodyPr/>
          <a:lstStyle/>
          <a:p>
            <a:endParaRPr lang="ro-RO"/>
          </a:p>
        </p:txBody>
      </p:sp>
      <p:sp>
        <p:nvSpPr>
          <p:cNvPr id="173" name="Shape 171"/>
          <p:cNvSpPr/>
          <p:nvPr/>
        </p:nvSpPr>
        <p:spPr>
          <a:xfrm>
            <a:off x="8229600" y="4059936"/>
            <a:ext cx="224028" cy="224028"/>
          </a:xfrm>
          <a:prstGeom prst="rect">
            <a:avLst/>
          </a:prstGeom>
          <a:solidFill>
            <a:srgbClr val="B02532"/>
          </a:solidFill>
          <a:ln w="12700">
            <a:solidFill>
              <a:srgbClr val="B02532"/>
            </a:solidFill>
            <a:prstDash val="solid"/>
          </a:ln>
        </p:spPr>
        <p:txBody>
          <a:bodyPr/>
          <a:lstStyle/>
          <a:p>
            <a:endParaRPr lang="ro-RO"/>
          </a:p>
        </p:txBody>
      </p:sp>
      <p:sp>
        <p:nvSpPr>
          <p:cNvPr id="174" name="Shape 172"/>
          <p:cNvSpPr/>
          <p:nvPr/>
        </p:nvSpPr>
        <p:spPr>
          <a:xfrm>
            <a:off x="8522208" y="4059936"/>
            <a:ext cx="224028" cy="224028"/>
          </a:xfrm>
          <a:prstGeom prst="rect">
            <a:avLst/>
          </a:prstGeom>
          <a:solidFill>
            <a:srgbClr val="B02532"/>
          </a:solidFill>
          <a:ln w="12700">
            <a:solidFill>
              <a:srgbClr val="B02532"/>
            </a:solidFill>
            <a:prstDash val="solid"/>
          </a:ln>
        </p:spPr>
        <p:txBody>
          <a:bodyPr/>
          <a:lstStyle/>
          <a:p>
            <a:endParaRPr lang="ro-RO"/>
          </a:p>
        </p:txBody>
      </p:sp>
      <p:sp>
        <p:nvSpPr>
          <p:cNvPr id="175" name="Shape 173"/>
          <p:cNvSpPr/>
          <p:nvPr/>
        </p:nvSpPr>
        <p:spPr>
          <a:xfrm>
            <a:off x="8814816" y="4059936"/>
            <a:ext cx="224028" cy="224028"/>
          </a:xfrm>
          <a:prstGeom prst="rect">
            <a:avLst/>
          </a:prstGeom>
          <a:solidFill>
            <a:srgbClr val="B02532"/>
          </a:solidFill>
          <a:ln w="12700">
            <a:solidFill>
              <a:srgbClr val="B02532"/>
            </a:solidFill>
            <a:prstDash val="solid"/>
          </a:ln>
        </p:spPr>
        <p:txBody>
          <a:bodyPr/>
          <a:lstStyle/>
          <a:p>
            <a:endParaRPr lang="ro-RO"/>
          </a:p>
        </p:txBody>
      </p:sp>
      <p:sp>
        <p:nvSpPr>
          <p:cNvPr id="176" name="Shape 174"/>
          <p:cNvSpPr/>
          <p:nvPr/>
        </p:nvSpPr>
        <p:spPr>
          <a:xfrm>
            <a:off x="9107424" y="4059936"/>
            <a:ext cx="224028" cy="224028"/>
          </a:xfrm>
          <a:prstGeom prst="rect">
            <a:avLst/>
          </a:prstGeom>
          <a:solidFill>
            <a:srgbClr val="B02532"/>
          </a:solidFill>
          <a:ln w="12700">
            <a:solidFill>
              <a:srgbClr val="B02532"/>
            </a:solidFill>
            <a:prstDash val="solid"/>
          </a:ln>
        </p:spPr>
        <p:txBody>
          <a:bodyPr/>
          <a:lstStyle/>
          <a:p>
            <a:endParaRPr lang="ro-RO"/>
          </a:p>
        </p:txBody>
      </p:sp>
      <p:sp>
        <p:nvSpPr>
          <p:cNvPr id="177" name="Shape 175"/>
          <p:cNvSpPr/>
          <p:nvPr/>
        </p:nvSpPr>
        <p:spPr>
          <a:xfrm>
            <a:off x="9400032"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178" name="Shape 176"/>
          <p:cNvSpPr/>
          <p:nvPr/>
        </p:nvSpPr>
        <p:spPr>
          <a:xfrm>
            <a:off x="9692640" y="4059936"/>
            <a:ext cx="224028" cy="224028"/>
          </a:xfrm>
          <a:prstGeom prst="rect">
            <a:avLst/>
          </a:prstGeom>
          <a:solidFill>
            <a:srgbClr val="D4D0C6"/>
          </a:solidFill>
          <a:ln w="12700">
            <a:solidFill>
              <a:srgbClr val="D4D0C6"/>
            </a:solidFill>
            <a:prstDash val="solid"/>
          </a:ln>
        </p:spPr>
        <p:txBody>
          <a:bodyPr/>
          <a:lstStyle/>
          <a:p>
            <a:endParaRPr lang="ro-RO"/>
          </a:p>
        </p:txBody>
      </p:sp>
      <p:sp>
        <p:nvSpPr>
          <p:cNvPr id="179" name="Shape 177"/>
          <p:cNvSpPr/>
          <p:nvPr/>
        </p:nvSpPr>
        <p:spPr>
          <a:xfrm>
            <a:off x="7059168"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0" name="Shape 178"/>
          <p:cNvSpPr/>
          <p:nvPr/>
        </p:nvSpPr>
        <p:spPr>
          <a:xfrm>
            <a:off x="7351776"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1" name="Shape 179"/>
          <p:cNvSpPr/>
          <p:nvPr/>
        </p:nvSpPr>
        <p:spPr>
          <a:xfrm>
            <a:off x="7644384"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2" name="Shape 180"/>
          <p:cNvSpPr/>
          <p:nvPr/>
        </p:nvSpPr>
        <p:spPr>
          <a:xfrm>
            <a:off x="7936992"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3" name="Shape 181"/>
          <p:cNvSpPr/>
          <p:nvPr/>
        </p:nvSpPr>
        <p:spPr>
          <a:xfrm>
            <a:off x="8229600"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4" name="Shape 182"/>
          <p:cNvSpPr/>
          <p:nvPr/>
        </p:nvSpPr>
        <p:spPr>
          <a:xfrm>
            <a:off x="8522208"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5" name="Shape 183"/>
          <p:cNvSpPr/>
          <p:nvPr/>
        </p:nvSpPr>
        <p:spPr>
          <a:xfrm>
            <a:off x="8814816"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6" name="Shape 184"/>
          <p:cNvSpPr/>
          <p:nvPr/>
        </p:nvSpPr>
        <p:spPr>
          <a:xfrm>
            <a:off x="9107424"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7" name="Shape 185"/>
          <p:cNvSpPr/>
          <p:nvPr/>
        </p:nvSpPr>
        <p:spPr>
          <a:xfrm>
            <a:off x="9400032"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8" name="Shape 186"/>
          <p:cNvSpPr/>
          <p:nvPr/>
        </p:nvSpPr>
        <p:spPr>
          <a:xfrm>
            <a:off x="9692640" y="4352544"/>
            <a:ext cx="224028" cy="224028"/>
          </a:xfrm>
          <a:prstGeom prst="rect">
            <a:avLst/>
          </a:prstGeom>
          <a:solidFill>
            <a:srgbClr val="D4D0C6"/>
          </a:solidFill>
          <a:ln w="12700">
            <a:solidFill>
              <a:srgbClr val="D4D0C6"/>
            </a:solidFill>
            <a:prstDash val="solid"/>
          </a:ln>
        </p:spPr>
        <p:txBody>
          <a:bodyPr/>
          <a:lstStyle/>
          <a:p>
            <a:endParaRPr lang="ro-RO"/>
          </a:p>
        </p:txBody>
      </p:sp>
      <p:sp>
        <p:nvSpPr>
          <p:cNvPr id="189" name="Shape 187"/>
          <p:cNvSpPr/>
          <p:nvPr/>
        </p:nvSpPr>
        <p:spPr>
          <a:xfrm>
            <a:off x="7059168"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0" name="Shape 188"/>
          <p:cNvSpPr/>
          <p:nvPr/>
        </p:nvSpPr>
        <p:spPr>
          <a:xfrm>
            <a:off x="7351776"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1" name="Shape 189"/>
          <p:cNvSpPr/>
          <p:nvPr/>
        </p:nvSpPr>
        <p:spPr>
          <a:xfrm>
            <a:off x="7644384"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2" name="Shape 190"/>
          <p:cNvSpPr/>
          <p:nvPr/>
        </p:nvSpPr>
        <p:spPr>
          <a:xfrm>
            <a:off x="7936992"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3" name="Shape 191"/>
          <p:cNvSpPr/>
          <p:nvPr/>
        </p:nvSpPr>
        <p:spPr>
          <a:xfrm>
            <a:off x="8229600"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4" name="Shape 192"/>
          <p:cNvSpPr/>
          <p:nvPr/>
        </p:nvSpPr>
        <p:spPr>
          <a:xfrm>
            <a:off x="8522208"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5" name="Shape 193"/>
          <p:cNvSpPr/>
          <p:nvPr/>
        </p:nvSpPr>
        <p:spPr>
          <a:xfrm>
            <a:off x="8814816"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6" name="Shape 194"/>
          <p:cNvSpPr/>
          <p:nvPr/>
        </p:nvSpPr>
        <p:spPr>
          <a:xfrm>
            <a:off x="9107424"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7" name="Shape 195"/>
          <p:cNvSpPr/>
          <p:nvPr/>
        </p:nvSpPr>
        <p:spPr>
          <a:xfrm>
            <a:off x="9400032"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8" name="Shape 196"/>
          <p:cNvSpPr/>
          <p:nvPr/>
        </p:nvSpPr>
        <p:spPr>
          <a:xfrm>
            <a:off x="9692640" y="4645152"/>
            <a:ext cx="224028" cy="224028"/>
          </a:xfrm>
          <a:prstGeom prst="rect">
            <a:avLst/>
          </a:prstGeom>
          <a:solidFill>
            <a:srgbClr val="D4D0C6"/>
          </a:solidFill>
          <a:ln w="12700">
            <a:solidFill>
              <a:srgbClr val="D4D0C6"/>
            </a:solidFill>
            <a:prstDash val="solid"/>
          </a:ln>
        </p:spPr>
        <p:txBody>
          <a:bodyPr/>
          <a:lstStyle/>
          <a:p>
            <a:endParaRPr lang="ro-RO"/>
          </a:p>
        </p:txBody>
      </p:sp>
      <p:sp>
        <p:nvSpPr>
          <p:cNvPr id="199" name="Shape 197"/>
          <p:cNvSpPr/>
          <p:nvPr/>
        </p:nvSpPr>
        <p:spPr>
          <a:xfrm>
            <a:off x="7059168"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0" name="Shape 198"/>
          <p:cNvSpPr/>
          <p:nvPr/>
        </p:nvSpPr>
        <p:spPr>
          <a:xfrm>
            <a:off x="7351776"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1" name="Shape 199"/>
          <p:cNvSpPr/>
          <p:nvPr/>
        </p:nvSpPr>
        <p:spPr>
          <a:xfrm>
            <a:off x="7644384"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2" name="Shape 200"/>
          <p:cNvSpPr/>
          <p:nvPr/>
        </p:nvSpPr>
        <p:spPr>
          <a:xfrm>
            <a:off x="7936992"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3" name="Shape 201"/>
          <p:cNvSpPr/>
          <p:nvPr/>
        </p:nvSpPr>
        <p:spPr>
          <a:xfrm>
            <a:off x="8229600"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4" name="Shape 202"/>
          <p:cNvSpPr/>
          <p:nvPr/>
        </p:nvSpPr>
        <p:spPr>
          <a:xfrm>
            <a:off x="8522208"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5" name="Shape 203"/>
          <p:cNvSpPr/>
          <p:nvPr/>
        </p:nvSpPr>
        <p:spPr>
          <a:xfrm>
            <a:off x="8814816"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6" name="Shape 204"/>
          <p:cNvSpPr/>
          <p:nvPr/>
        </p:nvSpPr>
        <p:spPr>
          <a:xfrm>
            <a:off x="9107424"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7" name="Shape 205"/>
          <p:cNvSpPr/>
          <p:nvPr/>
        </p:nvSpPr>
        <p:spPr>
          <a:xfrm>
            <a:off x="9400032"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8" name="Shape 206"/>
          <p:cNvSpPr/>
          <p:nvPr/>
        </p:nvSpPr>
        <p:spPr>
          <a:xfrm>
            <a:off x="9692640" y="4937760"/>
            <a:ext cx="224028" cy="224028"/>
          </a:xfrm>
          <a:prstGeom prst="rect">
            <a:avLst/>
          </a:prstGeom>
          <a:solidFill>
            <a:srgbClr val="D4D0C6"/>
          </a:solidFill>
          <a:ln w="12700">
            <a:solidFill>
              <a:srgbClr val="D4D0C6"/>
            </a:solidFill>
            <a:prstDash val="solid"/>
          </a:ln>
        </p:spPr>
        <p:txBody>
          <a:bodyPr/>
          <a:lstStyle/>
          <a:p>
            <a:endParaRPr lang="ro-RO"/>
          </a:p>
        </p:txBody>
      </p:sp>
      <p:sp>
        <p:nvSpPr>
          <p:cNvPr id="209" name="Text 207"/>
          <p:cNvSpPr/>
          <p:nvPr/>
        </p:nvSpPr>
        <p:spPr>
          <a:xfrm>
            <a:off x="6629400" y="5413248"/>
            <a:ext cx="4663440" cy="310896"/>
          </a:xfrm>
          <a:prstGeom prst="rect">
            <a:avLst/>
          </a:prstGeom>
          <a:noFill/>
          <a:ln/>
        </p:spPr>
        <p:txBody>
          <a:bodyPr wrap="square" lIns="0" tIns="0" rIns="0" bIns="0" rtlCol="0" anchor="ctr"/>
          <a:lstStyle/>
          <a:p>
            <a:pPr marL="0" indent="0">
              <a:buNone/>
            </a:pPr>
            <a:r>
              <a:rPr lang="en-US" sz="1350" b="1" dirty="0">
                <a:solidFill>
                  <a:srgbClr val="B02532"/>
                </a:solidFill>
                <a:latin typeface="Palatino Linotype" pitchFamily="34" charset="0"/>
                <a:ea typeface="Palatino Linotype" pitchFamily="34" charset="-122"/>
                <a:cs typeface="Palatino Linotype" pitchFamily="34" charset="-120"/>
              </a:rPr>
              <a:t>68 din 100 ar dezvolta dependență (proiecție, SUA).</a:t>
            </a:r>
            <a:endParaRPr lang="en-US" sz="1350" dirty="0"/>
          </a:p>
        </p:txBody>
      </p:sp>
      <p:sp>
        <p:nvSpPr>
          <p:cNvPr id="210" name="Text 208"/>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Lopez-Quintero și colab., Drug Alcohol Depend, 2011 · valori rotunjite la întreg: 8,9% → 9 și 67,5% → 68</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REMISIA</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Remisia este evoluția cea mai frecventă (proiecții, SUA)</a:t>
            </a:r>
            <a:endParaRPr lang="en-US" sz="3000" dirty="0"/>
          </a:p>
        </p:txBody>
      </p:sp>
      <p:sp>
        <p:nvSpPr>
          <p:cNvPr id="4" name="Shape 2"/>
          <p:cNvSpPr/>
          <p:nvPr/>
        </p:nvSpPr>
        <p:spPr>
          <a:xfrm>
            <a:off x="594360" y="1810512"/>
            <a:ext cx="2697480" cy="1572768"/>
          </a:xfrm>
          <a:prstGeom prst="roundRect">
            <a:avLst>
              <a:gd name="adj" fmla="val 5233"/>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850392" y="2011680"/>
            <a:ext cx="2185416" cy="658368"/>
          </a:xfrm>
          <a:prstGeom prst="rect">
            <a:avLst/>
          </a:prstGeom>
          <a:noFill/>
          <a:ln/>
        </p:spPr>
        <p:txBody>
          <a:bodyPr wrap="square" lIns="0" tIns="0" rIns="0" bIns="0" rtlCol="0" anchor="ctr"/>
          <a:lstStyle/>
          <a:p>
            <a:pPr marL="0" indent="0">
              <a:buNone/>
            </a:pPr>
            <a:r>
              <a:rPr lang="en-US" sz="4000" b="1" dirty="0">
                <a:solidFill>
                  <a:srgbClr val="27D3BE"/>
                </a:solidFill>
                <a:latin typeface="Palatino Linotype" pitchFamily="34" charset="0"/>
                <a:ea typeface="Palatino Linotype" pitchFamily="34" charset="-122"/>
                <a:cs typeface="Palatino Linotype" pitchFamily="34" charset="-120"/>
              </a:rPr>
              <a:t>83,7%</a:t>
            </a:r>
            <a:endParaRPr lang="en-US" sz="4600" dirty="0"/>
          </a:p>
        </p:txBody>
      </p:sp>
      <p:sp>
        <p:nvSpPr>
          <p:cNvPr id="6" name="Text 4"/>
          <p:cNvSpPr/>
          <p:nvPr/>
        </p:nvSpPr>
        <p:spPr>
          <a:xfrm>
            <a:off x="850392" y="2688336"/>
            <a:ext cx="2185416" cy="54864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nicotină</a:t>
            </a:r>
            <a:endParaRPr lang="en-US" sz="1150" dirty="0"/>
          </a:p>
        </p:txBody>
      </p:sp>
      <p:sp>
        <p:nvSpPr>
          <p:cNvPr id="7" name="Shape 5"/>
          <p:cNvSpPr/>
          <p:nvPr/>
        </p:nvSpPr>
        <p:spPr>
          <a:xfrm>
            <a:off x="3456432" y="1810512"/>
            <a:ext cx="2697480" cy="1572768"/>
          </a:xfrm>
          <a:prstGeom prst="roundRect">
            <a:avLst>
              <a:gd name="adj" fmla="val 5233"/>
            </a:avLst>
          </a:prstGeom>
          <a:solidFill>
            <a:srgbClr val="1D1F2B"/>
          </a:solidFill>
          <a:ln w="12700">
            <a:solidFill>
              <a:srgbClr val="1D1F2B"/>
            </a:solidFill>
            <a:prstDash val="solid"/>
          </a:ln>
        </p:spPr>
        <p:txBody>
          <a:bodyPr/>
          <a:lstStyle/>
          <a:p>
            <a:endParaRPr lang="ro-RO"/>
          </a:p>
        </p:txBody>
      </p:sp>
      <p:sp>
        <p:nvSpPr>
          <p:cNvPr id="8" name="Text 6"/>
          <p:cNvSpPr/>
          <p:nvPr/>
        </p:nvSpPr>
        <p:spPr>
          <a:xfrm>
            <a:off x="3712464" y="2011680"/>
            <a:ext cx="2185416" cy="658368"/>
          </a:xfrm>
          <a:prstGeom prst="rect">
            <a:avLst/>
          </a:prstGeom>
          <a:noFill/>
          <a:ln/>
        </p:spPr>
        <p:txBody>
          <a:bodyPr wrap="square" lIns="0" tIns="0" rIns="0" bIns="0" rtlCol="0" anchor="ctr"/>
          <a:lstStyle/>
          <a:p>
            <a:pPr marL="0" indent="0">
              <a:buNone/>
            </a:pPr>
            <a:r>
              <a:rPr lang="en-US" sz="4000" b="1" dirty="0">
                <a:solidFill>
                  <a:srgbClr val="27D3BE"/>
                </a:solidFill>
                <a:latin typeface="Palatino Linotype" pitchFamily="34" charset="0"/>
                <a:ea typeface="Palatino Linotype" pitchFamily="34" charset="-122"/>
                <a:cs typeface="Palatino Linotype" pitchFamily="34" charset="-120"/>
              </a:rPr>
              <a:t>90,6%</a:t>
            </a:r>
            <a:endParaRPr lang="en-US" sz="4600" dirty="0"/>
          </a:p>
        </p:txBody>
      </p:sp>
      <p:sp>
        <p:nvSpPr>
          <p:cNvPr id="9" name="Text 7"/>
          <p:cNvSpPr/>
          <p:nvPr/>
        </p:nvSpPr>
        <p:spPr>
          <a:xfrm>
            <a:off x="3712464" y="2688336"/>
            <a:ext cx="2185416" cy="54864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alcool</a:t>
            </a:r>
            <a:endParaRPr lang="en-US" sz="1150" dirty="0"/>
          </a:p>
        </p:txBody>
      </p:sp>
      <p:sp>
        <p:nvSpPr>
          <p:cNvPr id="10" name="Shape 8"/>
          <p:cNvSpPr/>
          <p:nvPr/>
        </p:nvSpPr>
        <p:spPr>
          <a:xfrm>
            <a:off x="6318504" y="1810512"/>
            <a:ext cx="2697480" cy="1572768"/>
          </a:xfrm>
          <a:prstGeom prst="roundRect">
            <a:avLst>
              <a:gd name="adj" fmla="val 5233"/>
            </a:avLst>
          </a:prstGeom>
          <a:solidFill>
            <a:srgbClr val="1D1F2B"/>
          </a:solidFill>
          <a:ln w="12700">
            <a:solidFill>
              <a:srgbClr val="1D1F2B"/>
            </a:solidFill>
            <a:prstDash val="solid"/>
          </a:ln>
        </p:spPr>
        <p:txBody>
          <a:bodyPr/>
          <a:lstStyle/>
          <a:p>
            <a:endParaRPr lang="ro-RO"/>
          </a:p>
        </p:txBody>
      </p:sp>
      <p:sp>
        <p:nvSpPr>
          <p:cNvPr id="11" name="Text 9"/>
          <p:cNvSpPr/>
          <p:nvPr/>
        </p:nvSpPr>
        <p:spPr>
          <a:xfrm>
            <a:off x="6574536" y="2011680"/>
            <a:ext cx="2185416" cy="658368"/>
          </a:xfrm>
          <a:prstGeom prst="rect">
            <a:avLst/>
          </a:prstGeom>
          <a:noFill/>
          <a:ln/>
        </p:spPr>
        <p:txBody>
          <a:bodyPr wrap="square" lIns="0" tIns="0" rIns="0" bIns="0" rtlCol="0" anchor="ctr"/>
          <a:lstStyle/>
          <a:p>
            <a:pPr marL="0" indent="0">
              <a:buNone/>
            </a:pPr>
            <a:r>
              <a:rPr lang="en-US" sz="4000" b="1" dirty="0">
                <a:solidFill>
                  <a:srgbClr val="27D3BE"/>
                </a:solidFill>
                <a:latin typeface="Palatino Linotype" pitchFamily="34" charset="0"/>
                <a:ea typeface="Palatino Linotype" pitchFamily="34" charset="-122"/>
                <a:cs typeface="Palatino Linotype" pitchFamily="34" charset="-120"/>
              </a:rPr>
              <a:t>97,2%</a:t>
            </a:r>
            <a:endParaRPr lang="en-US" sz="4600" dirty="0"/>
          </a:p>
        </p:txBody>
      </p:sp>
      <p:sp>
        <p:nvSpPr>
          <p:cNvPr id="12" name="Text 10"/>
          <p:cNvSpPr/>
          <p:nvPr/>
        </p:nvSpPr>
        <p:spPr>
          <a:xfrm>
            <a:off x="6574536" y="2688336"/>
            <a:ext cx="2185416" cy="54864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canabis</a:t>
            </a:r>
            <a:endParaRPr lang="en-US" sz="1150" dirty="0"/>
          </a:p>
        </p:txBody>
      </p:sp>
      <p:sp>
        <p:nvSpPr>
          <p:cNvPr id="13" name="Shape 11"/>
          <p:cNvSpPr/>
          <p:nvPr/>
        </p:nvSpPr>
        <p:spPr>
          <a:xfrm>
            <a:off x="9180576" y="1810512"/>
            <a:ext cx="2386584" cy="1572768"/>
          </a:xfrm>
          <a:prstGeom prst="roundRect">
            <a:avLst>
              <a:gd name="adj" fmla="val 5233"/>
            </a:avLst>
          </a:prstGeom>
          <a:solidFill>
            <a:srgbClr val="1D1F2B"/>
          </a:solidFill>
          <a:ln w="12700">
            <a:solidFill>
              <a:srgbClr val="1D1F2B"/>
            </a:solidFill>
            <a:prstDash val="solid"/>
          </a:ln>
        </p:spPr>
        <p:txBody>
          <a:bodyPr/>
          <a:lstStyle/>
          <a:p>
            <a:endParaRPr lang="ro-RO"/>
          </a:p>
        </p:txBody>
      </p:sp>
      <p:sp>
        <p:nvSpPr>
          <p:cNvPr id="14" name="Text 12"/>
          <p:cNvSpPr/>
          <p:nvPr/>
        </p:nvSpPr>
        <p:spPr>
          <a:xfrm>
            <a:off x="9436608" y="2011680"/>
            <a:ext cx="1874520" cy="658368"/>
          </a:xfrm>
          <a:prstGeom prst="rect">
            <a:avLst/>
          </a:prstGeom>
          <a:noFill/>
          <a:ln/>
        </p:spPr>
        <p:txBody>
          <a:bodyPr wrap="square" lIns="0" tIns="0" rIns="0" bIns="0" rtlCol="0" anchor="ctr"/>
          <a:lstStyle/>
          <a:p>
            <a:pPr marL="0" indent="0">
              <a:buNone/>
            </a:pPr>
            <a:r>
              <a:rPr lang="en-US" sz="4000" b="1" dirty="0">
                <a:solidFill>
                  <a:srgbClr val="27D3BE"/>
                </a:solidFill>
                <a:latin typeface="Palatino Linotype" pitchFamily="34" charset="0"/>
                <a:ea typeface="Palatino Linotype" pitchFamily="34" charset="-122"/>
                <a:cs typeface="Palatino Linotype" pitchFamily="34" charset="-120"/>
              </a:rPr>
              <a:t>99,2%</a:t>
            </a:r>
            <a:endParaRPr lang="en-US" sz="4600" dirty="0"/>
          </a:p>
        </p:txBody>
      </p:sp>
      <p:sp>
        <p:nvSpPr>
          <p:cNvPr id="15" name="Text 13"/>
          <p:cNvSpPr/>
          <p:nvPr/>
        </p:nvSpPr>
        <p:spPr>
          <a:xfrm>
            <a:off x="9436608" y="2688336"/>
            <a:ext cx="1874520" cy="548640"/>
          </a:xfrm>
          <a:prstGeom prst="rect">
            <a:avLst/>
          </a:prstGeom>
          <a:noFill/>
          <a:ln/>
        </p:spPr>
        <p:txBody>
          <a:bodyPr wrap="square" lIns="0" tIns="0" rIns="0" bIns="0" rtlCol="0" anchor="t"/>
          <a:lstStyle/>
          <a:p>
            <a:pPr marL="0" indent="0">
              <a:lnSpc>
                <a:spcPts val="1700"/>
              </a:lnSpc>
              <a:buNone/>
            </a:pPr>
            <a:r>
              <a:rPr lang="en-US" sz="1150" dirty="0">
                <a:solidFill>
                  <a:srgbClr val="959BB0"/>
                </a:solidFill>
                <a:latin typeface="Palatino Linotype" pitchFamily="34" charset="0"/>
                <a:ea typeface="Palatino Linotype" pitchFamily="34" charset="-122"/>
                <a:cs typeface="Palatino Linotype" pitchFamily="34" charset="-120"/>
              </a:rPr>
              <a:t>cocaină</a:t>
            </a:r>
            <a:endParaRPr lang="en-US" sz="1150" dirty="0"/>
          </a:p>
        </p:txBody>
      </p:sp>
      <p:sp>
        <p:nvSpPr>
          <p:cNvPr id="16" name="Text 14"/>
          <p:cNvSpPr/>
          <p:nvPr/>
        </p:nvSpPr>
        <p:spPr>
          <a:xfrm>
            <a:off x="594360" y="3529584"/>
            <a:ext cx="10972800" cy="347472"/>
          </a:xfrm>
          <a:prstGeom prst="rect">
            <a:avLst/>
          </a:prstGeom>
          <a:noFill/>
          <a:ln/>
        </p:spPr>
        <p:txBody>
          <a:bodyPr wrap="square" lIns="0" tIns="0" rIns="0" bIns="0" rtlCol="0" anchor="ctr"/>
          <a:lstStyle/>
          <a:p>
            <a:pPr marL="0" indent="0">
              <a:buNone/>
            </a:pPr>
            <a:r>
              <a:rPr lang="en-US" sz="1200" dirty="0">
                <a:solidFill>
                  <a:srgbClr val="959BB0"/>
                </a:solidFill>
                <a:latin typeface="Palatino Linotype" pitchFamily="34" charset="0"/>
                <a:ea typeface="Palatino Linotype" pitchFamily="34" charset="-122"/>
                <a:cs typeface="Palatino Linotype" pitchFamily="34" charset="-120"/>
              </a:rPr>
              <a:t>Remisie = dispariția criteriilor, nu neapărat abstinența. La 10 ani: 18,4% (nicotină) · 37,4% · 66,2% · 75,8%; mediană ≈ 26 · 14 · 6 · 5 ani.</a:t>
            </a:r>
            <a:endParaRPr lang="en-US" sz="1300" dirty="0"/>
          </a:p>
        </p:txBody>
      </p:sp>
      <p:sp>
        <p:nvSpPr>
          <p:cNvPr id="17" name="Shape 15"/>
          <p:cNvSpPr/>
          <p:nvPr/>
        </p:nvSpPr>
        <p:spPr>
          <a:xfrm>
            <a:off x="594360" y="4005072"/>
            <a:ext cx="10972800" cy="932688"/>
          </a:xfrm>
          <a:prstGeom prst="roundRect">
            <a:avLst>
              <a:gd name="adj" fmla="val 8824"/>
            </a:avLst>
          </a:prstGeom>
          <a:solidFill>
            <a:srgbClr val="272A38"/>
          </a:solidFill>
          <a:ln w="12700">
            <a:solidFill>
              <a:srgbClr val="272A38"/>
            </a:solidFill>
            <a:prstDash val="solid"/>
          </a:ln>
        </p:spPr>
        <p:txBody>
          <a:bodyPr/>
          <a:lstStyle/>
          <a:p>
            <a:endParaRPr lang="ro-RO"/>
          </a:p>
        </p:txBody>
      </p:sp>
      <p:sp>
        <p:nvSpPr>
          <p:cNvPr id="18" name="Text 16"/>
          <p:cNvSpPr/>
          <p:nvPr/>
        </p:nvSpPr>
        <p:spPr>
          <a:xfrm>
            <a:off x="960120" y="4005072"/>
            <a:ext cx="10241280" cy="932688"/>
          </a:xfrm>
          <a:prstGeom prst="rect">
            <a:avLst/>
          </a:prstGeom>
          <a:noFill/>
          <a:ln/>
        </p:spPr>
        <p:txBody>
          <a:bodyPr wrap="square" lIns="0" tIns="0" rIns="0" bIns="0" rtlCol="0" anchor="ctr"/>
          <a:lstStyle/>
          <a:p>
            <a:pPr marL="0" indent="0">
              <a:lnSpc>
                <a:spcPts val="2100"/>
              </a:lnSpc>
              <a:buNone/>
            </a:pPr>
            <a:r>
              <a:rPr lang="en-US" sz="1350" dirty="0">
                <a:solidFill>
                  <a:srgbClr val="FFFFFF"/>
                </a:solidFill>
                <a:latin typeface="Palatino Linotype" pitchFamily="34" charset="0"/>
                <a:ea typeface="Palatino Linotype" pitchFamily="34" charset="-122"/>
                <a:cs typeface="Palatino Linotype" pitchFamily="34" charset="-120"/>
              </a:rPr>
              <a:t>Heyman a reanalizat aceleași date NESARC (nu e o confirmare independentă): timp de înjumătățire de 4 ani la cocaină, 6 la canabis, 16 la alcool. Mulți trec prin perioade de remisie și de recădere (Volkow și Blanco, 2023).</a:t>
            </a:r>
            <a:endParaRPr lang="en-US" sz="1350" dirty="0"/>
          </a:p>
        </p:txBody>
      </p:sp>
      <p:sp>
        <p:nvSpPr>
          <p:cNvPr id="19" name="Shape 17"/>
          <p:cNvSpPr/>
          <p:nvPr/>
        </p:nvSpPr>
        <p:spPr>
          <a:xfrm>
            <a:off x="594360" y="5120640"/>
            <a:ext cx="10972800" cy="896112"/>
          </a:xfrm>
          <a:prstGeom prst="roundRect">
            <a:avLst>
              <a:gd name="adj" fmla="val 9184"/>
            </a:avLst>
          </a:prstGeom>
          <a:solidFill>
            <a:srgbClr val="3A2E12"/>
          </a:solidFill>
          <a:ln w="12700">
            <a:solidFill>
              <a:srgbClr val="3A2E12"/>
            </a:solidFill>
            <a:prstDash val="solid"/>
          </a:ln>
        </p:spPr>
        <p:txBody>
          <a:bodyPr/>
          <a:lstStyle/>
          <a:p>
            <a:endParaRPr lang="ro-RO"/>
          </a:p>
        </p:txBody>
      </p:sp>
      <p:sp>
        <p:nvSpPr>
          <p:cNvPr id="20" name="Shape 18"/>
          <p:cNvSpPr/>
          <p:nvPr/>
        </p:nvSpPr>
        <p:spPr>
          <a:xfrm>
            <a:off x="594360" y="5120640"/>
            <a:ext cx="50292" cy="896112"/>
          </a:xfrm>
          <a:prstGeom prst="rect">
            <a:avLst/>
          </a:prstGeom>
          <a:solidFill>
            <a:srgbClr val="FFC24B"/>
          </a:solidFill>
          <a:ln w="12700">
            <a:solidFill>
              <a:srgbClr val="FFC24B"/>
            </a:solidFill>
            <a:prstDash val="solid"/>
          </a:ln>
        </p:spPr>
        <p:txBody>
          <a:bodyPr/>
          <a:lstStyle/>
          <a:p>
            <a:endParaRPr lang="ro-RO"/>
          </a:p>
        </p:txBody>
      </p:sp>
      <p:sp>
        <p:nvSpPr>
          <p:cNvPr id="21" name="Text 19"/>
          <p:cNvSpPr/>
          <p:nvPr/>
        </p:nvSpPr>
        <p:spPr>
          <a:xfrm>
            <a:off x="960120" y="5120640"/>
            <a:ext cx="10241280" cy="896112"/>
          </a:xfrm>
          <a:prstGeom prst="rect">
            <a:avLst/>
          </a:prstGeom>
          <a:noFill/>
          <a:ln/>
        </p:spPr>
        <p:txBody>
          <a:bodyPr wrap="square" lIns="0" tIns="0" rIns="0" bIns="0" rtlCol="0" anchor="ctr"/>
          <a:lstStyle/>
          <a:p>
            <a:pPr marL="0" indent="0">
              <a:lnSpc>
                <a:spcPts val="1800"/>
              </a:lnSpc>
              <a:buNone/>
            </a:pPr>
            <a:r>
              <a:rPr lang="en-US" sz="1200" dirty="0">
                <a:solidFill>
                  <a:srgbClr val="FFC24B"/>
                </a:solidFill>
                <a:latin typeface="Palatino Linotype" pitchFamily="34" charset="0"/>
                <a:ea typeface="Palatino Linotype" pitchFamily="34" charset="-122"/>
                <a:cs typeface="Palatino Linotype" pitchFamily="34" charset="-120"/>
              </a:rPr>
              <a:t>Valorile sunt verificate în textul integral (manuscrisul de autor din PMC). Ponderea remisiilor fără tratament nu a fost verificată și nu se afișează.</a:t>
            </a:r>
            <a:endParaRPr lang="en-US" sz="1200" dirty="0"/>
          </a:p>
        </p:txBody>
      </p:sp>
      <p:sp>
        <p:nvSpPr>
          <p:cNvPr id="22" name="Text 20"/>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Lopez-Quintero și colab., Addiction, 2011 · Heyman, Front Psychiatry, 2013 · Volkow și Blanco, World Psychiatry, 2023</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AICI SE ÎNCHIDE ARGUMENTUL</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Trei ierarhii care nu coincid</a:t>
            </a:r>
            <a:endParaRPr lang="en-US" sz="3000" dirty="0"/>
          </a:p>
        </p:txBody>
      </p:sp>
      <p:sp>
        <p:nvSpPr>
          <p:cNvPr id="4" name="Shape 2"/>
          <p:cNvSpPr/>
          <p:nvPr/>
        </p:nvSpPr>
        <p:spPr>
          <a:xfrm>
            <a:off x="594360" y="1755648"/>
            <a:ext cx="3429000" cy="3794760"/>
          </a:xfrm>
          <a:prstGeom prst="roundRect">
            <a:avLst>
              <a:gd name="adj" fmla="val 2400"/>
            </a:avLst>
          </a:prstGeom>
          <a:solidFill>
            <a:srgbClr val="ECEAE4"/>
          </a:solidFill>
          <a:ln w="12700">
            <a:solidFill>
              <a:srgbClr val="ECEAE4"/>
            </a:solidFill>
            <a:prstDash val="solid"/>
          </a:ln>
        </p:spPr>
        <p:txBody>
          <a:bodyPr/>
          <a:lstStyle/>
          <a:p>
            <a:endParaRPr lang="ro-RO"/>
          </a:p>
        </p:txBody>
      </p:sp>
      <p:sp>
        <p:nvSpPr>
          <p:cNvPr id="5" name="Shape 3"/>
          <p:cNvSpPr/>
          <p:nvPr/>
        </p:nvSpPr>
        <p:spPr>
          <a:xfrm>
            <a:off x="594360" y="1755648"/>
            <a:ext cx="3429000" cy="50292"/>
          </a:xfrm>
          <a:prstGeom prst="rect">
            <a:avLst/>
          </a:prstGeom>
          <a:solidFill>
            <a:srgbClr val="0E7C6B"/>
          </a:solidFill>
          <a:ln w="12700">
            <a:solidFill>
              <a:srgbClr val="0E7C6B"/>
            </a:solidFill>
            <a:prstDash val="solid"/>
          </a:ln>
        </p:spPr>
        <p:txBody>
          <a:bodyPr/>
          <a:lstStyle/>
          <a:p>
            <a:endParaRPr lang="ro-RO"/>
          </a:p>
        </p:txBody>
      </p:sp>
      <p:sp>
        <p:nvSpPr>
          <p:cNvPr id="6" name="Text 4"/>
          <p:cNvSpPr/>
          <p:nvPr/>
        </p:nvSpPr>
        <p:spPr>
          <a:xfrm>
            <a:off x="868680" y="1956816"/>
            <a:ext cx="2880360" cy="502920"/>
          </a:xfrm>
          <a:prstGeom prst="rect">
            <a:avLst/>
          </a:prstGeom>
          <a:noFill/>
          <a:ln/>
        </p:spPr>
        <p:txBody>
          <a:bodyPr wrap="square" lIns="0" tIns="0" rIns="0" bIns="0" rtlCol="0" anchor="t"/>
          <a:lstStyle/>
          <a:p>
            <a:pPr marL="0" indent="0">
              <a:lnSpc>
                <a:spcPts val="1500"/>
              </a:lnSpc>
              <a:buNone/>
            </a:pPr>
            <a:r>
              <a:rPr lang="en-US" sz="1050" b="1" kern="0" spc="110" dirty="0">
                <a:solidFill>
                  <a:srgbClr val="0E7C6B"/>
                </a:solidFill>
                <a:latin typeface="Palatino Linotype" pitchFamily="34" charset="0"/>
                <a:ea typeface="Palatino Linotype" pitchFamily="34" charset="-122"/>
                <a:cs typeface="Palatino Linotype" pitchFamily="34" charset="-120"/>
              </a:rPr>
              <a:t>DUPĂ CREȘTEREA DE DOPAMINĂ</a:t>
            </a:r>
            <a:endParaRPr lang="en-US" sz="1050" dirty="0"/>
          </a:p>
        </p:txBody>
      </p:sp>
      <p:sp>
        <p:nvSpPr>
          <p:cNvPr id="7" name="Text 5"/>
          <p:cNvSpPr/>
          <p:nvPr/>
        </p:nvSpPr>
        <p:spPr>
          <a:xfrm>
            <a:off x="868680" y="2505456"/>
            <a:ext cx="2880360" cy="274320"/>
          </a:xfrm>
          <a:prstGeom prst="rect">
            <a:avLst/>
          </a:prstGeom>
          <a:noFill/>
          <a:ln/>
        </p:spPr>
        <p:txBody>
          <a:bodyPr wrap="square" lIns="0" tIns="0" rIns="0" bIns="0" rtlCol="0" anchor="ctr"/>
          <a:lstStyle/>
          <a:p>
            <a:pPr marL="0" indent="0">
              <a:buNone/>
            </a:pPr>
            <a:r>
              <a:rPr lang="en-US" sz="1050" i="1" dirty="0">
                <a:solidFill>
                  <a:srgbClr val="585A64"/>
                </a:solidFill>
                <a:latin typeface="Palatino Linotype" pitchFamily="34" charset="0"/>
                <a:ea typeface="Palatino Linotype" pitchFamily="34" charset="-122"/>
                <a:cs typeface="Palatino Linotype" pitchFamily="34" charset="-120"/>
              </a:rPr>
              <a:t>Di Chiara 1988, doze unice</a:t>
            </a:r>
            <a:endParaRPr lang="en-US" sz="1050" dirty="0"/>
          </a:p>
        </p:txBody>
      </p:sp>
      <p:sp>
        <p:nvSpPr>
          <p:cNvPr id="8" name="Text 6"/>
          <p:cNvSpPr/>
          <p:nvPr/>
        </p:nvSpPr>
        <p:spPr>
          <a:xfrm>
            <a:off x="868680" y="2889504"/>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1</a:t>
            </a:r>
            <a:endParaRPr lang="en-US" sz="1500" dirty="0"/>
          </a:p>
        </p:txBody>
      </p:sp>
      <p:sp>
        <p:nvSpPr>
          <p:cNvPr id="9" name="Text 7"/>
          <p:cNvSpPr/>
          <p:nvPr/>
        </p:nvSpPr>
        <p:spPr>
          <a:xfrm>
            <a:off x="1252728" y="2889504"/>
            <a:ext cx="2514600" cy="457200"/>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Amfetamină   ×10</a:t>
            </a:r>
            <a:endParaRPr lang="en-US" sz="1300" dirty="0"/>
          </a:p>
        </p:txBody>
      </p:sp>
      <p:sp>
        <p:nvSpPr>
          <p:cNvPr id="10" name="Text 8"/>
          <p:cNvSpPr/>
          <p:nvPr/>
        </p:nvSpPr>
        <p:spPr>
          <a:xfrm>
            <a:off x="868680" y="3511296"/>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2</a:t>
            </a:r>
            <a:endParaRPr lang="en-US" sz="1500" dirty="0"/>
          </a:p>
        </p:txBody>
      </p:sp>
      <p:sp>
        <p:nvSpPr>
          <p:cNvPr id="11" name="Text 9"/>
          <p:cNvSpPr/>
          <p:nvPr/>
        </p:nvSpPr>
        <p:spPr>
          <a:xfrm>
            <a:off x="1252728" y="3511296"/>
            <a:ext cx="2514600" cy="45720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Cocaină   ×3,5</a:t>
            </a:r>
            <a:endParaRPr lang="en-US" sz="1300" dirty="0"/>
          </a:p>
        </p:txBody>
      </p:sp>
      <p:sp>
        <p:nvSpPr>
          <p:cNvPr id="12" name="Text 10"/>
          <p:cNvSpPr/>
          <p:nvPr/>
        </p:nvSpPr>
        <p:spPr>
          <a:xfrm>
            <a:off x="868680" y="4133088"/>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3</a:t>
            </a:r>
            <a:endParaRPr lang="en-US" sz="1500" dirty="0"/>
          </a:p>
        </p:txBody>
      </p:sp>
      <p:sp>
        <p:nvSpPr>
          <p:cNvPr id="13" name="Text 11"/>
          <p:cNvSpPr/>
          <p:nvPr/>
        </p:nvSpPr>
        <p:spPr>
          <a:xfrm>
            <a:off x="1252728" y="4133088"/>
            <a:ext cx="2514600" cy="45720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Nicotină   +100%</a:t>
            </a:r>
            <a:endParaRPr lang="en-US" sz="1300" dirty="0"/>
          </a:p>
        </p:txBody>
      </p:sp>
      <p:sp>
        <p:nvSpPr>
          <p:cNvPr id="14" name="Text 12"/>
          <p:cNvSpPr/>
          <p:nvPr/>
        </p:nvSpPr>
        <p:spPr>
          <a:xfrm>
            <a:off x="868680" y="4754880"/>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4</a:t>
            </a:r>
            <a:endParaRPr lang="en-US" sz="1500" dirty="0"/>
          </a:p>
        </p:txBody>
      </p:sp>
      <p:sp>
        <p:nvSpPr>
          <p:cNvPr id="15" name="Text 13"/>
          <p:cNvSpPr/>
          <p:nvPr/>
        </p:nvSpPr>
        <p:spPr>
          <a:xfrm>
            <a:off x="1252728" y="4754880"/>
            <a:ext cx="2514600" cy="45720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THC: 3,7% la om, altă metodă</a:t>
            </a:r>
            <a:endParaRPr lang="en-US" sz="1300" dirty="0"/>
          </a:p>
        </p:txBody>
      </p:sp>
      <p:sp>
        <p:nvSpPr>
          <p:cNvPr id="16" name="Shape 14"/>
          <p:cNvSpPr/>
          <p:nvPr/>
        </p:nvSpPr>
        <p:spPr>
          <a:xfrm>
            <a:off x="4389120" y="1755648"/>
            <a:ext cx="3429000" cy="3794760"/>
          </a:xfrm>
          <a:prstGeom prst="roundRect">
            <a:avLst>
              <a:gd name="adj" fmla="val 2400"/>
            </a:avLst>
          </a:prstGeom>
          <a:solidFill>
            <a:srgbClr val="ECEAE4"/>
          </a:solidFill>
          <a:ln w="12700">
            <a:solidFill>
              <a:srgbClr val="ECEAE4"/>
            </a:solidFill>
            <a:prstDash val="solid"/>
          </a:ln>
        </p:spPr>
        <p:txBody>
          <a:bodyPr/>
          <a:lstStyle/>
          <a:p>
            <a:endParaRPr lang="ro-RO"/>
          </a:p>
        </p:txBody>
      </p:sp>
      <p:sp>
        <p:nvSpPr>
          <p:cNvPr id="17" name="Shape 15"/>
          <p:cNvSpPr/>
          <p:nvPr/>
        </p:nvSpPr>
        <p:spPr>
          <a:xfrm>
            <a:off x="4389120" y="1755648"/>
            <a:ext cx="3429000" cy="50292"/>
          </a:xfrm>
          <a:prstGeom prst="rect">
            <a:avLst/>
          </a:prstGeom>
          <a:solidFill>
            <a:srgbClr val="4A2D8C"/>
          </a:solidFill>
          <a:ln w="12700">
            <a:solidFill>
              <a:srgbClr val="4A2D8C"/>
            </a:solidFill>
            <a:prstDash val="solid"/>
          </a:ln>
        </p:spPr>
        <p:txBody>
          <a:bodyPr/>
          <a:lstStyle/>
          <a:p>
            <a:endParaRPr lang="ro-RO"/>
          </a:p>
        </p:txBody>
      </p:sp>
      <p:sp>
        <p:nvSpPr>
          <p:cNvPr id="18" name="Text 16"/>
          <p:cNvSpPr/>
          <p:nvPr/>
        </p:nvSpPr>
        <p:spPr>
          <a:xfrm>
            <a:off x="4663440" y="1956816"/>
            <a:ext cx="2880360" cy="502920"/>
          </a:xfrm>
          <a:prstGeom prst="rect">
            <a:avLst/>
          </a:prstGeom>
          <a:noFill/>
          <a:ln/>
        </p:spPr>
        <p:txBody>
          <a:bodyPr wrap="square" lIns="0" tIns="0" rIns="0" bIns="0" rtlCol="0" anchor="t"/>
          <a:lstStyle/>
          <a:p>
            <a:pPr marL="0" indent="0">
              <a:lnSpc>
                <a:spcPts val="1500"/>
              </a:lnSpc>
              <a:buNone/>
            </a:pPr>
            <a:r>
              <a:rPr lang="en-US" sz="1050" b="1" kern="0" spc="110" dirty="0">
                <a:solidFill>
                  <a:srgbClr val="4A2D8C"/>
                </a:solidFill>
                <a:latin typeface="Palatino Linotype" pitchFamily="34" charset="0"/>
                <a:ea typeface="Palatino Linotype" pitchFamily="34" charset="-122"/>
                <a:cs typeface="Palatino Linotype" pitchFamily="34" charset="-120"/>
              </a:rPr>
              <a:t>DUPĂ PROBABILITATEA DE DEPENDENȚĂ</a:t>
            </a:r>
            <a:endParaRPr lang="en-US" sz="1050" dirty="0"/>
          </a:p>
        </p:txBody>
      </p:sp>
      <p:sp>
        <p:nvSpPr>
          <p:cNvPr id="19" name="Text 17"/>
          <p:cNvSpPr/>
          <p:nvPr/>
        </p:nvSpPr>
        <p:spPr>
          <a:xfrm>
            <a:off x="4663440" y="2505456"/>
            <a:ext cx="2880360" cy="274320"/>
          </a:xfrm>
          <a:prstGeom prst="rect">
            <a:avLst/>
          </a:prstGeom>
          <a:noFill/>
          <a:ln/>
        </p:spPr>
        <p:txBody>
          <a:bodyPr wrap="square" lIns="0" tIns="0" rIns="0" bIns="0" rtlCol="0" anchor="ctr"/>
          <a:lstStyle/>
          <a:p>
            <a:pPr marL="0" indent="0">
              <a:buNone/>
            </a:pPr>
            <a:r>
              <a:rPr lang="en-US" sz="1050" i="1" dirty="0">
                <a:solidFill>
                  <a:srgbClr val="585A64"/>
                </a:solidFill>
                <a:latin typeface="Palatino Linotype" pitchFamily="34" charset="0"/>
                <a:ea typeface="Palatino Linotype" pitchFamily="34" charset="-122"/>
                <a:cs typeface="Palatino Linotype" pitchFamily="34" charset="-120"/>
              </a:rPr>
              <a:t>Lopez-Quintero 2011</a:t>
            </a:r>
            <a:endParaRPr lang="en-US" sz="1050" dirty="0"/>
          </a:p>
        </p:txBody>
      </p:sp>
      <p:sp>
        <p:nvSpPr>
          <p:cNvPr id="20" name="Text 18"/>
          <p:cNvSpPr/>
          <p:nvPr/>
        </p:nvSpPr>
        <p:spPr>
          <a:xfrm>
            <a:off x="4663440" y="2889504"/>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1</a:t>
            </a:r>
            <a:endParaRPr lang="en-US" sz="1500" dirty="0"/>
          </a:p>
        </p:txBody>
      </p:sp>
      <p:sp>
        <p:nvSpPr>
          <p:cNvPr id="21" name="Text 19"/>
          <p:cNvSpPr/>
          <p:nvPr/>
        </p:nvSpPr>
        <p:spPr>
          <a:xfrm>
            <a:off x="5047488" y="2889504"/>
            <a:ext cx="2514600" cy="457200"/>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Nicotină   67,5%</a:t>
            </a:r>
            <a:endParaRPr lang="en-US" sz="1300" dirty="0"/>
          </a:p>
        </p:txBody>
      </p:sp>
      <p:sp>
        <p:nvSpPr>
          <p:cNvPr id="22" name="Text 20"/>
          <p:cNvSpPr/>
          <p:nvPr/>
        </p:nvSpPr>
        <p:spPr>
          <a:xfrm>
            <a:off x="4663440" y="3511296"/>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2</a:t>
            </a:r>
            <a:endParaRPr lang="en-US" sz="1500" dirty="0"/>
          </a:p>
        </p:txBody>
      </p:sp>
      <p:sp>
        <p:nvSpPr>
          <p:cNvPr id="23" name="Text 21"/>
          <p:cNvSpPr/>
          <p:nvPr/>
        </p:nvSpPr>
        <p:spPr>
          <a:xfrm>
            <a:off x="5047488" y="3511296"/>
            <a:ext cx="2514600" cy="45720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Alcool   22,7%</a:t>
            </a:r>
            <a:endParaRPr lang="en-US" sz="1300" dirty="0"/>
          </a:p>
        </p:txBody>
      </p:sp>
      <p:sp>
        <p:nvSpPr>
          <p:cNvPr id="24" name="Text 22"/>
          <p:cNvSpPr/>
          <p:nvPr/>
        </p:nvSpPr>
        <p:spPr>
          <a:xfrm>
            <a:off x="4663440" y="4133088"/>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3</a:t>
            </a:r>
            <a:endParaRPr lang="en-US" sz="1500" dirty="0"/>
          </a:p>
        </p:txBody>
      </p:sp>
      <p:sp>
        <p:nvSpPr>
          <p:cNvPr id="25" name="Text 23"/>
          <p:cNvSpPr/>
          <p:nvPr/>
        </p:nvSpPr>
        <p:spPr>
          <a:xfrm>
            <a:off x="5047488" y="4133088"/>
            <a:ext cx="2514600" cy="45720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Cocaină   20,9%</a:t>
            </a:r>
            <a:endParaRPr lang="en-US" sz="1300" dirty="0"/>
          </a:p>
        </p:txBody>
      </p:sp>
      <p:sp>
        <p:nvSpPr>
          <p:cNvPr id="26" name="Text 24"/>
          <p:cNvSpPr/>
          <p:nvPr/>
        </p:nvSpPr>
        <p:spPr>
          <a:xfrm>
            <a:off x="4663440" y="4754880"/>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4</a:t>
            </a:r>
            <a:endParaRPr lang="en-US" sz="1500" dirty="0"/>
          </a:p>
        </p:txBody>
      </p:sp>
      <p:sp>
        <p:nvSpPr>
          <p:cNvPr id="27" name="Text 25"/>
          <p:cNvSpPr/>
          <p:nvPr/>
        </p:nvSpPr>
        <p:spPr>
          <a:xfrm>
            <a:off x="5047488" y="4754880"/>
            <a:ext cx="2514600" cy="45720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Canabis   8,9%</a:t>
            </a:r>
            <a:endParaRPr lang="en-US" sz="1300" dirty="0"/>
          </a:p>
        </p:txBody>
      </p:sp>
      <p:sp>
        <p:nvSpPr>
          <p:cNvPr id="28" name="Shape 26"/>
          <p:cNvSpPr/>
          <p:nvPr/>
        </p:nvSpPr>
        <p:spPr>
          <a:xfrm>
            <a:off x="8183880" y="1755648"/>
            <a:ext cx="3429000" cy="3794760"/>
          </a:xfrm>
          <a:prstGeom prst="roundRect">
            <a:avLst>
              <a:gd name="adj" fmla="val 2400"/>
            </a:avLst>
          </a:prstGeom>
          <a:solidFill>
            <a:srgbClr val="ECEAE4"/>
          </a:solidFill>
          <a:ln w="12700">
            <a:solidFill>
              <a:srgbClr val="ECEAE4"/>
            </a:solidFill>
            <a:prstDash val="solid"/>
          </a:ln>
        </p:spPr>
        <p:txBody>
          <a:bodyPr/>
          <a:lstStyle/>
          <a:p>
            <a:endParaRPr lang="ro-RO"/>
          </a:p>
        </p:txBody>
      </p:sp>
      <p:sp>
        <p:nvSpPr>
          <p:cNvPr id="29" name="Shape 27"/>
          <p:cNvSpPr/>
          <p:nvPr/>
        </p:nvSpPr>
        <p:spPr>
          <a:xfrm>
            <a:off x="8183880" y="1755648"/>
            <a:ext cx="3429000" cy="50292"/>
          </a:xfrm>
          <a:prstGeom prst="rect">
            <a:avLst/>
          </a:prstGeom>
          <a:solidFill>
            <a:srgbClr val="B02532"/>
          </a:solidFill>
          <a:ln w="12700">
            <a:solidFill>
              <a:srgbClr val="B02532"/>
            </a:solidFill>
            <a:prstDash val="solid"/>
          </a:ln>
        </p:spPr>
        <p:txBody>
          <a:bodyPr/>
          <a:lstStyle/>
          <a:p>
            <a:endParaRPr lang="ro-RO"/>
          </a:p>
        </p:txBody>
      </p:sp>
      <p:sp>
        <p:nvSpPr>
          <p:cNvPr id="30" name="Text 28"/>
          <p:cNvSpPr/>
          <p:nvPr/>
        </p:nvSpPr>
        <p:spPr>
          <a:xfrm>
            <a:off x="8458200" y="1956816"/>
            <a:ext cx="2880360" cy="502920"/>
          </a:xfrm>
          <a:prstGeom prst="rect">
            <a:avLst/>
          </a:prstGeom>
          <a:noFill/>
          <a:ln/>
        </p:spPr>
        <p:txBody>
          <a:bodyPr wrap="square" lIns="0" tIns="0" rIns="0" bIns="0" rtlCol="0" anchor="t"/>
          <a:lstStyle/>
          <a:p>
            <a:pPr marL="0" indent="0">
              <a:lnSpc>
                <a:spcPts val="1500"/>
              </a:lnSpc>
              <a:buNone/>
            </a:pPr>
            <a:r>
              <a:rPr lang="en-US" sz="1050" b="1" kern="0" spc="110" dirty="0">
                <a:solidFill>
                  <a:srgbClr val="B02532"/>
                </a:solidFill>
                <a:latin typeface="Palatino Linotype" pitchFamily="34" charset="0"/>
                <a:ea typeface="Palatino Linotype" pitchFamily="34" charset="-122"/>
                <a:cs typeface="Palatino Linotype" pitchFamily="34" charset="-120"/>
              </a:rPr>
              <a:t>DUPĂ DAUNA TOTALĂ</a:t>
            </a:r>
            <a:endParaRPr lang="en-US" sz="1050" dirty="0"/>
          </a:p>
        </p:txBody>
      </p:sp>
      <p:sp>
        <p:nvSpPr>
          <p:cNvPr id="31" name="Text 29"/>
          <p:cNvSpPr/>
          <p:nvPr/>
        </p:nvSpPr>
        <p:spPr>
          <a:xfrm>
            <a:off x="8458200" y="2505456"/>
            <a:ext cx="2880360" cy="274320"/>
          </a:xfrm>
          <a:prstGeom prst="rect">
            <a:avLst/>
          </a:prstGeom>
          <a:noFill/>
          <a:ln/>
        </p:spPr>
        <p:txBody>
          <a:bodyPr wrap="square" lIns="0" tIns="0" rIns="0" bIns="0" rtlCol="0" anchor="ctr"/>
          <a:lstStyle/>
          <a:p>
            <a:pPr marL="0" indent="0">
              <a:buNone/>
            </a:pPr>
            <a:r>
              <a:rPr lang="en-US" sz="1050" i="1" dirty="0">
                <a:solidFill>
                  <a:srgbClr val="585A64"/>
                </a:solidFill>
                <a:latin typeface="Palatino Linotype" pitchFamily="34" charset="0"/>
                <a:ea typeface="Palatino Linotype" pitchFamily="34" charset="-122"/>
                <a:cs typeface="Palatino Linotype" pitchFamily="34" charset="-120"/>
              </a:rPr>
              <a:t>Nutt 2010</a:t>
            </a:r>
            <a:endParaRPr lang="en-US" sz="1050" dirty="0"/>
          </a:p>
        </p:txBody>
      </p:sp>
      <p:sp>
        <p:nvSpPr>
          <p:cNvPr id="32" name="Text 30"/>
          <p:cNvSpPr/>
          <p:nvPr/>
        </p:nvSpPr>
        <p:spPr>
          <a:xfrm>
            <a:off x="8458200" y="2889504"/>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1</a:t>
            </a:r>
            <a:endParaRPr lang="en-US" sz="1500" dirty="0"/>
          </a:p>
        </p:txBody>
      </p:sp>
      <p:sp>
        <p:nvSpPr>
          <p:cNvPr id="33" name="Text 31"/>
          <p:cNvSpPr/>
          <p:nvPr/>
        </p:nvSpPr>
        <p:spPr>
          <a:xfrm>
            <a:off x="8842248" y="2889504"/>
            <a:ext cx="2514600" cy="457200"/>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Alcool   72 / 100</a:t>
            </a:r>
            <a:endParaRPr lang="en-US" sz="1300" dirty="0"/>
          </a:p>
        </p:txBody>
      </p:sp>
      <p:sp>
        <p:nvSpPr>
          <p:cNvPr id="34" name="Text 32"/>
          <p:cNvSpPr/>
          <p:nvPr/>
        </p:nvSpPr>
        <p:spPr>
          <a:xfrm>
            <a:off x="8458200" y="3511296"/>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2</a:t>
            </a:r>
            <a:endParaRPr lang="en-US" sz="1500" dirty="0"/>
          </a:p>
        </p:txBody>
      </p:sp>
      <p:sp>
        <p:nvSpPr>
          <p:cNvPr id="35" name="Text 33"/>
          <p:cNvSpPr/>
          <p:nvPr/>
        </p:nvSpPr>
        <p:spPr>
          <a:xfrm>
            <a:off x="8842248" y="3511296"/>
            <a:ext cx="2514600" cy="45720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Heroină   55 / 100</a:t>
            </a:r>
            <a:endParaRPr lang="en-US" sz="1300" dirty="0"/>
          </a:p>
        </p:txBody>
      </p:sp>
      <p:sp>
        <p:nvSpPr>
          <p:cNvPr id="36" name="Text 34"/>
          <p:cNvSpPr/>
          <p:nvPr/>
        </p:nvSpPr>
        <p:spPr>
          <a:xfrm>
            <a:off x="8458200" y="4133088"/>
            <a:ext cx="320040" cy="457200"/>
          </a:xfrm>
          <a:prstGeom prst="rect">
            <a:avLst/>
          </a:prstGeom>
          <a:noFill/>
          <a:ln/>
        </p:spPr>
        <p:txBody>
          <a:bodyPr wrap="square" lIns="0" tIns="0" rIns="0" bIns="0" rtlCol="0" anchor="ctr"/>
          <a:lstStyle/>
          <a:p>
            <a:pPr marL="0" indent="0">
              <a:buNone/>
            </a:pPr>
            <a:r>
              <a:rPr lang="en-US" sz="1500" b="1" dirty="0">
                <a:solidFill>
                  <a:srgbClr val="C4C0B6"/>
                </a:solidFill>
                <a:latin typeface="Palatino Linotype" pitchFamily="34" charset="0"/>
                <a:ea typeface="Palatino Linotype" pitchFamily="34" charset="-122"/>
                <a:cs typeface="Palatino Linotype" pitchFamily="34" charset="-120"/>
              </a:rPr>
              <a:t>3</a:t>
            </a:r>
            <a:endParaRPr lang="en-US" sz="1500" dirty="0"/>
          </a:p>
        </p:txBody>
      </p:sp>
      <p:sp>
        <p:nvSpPr>
          <p:cNvPr id="37" name="Text 35"/>
          <p:cNvSpPr/>
          <p:nvPr/>
        </p:nvSpPr>
        <p:spPr>
          <a:xfrm>
            <a:off x="8842248" y="4133088"/>
            <a:ext cx="2514600" cy="457200"/>
          </a:xfrm>
          <a:prstGeom prst="rect">
            <a:avLst/>
          </a:prstGeom>
          <a:noFill/>
          <a:ln/>
        </p:spPr>
        <p:txBody>
          <a:bodyPr wrap="square" lIns="0" tIns="0" rIns="0" bIns="0" rtlCol="0" anchor="ctr"/>
          <a:lstStyle/>
          <a:p>
            <a:pPr marL="0" indent="0">
              <a:buNone/>
            </a:pPr>
            <a:r>
              <a:rPr lang="en-US" sz="1300" dirty="0">
                <a:solidFill>
                  <a:srgbClr val="11121A"/>
                </a:solidFill>
                <a:latin typeface="Palatino Linotype" pitchFamily="34" charset="0"/>
                <a:ea typeface="Palatino Linotype" pitchFamily="34" charset="-122"/>
                <a:cs typeface="Palatino Linotype" pitchFamily="34" charset="-120"/>
              </a:rPr>
              <a:t>Crack cocaină   54 / 100</a:t>
            </a:r>
            <a:endParaRPr lang="en-US" sz="1300" dirty="0"/>
          </a:p>
        </p:txBody>
      </p:sp>
      <p:sp>
        <p:nvSpPr>
          <p:cNvPr id="38" name="Shape 36"/>
          <p:cNvSpPr/>
          <p:nvPr/>
        </p:nvSpPr>
        <p:spPr>
          <a:xfrm>
            <a:off x="594360" y="5650992"/>
            <a:ext cx="10972800" cy="566928"/>
          </a:xfrm>
          <a:prstGeom prst="roundRect">
            <a:avLst>
              <a:gd name="adj" fmla="val 14516"/>
            </a:avLst>
          </a:prstGeom>
          <a:solidFill>
            <a:srgbClr val="11121A"/>
          </a:solidFill>
          <a:ln w="12700">
            <a:solidFill>
              <a:srgbClr val="11121A"/>
            </a:solidFill>
            <a:prstDash val="solid"/>
          </a:ln>
        </p:spPr>
        <p:txBody>
          <a:bodyPr/>
          <a:lstStyle/>
          <a:p>
            <a:endParaRPr lang="ro-RO"/>
          </a:p>
        </p:txBody>
      </p:sp>
      <p:sp>
        <p:nvSpPr>
          <p:cNvPr id="39" name="Text 37"/>
          <p:cNvSpPr/>
          <p:nvPr/>
        </p:nvSpPr>
        <p:spPr>
          <a:xfrm>
            <a:off x="960120" y="5650992"/>
            <a:ext cx="10241280" cy="566928"/>
          </a:xfrm>
          <a:prstGeom prst="rect">
            <a:avLst/>
          </a:prstGeom>
          <a:noFill/>
          <a:ln/>
        </p:spPr>
        <p:txBody>
          <a:bodyPr wrap="square" lIns="0" tIns="0" rIns="0" bIns="0" rtlCol="0" anchor="ctr"/>
          <a:lstStyle/>
          <a:p>
            <a:pPr marL="0" indent="0">
              <a:buNone/>
            </a:pPr>
            <a:r>
              <a:rPr lang="en-US" sz="1400" b="1" dirty="0">
                <a:solidFill>
                  <a:srgbClr val="FFC24B"/>
                </a:solidFill>
                <a:latin typeface="Palatino Linotype" pitchFamily="34" charset="0"/>
                <a:ea typeface="Palatino Linotype" pitchFamily="34" charset="-122"/>
                <a:cs typeface="Palatino Linotype" pitchFamily="34" charset="-120"/>
              </a:rPr>
              <a:t>Clasamentele nu coincid, iar ordinea depinde de doză, de metodă și de orizontul de timp: în primul an de consum, cocaina 7,1%, nicotina aproape 2,0%.</a:t>
            </a:r>
            <a:endParaRPr lang="en-US" sz="1400" dirty="0"/>
          </a:p>
        </p:txBody>
      </p:sp>
      <p:sp>
        <p:nvSpPr>
          <p:cNvPr id="40" name="Sursa"/>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THC: Bossong și colab., Psychopharmacology, 2015</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9B7EF7"/>
                </a:solidFill>
                <a:latin typeface="Palatino Linotype" pitchFamily="34" charset="0"/>
                <a:ea typeface="Palatino Linotype" pitchFamily="34" charset="-122"/>
                <a:cs typeface="Palatino Linotype" pitchFamily="34" charset="-120"/>
              </a:rPr>
              <a:t>AȚI CREDE ACEST TITLU? · 4 DIN 4</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„Alcoolul, 72 de puncte”</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959BB0"/>
                </a:solidFill>
                <a:latin typeface="Palatino Linotype" pitchFamily="34" charset="0"/>
                <a:ea typeface="Palatino Linotype" pitchFamily="34" charset="-122"/>
                <a:cs typeface="Palatino Linotype" pitchFamily="34" charset="-120"/>
              </a:rPr>
              <a:t>Coloana a treia de pe diapozitivul anterior. Scorul „alcool 72”.</a:t>
            </a:r>
            <a:endParaRPr lang="en-US" sz="1450" dirty="0"/>
          </a:p>
        </p:txBody>
      </p:sp>
      <p:sp>
        <p:nvSpPr>
          <p:cNvPr id="5" name="Shape 3"/>
          <p:cNvSpPr/>
          <p:nvPr/>
        </p:nvSpPr>
        <p:spPr>
          <a:xfrm>
            <a:off x="594360" y="1847088"/>
            <a:ext cx="5120640" cy="3337560"/>
          </a:xfrm>
          <a:prstGeom prst="roundRect">
            <a:avLst>
              <a:gd name="adj" fmla="val 2466"/>
            </a:avLst>
          </a:prstGeom>
          <a:solidFill>
            <a:srgbClr val="1D1F2B"/>
          </a:solidFill>
          <a:ln w="12700">
            <a:solidFill>
              <a:srgbClr val="1D1F2B"/>
            </a:solidFill>
            <a:prstDash val="solid"/>
          </a:ln>
        </p:spPr>
        <p:txBody>
          <a:bodyPr/>
          <a:lstStyle/>
          <a:p>
            <a:endParaRPr lang="ro-RO"/>
          </a:p>
        </p:txBody>
      </p:sp>
      <p:sp>
        <p:nvSpPr>
          <p:cNvPr id="6" name="Text 4"/>
          <p:cNvSpPr/>
          <p:nvPr/>
        </p:nvSpPr>
        <p:spPr>
          <a:xfrm>
            <a:off x="914400" y="2048256"/>
            <a:ext cx="4526280" cy="292608"/>
          </a:xfrm>
          <a:prstGeom prst="rect">
            <a:avLst/>
          </a:prstGeom>
          <a:noFill/>
          <a:ln/>
        </p:spPr>
        <p:txBody>
          <a:bodyPr wrap="square" lIns="0" tIns="0" rIns="0" bIns="0" rtlCol="0" anchor="ctr"/>
          <a:lstStyle/>
          <a:p>
            <a:pPr marL="0" indent="0">
              <a:buNone/>
            </a:pPr>
            <a:r>
              <a:rPr lang="en-US" sz="1050" b="1" kern="0" spc="200" dirty="0">
                <a:solidFill>
                  <a:srgbClr val="FFC24B"/>
                </a:solidFill>
                <a:latin typeface="Palatino Linotype" pitchFamily="34" charset="0"/>
                <a:ea typeface="Palatino Linotype" pitchFamily="34" charset="-122"/>
                <a:cs typeface="Palatino Linotype" pitchFamily="34" charset="-120"/>
              </a:rPr>
              <a:t>CUM A FOST PRODUS</a:t>
            </a:r>
            <a:endParaRPr lang="en-US" sz="1050" dirty="0"/>
          </a:p>
        </p:txBody>
      </p:sp>
      <p:sp>
        <p:nvSpPr>
          <p:cNvPr id="7" name="Text 5"/>
          <p:cNvSpPr/>
          <p:nvPr/>
        </p:nvSpPr>
        <p:spPr>
          <a:xfrm>
            <a:off x="914400" y="2450592"/>
            <a:ext cx="4526280" cy="2468880"/>
          </a:xfrm>
          <a:prstGeom prst="rect">
            <a:avLst/>
          </a:prstGeom>
          <a:noFill/>
          <a:ln/>
        </p:spPr>
        <p:txBody>
          <a:bodyPr wrap="square" lIns="0" tIns="0" rIns="0" bIns="0" rtlCol="0" anchor="t"/>
          <a:lstStyle/>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Un atelier interactiv de O SINGURĂ ZI.</a:t>
            </a:r>
            <a:endParaRPr lang="en-US" sz="1300" dirty="0"/>
          </a:p>
          <a:p>
            <a:pPr marL="0" indent="0">
              <a:lnSpc>
                <a:spcPts val="2100"/>
              </a:lnSpc>
              <a:buNone/>
            </a:pPr>
            <a:endParaRPr lang="en-US" sz="1300" dirty="0"/>
          </a:p>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Membrii Independent Scientific Committee on Drugs plus doi specialiști invitați au punctat 20 de substanțe pe 16 criterii — 9 daune pentru consumator, 7 daune pentru alții — pe o scală din 100, cu criterii ponderate.</a:t>
            </a:r>
            <a:endParaRPr lang="en-US" sz="1300" dirty="0"/>
          </a:p>
        </p:txBody>
      </p:sp>
      <p:sp>
        <p:nvSpPr>
          <p:cNvPr id="8" name="Shape 6"/>
          <p:cNvSpPr/>
          <p:nvPr/>
        </p:nvSpPr>
        <p:spPr>
          <a:xfrm>
            <a:off x="5989320" y="1847088"/>
            <a:ext cx="5577840" cy="3337560"/>
          </a:xfrm>
          <a:prstGeom prst="roundRect">
            <a:avLst>
              <a:gd name="adj" fmla="val 2466"/>
            </a:avLst>
          </a:prstGeom>
          <a:solidFill>
            <a:srgbClr val="272A38"/>
          </a:solidFill>
          <a:ln w="12700">
            <a:solidFill>
              <a:srgbClr val="272A38"/>
            </a:solidFill>
            <a:prstDash val="solid"/>
          </a:ln>
        </p:spPr>
        <p:txBody>
          <a:bodyPr/>
          <a:lstStyle/>
          <a:p>
            <a:endParaRPr lang="ro-RO"/>
          </a:p>
        </p:txBody>
      </p:sp>
      <p:sp>
        <p:nvSpPr>
          <p:cNvPr id="9" name="Text 7"/>
          <p:cNvSpPr/>
          <p:nvPr/>
        </p:nvSpPr>
        <p:spPr>
          <a:xfrm>
            <a:off x="6309360" y="2048256"/>
            <a:ext cx="4983480" cy="292608"/>
          </a:xfrm>
          <a:prstGeom prst="rect">
            <a:avLst/>
          </a:prstGeom>
          <a:noFill/>
          <a:ln/>
        </p:spPr>
        <p:txBody>
          <a:bodyPr wrap="square" lIns="0" tIns="0" rIns="0" bIns="0" rtlCol="0" anchor="ctr"/>
          <a:lstStyle/>
          <a:p>
            <a:pPr marL="0" indent="0">
              <a:buNone/>
            </a:pPr>
            <a:r>
              <a:rPr lang="en-US" sz="1050" b="1" kern="0" spc="200" dirty="0">
                <a:solidFill>
                  <a:srgbClr val="FF4757"/>
                </a:solidFill>
                <a:latin typeface="Palatino Linotype" pitchFamily="34" charset="0"/>
                <a:ea typeface="Palatino Linotype" pitchFamily="34" charset="-122"/>
                <a:cs typeface="Palatino Linotype" pitchFamily="34" charset="-120"/>
              </a:rPr>
              <a:t>CE SUSȚINE O CRITICĂ PUBLICATĂ</a:t>
            </a:r>
            <a:endParaRPr lang="en-US" sz="1050" dirty="0"/>
          </a:p>
        </p:txBody>
      </p:sp>
      <p:sp>
        <p:nvSpPr>
          <p:cNvPr id="10" name="Text 8"/>
          <p:cNvSpPr/>
          <p:nvPr/>
        </p:nvSpPr>
        <p:spPr>
          <a:xfrm>
            <a:off x="6309360" y="2487168"/>
            <a:ext cx="274320" cy="457200"/>
          </a:xfrm>
          <a:prstGeom prst="rect">
            <a:avLst/>
          </a:prstGeom>
          <a:noFill/>
          <a:ln/>
        </p:spPr>
        <p:txBody>
          <a:bodyPr wrap="square" lIns="0" tIns="0" rIns="0" bIns="0" rtlCol="0" anchor="t"/>
          <a:lstStyle/>
          <a:p>
            <a:pPr marL="0" indent="0">
              <a:buNone/>
            </a:pPr>
            <a:r>
              <a:rPr lang="en-US" sz="1200" b="1" dirty="0">
                <a:solidFill>
                  <a:srgbClr val="FF4757"/>
                </a:solidFill>
                <a:latin typeface="Palatino Linotype" pitchFamily="34" charset="0"/>
                <a:ea typeface="Palatino Linotype" pitchFamily="34" charset="-122"/>
                <a:cs typeface="Palatino Linotype" pitchFamily="34" charset="-120"/>
              </a:rPr>
              <a:t>—</a:t>
            </a:r>
            <a:endParaRPr lang="en-US" sz="1200" dirty="0"/>
          </a:p>
        </p:txBody>
      </p:sp>
      <p:sp>
        <p:nvSpPr>
          <p:cNvPr id="11" name="Text 9"/>
          <p:cNvSpPr/>
          <p:nvPr/>
        </p:nvSpPr>
        <p:spPr>
          <a:xfrm>
            <a:off x="6629400" y="2487168"/>
            <a:ext cx="4663440" cy="621792"/>
          </a:xfrm>
          <a:prstGeom prst="rect">
            <a:avLst/>
          </a:prstGeom>
          <a:noFill/>
          <a:ln/>
        </p:spPr>
        <p:txBody>
          <a:bodyPr wrap="square" lIns="0" tIns="0" rIns="0" bIns="0" rtlCol="0" anchor="t"/>
          <a:lstStyle/>
          <a:p>
            <a:pPr marL="0" indent="0">
              <a:lnSpc>
                <a:spcPts val="1800"/>
              </a:lnSpc>
              <a:buNone/>
            </a:pPr>
            <a:r>
              <a:rPr lang="en-US" sz="1250" dirty="0">
                <a:solidFill>
                  <a:srgbClr val="959BB0"/>
                </a:solidFill>
                <a:latin typeface="Palatino Linotype" pitchFamily="34" charset="0"/>
                <a:ea typeface="Palatino Linotype" pitchFamily="34" charset="-122"/>
                <a:cs typeface="Palatino Linotype" pitchFamily="34" charset="-120"/>
              </a:rPr>
              <a:t>Un indice unic, clasabil, pentru daune care depind de farmacologie, comportamente, context social și politici</a:t>
            </a:r>
            <a:endParaRPr lang="en-US" sz="1250" dirty="0"/>
          </a:p>
        </p:txBody>
      </p:sp>
      <p:sp>
        <p:nvSpPr>
          <p:cNvPr id="12" name="Text 10"/>
          <p:cNvSpPr/>
          <p:nvPr/>
        </p:nvSpPr>
        <p:spPr>
          <a:xfrm>
            <a:off x="6309360" y="3145536"/>
            <a:ext cx="274320" cy="457200"/>
          </a:xfrm>
          <a:prstGeom prst="rect">
            <a:avLst/>
          </a:prstGeom>
          <a:noFill/>
          <a:ln/>
        </p:spPr>
        <p:txBody>
          <a:bodyPr wrap="square" lIns="0" tIns="0" rIns="0" bIns="0" rtlCol="0" anchor="t"/>
          <a:lstStyle/>
          <a:p>
            <a:pPr marL="0" indent="0">
              <a:buNone/>
            </a:pPr>
            <a:r>
              <a:rPr lang="en-US" sz="1200" b="1" dirty="0">
                <a:solidFill>
                  <a:srgbClr val="FF4757"/>
                </a:solidFill>
                <a:latin typeface="Palatino Linotype" pitchFamily="34" charset="0"/>
                <a:ea typeface="Palatino Linotype" pitchFamily="34" charset="-122"/>
                <a:cs typeface="Palatino Linotype" pitchFamily="34" charset="-120"/>
              </a:rPr>
              <a:t>—</a:t>
            </a:r>
            <a:endParaRPr lang="en-US" sz="1200" dirty="0"/>
          </a:p>
        </p:txBody>
      </p:sp>
      <p:sp>
        <p:nvSpPr>
          <p:cNvPr id="13" name="Text 11"/>
          <p:cNvSpPr/>
          <p:nvPr/>
        </p:nvSpPr>
        <p:spPr>
          <a:xfrm>
            <a:off x="6629400" y="3145536"/>
            <a:ext cx="4663440" cy="621792"/>
          </a:xfrm>
          <a:prstGeom prst="rect">
            <a:avLst/>
          </a:prstGeom>
          <a:noFill/>
          <a:ln/>
        </p:spPr>
        <p:txBody>
          <a:bodyPr wrap="square" lIns="0" tIns="0" rIns="0" bIns="0" rtlCol="0" anchor="t"/>
          <a:lstStyle/>
          <a:p>
            <a:pPr marL="0" indent="0">
              <a:lnSpc>
                <a:spcPts val="1800"/>
              </a:lnSpc>
              <a:buNone/>
            </a:pPr>
            <a:r>
              <a:rPr lang="en-US" sz="1250" dirty="0">
                <a:solidFill>
                  <a:srgbClr val="959BB0"/>
                </a:solidFill>
                <a:latin typeface="Palatino Linotype" pitchFamily="34" charset="0"/>
                <a:ea typeface="Palatino Linotype" pitchFamily="34" charset="-122"/>
                <a:cs typeface="Palatino Linotype" pitchFamily="34" charset="-120"/>
              </a:rPr>
              <a:t>Consens între experți, foarte vulnerabil la judecăți subiective</a:t>
            </a:r>
            <a:endParaRPr lang="en-US" sz="1250" dirty="0"/>
          </a:p>
        </p:txBody>
      </p:sp>
      <p:sp>
        <p:nvSpPr>
          <p:cNvPr id="14" name="Text 12"/>
          <p:cNvSpPr/>
          <p:nvPr/>
        </p:nvSpPr>
        <p:spPr>
          <a:xfrm>
            <a:off x="6309360" y="3803904"/>
            <a:ext cx="274320" cy="457200"/>
          </a:xfrm>
          <a:prstGeom prst="rect">
            <a:avLst/>
          </a:prstGeom>
          <a:noFill/>
          <a:ln/>
        </p:spPr>
        <p:txBody>
          <a:bodyPr wrap="square" lIns="0" tIns="0" rIns="0" bIns="0" rtlCol="0" anchor="t"/>
          <a:lstStyle/>
          <a:p>
            <a:pPr marL="0" indent="0">
              <a:buNone/>
            </a:pPr>
            <a:r>
              <a:rPr lang="en-US" sz="1200" b="1" dirty="0">
                <a:solidFill>
                  <a:srgbClr val="FF4757"/>
                </a:solidFill>
                <a:latin typeface="Palatino Linotype" pitchFamily="34" charset="0"/>
                <a:ea typeface="Palatino Linotype" pitchFamily="34" charset="-122"/>
                <a:cs typeface="Palatino Linotype" pitchFamily="34" charset="-120"/>
              </a:rPr>
              <a:t>—</a:t>
            </a:r>
            <a:endParaRPr lang="en-US" sz="1200" dirty="0"/>
          </a:p>
        </p:txBody>
      </p:sp>
      <p:sp>
        <p:nvSpPr>
          <p:cNvPr id="15" name="Text 13"/>
          <p:cNvSpPr/>
          <p:nvPr/>
        </p:nvSpPr>
        <p:spPr>
          <a:xfrm>
            <a:off x="6629400" y="3803904"/>
            <a:ext cx="4663440" cy="621792"/>
          </a:xfrm>
          <a:prstGeom prst="rect">
            <a:avLst/>
          </a:prstGeom>
          <a:noFill/>
          <a:ln/>
        </p:spPr>
        <p:txBody>
          <a:bodyPr wrap="square" lIns="0" tIns="0" rIns="0" bIns="0" rtlCol="0" anchor="t"/>
          <a:lstStyle/>
          <a:p>
            <a:pPr marL="0" indent="0">
              <a:lnSpc>
                <a:spcPts val="1800"/>
              </a:lnSpc>
              <a:buNone/>
            </a:pPr>
            <a:r>
              <a:rPr lang="en-US" sz="1250" dirty="0">
                <a:solidFill>
                  <a:srgbClr val="959BB0"/>
                </a:solidFill>
                <a:latin typeface="Palatino Linotype" pitchFamily="34" charset="0"/>
                <a:ea typeface="Palatino Linotype" pitchFamily="34" charset="-122"/>
                <a:cs typeface="Palatino Linotype" pitchFamily="34" charset="-120"/>
              </a:rPr>
              <a:t>Nu separă daunele consumului de cele ale cadrului de politică</a:t>
            </a:r>
            <a:endParaRPr lang="en-US" sz="1250" dirty="0"/>
          </a:p>
        </p:txBody>
      </p:sp>
      <p:sp>
        <p:nvSpPr>
          <p:cNvPr id="18" name="Text 16"/>
          <p:cNvSpPr/>
          <p:nvPr/>
        </p:nvSpPr>
        <p:spPr>
          <a:xfrm>
            <a:off x="594360" y="5394960"/>
            <a:ext cx="10972800" cy="384048"/>
          </a:xfrm>
          <a:prstGeom prst="rect">
            <a:avLst/>
          </a:prstGeom>
          <a:noFill/>
          <a:ln/>
        </p:spPr>
        <p:txBody>
          <a:bodyPr wrap="square" lIns="0" tIns="0" rIns="0" bIns="0" rtlCol="0" anchor="ctr"/>
          <a:lstStyle/>
          <a:p>
            <a:pPr marL="0" indent="0">
              <a:buNone/>
            </a:pPr>
            <a:r>
              <a:rPr lang="en-US" sz="1600" b="1" dirty="0">
                <a:solidFill>
                  <a:srgbClr val="9B7EF7"/>
                </a:solidFill>
                <a:latin typeface="Palatino Linotype" pitchFamily="34" charset="0"/>
                <a:ea typeface="Palatino Linotype" pitchFamily="34" charset="-122"/>
                <a:cs typeface="Palatino Linotype" pitchFamily="34" charset="-120"/>
              </a:rPr>
              <a:t>Scorul „alcool 72” este util. Nu este o măsurătoare (interpretare).</a:t>
            </a:r>
            <a:endParaRPr lang="en-US" sz="1600" dirty="0"/>
          </a:p>
        </p:txBody>
      </p:sp>
      <p:sp>
        <p:nvSpPr>
          <p:cNvPr id="19" name="Text 17"/>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Nutt și colab., Lancet, 2010 · critica: Rolles și Measham, Int J Drug Policy, 2011 · Crossin și colab., J Psychopharmacol, 2023</a:t>
            </a:r>
            <a:endParaRPr lang="en-US" sz="95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O ESTIMARE A POVERII, NU UN SCOR DE EXPERȚI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România, 2023: povara tulburărilor de consum</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585A64"/>
                </a:solidFill>
                <a:latin typeface="Palatino Linotype" pitchFamily="34" charset="0"/>
                <a:ea typeface="Palatino Linotype" pitchFamily="34" charset="-122"/>
                <a:cs typeface="Palatino Linotype" pitchFamily="34" charset="-120"/>
              </a:rPr>
              <a:t>Global Burden of Disease 2023: DALY, estimări de model.</a:t>
            </a:r>
            <a:endParaRPr lang="en-US" sz="1450" dirty="0"/>
          </a:p>
        </p:txBody>
      </p:sp>
      <p:sp>
        <p:nvSpPr>
          <p:cNvPr id="5" name="Shape 3"/>
          <p:cNvSpPr/>
          <p:nvPr/>
        </p:nvSpPr>
        <p:spPr>
          <a:xfrm>
            <a:off x="594360" y="1874520"/>
            <a:ext cx="5440680" cy="1691640"/>
          </a:xfrm>
          <a:prstGeom prst="roundRect">
            <a:avLst>
              <a:gd name="adj" fmla="val 4865"/>
            </a:avLst>
          </a:prstGeom>
          <a:solidFill>
            <a:srgbClr val="ECEAE4"/>
          </a:solidFill>
          <a:ln w="12700">
            <a:solidFill>
              <a:srgbClr val="ECEAE4"/>
            </a:solidFill>
            <a:prstDash val="solid"/>
          </a:ln>
        </p:spPr>
        <p:txBody>
          <a:bodyPr/>
          <a:lstStyle/>
          <a:p>
            <a:endParaRPr lang="ro-RO"/>
          </a:p>
        </p:txBody>
      </p:sp>
      <p:sp>
        <p:nvSpPr>
          <p:cNvPr id="6" name="Text 4"/>
          <p:cNvSpPr/>
          <p:nvPr/>
        </p:nvSpPr>
        <p:spPr>
          <a:xfrm>
            <a:off x="850392" y="2075688"/>
            <a:ext cx="4928616" cy="658368"/>
          </a:xfrm>
          <a:prstGeom prst="rect">
            <a:avLst/>
          </a:prstGeom>
          <a:noFill/>
          <a:ln/>
        </p:spPr>
        <p:txBody>
          <a:bodyPr wrap="square" lIns="0" tIns="0" rIns="0" bIns="0" rtlCol="0" anchor="ctr"/>
          <a:lstStyle/>
          <a:p>
            <a:pPr marL="0" indent="0">
              <a:buNone/>
            </a:pPr>
            <a:r>
              <a:rPr lang="en-US" sz="4600" b="1" dirty="0">
                <a:solidFill>
                  <a:srgbClr val="B02532"/>
                </a:solidFill>
                <a:latin typeface="Palatino Linotype" pitchFamily="34" charset="0"/>
                <a:ea typeface="Palatino Linotype" pitchFamily="34" charset="-122"/>
                <a:cs typeface="Palatino Linotype" pitchFamily="34" charset="-120"/>
              </a:rPr>
              <a:t>67 823</a:t>
            </a:r>
            <a:endParaRPr lang="en-US" sz="4600" dirty="0"/>
          </a:p>
        </p:txBody>
      </p:sp>
      <p:sp>
        <p:nvSpPr>
          <p:cNvPr id="7" name="Text 5"/>
          <p:cNvSpPr/>
          <p:nvPr/>
        </p:nvSpPr>
        <p:spPr>
          <a:xfrm>
            <a:off x="850392" y="2752344"/>
            <a:ext cx="4928616" cy="667512"/>
          </a:xfrm>
          <a:prstGeom prst="rect">
            <a:avLst/>
          </a:prstGeom>
          <a:noFill/>
          <a:ln/>
        </p:spPr>
        <p:txBody>
          <a:bodyPr wrap="square" lIns="0" tIns="0" rIns="0" bIns="0" rtlCol="0" anchor="t"/>
          <a:lstStyle/>
          <a:p>
            <a:pPr marL="0" indent="0">
              <a:lnSpc>
                <a:spcPts val="1700"/>
              </a:lnSpc>
              <a:buNone/>
            </a:pPr>
            <a:r>
              <a:rPr lang="en-US" sz="1150" dirty="0">
                <a:solidFill>
                  <a:srgbClr val="585A64"/>
                </a:solidFill>
                <a:latin typeface="Palatino Linotype" pitchFamily="34" charset="0"/>
                <a:ea typeface="Palatino Linotype" pitchFamily="34" charset="-122"/>
                <a:cs typeface="Palatino Linotype" pitchFamily="34" charset="-120"/>
              </a:rPr>
              <a:t>DALY prin tulburări de consum de alcool, 2023 (valoare punctuală)</a:t>
            </a:r>
            <a:endParaRPr lang="en-US" sz="1150" dirty="0"/>
          </a:p>
        </p:txBody>
      </p:sp>
      <p:sp>
        <p:nvSpPr>
          <p:cNvPr id="8" name="Shape 6"/>
          <p:cNvSpPr/>
          <p:nvPr/>
        </p:nvSpPr>
        <p:spPr>
          <a:xfrm>
            <a:off x="6309360" y="1874520"/>
            <a:ext cx="5257800" cy="1691640"/>
          </a:xfrm>
          <a:prstGeom prst="roundRect">
            <a:avLst>
              <a:gd name="adj" fmla="val 4865"/>
            </a:avLst>
          </a:prstGeom>
          <a:solidFill>
            <a:srgbClr val="0E7C6B"/>
          </a:solidFill>
          <a:ln w="12700">
            <a:solidFill>
              <a:srgbClr val="0E7C6B"/>
            </a:solidFill>
            <a:prstDash val="solid"/>
          </a:ln>
        </p:spPr>
        <p:txBody>
          <a:bodyPr/>
          <a:lstStyle/>
          <a:p>
            <a:endParaRPr lang="ro-RO"/>
          </a:p>
        </p:txBody>
      </p:sp>
      <p:sp>
        <p:nvSpPr>
          <p:cNvPr id="9" name="Text 7"/>
          <p:cNvSpPr/>
          <p:nvPr/>
        </p:nvSpPr>
        <p:spPr>
          <a:xfrm>
            <a:off x="6565392" y="2075688"/>
            <a:ext cx="4745736" cy="658368"/>
          </a:xfrm>
          <a:prstGeom prst="rect">
            <a:avLst/>
          </a:prstGeom>
          <a:noFill/>
          <a:ln/>
        </p:spPr>
        <p:txBody>
          <a:bodyPr wrap="square" lIns="0" tIns="0" rIns="0" bIns="0" rtlCol="0" anchor="ctr"/>
          <a:lstStyle/>
          <a:p>
            <a:pPr marL="0" indent="0">
              <a:buNone/>
            </a:pPr>
            <a:r>
              <a:rPr lang="en-US" sz="4600" b="1" dirty="0">
                <a:solidFill>
                  <a:srgbClr val="FFFFFF"/>
                </a:solidFill>
                <a:latin typeface="Palatino Linotype" pitchFamily="34" charset="0"/>
                <a:ea typeface="Palatino Linotype" pitchFamily="34" charset="-122"/>
                <a:cs typeface="Palatino Linotype" pitchFamily="34" charset="-120"/>
              </a:rPr>
              <a:t>17 677</a:t>
            </a:r>
            <a:endParaRPr lang="en-US" sz="4600" dirty="0"/>
          </a:p>
        </p:txBody>
      </p:sp>
      <p:sp>
        <p:nvSpPr>
          <p:cNvPr id="10" name="Text 8"/>
          <p:cNvSpPr/>
          <p:nvPr/>
        </p:nvSpPr>
        <p:spPr>
          <a:xfrm>
            <a:off x="6565392" y="2752344"/>
            <a:ext cx="4745736" cy="667512"/>
          </a:xfrm>
          <a:prstGeom prst="rect">
            <a:avLst/>
          </a:prstGeom>
          <a:noFill/>
          <a:ln/>
        </p:spPr>
        <p:txBody>
          <a:bodyPr wrap="square" lIns="0" tIns="0" rIns="0" bIns="0" rtlCol="0" anchor="t"/>
          <a:lstStyle/>
          <a:p>
            <a:pPr marL="0" indent="0">
              <a:lnSpc>
                <a:spcPts val="1700"/>
              </a:lnSpc>
              <a:buNone/>
            </a:pPr>
            <a:r>
              <a:rPr lang="en-US" sz="1150" dirty="0">
                <a:solidFill>
                  <a:srgbClr val="C4EDE5"/>
                </a:solidFill>
                <a:latin typeface="Palatino Linotype" pitchFamily="34" charset="0"/>
                <a:ea typeface="Palatino Linotype" pitchFamily="34" charset="-122"/>
                <a:cs typeface="Palatino Linotype" pitchFamily="34" charset="-120"/>
              </a:rPr>
              <a:t>DALY prin tulburări de consum de droguri, 2023 (valoare punctuală)</a:t>
            </a:r>
            <a:endParaRPr lang="en-US" sz="1150" dirty="0"/>
          </a:p>
        </p:txBody>
      </p:sp>
      <p:sp>
        <p:nvSpPr>
          <p:cNvPr id="11" name="Shape 9"/>
          <p:cNvSpPr/>
          <p:nvPr/>
        </p:nvSpPr>
        <p:spPr>
          <a:xfrm>
            <a:off x="594360" y="3767328"/>
            <a:ext cx="10972800" cy="841248"/>
          </a:xfrm>
          <a:prstGeom prst="roundRect">
            <a:avLst>
              <a:gd name="adj" fmla="val 9783"/>
            </a:avLst>
          </a:prstGeom>
          <a:solidFill>
            <a:srgbClr val="F9F8F5"/>
          </a:solidFill>
          <a:ln w="12700">
            <a:solidFill>
              <a:srgbClr val="F9F8F5"/>
            </a:solidFill>
            <a:prstDash val="solid"/>
          </a:ln>
        </p:spPr>
        <p:txBody>
          <a:bodyPr/>
          <a:lstStyle/>
          <a:p>
            <a:endParaRPr lang="ro-RO"/>
          </a:p>
        </p:txBody>
      </p:sp>
      <p:sp>
        <p:nvSpPr>
          <p:cNvPr id="12" name="Text 10"/>
          <p:cNvSpPr/>
          <p:nvPr/>
        </p:nvSpPr>
        <p:spPr>
          <a:xfrm>
            <a:off x="960120" y="3767328"/>
            <a:ext cx="10241280" cy="841248"/>
          </a:xfrm>
          <a:prstGeom prst="rect">
            <a:avLst/>
          </a:prstGeom>
          <a:noFill/>
          <a:ln/>
        </p:spPr>
        <p:txBody>
          <a:bodyPr wrap="square" lIns="0" tIns="0" rIns="0" bIns="0" rtlCol="0" anchor="ctr"/>
          <a:lstStyle/>
          <a:p>
            <a:pPr marL="0" indent="0">
              <a:lnSpc>
                <a:spcPts val="2000"/>
              </a:lnSpc>
              <a:buNone/>
            </a:pPr>
            <a:r>
              <a:rPr lang="en-US" sz="1200" dirty="0">
                <a:solidFill>
                  <a:srgbClr val="11121A"/>
                </a:solidFill>
                <a:latin typeface="Palatino Linotype" pitchFamily="34" charset="0"/>
                <a:ea typeface="Palatino Linotype" pitchFamily="34" charset="-122"/>
                <a:cs typeface="Palatino Linotype" pitchFamily="34" charset="-120"/>
              </a:rPr>
              <a:t>DALY însumează anii de viață pierduți prin deces prematur și anii trăiți cu dizabilitate.</a:t>
            </a:r>
            <a:endParaRPr lang="en-US" sz="1200" dirty="0"/>
          </a:p>
          <a:p>
            <a:pPr marL="0" indent="0">
              <a:lnSpc>
                <a:spcPts val="2000"/>
              </a:lnSpc>
              <a:buNone/>
            </a:pPr>
            <a:r>
              <a:rPr lang="en-US" sz="1200" dirty="0">
                <a:solidFill>
                  <a:srgbClr val="11121A"/>
                </a:solidFill>
                <a:latin typeface="Palatino Linotype" pitchFamily="34" charset="0"/>
                <a:ea typeface="Palatino Linotype" pitchFamily="34" charset="-122"/>
                <a:cs typeface="Palatino Linotype" pitchFamily="34" charset="-120"/>
              </a:rPr>
              <a:t>Estimările privesc numai tulburările de consum, nu toate bolile atribuibile consumului.</a:t>
            </a:r>
            <a:endParaRPr lang="en-US" sz="1200" dirty="0"/>
          </a:p>
        </p:txBody>
      </p:sp>
      <p:sp>
        <p:nvSpPr>
          <p:cNvPr id="13" name="Shape 11"/>
          <p:cNvSpPr/>
          <p:nvPr/>
        </p:nvSpPr>
        <p:spPr>
          <a:xfrm>
            <a:off x="594360" y="4809744"/>
            <a:ext cx="10972800" cy="1170432"/>
          </a:xfrm>
          <a:prstGeom prst="roundRect">
            <a:avLst>
              <a:gd name="adj" fmla="val 7031"/>
            </a:avLst>
          </a:prstGeom>
          <a:solidFill>
            <a:srgbClr val="E8E0CC"/>
          </a:solidFill>
          <a:ln w="12700">
            <a:solidFill>
              <a:srgbClr val="E8E0CC"/>
            </a:solidFill>
            <a:prstDash val="solid"/>
          </a:ln>
        </p:spPr>
        <p:txBody>
          <a:bodyPr/>
          <a:lstStyle/>
          <a:p>
            <a:endParaRPr lang="ro-RO"/>
          </a:p>
        </p:txBody>
      </p:sp>
      <p:sp>
        <p:nvSpPr>
          <p:cNvPr id="14" name="Shape 12"/>
          <p:cNvSpPr/>
          <p:nvPr/>
        </p:nvSpPr>
        <p:spPr>
          <a:xfrm>
            <a:off x="594360" y="4809744"/>
            <a:ext cx="50292" cy="1170432"/>
          </a:xfrm>
          <a:prstGeom prst="rect">
            <a:avLst/>
          </a:prstGeom>
          <a:solidFill>
            <a:srgbClr val="8A6100"/>
          </a:solidFill>
          <a:ln w="12700">
            <a:solidFill>
              <a:srgbClr val="8A6100"/>
            </a:solidFill>
            <a:prstDash val="solid"/>
          </a:ln>
        </p:spPr>
        <p:txBody>
          <a:bodyPr/>
          <a:lstStyle/>
          <a:p>
            <a:endParaRPr lang="ro-RO"/>
          </a:p>
        </p:txBody>
      </p:sp>
      <p:sp>
        <p:nvSpPr>
          <p:cNvPr id="15" name="Text 13"/>
          <p:cNvSpPr/>
          <p:nvPr/>
        </p:nvSpPr>
        <p:spPr>
          <a:xfrm>
            <a:off x="960120" y="4974336"/>
            <a:ext cx="10241280" cy="274320"/>
          </a:xfrm>
          <a:prstGeom prst="rect">
            <a:avLst/>
          </a:prstGeom>
          <a:noFill/>
          <a:ln/>
        </p:spPr>
        <p:txBody>
          <a:bodyPr wrap="square" lIns="0" tIns="0" rIns="0" bIns="0" rtlCol="0" anchor="ctr"/>
          <a:lstStyle/>
          <a:p>
            <a:pPr marL="0" indent="0">
              <a:buNone/>
            </a:pPr>
            <a:r>
              <a:rPr lang="en-US" sz="1000" b="1" kern="0" spc="200" dirty="0">
                <a:solidFill>
                  <a:srgbClr val="8A6100"/>
                </a:solidFill>
                <a:latin typeface="Palatino Linotype" pitchFamily="34" charset="0"/>
                <a:ea typeface="Palatino Linotype" pitchFamily="34" charset="-122"/>
                <a:cs typeface="Palatino Linotype" pitchFamily="34" charset="-120"/>
              </a:rPr>
              <a:t>CUM SE CITEȘTE</a:t>
            </a:r>
            <a:endParaRPr lang="en-US" sz="1000" dirty="0"/>
          </a:p>
        </p:txBody>
      </p:sp>
      <p:sp>
        <p:nvSpPr>
          <p:cNvPr id="16" name="Text 14"/>
          <p:cNvSpPr/>
          <p:nvPr/>
        </p:nvSpPr>
        <p:spPr>
          <a:xfrm>
            <a:off x="960120" y="5266944"/>
            <a:ext cx="10241280" cy="658368"/>
          </a:xfrm>
          <a:prstGeom prst="rect">
            <a:avLst/>
          </a:prstGeom>
          <a:noFill/>
          <a:ln/>
        </p:spPr>
        <p:txBody>
          <a:bodyPr wrap="square" lIns="0" tIns="0" rIns="0" bIns="0" rtlCol="0" anchor="t"/>
          <a:lstStyle/>
          <a:p>
            <a:pPr marL="0" indent="0">
              <a:lnSpc>
                <a:spcPts val="1700"/>
              </a:lnSpc>
              <a:buNone/>
            </a:pPr>
            <a:r>
              <a:rPr lang="en-US" sz="1150" dirty="0">
                <a:solidFill>
                  <a:srgbClr val="11121A"/>
                </a:solidFill>
                <a:latin typeface="Palatino Linotype" pitchFamily="34" charset="0"/>
                <a:ea typeface="Palatino Linotype" pitchFamily="34" charset="-122"/>
                <a:cs typeface="Palatino Linotype" pitchFamily="34" charset="-120"/>
              </a:rPr>
              <a:t>Sunt estimări de model, nu un acord de experți. Intervale de incertitudine (IHME, GBD 2023): alcool 67 800 (51 400–86 700); droguri 17 700 (14 300–21 400). Ordinea alcool–droguri este aceeași ca în scorul experților (interpretare).</a:t>
            </a:r>
            <a:endParaRPr lang="en-US" sz="1150" dirty="0"/>
          </a:p>
        </p:txBody>
      </p:sp>
      <p:sp>
        <p:nvSpPr>
          <p:cNvPr id="17" name="Text 15"/>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IHME, Global Burden of Disease 2023: profilul de țară România (DALY pe cauze, ambele sexe, toate vârstele) · GBD 2023 Collaborators, Lancet, 2025</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4">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CE COSTĂ MODELUL PE CARE ÎL ALEGI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Explicația biogenetică are efecte secundare, ca un medicament</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585A64"/>
                </a:solidFill>
                <a:latin typeface="Palatino Linotype" pitchFamily="34" charset="0"/>
                <a:ea typeface="Palatino Linotype" pitchFamily="34" charset="-122"/>
                <a:cs typeface="Palatino Linotype" pitchFamily="34" charset="-120"/>
              </a:rPr>
              <a:t>Meta-analiză a 28 de studii experimentale despre problemele psihice.</a:t>
            </a:r>
            <a:endParaRPr lang="en-US" sz="1450" dirty="0"/>
          </a:p>
        </p:txBody>
      </p:sp>
      <p:sp>
        <p:nvSpPr>
          <p:cNvPr id="5" name="Shape 3"/>
          <p:cNvSpPr/>
          <p:nvPr/>
        </p:nvSpPr>
        <p:spPr>
          <a:xfrm>
            <a:off x="7178040" y="2048256"/>
            <a:ext cx="16459" cy="3017520"/>
          </a:xfrm>
          <a:prstGeom prst="rect">
            <a:avLst/>
          </a:prstGeom>
          <a:solidFill>
            <a:srgbClr val="C9C6BE"/>
          </a:solidFill>
          <a:ln w="12700">
            <a:solidFill>
              <a:srgbClr val="333333"/>
            </a:solidFill>
            <a:prstDash val="solid"/>
          </a:ln>
        </p:spPr>
        <p:txBody>
          <a:bodyPr/>
          <a:lstStyle/>
          <a:p>
            <a:endParaRPr lang="ro-RO"/>
          </a:p>
        </p:txBody>
      </p:sp>
      <p:sp>
        <p:nvSpPr>
          <p:cNvPr id="6" name="Text 4"/>
          <p:cNvSpPr/>
          <p:nvPr/>
        </p:nvSpPr>
        <p:spPr>
          <a:xfrm>
            <a:off x="6922008" y="1773936"/>
            <a:ext cx="512064" cy="237744"/>
          </a:xfrm>
          <a:prstGeom prst="rect">
            <a:avLst/>
          </a:prstGeom>
          <a:noFill/>
          <a:ln/>
        </p:spPr>
        <p:txBody>
          <a:bodyPr wrap="square" lIns="0" tIns="0" rIns="0" bIns="0" rtlCol="0" anchor="ctr"/>
          <a:lstStyle/>
          <a:p>
            <a:pPr marL="0" indent="0" algn="ctr">
              <a:buNone/>
            </a:pPr>
            <a:r>
              <a:rPr lang="en-US" sz="1050" dirty="0">
                <a:solidFill>
                  <a:srgbClr val="585A64"/>
                </a:solidFill>
                <a:latin typeface="Palatino Linotype" pitchFamily="34" charset="0"/>
                <a:ea typeface="Palatino Linotype" pitchFamily="34" charset="-122"/>
                <a:cs typeface="Palatino Linotype" pitchFamily="34" charset="-120"/>
              </a:rPr>
              <a:t>0</a:t>
            </a:r>
            <a:endParaRPr lang="en-US" sz="1050" dirty="0"/>
          </a:p>
        </p:txBody>
      </p:sp>
      <p:sp>
        <p:nvSpPr>
          <p:cNvPr id="7" name="Text 5"/>
          <p:cNvSpPr/>
          <p:nvPr/>
        </p:nvSpPr>
        <p:spPr>
          <a:xfrm>
            <a:off x="594360" y="2212848"/>
            <a:ext cx="6400800" cy="274320"/>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Blamarea persoanei  —  scade</a:t>
            </a:r>
            <a:endParaRPr lang="en-US" sz="1250" dirty="0"/>
          </a:p>
        </p:txBody>
      </p:sp>
      <p:sp>
        <p:nvSpPr>
          <p:cNvPr id="8" name="Shape 6"/>
          <p:cNvSpPr/>
          <p:nvPr/>
        </p:nvSpPr>
        <p:spPr>
          <a:xfrm>
            <a:off x="5104181" y="2523744"/>
            <a:ext cx="2073859" cy="347472"/>
          </a:xfrm>
          <a:prstGeom prst="roundRect">
            <a:avLst>
              <a:gd name="adj" fmla="val 13158"/>
            </a:avLst>
          </a:prstGeom>
          <a:solidFill>
            <a:srgbClr val="0E7C6B"/>
          </a:solidFill>
          <a:ln w="12700">
            <a:solidFill>
              <a:srgbClr val="0E7C6B"/>
            </a:solidFill>
            <a:prstDash val="solid"/>
          </a:ln>
        </p:spPr>
        <p:txBody>
          <a:bodyPr/>
          <a:lstStyle/>
          <a:p>
            <a:endParaRPr lang="ro-RO"/>
          </a:p>
        </p:txBody>
      </p:sp>
      <p:sp>
        <p:nvSpPr>
          <p:cNvPr id="9" name="Text 7"/>
          <p:cNvSpPr/>
          <p:nvPr/>
        </p:nvSpPr>
        <p:spPr>
          <a:xfrm>
            <a:off x="4006901" y="2523744"/>
            <a:ext cx="969264" cy="347472"/>
          </a:xfrm>
          <a:prstGeom prst="rect">
            <a:avLst/>
          </a:prstGeom>
          <a:noFill/>
          <a:ln/>
        </p:spPr>
        <p:txBody>
          <a:bodyPr wrap="square" lIns="0" tIns="0" rIns="0" bIns="0" rtlCol="0" anchor="ctr"/>
          <a:lstStyle/>
          <a:p>
            <a:pPr marL="0" indent="0" algn="r">
              <a:buNone/>
            </a:pPr>
            <a:r>
              <a:rPr lang="en-US" sz="1450" b="1" dirty="0">
                <a:solidFill>
                  <a:srgbClr val="0E7C6B"/>
                </a:solidFill>
                <a:latin typeface="Palatino Linotype" pitchFamily="34" charset="0"/>
                <a:ea typeface="Palatino Linotype" pitchFamily="34" charset="-122"/>
                <a:cs typeface="Palatino Linotype" pitchFamily="34" charset="-120"/>
              </a:rPr>
              <a:t>−0,324</a:t>
            </a:r>
            <a:endParaRPr lang="en-US" sz="1450" dirty="0"/>
          </a:p>
        </p:txBody>
      </p:sp>
      <p:sp>
        <p:nvSpPr>
          <p:cNvPr id="10" name="Text 8"/>
          <p:cNvSpPr/>
          <p:nvPr/>
        </p:nvSpPr>
        <p:spPr>
          <a:xfrm>
            <a:off x="594360" y="3182112"/>
            <a:ext cx="6400800" cy="274320"/>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Pesimism prognostic  —  crește</a:t>
            </a:r>
            <a:endParaRPr lang="en-US" sz="1250" dirty="0"/>
          </a:p>
        </p:txBody>
      </p:sp>
      <p:sp>
        <p:nvSpPr>
          <p:cNvPr id="11" name="Shape 9"/>
          <p:cNvSpPr/>
          <p:nvPr/>
        </p:nvSpPr>
        <p:spPr>
          <a:xfrm>
            <a:off x="7178040" y="3493008"/>
            <a:ext cx="1683410" cy="347472"/>
          </a:xfrm>
          <a:prstGeom prst="roundRect">
            <a:avLst>
              <a:gd name="adj" fmla="val 13158"/>
            </a:avLst>
          </a:prstGeom>
          <a:solidFill>
            <a:srgbClr val="B02532"/>
          </a:solidFill>
          <a:ln w="12700">
            <a:solidFill>
              <a:srgbClr val="B02532"/>
            </a:solidFill>
            <a:prstDash val="solid"/>
          </a:ln>
        </p:spPr>
        <p:txBody>
          <a:bodyPr/>
          <a:lstStyle/>
          <a:p>
            <a:endParaRPr lang="ro-RO"/>
          </a:p>
        </p:txBody>
      </p:sp>
      <p:sp>
        <p:nvSpPr>
          <p:cNvPr id="12" name="Text 10"/>
          <p:cNvSpPr/>
          <p:nvPr/>
        </p:nvSpPr>
        <p:spPr>
          <a:xfrm>
            <a:off x="8989466" y="3493008"/>
            <a:ext cx="969264" cy="347472"/>
          </a:xfrm>
          <a:prstGeom prst="rect">
            <a:avLst/>
          </a:prstGeom>
          <a:noFill/>
          <a:ln/>
        </p:spPr>
        <p:txBody>
          <a:bodyPr wrap="square" lIns="0" tIns="0" rIns="0" bIns="0" rtlCol="0" anchor="ctr"/>
          <a:lstStyle/>
          <a:p>
            <a:pPr marL="0" indent="0" algn="l">
              <a:buNone/>
            </a:pPr>
            <a:r>
              <a:rPr lang="en-US" sz="1450" b="1" dirty="0">
                <a:solidFill>
                  <a:srgbClr val="B02532"/>
                </a:solidFill>
                <a:latin typeface="Palatino Linotype" pitchFamily="34" charset="0"/>
                <a:ea typeface="Palatino Linotype" pitchFamily="34" charset="-122"/>
                <a:cs typeface="Palatino Linotype" pitchFamily="34" charset="-120"/>
              </a:rPr>
              <a:t>+0,263</a:t>
            </a:r>
            <a:endParaRPr lang="en-US" sz="1450" dirty="0"/>
          </a:p>
        </p:txBody>
      </p:sp>
      <p:sp>
        <p:nvSpPr>
          <p:cNvPr id="13" name="Text 11"/>
          <p:cNvSpPr/>
          <p:nvPr/>
        </p:nvSpPr>
        <p:spPr>
          <a:xfrm>
            <a:off x="594360" y="4151376"/>
            <a:ext cx="6400800" cy="274320"/>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Periculozitatea percepută  —  crește</a:t>
            </a:r>
            <a:endParaRPr lang="en-US" sz="1250" dirty="0"/>
          </a:p>
        </p:txBody>
      </p:sp>
      <p:sp>
        <p:nvSpPr>
          <p:cNvPr id="14" name="Shape 12"/>
          <p:cNvSpPr/>
          <p:nvPr/>
        </p:nvSpPr>
        <p:spPr>
          <a:xfrm>
            <a:off x="7178040" y="4462272"/>
            <a:ext cx="1267358" cy="347472"/>
          </a:xfrm>
          <a:prstGeom prst="roundRect">
            <a:avLst>
              <a:gd name="adj" fmla="val 13158"/>
            </a:avLst>
          </a:prstGeom>
          <a:solidFill>
            <a:srgbClr val="9C4A0A"/>
          </a:solidFill>
          <a:ln w="12700">
            <a:solidFill>
              <a:srgbClr val="9C4A0A"/>
            </a:solidFill>
            <a:prstDash val="solid"/>
          </a:ln>
        </p:spPr>
        <p:txBody>
          <a:bodyPr/>
          <a:lstStyle/>
          <a:p>
            <a:endParaRPr lang="ro-RO"/>
          </a:p>
        </p:txBody>
      </p:sp>
      <p:sp>
        <p:nvSpPr>
          <p:cNvPr id="15" name="Text 13"/>
          <p:cNvSpPr/>
          <p:nvPr/>
        </p:nvSpPr>
        <p:spPr>
          <a:xfrm>
            <a:off x="8573414" y="4462272"/>
            <a:ext cx="969264" cy="347472"/>
          </a:xfrm>
          <a:prstGeom prst="rect">
            <a:avLst/>
          </a:prstGeom>
          <a:noFill/>
          <a:ln/>
        </p:spPr>
        <p:txBody>
          <a:bodyPr wrap="square" lIns="0" tIns="0" rIns="0" bIns="0" rtlCol="0" anchor="ctr"/>
          <a:lstStyle/>
          <a:p>
            <a:pPr marL="0" indent="0" algn="l">
              <a:buNone/>
            </a:pPr>
            <a:r>
              <a:rPr lang="en-US" sz="1450" b="1" dirty="0">
                <a:solidFill>
                  <a:srgbClr val="9C4A0A"/>
                </a:solidFill>
                <a:latin typeface="Palatino Linotype" pitchFamily="34" charset="0"/>
                <a:ea typeface="Palatino Linotype" pitchFamily="34" charset="-122"/>
                <a:cs typeface="Palatino Linotype" pitchFamily="34" charset="-120"/>
              </a:rPr>
              <a:t>+0,198</a:t>
            </a:r>
            <a:endParaRPr lang="en-US" sz="1450" dirty="0"/>
          </a:p>
        </p:txBody>
      </p:sp>
      <p:sp>
        <p:nvSpPr>
          <p:cNvPr id="16" name="Text 14"/>
          <p:cNvSpPr/>
          <p:nvPr/>
        </p:nvSpPr>
        <p:spPr>
          <a:xfrm>
            <a:off x="594360" y="5138928"/>
            <a:ext cx="5943600" cy="292608"/>
          </a:xfrm>
          <a:prstGeom prst="rect">
            <a:avLst/>
          </a:prstGeom>
          <a:noFill/>
          <a:ln/>
        </p:spPr>
        <p:txBody>
          <a:bodyPr wrap="square" lIns="0" tIns="0" rIns="0" bIns="0" rtlCol="0" anchor="ctr"/>
          <a:lstStyle/>
          <a:p>
            <a:pPr marL="0" indent="0">
              <a:buNone/>
            </a:pPr>
            <a:r>
              <a:rPr lang="en-US" sz="1200" i="1" dirty="0">
                <a:solidFill>
                  <a:srgbClr val="585A64"/>
                </a:solidFill>
                <a:latin typeface="Palatino Linotype" pitchFamily="34" charset="0"/>
                <a:ea typeface="Palatino Linotype" pitchFamily="34" charset="-122"/>
                <a:cs typeface="Palatino Linotype" pitchFamily="34" charset="-120"/>
              </a:rPr>
              <a:t>Distanța socială dorită: fără efect, de regulă.</a:t>
            </a:r>
            <a:endParaRPr lang="en-US" sz="1200" dirty="0"/>
          </a:p>
        </p:txBody>
      </p:sp>
      <p:sp>
        <p:nvSpPr>
          <p:cNvPr id="17" name="Shape 15"/>
          <p:cNvSpPr/>
          <p:nvPr/>
        </p:nvSpPr>
        <p:spPr>
          <a:xfrm>
            <a:off x="594360" y="5468112"/>
            <a:ext cx="10972800" cy="731520"/>
          </a:xfrm>
          <a:prstGeom prst="roundRect">
            <a:avLst>
              <a:gd name="adj" fmla="val 11250"/>
            </a:avLst>
          </a:prstGeom>
          <a:solidFill>
            <a:srgbClr val="B02532"/>
          </a:solidFill>
          <a:ln w="12700">
            <a:solidFill>
              <a:srgbClr val="B02532"/>
            </a:solidFill>
            <a:prstDash val="solid"/>
          </a:ln>
        </p:spPr>
        <p:txBody>
          <a:bodyPr/>
          <a:lstStyle/>
          <a:p>
            <a:endParaRPr lang="ro-RO"/>
          </a:p>
        </p:txBody>
      </p:sp>
      <p:sp>
        <p:nvSpPr>
          <p:cNvPr id="18" name="Text 16"/>
          <p:cNvSpPr/>
          <p:nvPr/>
        </p:nvSpPr>
        <p:spPr>
          <a:xfrm>
            <a:off x="960120" y="5468112"/>
            <a:ext cx="10241280" cy="731520"/>
          </a:xfrm>
          <a:prstGeom prst="rect">
            <a:avLst/>
          </a:prstGeom>
          <a:noFill/>
          <a:ln/>
        </p:spPr>
        <p:txBody>
          <a:bodyPr wrap="square" lIns="0" tIns="0" rIns="0" bIns="0" rtlCol="0" anchor="ctr"/>
          <a:lstStyle/>
          <a:p>
            <a:pPr marL="0" indent="0">
              <a:buNone/>
            </a:pPr>
            <a:r>
              <a:rPr lang="en-US" sz="1350" b="1" dirty="0">
                <a:solidFill>
                  <a:srgbClr val="FFFFFF"/>
                </a:solidFill>
                <a:latin typeface="Palatino Linotype" pitchFamily="34" charset="0"/>
                <a:ea typeface="Palatino Linotype" pitchFamily="34" charset="-122"/>
                <a:cs typeface="Palatino Linotype" pitchFamily="34" charset="-120"/>
              </a:rPr>
              <a:t>În studiile despre problemele psihice, explicația biologică a redus blamarea, dar a întărit pesimismul privind schimbarea și a crescut periculozitatea percepută. Soluția propusă: explicația biologică, însoțită de datele despre remisie (interpretare).</a:t>
            </a:r>
            <a:endParaRPr lang="en-US" sz="1350" dirty="0"/>
          </a:p>
        </p:txBody>
      </p:sp>
      <p:sp>
        <p:nvSpPr>
          <p:cNvPr id="19" name="Text 17"/>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Kvaale și colab., Clin Psychol Rev, 2013 (g Hedges), reanalizată de Loughman și Haslam, 2018 · a nu se confunda cu meta-analiza corelațională a acelorași autori (Soc Sci Med, 2013)</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5">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PENTRU CĂ VI-L VA CITA CINEVA</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Rat Park nu este un fapt stabilit. Este o ipoteză.</a:t>
            </a:r>
            <a:endParaRPr lang="en-US" sz="3000" dirty="0"/>
          </a:p>
        </p:txBody>
      </p:sp>
      <p:sp>
        <p:nvSpPr>
          <p:cNvPr id="4" name="Shape 2"/>
          <p:cNvSpPr/>
          <p:nvPr/>
        </p:nvSpPr>
        <p:spPr>
          <a:xfrm>
            <a:off x="594360" y="1847088"/>
            <a:ext cx="5440680" cy="3401568"/>
          </a:xfrm>
          <a:prstGeom prst="roundRect">
            <a:avLst>
              <a:gd name="adj" fmla="val 2419"/>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914400" y="2048256"/>
            <a:ext cx="4846320" cy="292608"/>
          </a:xfrm>
          <a:prstGeom prst="rect">
            <a:avLst/>
          </a:prstGeom>
          <a:noFill/>
          <a:ln/>
        </p:spPr>
        <p:txBody>
          <a:bodyPr wrap="square" lIns="0" tIns="0" rIns="0" bIns="0" rtlCol="0" anchor="ctr"/>
          <a:lstStyle/>
          <a:p>
            <a:pPr marL="0" indent="0">
              <a:buNone/>
            </a:pPr>
            <a:r>
              <a:rPr lang="en-US" sz="1050" b="1" kern="0" spc="200" dirty="0">
                <a:solidFill>
                  <a:srgbClr val="27D3BE"/>
                </a:solidFill>
                <a:latin typeface="Palatino Linotype" pitchFamily="34" charset="0"/>
                <a:ea typeface="Palatino Linotype" pitchFamily="34" charset="-122"/>
                <a:cs typeface="Palatino Linotype" pitchFamily="34" charset="-120"/>
              </a:rPr>
              <a:t>CE S-A RAPORTAT</a:t>
            </a:r>
            <a:endParaRPr lang="en-US" sz="1050" dirty="0"/>
          </a:p>
        </p:txBody>
      </p:sp>
      <p:sp>
        <p:nvSpPr>
          <p:cNvPr id="6" name="Text 4"/>
          <p:cNvSpPr/>
          <p:nvPr/>
        </p:nvSpPr>
        <p:spPr>
          <a:xfrm>
            <a:off x="914400" y="2450592"/>
            <a:ext cx="4846320" cy="2606040"/>
          </a:xfrm>
          <a:prstGeom prst="rect">
            <a:avLst/>
          </a:prstGeom>
          <a:noFill/>
          <a:ln/>
        </p:spPr>
        <p:txBody>
          <a:bodyPr wrap="square" lIns="0" tIns="0" rIns="0" bIns="0" rtlCol="0" anchor="t"/>
          <a:lstStyle/>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Șobolanii izolați au consumat semnificativ mai multă soluție de morfină decât cei din colonie.</a:t>
            </a:r>
            <a:endParaRPr lang="en-US" sz="1300" dirty="0"/>
          </a:p>
          <a:p>
            <a:pPr marL="0" indent="0">
              <a:lnSpc>
                <a:spcPts val="2100"/>
              </a:lnSpc>
              <a:buNone/>
            </a:pPr>
            <a:endParaRPr lang="en-US" sz="1300" dirty="0"/>
          </a:p>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Alexander și colab., Psychopharmacology, 1978</a:t>
            </a:r>
            <a:endParaRPr lang="en-US" sz="1300" dirty="0"/>
          </a:p>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Alexander și colab., Pharmacol Biochem Behav, 1981</a:t>
            </a:r>
            <a:endParaRPr lang="en-US" sz="1300" dirty="0"/>
          </a:p>
        </p:txBody>
      </p:sp>
      <p:sp>
        <p:nvSpPr>
          <p:cNvPr id="7" name="Shape 5"/>
          <p:cNvSpPr/>
          <p:nvPr/>
        </p:nvSpPr>
        <p:spPr>
          <a:xfrm>
            <a:off x="6309360" y="1847088"/>
            <a:ext cx="5257800" cy="3401568"/>
          </a:xfrm>
          <a:prstGeom prst="roundRect">
            <a:avLst>
              <a:gd name="adj" fmla="val 2419"/>
            </a:avLst>
          </a:prstGeom>
          <a:solidFill>
            <a:srgbClr val="272A38"/>
          </a:solidFill>
          <a:ln w="12700">
            <a:solidFill>
              <a:srgbClr val="272A38"/>
            </a:solidFill>
            <a:prstDash val="solid"/>
          </a:ln>
        </p:spPr>
        <p:txBody>
          <a:bodyPr/>
          <a:lstStyle/>
          <a:p>
            <a:endParaRPr lang="ro-RO"/>
          </a:p>
        </p:txBody>
      </p:sp>
      <p:sp>
        <p:nvSpPr>
          <p:cNvPr id="8" name="Text 6"/>
          <p:cNvSpPr/>
          <p:nvPr/>
        </p:nvSpPr>
        <p:spPr>
          <a:xfrm>
            <a:off x="6629400" y="2048256"/>
            <a:ext cx="4663440" cy="292608"/>
          </a:xfrm>
          <a:prstGeom prst="rect">
            <a:avLst/>
          </a:prstGeom>
          <a:noFill/>
          <a:ln/>
        </p:spPr>
        <p:txBody>
          <a:bodyPr wrap="square" lIns="0" tIns="0" rIns="0" bIns="0" rtlCol="0" anchor="ctr"/>
          <a:lstStyle/>
          <a:p>
            <a:pPr marL="0" indent="0">
              <a:buNone/>
            </a:pPr>
            <a:r>
              <a:rPr lang="en-US" sz="1050" b="1" kern="0" spc="200" dirty="0">
                <a:solidFill>
                  <a:srgbClr val="FF4757"/>
                </a:solidFill>
                <a:latin typeface="Palatino Linotype" pitchFamily="34" charset="0"/>
                <a:ea typeface="Palatino Linotype" pitchFamily="34" charset="-122"/>
                <a:cs typeface="Palatino Linotype" pitchFamily="34" charset="-120"/>
              </a:rPr>
              <a:t>CE TREBUIE SPUS ÎN ACEEAȘI FRAZĂ</a:t>
            </a:r>
            <a:endParaRPr lang="en-US" sz="1050" dirty="0"/>
          </a:p>
        </p:txBody>
      </p:sp>
      <p:sp>
        <p:nvSpPr>
          <p:cNvPr id="9" name="Text 7"/>
          <p:cNvSpPr/>
          <p:nvPr/>
        </p:nvSpPr>
        <p:spPr>
          <a:xfrm>
            <a:off x="6629400" y="2450592"/>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0" name="Text 8"/>
          <p:cNvSpPr/>
          <p:nvPr/>
        </p:nvSpPr>
        <p:spPr>
          <a:xfrm>
            <a:off x="6931152" y="2450592"/>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Eșantioane foarte mici</a:t>
            </a:r>
            <a:endParaRPr lang="en-US" sz="1250" dirty="0"/>
          </a:p>
        </p:txBody>
      </p:sp>
      <p:sp>
        <p:nvSpPr>
          <p:cNvPr id="11" name="Text 9"/>
          <p:cNvSpPr/>
          <p:nvPr/>
        </p:nvSpPr>
        <p:spPr>
          <a:xfrm>
            <a:off x="6629400" y="2916936"/>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2" name="Text 10"/>
          <p:cNvSpPr/>
          <p:nvPr/>
        </p:nvSpPr>
        <p:spPr>
          <a:xfrm>
            <a:off x="6931152" y="2916936"/>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Consum ORAL, nu autoadministrare i.v.</a:t>
            </a:r>
            <a:endParaRPr lang="en-US" sz="1250" dirty="0"/>
          </a:p>
        </p:txBody>
      </p:sp>
      <p:sp>
        <p:nvSpPr>
          <p:cNvPr id="13" name="Text 11"/>
          <p:cNvSpPr/>
          <p:nvPr/>
        </p:nvSpPr>
        <p:spPr>
          <a:xfrm>
            <a:off x="6629400" y="3383280"/>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4" name="Text 12"/>
          <p:cNvSpPr/>
          <p:nvPr/>
        </p:nvSpPr>
        <p:spPr>
          <a:xfrm>
            <a:off x="6931152" y="3383280"/>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Colectare diferită a datelor între grupuri</a:t>
            </a:r>
            <a:endParaRPr lang="en-US" sz="1250" dirty="0"/>
          </a:p>
        </p:txBody>
      </p:sp>
      <p:sp>
        <p:nvSpPr>
          <p:cNvPr id="15" name="Text 13"/>
          <p:cNvSpPr/>
          <p:nvPr/>
        </p:nvSpPr>
        <p:spPr>
          <a:xfrm>
            <a:off x="6629400" y="3849624"/>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6" name="Text 14"/>
          <p:cNvSpPr/>
          <p:nvPr/>
        </p:nvSpPr>
        <p:spPr>
          <a:xfrm>
            <a:off x="6931152" y="3849624"/>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1981: efect semnificativ doar la concentrația minimă</a:t>
            </a:r>
            <a:endParaRPr lang="en-US" sz="1250" dirty="0"/>
          </a:p>
        </p:txBody>
      </p:sp>
      <p:sp>
        <p:nvSpPr>
          <p:cNvPr id="17" name="Text 15"/>
          <p:cNvSpPr/>
          <p:nvPr/>
        </p:nvSpPr>
        <p:spPr>
          <a:xfrm>
            <a:off x="6629400" y="4315968"/>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8" name="Text 16"/>
          <p:cNvSpPr/>
          <p:nvPr/>
        </p:nvSpPr>
        <p:spPr>
          <a:xfrm>
            <a:off x="6931152" y="4315968"/>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Replicarea lui Petrie (1996) nu a reprodus diferența</a:t>
            </a:r>
            <a:endParaRPr lang="en-US" sz="1250" dirty="0"/>
          </a:p>
        </p:txBody>
      </p:sp>
      <p:sp>
        <p:nvSpPr>
          <p:cNvPr id="19" name="Text 17"/>
          <p:cNvSpPr/>
          <p:nvPr/>
        </p:nvSpPr>
        <p:spPr>
          <a:xfrm>
            <a:off x="6629400" y="4782312"/>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20" name="Text 18"/>
          <p:cNvSpPr/>
          <p:nvPr/>
        </p:nvSpPr>
        <p:spPr>
          <a:xfrm>
            <a:off x="6931152" y="4782312"/>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Sinteză critică: interpretarea populară, exagerată</a:t>
            </a:r>
            <a:endParaRPr lang="en-US" sz="1250" dirty="0"/>
          </a:p>
        </p:txBody>
      </p:sp>
      <p:sp>
        <p:nvSpPr>
          <p:cNvPr id="21" name="Text 19"/>
          <p:cNvSpPr/>
          <p:nvPr/>
        </p:nvSpPr>
        <p:spPr>
          <a:xfrm>
            <a:off x="594360" y="5468112"/>
            <a:ext cx="10972800" cy="384048"/>
          </a:xfrm>
          <a:prstGeom prst="rect">
            <a:avLst/>
          </a:prstGeom>
          <a:noFill/>
          <a:ln/>
        </p:spPr>
        <p:txBody>
          <a:bodyPr wrap="square" lIns="0" tIns="0" rIns="0" bIns="0" rtlCol="0" anchor="ctr"/>
          <a:lstStyle/>
          <a:p>
            <a:pPr marL="0" indent="0">
              <a:buNone/>
            </a:pPr>
            <a:r>
              <a:rPr lang="en-US" sz="1400" b="1" dirty="0">
                <a:solidFill>
                  <a:srgbClr val="9B7EF7"/>
                </a:solidFill>
                <a:latin typeface="Palatino Linotype" pitchFamily="34" charset="0"/>
                <a:ea typeface="Palatino Linotype" pitchFamily="34" charset="-122"/>
                <a:cs typeface="Palatino Linotype" pitchFamily="34" charset="-120"/>
              </a:rPr>
              <a:t>Va fi citat în fața voastră ca și cum ar fi demonstrat. Faptul că vă place concluzia nu schimbă calitatea dovezii — exact ca la citatul Ehrlichman.</a:t>
            </a:r>
            <a:endParaRPr lang="en-US" sz="1400" dirty="0"/>
          </a:p>
        </p:txBody>
      </p:sp>
      <p:sp>
        <p:nvSpPr>
          <p:cNvPr id="22" name="Text 20"/>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Alexander și colab., 1978 și 1981 · Petrie, Psychol Rep, 1996 · Gage și Sumnall, Addiction, 2019</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777240" y="1417320"/>
            <a:ext cx="2926080" cy="2286000"/>
          </a:xfrm>
          <a:prstGeom prst="rect">
            <a:avLst/>
          </a:prstGeom>
          <a:noFill/>
          <a:ln/>
        </p:spPr>
        <p:txBody>
          <a:bodyPr wrap="square" lIns="0" tIns="0" rIns="0" bIns="0" rtlCol="0" anchor="ctr"/>
          <a:lstStyle/>
          <a:p>
            <a:pPr marL="0" indent="0">
              <a:buNone/>
            </a:pPr>
            <a:r>
              <a:rPr lang="en-US" sz="13500" b="1" dirty="0">
                <a:solidFill>
                  <a:srgbClr val="FF8A3D"/>
                </a:solidFill>
                <a:latin typeface="Palatino Linotype" pitchFamily="34" charset="0"/>
                <a:ea typeface="Palatino Linotype" pitchFamily="34" charset="-122"/>
                <a:cs typeface="Palatino Linotype" pitchFamily="34" charset="-120"/>
              </a:rPr>
              <a:t>07</a:t>
            </a:r>
            <a:endParaRPr lang="en-US" sz="13500" dirty="0"/>
          </a:p>
        </p:txBody>
      </p:sp>
      <p:sp>
        <p:nvSpPr>
          <p:cNvPr id="3" name="Shape 1"/>
          <p:cNvSpPr/>
          <p:nvPr/>
        </p:nvSpPr>
        <p:spPr>
          <a:xfrm>
            <a:off x="4160520" y="1691640"/>
            <a:ext cx="27432" cy="1737360"/>
          </a:xfrm>
          <a:prstGeom prst="rect">
            <a:avLst/>
          </a:prstGeom>
          <a:solidFill>
            <a:srgbClr val="FF8A3D"/>
          </a:solidFill>
          <a:ln w="12700">
            <a:solidFill>
              <a:srgbClr val="FF8A3D"/>
            </a:solidFill>
            <a:prstDash val="solid"/>
          </a:ln>
        </p:spPr>
        <p:txBody>
          <a:bodyPr/>
          <a:lstStyle/>
          <a:p>
            <a:endParaRPr lang="ro-RO"/>
          </a:p>
        </p:txBody>
      </p:sp>
      <p:sp>
        <p:nvSpPr>
          <p:cNvPr id="4" name="Text 2"/>
          <p:cNvSpPr/>
          <p:nvPr/>
        </p:nvSpPr>
        <p:spPr>
          <a:xfrm>
            <a:off x="4709160" y="1737360"/>
            <a:ext cx="6858000" cy="822960"/>
          </a:xfrm>
          <a:prstGeom prst="rect">
            <a:avLst/>
          </a:prstGeom>
          <a:noFill/>
          <a:ln/>
        </p:spPr>
        <p:txBody>
          <a:bodyPr wrap="square" lIns="0" tIns="0" rIns="0" bIns="0" rtlCol="0" anchor="ctr"/>
          <a:lstStyle/>
          <a:p>
            <a:pPr marL="0" indent="0">
              <a:buNone/>
            </a:pPr>
            <a:r>
              <a:rPr lang="en-US" sz="3300" b="1" dirty="0">
                <a:solidFill>
                  <a:srgbClr val="FFFFFF"/>
                </a:solidFill>
                <a:latin typeface="Palatino Linotype" pitchFamily="34" charset="0"/>
                <a:ea typeface="Palatino Linotype" pitchFamily="34" charset="-122"/>
                <a:cs typeface="Palatino Linotype" pitchFamily="34" charset="-120"/>
              </a:rPr>
              <a:t>APLICAȚI</a:t>
            </a:r>
            <a:endParaRPr lang="en-US" sz="3300" dirty="0"/>
          </a:p>
        </p:txBody>
      </p:sp>
      <p:sp>
        <p:nvSpPr>
          <p:cNvPr id="5" name="Text 3"/>
          <p:cNvSpPr/>
          <p:nvPr/>
        </p:nvSpPr>
        <p:spPr>
          <a:xfrm>
            <a:off x="4709160" y="2606040"/>
            <a:ext cx="6858000" cy="685800"/>
          </a:xfrm>
          <a:prstGeom prst="rect">
            <a:avLst/>
          </a:prstGeom>
          <a:noFill/>
          <a:ln/>
        </p:spPr>
        <p:txBody>
          <a:bodyPr wrap="square" lIns="0" tIns="0" rIns="0" bIns="0" rtlCol="0" anchor="t"/>
          <a:lstStyle/>
          <a:p>
            <a:pPr marL="0" indent="0">
              <a:lnSpc>
                <a:spcPts val="2300"/>
              </a:lnSpc>
              <a:buNone/>
            </a:pPr>
            <a:r>
              <a:rPr lang="en-US" sz="1500" dirty="0">
                <a:solidFill>
                  <a:srgbClr val="959BB0"/>
                </a:solidFill>
                <a:latin typeface="Palatino Linotype" pitchFamily="34" charset="0"/>
                <a:ea typeface="Palatino Linotype" pitchFamily="34" charset="-122"/>
                <a:cs typeface="Palatino Linotype" pitchFamily="34" charset="-120"/>
              </a:rPr>
              <a:t>Același dosar, patru substanțe. 18 minute, în perechi, pe patru zone ale sălii.</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7">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9C4A0A"/>
                </a:solidFill>
                <a:latin typeface="Palatino Linotype" pitchFamily="34" charset="0"/>
                <a:ea typeface="Palatino Linotype" pitchFamily="34" charset="-122"/>
                <a:cs typeface="Palatino Linotype" pitchFamily="34" charset="-120"/>
              </a:rPr>
              <a:t>EXERCIȚIU</a:t>
            </a:r>
            <a:endParaRPr lang="en-US" sz="1100" dirty="0"/>
          </a:p>
        </p:txBody>
      </p:sp>
      <p:sp>
        <p:nvSpPr>
          <p:cNvPr id="3" name="Shape 1"/>
          <p:cNvSpPr/>
          <p:nvPr/>
        </p:nvSpPr>
        <p:spPr>
          <a:xfrm>
            <a:off x="9006840" y="329184"/>
            <a:ext cx="2560320" cy="384048"/>
          </a:xfrm>
          <a:prstGeom prst="roundRect">
            <a:avLst>
              <a:gd name="adj" fmla="val 50000"/>
            </a:avLst>
          </a:prstGeom>
          <a:solidFill>
            <a:srgbClr val="FF8A3D"/>
          </a:solidFill>
          <a:ln w="12700">
            <a:solidFill>
              <a:srgbClr val="FF8A3D"/>
            </a:solidFill>
            <a:prstDash val="solid"/>
          </a:ln>
        </p:spPr>
        <p:txBody>
          <a:bodyPr/>
          <a:lstStyle/>
          <a:p>
            <a:endParaRPr lang="ro-RO"/>
          </a:p>
        </p:txBody>
      </p:sp>
      <p:sp>
        <p:nvSpPr>
          <p:cNvPr id="4" name="Text 2"/>
          <p:cNvSpPr/>
          <p:nvPr/>
        </p:nvSpPr>
        <p:spPr>
          <a:xfrm>
            <a:off x="9006840" y="329184"/>
            <a:ext cx="256032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PERECHI · 4 ZONE · 18 MIN</a:t>
            </a:r>
            <a:endParaRPr lang="en-US" sz="1000" dirty="0"/>
          </a:p>
        </p:txBody>
      </p:sp>
      <p:sp>
        <p:nvSpPr>
          <p:cNvPr id="5" name="Text 3"/>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Aceeași vinietă. Un singur lucru diferă.</a:t>
            </a:r>
            <a:endParaRPr lang="en-US" sz="3000" dirty="0"/>
          </a:p>
        </p:txBody>
      </p:sp>
      <p:sp>
        <p:nvSpPr>
          <p:cNvPr id="6" name="Shape 4"/>
          <p:cNvSpPr/>
          <p:nvPr/>
        </p:nvSpPr>
        <p:spPr>
          <a:xfrm>
            <a:off x="594360" y="1719072"/>
            <a:ext cx="2633472" cy="1097280"/>
          </a:xfrm>
          <a:prstGeom prst="roundRect">
            <a:avLst>
              <a:gd name="adj" fmla="val 7500"/>
            </a:avLst>
          </a:prstGeom>
          <a:solidFill>
            <a:srgbClr val="ECEAE4"/>
          </a:solidFill>
          <a:ln w="12700">
            <a:solidFill>
              <a:srgbClr val="ECEAE4"/>
            </a:solidFill>
            <a:prstDash val="solid"/>
          </a:ln>
        </p:spPr>
        <p:txBody>
          <a:bodyPr/>
          <a:lstStyle/>
          <a:p>
            <a:endParaRPr lang="ro-RO"/>
          </a:p>
        </p:txBody>
      </p:sp>
      <p:sp>
        <p:nvSpPr>
          <p:cNvPr id="7" name="Shape 5"/>
          <p:cNvSpPr/>
          <p:nvPr/>
        </p:nvSpPr>
        <p:spPr>
          <a:xfrm>
            <a:off x="594360" y="1719072"/>
            <a:ext cx="50292" cy="1097280"/>
          </a:xfrm>
          <a:prstGeom prst="rect">
            <a:avLst/>
          </a:prstGeom>
          <a:solidFill>
            <a:srgbClr val="B02532"/>
          </a:solidFill>
          <a:ln w="12700">
            <a:solidFill>
              <a:srgbClr val="B02532"/>
            </a:solidFill>
            <a:prstDash val="solid"/>
          </a:ln>
        </p:spPr>
        <p:txBody>
          <a:bodyPr/>
          <a:lstStyle/>
          <a:p>
            <a:endParaRPr lang="ro-RO"/>
          </a:p>
        </p:txBody>
      </p:sp>
      <p:sp>
        <p:nvSpPr>
          <p:cNvPr id="8" name="Text 6"/>
          <p:cNvSpPr/>
          <p:nvPr/>
        </p:nvSpPr>
        <p:spPr>
          <a:xfrm>
            <a:off x="850392" y="1828800"/>
            <a:ext cx="2194560" cy="256032"/>
          </a:xfrm>
          <a:prstGeom prst="rect">
            <a:avLst/>
          </a:prstGeom>
          <a:noFill/>
          <a:ln/>
        </p:spPr>
        <p:txBody>
          <a:bodyPr wrap="square" lIns="0" tIns="0" rIns="0" bIns="0" rtlCol="0" anchor="ctr"/>
          <a:lstStyle/>
          <a:p>
            <a:pPr marL="0" indent="0">
              <a:buNone/>
            </a:pPr>
            <a:r>
              <a:rPr lang="en-US" sz="950" b="1" kern="0" spc="200" dirty="0">
                <a:solidFill>
                  <a:srgbClr val="585A64"/>
                </a:solidFill>
                <a:latin typeface="Palatino Linotype" pitchFamily="34" charset="0"/>
                <a:ea typeface="Palatino Linotype" pitchFamily="34" charset="-122"/>
                <a:cs typeface="Palatino Linotype" pitchFamily="34" charset="-120"/>
              </a:rPr>
              <a:t>ZONA A</a:t>
            </a:r>
            <a:endParaRPr lang="en-US" sz="950" dirty="0"/>
          </a:p>
        </p:txBody>
      </p:sp>
      <p:sp>
        <p:nvSpPr>
          <p:cNvPr id="9" name="Text 7"/>
          <p:cNvSpPr/>
          <p:nvPr/>
        </p:nvSpPr>
        <p:spPr>
          <a:xfrm>
            <a:off x="850392" y="2121408"/>
            <a:ext cx="2240280" cy="621792"/>
          </a:xfrm>
          <a:prstGeom prst="rect">
            <a:avLst/>
          </a:prstGeom>
          <a:noFill/>
          <a:ln/>
        </p:spPr>
        <p:txBody>
          <a:bodyPr wrap="square" lIns="0" tIns="0" rIns="0" bIns="0" rtlCol="0" anchor="t"/>
          <a:lstStyle/>
          <a:p>
            <a:pPr marL="0" indent="0">
              <a:lnSpc>
                <a:spcPts val="1800"/>
              </a:lnSpc>
              <a:buNone/>
            </a:pPr>
            <a:r>
              <a:rPr lang="en-US" sz="1350" b="1" dirty="0">
                <a:solidFill>
                  <a:srgbClr val="B02532"/>
                </a:solidFill>
                <a:latin typeface="Palatino Linotype" pitchFamily="34" charset="0"/>
                <a:ea typeface="Palatino Linotype" pitchFamily="34" charset="-122"/>
                <a:cs typeface="Palatino Linotype" pitchFamily="34" charset="-120"/>
              </a:rPr>
              <a:t>ALCOOL</a:t>
            </a:r>
            <a:endParaRPr lang="en-US" sz="1350" dirty="0"/>
          </a:p>
        </p:txBody>
      </p:sp>
      <p:sp>
        <p:nvSpPr>
          <p:cNvPr id="10" name="Shape 8"/>
          <p:cNvSpPr/>
          <p:nvPr/>
        </p:nvSpPr>
        <p:spPr>
          <a:xfrm>
            <a:off x="3392424" y="1719072"/>
            <a:ext cx="2633472" cy="1097280"/>
          </a:xfrm>
          <a:prstGeom prst="roundRect">
            <a:avLst>
              <a:gd name="adj" fmla="val 7500"/>
            </a:avLst>
          </a:prstGeom>
          <a:solidFill>
            <a:srgbClr val="ECEAE4"/>
          </a:solidFill>
          <a:ln w="12700">
            <a:solidFill>
              <a:srgbClr val="ECEAE4"/>
            </a:solidFill>
            <a:prstDash val="solid"/>
          </a:ln>
        </p:spPr>
        <p:txBody>
          <a:bodyPr/>
          <a:lstStyle/>
          <a:p>
            <a:endParaRPr lang="ro-RO"/>
          </a:p>
        </p:txBody>
      </p:sp>
      <p:sp>
        <p:nvSpPr>
          <p:cNvPr id="11" name="Shape 9"/>
          <p:cNvSpPr/>
          <p:nvPr/>
        </p:nvSpPr>
        <p:spPr>
          <a:xfrm>
            <a:off x="3392424" y="1719072"/>
            <a:ext cx="50292" cy="1097280"/>
          </a:xfrm>
          <a:prstGeom prst="rect">
            <a:avLst/>
          </a:prstGeom>
          <a:solidFill>
            <a:srgbClr val="0E7C6B"/>
          </a:solidFill>
          <a:ln w="12700">
            <a:solidFill>
              <a:srgbClr val="0E7C6B"/>
            </a:solidFill>
            <a:prstDash val="solid"/>
          </a:ln>
        </p:spPr>
        <p:txBody>
          <a:bodyPr/>
          <a:lstStyle/>
          <a:p>
            <a:endParaRPr lang="ro-RO"/>
          </a:p>
        </p:txBody>
      </p:sp>
      <p:sp>
        <p:nvSpPr>
          <p:cNvPr id="12" name="Text 10"/>
          <p:cNvSpPr/>
          <p:nvPr/>
        </p:nvSpPr>
        <p:spPr>
          <a:xfrm>
            <a:off x="3648456" y="1828800"/>
            <a:ext cx="2194560" cy="256032"/>
          </a:xfrm>
          <a:prstGeom prst="rect">
            <a:avLst/>
          </a:prstGeom>
          <a:noFill/>
          <a:ln/>
        </p:spPr>
        <p:txBody>
          <a:bodyPr wrap="square" lIns="0" tIns="0" rIns="0" bIns="0" rtlCol="0" anchor="ctr"/>
          <a:lstStyle/>
          <a:p>
            <a:pPr marL="0" indent="0">
              <a:buNone/>
            </a:pPr>
            <a:r>
              <a:rPr lang="en-US" sz="950" b="1" kern="0" spc="200" dirty="0">
                <a:solidFill>
                  <a:srgbClr val="585A64"/>
                </a:solidFill>
                <a:latin typeface="Palatino Linotype" pitchFamily="34" charset="0"/>
                <a:ea typeface="Palatino Linotype" pitchFamily="34" charset="-122"/>
                <a:cs typeface="Palatino Linotype" pitchFamily="34" charset="-120"/>
              </a:rPr>
              <a:t>ZONA B</a:t>
            </a:r>
            <a:endParaRPr lang="en-US" sz="950" dirty="0"/>
          </a:p>
        </p:txBody>
      </p:sp>
      <p:sp>
        <p:nvSpPr>
          <p:cNvPr id="13" name="Text 11"/>
          <p:cNvSpPr/>
          <p:nvPr/>
        </p:nvSpPr>
        <p:spPr>
          <a:xfrm>
            <a:off x="3648456" y="2121408"/>
            <a:ext cx="2240280" cy="621792"/>
          </a:xfrm>
          <a:prstGeom prst="rect">
            <a:avLst/>
          </a:prstGeom>
          <a:noFill/>
          <a:ln/>
        </p:spPr>
        <p:txBody>
          <a:bodyPr wrap="square" lIns="0" tIns="0" rIns="0" bIns="0" rtlCol="0" anchor="t"/>
          <a:lstStyle/>
          <a:p>
            <a:pPr marL="0" indent="0">
              <a:lnSpc>
                <a:spcPts val="1800"/>
              </a:lnSpc>
              <a:buNone/>
            </a:pPr>
            <a:r>
              <a:rPr lang="en-US" sz="1350" b="1" dirty="0">
                <a:solidFill>
                  <a:srgbClr val="0E7C6B"/>
                </a:solidFill>
                <a:latin typeface="Palatino Linotype" pitchFamily="34" charset="0"/>
                <a:ea typeface="Palatino Linotype" pitchFamily="34" charset="-122"/>
                <a:cs typeface="Palatino Linotype" pitchFamily="34" charset="-120"/>
              </a:rPr>
              <a:t>CANABIS</a:t>
            </a:r>
            <a:endParaRPr lang="en-US" sz="1350" dirty="0"/>
          </a:p>
        </p:txBody>
      </p:sp>
      <p:sp>
        <p:nvSpPr>
          <p:cNvPr id="14" name="Shape 12"/>
          <p:cNvSpPr/>
          <p:nvPr/>
        </p:nvSpPr>
        <p:spPr>
          <a:xfrm>
            <a:off x="6190488" y="1719072"/>
            <a:ext cx="2633472" cy="1097280"/>
          </a:xfrm>
          <a:prstGeom prst="roundRect">
            <a:avLst>
              <a:gd name="adj" fmla="val 7500"/>
            </a:avLst>
          </a:prstGeom>
          <a:solidFill>
            <a:srgbClr val="ECEAE4"/>
          </a:solidFill>
          <a:ln w="12700">
            <a:solidFill>
              <a:srgbClr val="ECEAE4"/>
            </a:solidFill>
            <a:prstDash val="solid"/>
          </a:ln>
        </p:spPr>
        <p:txBody>
          <a:bodyPr/>
          <a:lstStyle/>
          <a:p>
            <a:endParaRPr lang="ro-RO"/>
          </a:p>
        </p:txBody>
      </p:sp>
      <p:sp>
        <p:nvSpPr>
          <p:cNvPr id="15" name="Shape 13"/>
          <p:cNvSpPr/>
          <p:nvPr/>
        </p:nvSpPr>
        <p:spPr>
          <a:xfrm>
            <a:off x="6190488" y="1719072"/>
            <a:ext cx="50292" cy="1097280"/>
          </a:xfrm>
          <a:prstGeom prst="rect">
            <a:avLst/>
          </a:prstGeom>
          <a:solidFill>
            <a:srgbClr val="4A2D8C"/>
          </a:solidFill>
          <a:ln w="12700">
            <a:solidFill>
              <a:srgbClr val="4A2D8C"/>
            </a:solidFill>
            <a:prstDash val="solid"/>
          </a:ln>
        </p:spPr>
        <p:txBody>
          <a:bodyPr/>
          <a:lstStyle/>
          <a:p>
            <a:endParaRPr lang="ro-RO"/>
          </a:p>
        </p:txBody>
      </p:sp>
      <p:sp>
        <p:nvSpPr>
          <p:cNvPr id="16" name="Text 14"/>
          <p:cNvSpPr/>
          <p:nvPr/>
        </p:nvSpPr>
        <p:spPr>
          <a:xfrm>
            <a:off x="6446520" y="1828800"/>
            <a:ext cx="2194560" cy="256032"/>
          </a:xfrm>
          <a:prstGeom prst="rect">
            <a:avLst/>
          </a:prstGeom>
          <a:noFill/>
          <a:ln/>
        </p:spPr>
        <p:txBody>
          <a:bodyPr wrap="square" lIns="0" tIns="0" rIns="0" bIns="0" rtlCol="0" anchor="ctr"/>
          <a:lstStyle/>
          <a:p>
            <a:pPr marL="0" indent="0">
              <a:buNone/>
            </a:pPr>
            <a:r>
              <a:rPr lang="en-US" sz="950" b="1" kern="0" spc="200" dirty="0">
                <a:solidFill>
                  <a:srgbClr val="585A64"/>
                </a:solidFill>
                <a:latin typeface="Palatino Linotype" pitchFamily="34" charset="0"/>
                <a:ea typeface="Palatino Linotype" pitchFamily="34" charset="-122"/>
                <a:cs typeface="Palatino Linotype" pitchFamily="34" charset="-120"/>
              </a:rPr>
              <a:t>ZONA C</a:t>
            </a:r>
            <a:endParaRPr lang="en-US" sz="950" dirty="0"/>
          </a:p>
        </p:txBody>
      </p:sp>
      <p:sp>
        <p:nvSpPr>
          <p:cNvPr id="17" name="Text 15"/>
          <p:cNvSpPr/>
          <p:nvPr/>
        </p:nvSpPr>
        <p:spPr>
          <a:xfrm>
            <a:off x="6446520" y="2121408"/>
            <a:ext cx="2240280" cy="621792"/>
          </a:xfrm>
          <a:prstGeom prst="rect">
            <a:avLst/>
          </a:prstGeom>
          <a:noFill/>
          <a:ln/>
        </p:spPr>
        <p:txBody>
          <a:bodyPr wrap="square" lIns="0" tIns="0" rIns="0" bIns="0" rtlCol="0" anchor="t"/>
          <a:lstStyle/>
          <a:p>
            <a:pPr marL="0" indent="0">
              <a:lnSpc>
                <a:spcPts val="1800"/>
              </a:lnSpc>
              <a:buNone/>
            </a:pPr>
            <a:r>
              <a:rPr lang="en-US" sz="1350" b="1" dirty="0">
                <a:solidFill>
                  <a:srgbClr val="4A2D8C"/>
                </a:solidFill>
                <a:latin typeface="Palatino Linotype" pitchFamily="34" charset="0"/>
                <a:ea typeface="Palatino Linotype" pitchFamily="34" charset="-122"/>
                <a:cs typeface="Palatino Linotype" pitchFamily="34" charset="-120"/>
              </a:rPr>
              <a:t>ALPRAZOLAM</a:t>
            </a:r>
            <a:endParaRPr lang="en-US" sz="1350" dirty="0"/>
          </a:p>
          <a:p>
            <a:pPr marL="0" indent="0">
              <a:lnSpc>
                <a:spcPts val="1800"/>
              </a:lnSpc>
              <a:buNone/>
            </a:pPr>
            <a:r>
              <a:rPr lang="en-US" sz="1350" b="1" dirty="0">
                <a:solidFill>
                  <a:srgbClr val="4A2D8C"/>
                </a:solidFill>
                <a:latin typeface="Palatino Linotype" pitchFamily="34" charset="0"/>
                <a:ea typeface="Palatino Linotype" pitchFamily="34" charset="-122"/>
                <a:cs typeface="Palatino Linotype" pitchFamily="34" charset="-120"/>
              </a:rPr>
              <a:t>prescris acum 20 de luni, procurat și din alte surse</a:t>
            </a:r>
            <a:endParaRPr lang="en-US" sz="1350" dirty="0"/>
          </a:p>
        </p:txBody>
      </p:sp>
      <p:sp>
        <p:nvSpPr>
          <p:cNvPr id="18" name="Shape 16"/>
          <p:cNvSpPr/>
          <p:nvPr/>
        </p:nvSpPr>
        <p:spPr>
          <a:xfrm>
            <a:off x="8988552" y="1719072"/>
            <a:ext cx="2633472" cy="1097280"/>
          </a:xfrm>
          <a:prstGeom prst="roundRect">
            <a:avLst>
              <a:gd name="adj" fmla="val 7500"/>
            </a:avLst>
          </a:prstGeom>
          <a:solidFill>
            <a:srgbClr val="ECEAE4"/>
          </a:solidFill>
          <a:ln w="12700">
            <a:solidFill>
              <a:srgbClr val="ECEAE4"/>
            </a:solidFill>
            <a:prstDash val="solid"/>
          </a:ln>
        </p:spPr>
        <p:txBody>
          <a:bodyPr/>
          <a:lstStyle/>
          <a:p>
            <a:endParaRPr lang="ro-RO"/>
          </a:p>
        </p:txBody>
      </p:sp>
      <p:sp>
        <p:nvSpPr>
          <p:cNvPr id="19" name="Shape 17"/>
          <p:cNvSpPr/>
          <p:nvPr/>
        </p:nvSpPr>
        <p:spPr>
          <a:xfrm>
            <a:off x="8988552" y="1719072"/>
            <a:ext cx="50292" cy="1097280"/>
          </a:xfrm>
          <a:prstGeom prst="rect">
            <a:avLst/>
          </a:prstGeom>
          <a:solidFill>
            <a:srgbClr val="9C4A0A"/>
          </a:solidFill>
          <a:ln w="12700">
            <a:solidFill>
              <a:srgbClr val="9C4A0A"/>
            </a:solidFill>
            <a:prstDash val="solid"/>
          </a:ln>
        </p:spPr>
        <p:txBody>
          <a:bodyPr/>
          <a:lstStyle/>
          <a:p>
            <a:endParaRPr lang="ro-RO"/>
          </a:p>
        </p:txBody>
      </p:sp>
      <p:sp>
        <p:nvSpPr>
          <p:cNvPr id="20" name="Text 18"/>
          <p:cNvSpPr/>
          <p:nvPr/>
        </p:nvSpPr>
        <p:spPr>
          <a:xfrm>
            <a:off x="9244584" y="1828800"/>
            <a:ext cx="2194560" cy="256032"/>
          </a:xfrm>
          <a:prstGeom prst="rect">
            <a:avLst/>
          </a:prstGeom>
          <a:noFill/>
          <a:ln/>
        </p:spPr>
        <p:txBody>
          <a:bodyPr wrap="square" lIns="0" tIns="0" rIns="0" bIns="0" rtlCol="0" anchor="ctr"/>
          <a:lstStyle/>
          <a:p>
            <a:pPr marL="0" indent="0">
              <a:buNone/>
            </a:pPr>
            <a:r>
              <a:rPr lang="en-US" sz="950" b="1" kern="0" spc="200" dirty="0">
                <a:solidFill>
                  <a:srgbClr val="585A64"/>
                </a:solidFill>
                <a:latin typeface="Palatino Linotype" pitchFamily="34" charset="0"/>
                <a:ea typeface="Palatino Linotype" pitchFamily="34" charset="-122"/>
                <a:cs typeface="Palatino Linotype" pitchFamily="34" charset="-120"/>
              </a:rPr>
              <a:t>ZONA D</a:t>
            </a:r>
            <a:endParaRPr lang="en-US" sz="950" dirty="0"/>
          </a:p>
        </p:txBody>
      </p:sp>
      <p:sp>
        <p:nvSpPr>
          <p:cNvPr id="21" name="Text 19"/>
          <p:cNvSpPr/>
          <p:nvPr/>
        </p:nvSpPr>
        <p:spPr>
          <a:xfrm>
            <a:off x="9244584" y="2121408"/>
            <a:ext cx="2240280" cy="621792"/>
          </a:xfrm>
          <a:prstGeom prst="rect">
            <a:avLst/>
          </a:prstGeom>
          <a:noFill/>
          <a:ln/>
        </p:spPr>
        <p:txBody>
          <a:bodyPr wrap="square" lIns="0" tIns="0" rIns="0" bIns="0" rtlCol="0" anchor="t"/>
          <a:lstStyle/>
          <a:p>
            <a:pPr marL="0" indent="0">
              <a:lnSpc>
                <a:spcPts val="1800"/>
              </a:lnSpc>
              <a:buNone/>
            </a:pPr>
            <a:r>
              <a:rPr lang="en-US" sz="1350" b="1" dirty="0">
                <a:solidFill>
                  <a:srgbClr val="9C4A0A"/>
                </a:solidFill>
                <a:latin typeface="Palatino Linotype" pitchFamily="34" charset="0"/>
                <a:ea typeface="Palatino Linotype" pitchFamily="34" charset="-122"/>
                <a:cs typeface="Palatino Linotype" pitchFamily="34" charset="-120"/>
              </a:rPr>
              <a:t>HEROINĂ</a:t>
            </a:r>
            <a:endParaRPr lang="en-US" sz="1350" dirty="0"/>
          </a:p>
          <a:p>
            <a:pPr marL="0" indent="0">
              <a:lnSpc>
                <a:spcPts val="1800"/>
              </a:lnSpc>
              <a:buNone/>
            </a:pPr>
            <a:r>
              <a:rPr lang="en-US" sz="1350" b="1" dirty="0">
                <a:solidFill>
                  <a:srgbClr val="9C4A0A"/>
                </a:solidFill>
                <a:latin typeface="Palatino Linotype" pitchFamily="34" charset="0"/>
                <a:ea typeface="Palatino Linotype" pitchFamily="34" charset="-122"/>
                <a:cs typeface="Palatino Linotype" pitchFamily="34" charset="-120"/>
              </a:rPr>
              <a:t>fumată</a:t>
            </a:r>
            <a:endParaRPr lang="en-US" sz="1350" dirty="0"/>
          </a:p>
        </p:txBody>
      </p:sp>
      <p:sp>
        <p:nvSpPr>
          <p:cNvPr id="22" name="Shape 20"/>
          <p:cNvSpPr/>
          <p:nvPr/>
        </p:nvSpPr>
        <p:spPr>
          <a:xfrm>
            <a:off x="594360" y="2962656"/>
            <a:ext cx="10972800" cy="914400"/>
          </a:xfrm>
          <a:prstGeom prst="roundRect">
            <a:avLst>
              <a:gd name="adj" fmla="val 9000"/>
            </a:avLst>
          </a:prstGeom>
          <a:solidFill>
            <a:srgbClr val="F9F8F5"/>
          </a:solidFill>
          <a:ln w="12700">
            <a:solidFill>
              <a:srgbClr val="F9F8F5"/>
            </a:solidFill>
            <a:prstDash val="solid"/>
          </a:ln>
        </p:spPr>
        <p:txBody>
          <a:bodyPr/>
          <a:lstStyle/>
          <a:p>
            <a:endParaRPr lang="ro-RO"/>
          </a:p>
        </p:txBody>
      </p:sp>
      <p:sp>
        <p:nvSpPr>
          <p:cNvPr id="23" name="Text 21"/>
          <p:cNvSpPr/>
          <p:nvPr/>
        </p:nvSpPr>
        <p:spPr>
          <a:xfrm>
            <a:off x="914400" y="3072384"/>
            <a:ext cx="10332720" cy="256032"/>
          </a:xfrm>
          <a:prstGeom prst="rect">
            <a:avLst/>
          </a:prstGeom>
          <a:noFill/>
          <a:ln/>
        </p:spPr>
        <p:txBody>
          <a:bodyPr wrap="square" lIns="0" tIns="0" rIns="0" bIns="0" rtlCol="0" anchor="ctr"/>
          <a:lstStyle/>
          <a:p>
            <a:pPr marL="0" indent="0">
              <a:buNone/>
            </a:pPr>
            <a:r>
              <a:rPr lang="en-US" sz="950" b="1" kern="0" spc="200" dirty="0">
                <a:solidFill>
                  <a:srgbClr val="585A64"/>
                </a:solidFill>
                <a:latin typeface="Palatino Linotype" pitchFamily="34" charset="0"/>
                <a:ea typeface="Palatino Linotype" pitchFamily="34" charset="-122"/>
                <a:cs typeface="Palatino Linotype" pitchFamily="34" charset="-120"/>
              </a:rPr>
              <a:t>VINIETA — fictivă, pe ecran, identică pentru toate zonele</a:t>
            </a:r>
            <a:endParaRPr lang="en-US" sz="950" dirty="0"/>
          </a:p>
        </p:txBody>
      </p:sp>
      <p:sp>
        <p:nvSpPr>
          <p:cNvPr id="24" name="Text 22"/>
          <p:cNvSpPr/>
          <p:nvPr/>
        </p:nvSpPr>
        <p:spPr>
          <a:xfrm>
            <a:off x="914400" y="3346704"/>
            <a:ext cx="10332720" cy="457200"/>
          </a:xfrm>
          <a:prstGeom prst="rect">
            <a:avLst/>
          </a:prstGeom>
          <a:noFill/>
          <a:ln/>
        </p:spPr>
        <p:txBody>
          <a:bodyPr wrap="square" lIns="0" tIns="0" rIns="0" bIns="0" rtlCol="0" anchor="t"/>
          <a:lstStyle/>
          <a:p>
            <a:pPr marL="0" indent="0">
              <a:lnSpc>
                <a:spcPts val="1800"/>
              </a:lnSpc>
              <a:buNone/>
            </a:pPr>
            <a:r>
              <a:rPr lang="en-US" sz="1200" dirty="0">
                <a:solidFill>
                  <a:srgbClr val="11121A"/>
                </a:solidFill>
                <a:latin typeface="Palatino Linotype" pitchFamily="34" charset="0"/>
                <a:ea typeface="Palatino Linotype" pitchFamily="34" charset="-122"/>
                <a:cs typeface="Palatino Linotype" pitchFamily="34" charset="-120"/>
              </a:rPr>
              <a:t>Valori ipotetice. M., 24 de ani, consum de 20 de luni. În ultimele 12 luni: cantități mai mari decât intenția · două încercări eșuate de reducere · mult timp pentru procurare și recuperare · două termene ratate · toleranță · cinci conflicte familiale.</a:t>
            </a:r>
            <a:endParaRPr lang="en-US" sz="1200" dirty="0"/>
          </a:p>
        </p:txBody>
      </p:sp>
      <p:sp>
        <p:nvSpPr>
          <p:cNvPr id="25" name="Shape 23"/>
          <p:cNvSpPr/>
          <p:nvPr/>
        </p:nvSpPr>
        <p:spPr>
          <a:xfrm>
            <a:off x="594360" y="4041648"/>
            <a:ext cx="960120" cy="329184"/>
          </a:xfrm>
          <a:prstGeom prst="roundRect">
            <a:avLst>
              <a:gd name="adj" fmla="val 50000"/>
            </a:avLst>
          </a:prstGeom>
          <a:solidFill>
            <a:srgbClr val="0E7C6B"/>
          </a:solidFill>
          <a:ln w="12700">
            <a:solidFill>
              <a:srgbClr val="0E7C6B"/>
            </a:solidFill>
            <a:prstDash val="solid"/>
          </a:ln>
        </p:spPr>
        <p:txBody>
          <a:bodyPr/>
          <a:lstStyle/>
          <a:p>
            <a:endParaRPr lang="ro-RO"/>
          </a:p>
        </p:txBody>
      </p:sp>
      <p:sp>
        <p:nvSpPr>
          <p:cNvPr id="26" name="Text 24"/>
          <p:cNvSpPr/>
          <p:nvPr/>
        </p:nvSpPr>
        <p:spPr>
          <a:xfrm>
            <a:off x="594360" y="4041648"/>
            <a:ext cx="96012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6 min</a:t>
            </a:r>
            <a:endParaRPr lang="en-US" sz="1000" dirty="0"/>
          </a:p>
        </p:txBody>
      </p:sp>
      <p:sp>
        <p:nvSpPr>
          <p:cNvPr id="27" name="Text 25"/>
          <p:cNvSpPr/>
          <p:nvPr/>
        </p:nvSpPr>
        <p:spPr>
          <a:xfrm>
            <a:off x="1737360" y="4041648"/>
            <a:ext cx="9829800" cy="329184"/>
          </a:xfrm>
          <a:prstGeom prst="rect">
            <a:avLst/>
          </a:prstGeom>
          <a:noFill/>
          <a:ln/>
        </p:spPr>
        <p:txBody>
          <a:bodyPr wrap="square" lIns="0" tIns="0" rIns="0" bIns="0" rtlCol="0" anchor="ctr"/>
          <a:lstStyle/>
          <a:p>
            <a:pPr marL="0" indent="0">
              <a:buNone/>
            </a:pPr>
            <a:r>
              <a:rPr lang="en-US" sz="1250" dirty="0">
                <a:solidFill>
                  <a:srgbClr val="11121A"/>
                </a:solidFill>
                <a:latin typeface="Palatino Linotype" pitchFamily="34" charset="0"/>
                <a:ea typeface="Palatino Linotype" pitchFamily="34" charset="-122"/>
                <a:cs typeface="Palatino Linotype" pitchFamily="34" charset="-120"/>
              </a:rPr>
              <a:t>Cu colegul de bancă: criteriile DSM-5-TR îndeplinite din cele 11, numărul lor și severitatea. Vot pe telefon.</a:t>
            </a:r>
            <a:endParaRPr lang="en-US" sz="1250" dirty="0"/>
          </a:p>
        </p:txBody>
      </p:sp>
      <p:sp>
        <p:nvSpPr>
          <p:cNvPr id="28" name="Shape 26"/>
          <p:cNvSpPr/>
          <p:nvPr/>
        </p:nvSpPr>
        <p:spPr>
          <a:xfrm>
            <a:off x="594360" y="4553712"/>
            <a:ext cx="960120" cy="329184"/>
          </a:xfrm>
          <a:prstGeom prst="roundRect">
            <a:avLst>
              <a:gd name="adj" fmla="val 50000"/>
            </a:avLst>
          </a:prstGeom>
          <a:solidFill>
            <a:srgbClr val="B02532"/>
          </a:solidFill>
          <a:ln w="12700">
            <a:solidFill>
              <a:srgbClr val="B02532"/>
            </a:solidFill>
            <a:prstDash val="solid"/>
          </a:ln>
        </p:spPr>
        <p:txBody>
          <a:bodyPr/>
          <a:lstStyle/>
          <a:p>
            <a:endParaRPr lang="ro-RO"/>
          </a:p>
        </p:txBody>
      </p:sp>
      <p:sp>
        <p:nvSpPr>
          <p:cNvPr id="29" name="Text 27"/>
          <p:cNvSpPr/>
          <p:nvPr/>
        </p:nvSpPr>
        <p:spPr>
          <a:xfrm>
            <a:off x="594360" y="4553712"/>
            <a:ext cx="96012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5 min</a:t>
            </a:r>
            <a:endParaRPr lang="en-US" sz="1000" dirty="0"/>
          </a:p>
        </p:txBody>
      </p:sp>
      <p:sp>
        <p:nvSpPr>
          <p:cNvPr id="30" name="Text 28"/>
          <p:cNvSpPr/>
          <p:nvPr/>
        </p:nvSpPr>
        <p:spPr>
          <a:xfrm>
            <a:off x="1737360" y="4553712"/>
            <a:ext cx="9829800" cy="329184"/>
          </a:xfrm>
          <a:prstGeom prst="rect">
            <a:avLst/>
          </a:prstGeom>
          <a:noFill/>
          <a:ln/>
        </p:spPr>
        <p:txBody>
          <a:bodyPr wrap="square" lIns="0" tIns="0" rIns="0" bIns="0" rtlCol="0" anchor="ctr"/>
          <a:lstStyle/>
          <a:p>
            <a:pPr marL="0" indent="0">
              <a:buNone/>
            </a:pPr>
            <a:r>
              <a:rPr lang="en-US" sz="1250" dirty="0">
                <a:solidFill>
                  <a:srgbClr val="11121A"/>
                </a:solidFill>
                <a:latin typeface="Palatino Linotype" pitchFamily="34" charset="0"/>
                <a:ea typeface="Palatino Linotype" pitchFamily="34" charset="-122"/>
                <a:cs typeface="Palatino Linotype" pitchFamily="34" charset="-120"/>
              </a:rPr>
              <a:t>Ce se întâmplă cu M. în sistemul JURIDIC românesc? Folosiți art. 4 din Legea 143/2000, afișat pe ecran. Vot pe telefon, pe zone.</a:t>
            </a:r>
            <a:endParaRPr lang="en-US" sz="1250" dirty="0"/>
          </a:p>
        </p:txBody>
      </p:sp>
      <p:sp>
        <p:nvSpPr>
          <p:cNvPr id="31" name="Shape 29"/>
          <p:cNvSpPr/>
          <p:nvPr/>
        </p:nvSpPr>
        <p:spPr>
          <a:xfrm>
            <a:off x="594360" y="5065776"/>
            <a:ext cx="960120" cy="329184"/>
          </a:xfrm>
          <a:prstGeom prst="roundRect">
            <a:avLst>
              <a:gd name="adj" fmla="val 50000"/>
            </a:avLst>
          </a:prstGeom>
          <a:solidFill>
            <a:srgbClr val="4A2D8C"/>
          </a:solidFill>
          <a:ln w="12700">
            <a:solidFill>
              <a:srgbClr val="4A2D8C"/>
            </a:solidFill>
            <a:prstDash val="solid"/>
          </a:ln>
        </p:spPr>
        <p:txBody>
          <a:bodyPr/>
          <a:lstStyle/>
          <a:p>
            <a:endParaRPr lang="ro-RO"/>
          </a:p>
        </p:txBody>
      </p:sp>
      <p:sp>
        <p:nvSpPr>
          <p:cNvPr id="32" name="Text 30"/>
          <p:cNvSpPr/>
          <p:nvPr/>
        </p:nvSpPr>
        <p:spPr>
          <a:xfrm>
            <a:off x="594360" y="5065776"/>
            <a:ext cx="96012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4 min</a:t>
            </a:r>
            <a:endParaRPr lang="en-US" sz="1000" dirty="0"/>
          </a:p>
        </p:txBody>
      </p:sp>
      <p:sp>
        <p:nvSpPr>
          <p:cNvPr id="33" name="Text 31"/>
          <p:cNvSpPr/>
          <p:nvPr/>
        </p:nvSpPr>
        <p:spPr>
          <a:xfrm>
            <a:off x="1737360" y="5065776"/>
            <a:ext cx="9829800" cy="329184"/>
          </a:xfrm>
          <a:prstGeom prst="rect">
            <a:avLst/>
          </a:prstGeom>
          <a:noFill/>
          <a:ln/>
        </p:spPr>
        <p:txBody>
          <a:bodyPr wrap="square" lIns="0" tIns="0" rIns="0" bIns="0" rtlCol="0" anchor="ctr"/>
          <a:lstStyle/>
          <a:p>
            <a:pPr marL="0" indent="0">
              <a:buNone/>
            </a:pPr>
            <a:r>
              <a:rPr lang="en-US" sz="1250" dirty="0">
                <a:solidFill>
                  <a:srgbClr val="11121A"/>
                </a:solidFill>
                <a:latin typeface="Palatino Linotype" pitchFamily="34" charset="0"/>
                <a:ea typeface="Palatino Linotype" pitchFamily="34" charset="-122"/>
                <a:cs typeface="Palatino Linotype" pitchFamily="34" charset="-120"/>
              </a:rPr>
              <a:t>Ce se întâmplă cu M. în sistemul MEDICAL românesc? Cine îl vede, unde e trimis, ce tratament există.</a:t>
            </a:r>
            <a:endParaRPr lang="en-US" sz="1250" dirty="0"/>
          </a:p>
        </p:txBody>
      </p:sp>
      <p:sp>
        <p:nvSpPr>
          <p:cNvPr id="34" name="Shape 32"/>
          <p:cNvSpPr/>
          <p:nvPr/>
        </p:nvSpPr>
        <p:spPr>
          <a:xfrm>
            <a:off x="594360" y="5577840"/>
            <a:ext cx="960120" cy="329184"/>
          </a:xfrm>
          <a:prstGeom prst="roundRect">
            <a:avLst>
              <a:gd name="adj" fmla="val 50000"/>
            </a:avLst>
          </a:prstGeom>
          <a:solidFill>
            <a:srgbClr val="8A6100"/>
          </a:solidFill>
          <a:ln w="12700">
            <a:solidFill>
              <a:srgbClr val="8A6100"/>
            </a:solidFill>
            <a:prstDash val="solid"/>
          </a:ln>
        </p:spPr>
        <p:txBody>
          <a:bodyPr/>
          <a:lstStyle/>
          <a:p>
            <a:endParaRPr lang="ro-RO"/>
          </a:p>
        </p:txBody>
      </p:sp>
      <p:sp>
        <p:nvSpPr>
          <p:cNvPr id="35" name="Text 33"/>
          <p:cNvSpPr/>
          <p:nvPr/>
        </p:nvSpPr>
        <p:spPr>
          <a:xfrm>
            <a:off x="594360" y="5577840"/>
            <a:ext cx="96012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3 min</a:t>
            </a:r>
            <a:endParaRPr lang="en-US" sz="1000" dirty="0"/>
          </a:p>
        </p:txBody>
      </p:sp>
      <p:sp>
        <p:nvSpPr>
          <p:cNvPr id="36" name="Text 34"/>
          <p:cNvSpPr/>
          <p:nvPr/>
        </p:nvSpPr>
        <p:spPr>
          <a:xfrm>
            <a:off x="1737360" y="5577840"/>
            <a:ext cx="9829800" cy="329184"/>
          </a:xfrm>
          <a:prstGeom prst="rect">
            <a:avLst/>
          </a:prstGeom>
          <a:noFill/>
          <a:ln/>
        </p:spPr>
        <p:txBody>
          <a:bodyPr wrap="square" lIns="0" tIns="0" rIns="0" bIns="0" rtlCol="0" anchor="ctr"/>
          <a:lstStyle/>
          <a:p>
            <a:pPr marL="0" indent="0">
              <a:buNone/>
            </a:pPr>
            <a:r>
              <a:rPr lang="en-US" sz="1250" dirty="0">
                <a:solidFill>
                  <a:srgbClr val="11121A"/>
                </a:solidFill>
                <a:latin typeface="Palatino Linotype" pitchFamily="34" charset="0"/>
                <a:ea typeface="Palatino Linotype" pitchFamily="34" charset="-122"/>
                <a:cs typeface="Palatino Linotype" pitchFamily="34" charset="-120"/>
              </a:rPr>
              <a:t>Se proiectează cele patru distribuții de răspunsuri, una lângă alta. Fără comentarii până la încheierea tuturor lecturilor.</a:t>
            </a:r>
            <a:endParaRPr lang="en-US" sz="1250" dirty="0"/>
          </a:p>
        </p:txBody>
      </p:sp>
      <p:sp>
        <p:nvSpPr>
          <p:cNvPr id="37" name="Text 35"/>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Nu se administrează niciun instrument de screening participanților din sală, nici anonim. Se lucrează exclusiv pe vinieta de pe ecran. Zonele NU știu că tabloul clinic este identic.</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8">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DEBRIEFING</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200" b="1" dirty="0">
                <a:solidFill>
                  <a:srgbClr val="FFFFFF"/>
                </a:solidFill>
                <a:latin typeface="Palatino Linotype" pitchFamily="34" charset="0"/>
                <a:ea typeface="Palatino Linotype" pitchFamily="34" charset="-122"/>
                <a:cs typeface="Palatino Linotype" pitchFamily="34" charset="-120"/>
              </a:rPr>
              <a:t>Un diagnostic. Trei regimuri juridice.</a:t>
            </a:r>
            <a:endParaRPr lang="en-US" sz="3200" dirty="0"/>
          </a:p>
        </p:txBody>
      </p:sp>
      <p:sp>
        <p:nvSpPr>
          <p:cNvPr id="4" name="Shape 2"/>
          <p:cNvSpPr/>
          <p:nvPr/>
        </p:nvSpPr>
        <p:spPr>
          <a:xfrm>
            <a:off x="594360" y="1783080"/>
            <a:ext cx="2633472" cy="2560320"/>
          </a:xfrm>
          <a:prstGeom prst="roundRect">
            <a:avLst>
              <a:gd name="adj" fmla="val 3214"/>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850392" y="1956816"/>
            <a:ext cx="2194560" cy="310896"/>
          </a:xfrm>
          <a:prstGeom prst="rect">
            <a:avLst/>
          </a:prstGeom>
          <a:noFill/>
          <a:ln/>
        </p:spPr>
        <p:txBody>
          <a:bodyPr wrap="square" lIns="0" tIns="0" rIns="0" bIns="0" rtlCol="0" anchor="ctr"/>
          <a:lstStyle/>
          <a:p>
            <a:pPr marL="0" indent="0">
              <a:buNone/>
            </a:pPr>
            <a:r>
              <a:rPr lang="en-US" sz="1150" b="1" kern="0" spc="140" dirty="0">
                <a:solidFill>
                  <a:srgbClr val="27D3BE"/>
                </a:solidFill>
                <a:latin typeface="Palatino Linotype" pitchFamily="34" charset="0"/>
                <a:ea typeface="Palatino Linotype" pitchFamily="34" charset="-122"/>
                <a:cs typeface="Palatino Linotype" pitchFamily="34" charset="-120"/>
              </a:rPr>
              <a:t>A · ALCOOL</a:t>
            </a:r>
            <a:endParaRPr lang="en-US" sz="1150" dirty="0"/>
          </a:p>
        </p:txBody>
      </p:sp>
      <p:sp>
        <p:nvSpPr>
          <p:cNvPr id="6" name="Text 4"/>
          <p:cNvSpPr/>
          <p:nvPr/>
        </p:nvSpPr>
        <p:spPr>
          <a:xfrm>
            <a:off x="850392" y="2359152"/>
            <a:ext cx="2194560" cy="1234440"/>
          </a:xfrm>
          <a:prstGeom prst="rect">
            <a:avLst/>
          </a:prstGeom>
          <a:noFill/>
          <a:ln/>
        </p:spPr>
        <p:txBody>
          <a:bodyPr wrap="square" lIns="0" tIns="0" rIns="0" bIns="0" rtlCol="0" anchor="t"/>
          <a:lstStyle/>
          <a:p>
            <a:pPr marL="0" indent="0">
              <a:lnSpc>
                <a:spcPts val="2000"/>
              </a:lnSpc>
              <a:buNone/>
            </a:pPr>
            <a:r>
              <a:rPr lang="en-US" sz="1300" b="1" dirty="0">
                <a:solidFill>
                  <a:srgbClr val="959BB0"/>
                </a:solidFill>
                <a:latin typeface="Palatino Linotype" pitchFamily="34" charset="0"/>
                <a:ea typeface="Palatino Linotype" pitchFamily="34" charset="-122"/>
                <a:cs typeface="Palatino Linotype" pitchFamily="34" charset="-120"/>
              </a:rPr>
              <a:t>Nicio consecință penală pentru cumpărare sau deținere.</a:t>
            </a:r>
            <a:endParaRPr lang="en-US" sz="1300" dirty="0"/>
          </a:p>
        </p:txBody>
      </p:sp>
      <p:sp>
        <p:nvSpPr>
          <p:cNvPr id="8" name="Shape 6"/>
          <p:cNvSpPr/>
          <p:nvPr/>
        </p:nvSpPr>
        <p:spPr>
          <a:xfrm>
            <a:off x="3392424" y="1783080"/>
            <a:ext cx="2633472" cy="2560320"/>
          </a:xfrm>
          <a:prstGeom prst="roundRect">
            <a:avLst>
              <a:gd name="adj" fmla="val 3214"/>
            </a:avLst>
          </a:prstGeom>
          <a:solidFill>
            <a:srgbClr val="FF4757"/>
          </a:solidFill>
          <a:ln w="12700">
            <a:solidFill>
              <a:srgbClr val="FF4757"/>
            </a:solidFill>
            <a:prstDash val="solid"/>
          </a:ln>
        </p:spPr>
        <p:txBody>
          <a:bodyPr/>
          <a:lstStyle/>
          <a:p>
            <a:endParaRPr lang="ro-RO"/>
          </a:p>
        </p:txBody>
      </p:sp>
      <p:sp>
        <p:nvSpPr>
          <p:cNvPr id="9" name="Text 7"/>
          <p:cNvSpPr/>
          <p:nvPr/>
        </p:nvSpPr>
        <p:spPr>
          <a:xfrm>
            <a:off x="3648456" y="1956816"/>
            <a:ext cx="2194560" cy="310896"/>
          </a:xfrm>
          <a:prstGeom prst="rect">
            <a:avLst/>
          </a:prstGeom>
          <a:noFill/>
          <a:ln/>
        </p:spPr>
        <p:txBody>
          <a:bodyPr wrap="square" lIns="0" tIns="0" rIns="0" bIns="0" rtlCol="0" anchor="ctr"/>
          <a:lstStyle/>
          <a:p>
            <a:pPr marL="0" indent="0">
              <a:buNone/>
            </a:pPr>
            <a:r>
              <a:rPr lang="en-US" sz="1150" b="1" kern="0" spc="140" dirty="0">
                <a:solidFill>
                  <a:srgbClr val="2E060B"/>
                </a:solidFill>
                <a:latin typeface="Palatino Linotype" pitchFamily="34" charset="0"/>
                <a:ea typeface="Palatino Linotype" pitchFamily="34" charset="-122"/>
                <a:cs typeface="Palatino Linotype" pitchFamily="34" charset="-120"/>
              </a:rPr>
              <a:t>B · CANABIS</a:t>
            </a:r>
            <a:endParaRPr lang="en-US" sz="1150" dirty="0"/>
          </a:p>
        </p:txBody>
      </p:sp>
      <p:sp>
        <p:nvSpPr>
          <p:cNvPr id="10" name="Text 8"/>
          <p:cNvSpPr/>
          <p:nvPr/>
        </p:nvSpPr>
        <p:spPr>
          <a:xfrm>
            <a:off x="3648456" y="2359152"/>
            <a:ext cx="2194560" cy="1234440"/>
          </a:xfrm>
          <a:prstGeom prst="rect">
            <a:avLst/>
          </a:prstGeom>
          <a:noFill/>
          <a:ln/>
        </p:spPr>
        <p:txBody>
          <a:bodyPr wrap="square" lIns="0" tIns="0" rIns="0" bIns="0" rtlCol="0" anchor="t"/>
          <a:lstStyle/>
          <a:p>
            <a:pPr marL="0" indent="0">
              <a:lnSpc>
                <a:spcPts val="2000"/>
              </a:lnSpc>
              <a:buNone/>
            </a:pPr>
            <a:r>
              <a:rPr lang="en-US" sz="1300" b="1" dirty="0">
                <a:solidFill>
                  <a:srgbClr val="2E060B"/>
                </a:solidFill>
                <a:latin typeface="Palatino Linotype" pitchFamily="34" charset="0"/>
                <a:ea typeface="Palatino Linotype" pitchFamily="34" charset="-122"/>
                <a:cs typeface="Palatino Linotype" pitchFamily="34" charset="-120"/>
              </a:rPr>
              <a:t>Drog de risc.</a:t>
            </a:r>
            <a:endParaRPr lang="en-US" sz="1300" dirty="0"/>
          </a:p>
          <a:p>
            <a:pPr marL="0" indent="0">
              <a:lnSpc>
                <a:spcPts val="2000"/>
              </a:lnSpc>
              <a:buNone/>
            </a:pPr>
            <a:r>
              <a:rPr lang="en-US" sz="1300" b="1" dirty="0">
                <a:solidFill>
                  <a:srgbClr val="2E060B"/>
                </a:solidFill>
                <a:latin typeface="Palatino Linotype" pitchFamily="34" charset="0"/>
                <a:ea typeface="Palatino Linotype" pitchFamily="34" charset="-122"/>
                <a:cs typeface="Palatino Linotype" pitchFamily="34" charset="-120"/>
              </a:rPr>
              <a:t>Închisoare de la 3 luni la 2 ani sau amendă.</a:t>
            </a:r>
            <a:endParaRPr lang="en-US" sz="1300" dirty="0"/>
          </a:p>
        </p:txBody>
      </p:sp>
      <p:sp>
        <p:nvSpPr>
          <p:cNvPr id="11" name="Text 9"/>
          <p:cNvSpPr/>
          <p:nvPr/>
        </p:nvSpPr>
        <p:spPr>
          <a:xfrm>
            <a:off x="3648456" y="3675888"/>
            <a:ext cx="2194560" cy="502920"/>
          </a:xfrm>
          <a:prstGeom prst="rect">
            <a:avLst/>
          </a:prstGeom>
          <a:noFill/>
          <a:ln/>
        </p:spPr>
        <p:txBody>
          <a:bodyPr wrap="square" lIns="0" tIns="0" rIns="0" bIns="0" rtlCol="0" anchor="t"/>
          <a:lstStyle/>
          <a:p>
            <a:pPr marL="0" indent="0">
              <a:lnSpc>
                <a:spcPts val="1600"/>
              </a:lnSpc>
              <a:buNone/>
            </a:pPr>
            <a:r>
              <a:rPr lang="en-US" sz="1100" i="1" dirty="0">
                <a:solidFill>
                  <a:srgbClr val="2E060B"/>
                </a:solidFill>
                <a:latin typeface="Palatino Linotype" pitchFamily="34" charset="0"/>
                <a:ea typeface="Palatino Linotype" pitchFamily="34" charset="-122"/>
                <a:cs typeface="Palatino Linotype" pitchFamily="34" charset="-120"/>
              </a:rPr>
              <a:t>Art. 4, alin. 1</a:t>
            </a:r>
            <a:endParaRPr lang="en-US" sz="1100" dirty="0"/>
          </a:p>
        </p:txBody>
      </p:sp>
      <p:sp>
        <p:nvSpPr>
          <p:cNvPr id="12" name="Shape 10"/>
          <p:cNvSpPr/>
          <p:nvPr/>
        </p:nvSpPr>
        <p:spPr>
          <a:xfrm>
            <a:off x="6190488" y="1783080"/>
            <a:ext cx="2633472" cy="2560320"/>
          </a:xfrm>
          <a:prstGeom prst="roundRect">
            <a:avLst>
              <a:gd name="adj" fmla="val 3214"/>
            </a:avLst>
          </a:prstGeom>
          <a:solidFill>
            <a:srgbClr val="272A38"/>
          </a:solidFill>
          <a:ln w="12700">
            <a:solidFill>
              <a:srgbClr val="272A38"/>
            </a:solidFill>
            <a:prstDash val="solid"/>
          </a:ln>
        </p:spPr>
        <p:txBody>
          <a:bodyPr/>
          <a:lstStyle/>
          <a:p>
            <a:endParaRPr lang="ro-RO"/>
          </a:p>
        </p:txBody>
      </p:sp>
      <p:sp>
        <p:nvSpPr>
          <p:cNvPr id="13" name="Text 11"/>
          <p:cNvSpPr/>
          <p:nvPr/>
        </p:nvSpPr>
        <p:spPr>
          <a:xfrm>
            <a:off x="6446520" y="1956816"/>
            <a:ext cx="2194560" cy="310896"/>
          </a:xfrm>
          <a:prstGeom prst="rect">
            <a:avLst/>
          </a:prstGeom>
          <a:noFill/>
          <a:ln/>
        </p:spPr>
        <p:txBody>
          <a:bodyPr wrap="square" lIns="0" tIns="0" rIns="0" bIns="0" rtlCol="0" anchor="ctr"/>
          <a:lstStyle/>
          <a:p>
            <a:pPr marL="0" indent="0">
              <a:buNone/>
            </a:pPr>
            <a:r>
              <a:rPr lang="en-US" sz="1150" b="1" kern="0" spc="140" dirty="0">
                <a:solidFill>
                  <a:srgbClr val="959BB0"/>
                </a:solidFill>
                <a:latin typeface="Palatino Linotype" pitchFamily="34" charset="0"/>
                <a:ea typeface="Palatino Linotype" pitchFamily="34" charset="-122"/>
                <a:cs typeface="Palatino Linotype" pitchFamily="34" charset="-120"/>
              </a:rPr>
              <a:t>C · ALPRAZOLAM</a:t>
            </a:r>
            <a:endParaRPr lang="en-US" sz="1150" dirty="0"/>
          </a:p>
        </p:txBody>
      </p:sp>
      <p:sp>
        <p:nvSpPr>
          <p:cNvPr id="14" name="Text 12"/>
          <p:cNvSpPr/>
          <p:nvPr/>
        </p:nvSpPr>
        <p:spPr>
          <a:xfrm>
            <a:off x="6446520" y="2359152"/>
            <a:ext cx="2194560" cy="1234440"/>
          </a:xfrm>
          <a:prstGeom prst="rect">
            <a:avLst/>
          </a:prstGeom>
          <a:noFill/>
          <a:ln/>
        </p:spPr>
        <p:txBody>
          <a:bodyPr wrap="square" lIns="0" tIns="0" rIns="0" bIns="0" rtlCol="0" anchor="t"/>
          <a:lstStyle/>
          <a:p>
            <a:pPr marL="0" indent="0">
              <a:lnSpc>
                <a:spcPts val="2000"/>
              </a:lnSpc>
              <a:buNone/>
            </a:pPr>
            <a:r>
              <a:rPr lang="en-US" sz="1300" b="1" dirty="0">
                <a:solidFill>
                  <a:srgbClr val="9B7EF7"/>
                </a:solidFill>
                <a:latin typeface="Palatino Linotype" pitchFamily="34" charset="0"/>
                <a:ea typeface="Palatino Linotype" pitchFamily="34" charset="-122"/>
                <a:cs typeface="Palatino Linotype" pitchFamily="34" charset="-120"/>
              </a:rPr>
              <a:t>Drog de risc.</a:t>
            </a:r>
            <a:endParaRPr lang="en-US" sz="1300" dirty="0"/>
          </a:p>
          <a:p>
            <a:pPr marL="0" indent="0">
              <a:lnSpc>
                <a:spcPts val="2000"/>
              </a:lnSpc>
              <a:buNone/>
            </a:pPr>
            <a:r>
              <a:rPr lang="en-US" sz="1300" b="1" dirty="0">
                <a:solidFill>
                  <a:srgbClr val="9B7EF7"/>
                </a:solidFill>
                <a:latin typeface="Palatino Linotype" pitchFamily="34" charset="0"/>
                <a:ea typeface="Palatino Linotype" pitchFamily="34" charset="-122"/>
                <a:cs typeface="Palatino Linotype" pitchFamily="34" charset="-120"/>
              </a:rPr>
              <a:t>Cu prescripție: nu e „fără drept” (interpretare). Fără: ca la B.</a:t>
            </a:r>
            <a:endParaRPr lang="en-US" sz="1300" dirty="0"/>
          </a:p>
        </p:txBody>
      </p:sp>
      <p:sp>
        <p:nvSpPr>
          <p:cNvPr id="15" name="Text 13"/>
          <p:cNvSpPr/>
          <p:nvPr/>
        </p:nvSpPr>
        <p:spPr>
          <a:xfrm>
            <a:off x="6446520" y="3675888"/>
            <a:ext cx="2194560" cy="502920"/>
          </a:xfrm>
          <a:prstGeom prst="rect">
            <a:avLst/>
          </a:prstGeom>
          <a:noFill/>
          <a:ln/>
        </p:spPr>
        <p:txBody>
          <a:bodyPr wrap="square" lIns="0" tIns="0" rIns="0" bIns="0" rtlCol="0" anchor="t"/>
          <a:lstStyle/>
          <a:p>
            <a:pPr marL="0" indent="0">
              <a:lnSpc>
                <a:spcPts val="1600"/>
              </a:lnSpc>
              <a:buNone/>
            </a:pPr>
            <a:r>
              <a:rPr lang="en-US" sz="1100" i="1" dirty="0">
                <a:solidFill>
                  <a:srgbClr val="9B7EF7"/>
                </a:solidFill>
                <a:latin typeface="Palatino Linotype" pitchFamily="34" charset="0"/>
                <a:ea typeface="Palatino Linotype" pitchFamily="34" charset="-122"/>
                <a:cs typeface="Palatino Linotype" pitchFamily="34" charset="-120"/>
              </a:rPr>
              <a:t>Prima rețetă a semnat-o un medic.</a:t>
            </a:r>
            <a:endParaRPr lang="en-US" sz="1100" dirty="0"/>
          </a:p>
        </p:txBody>
      </p:sp>
      <p:sp>
        <p:nvSpPr>
          <p:cNvPr id="16" name="Shape 14"/>
          <p:cNvSpPr/>
          <p:nvPr/>
        </p:nvSpPr>
        <p:spPr>
          <a:xfrm>
            <a:off x="8988552" y="1783080"/>
            <a:ext cx="2633472" cy="2560320"/>
          </a:xfrm>
          <a:prstGeom prst="roundRect">
            <a:avLst>
              <a:gd name="adj" fmla="val 3214"/>
            </a:avLst>
          </a:prstGeom>
          <a:solidFill>
            <a:srgbClr val="FF4757"/>
          </a:solidFill>
          <a:ln w="12700">
            <a:solidFill>
              <a:srgbClr val="FF4757"/>
            </a:solidFill>
            <a:prstDash val="solid"/>
          </a:ln>
        </p:spPr>
        <p:txBody>
          <a:bodyPr/>
          <a:lstStyle/>
          <a:p>
            <a:endParaRPr lang="ro-RO"/>
          </a:p>
        </p:txBody>
      </p:sp>
      <p:sp>
        <p:nvSpPr>
          <p:cNvPr id="17" name="Text 15"/>
          <p:cNvSpPr/>
          <p:nvPr/>
        </p:nvSpPr>
        <p:spPr>
          <a:xfrm>
            <a:off x="9244584" y="1956816"/>
            <a:ext cx="2194560" cy="310896"/>
          </a:xfrm>
          <a:prstGeom prst="rect">
            <a:avLst/>
          </a:prstGeom>
          <a:noFill/>
          <a:ln/>
        </p:spPr>
        <p:txBody>
          <a:bodyPr wrap="square" lIns="0" tIns="0" rIns="0" bIns="0" rtlCol="0" anchor="ctr"/>
          <a:lstStyle/>
          <a:p>
            <a:pPr marL="0" indent="0">
              <a:buNone/>
            </a:pPr>
            <a:r>
              <a:rPr lang="en-US" sz="1150" b="1" kern="0" spc="140" dirty="0">
                <a:solidFill>
                  <a:srgbClr val="2E060B"/>
                </a:solidFill>
                <a:latin typeface="Palatino Linotype" pitchFamily="34" charset="0"/>
                <a:ea typeface="Palatino Linotype" pitchFamily="34" charset="-122"/>
                <a:cs typeface="Palatino Linotype" pitchFamily="34" charset="-120"/>
              </a:rPr>
              <a:t>D · HEROINĂ</a:t>
            </a:r>
            <a:endParaRPr lang="en-US" sz="1150" dirty="0"/>
          </a:p>
        </p:txBody>
      </p:sp>
      <p:sp>
        <p:nvSpPr>
          <p:cNvPr id="18" name="Text 16"/>
          <p:cNvSpPr/>
          <p:nvPr/>
        </p:nvSpPr>
        <p:spPr>
          <a:xfrm>
            <a:off x="9244584" y="2359152"/>
            <a:ext cx="2194560" cy="1234440"/>
          </a:xfrm>
          <a:prstGeom prst="rect">
            <a:avLst/>
          </a:prstGeom>
          <a:noFill/>
          <a:ln/>
        </p:spPr>
        <p:txBody>
          <a:bodyPr wrap="square" lIns="0" tIns="0" rIns="0" bIns="0" rtlCol="0" anchor="t"/>
          <a:lstStyle/>
          <a:p>
            <a:pPr marL="0" indent="0">
              <a:lnSpc>
                <a:spcPts val="2000"/>
              </a:lnSpc>
              <a:buNone/>
            </a:pPr>
            <a:r>
              <a:rPr lang="en-US" sz="1300" b="1" dirty="0">
                <a:solidFill>
                  <a:srgbClr val="2E060B"/>
                </a:solidFill>
                <a:latin typeface="Palatino Linotype" pitchFamily="34" charset="0"/>
                <a:ea typeface="Palatino Linotype" pitchFamily="34" charset="-122"/>
                <a:cs typeface="Palatino Linotype" pitchFamily="34" charset="-120"/>
              </a:rPr>
              <a:t>Drog de mare risc.</a:t>
            </a:r>
            <a:endParaRPr lang="en-US" sz="1300" dirty="0"/>
          </a:p>
          <a:p>
            <a:pPr marL="0" indent="0">
              <a:lnSpc>
                <a:spcPts val="2000"/>
              </a:lnSpc>
              <a:buNone/>
            </a:pPr>
            <a:r>
              <a:rPr lang="en-US" sz="1300" b="1" dirty="0">
                <a:solidFill>
                  <a:srgbClr val="2E060B"/>
                </a:solidFill>
                <a:latin typeface="Palatino Linotype" pitchFamily="34" charset="0"/>
                <a:ea typeface="Palatino Linotype" pitchFamily="34" charset="-122"/>
                <a:cs typeface="Palatino Linotype" pitchFamily="34" charset="-120"/>
              </a:rPr>
              <a:t>Închisoare de la 6 luni la 3 ani.</a:t>
            </a:r>
            <a:endParaRPr lang="en-US" sz="1300" dirty="0"/>
          </a:p>
        </p:txBody>
      </p:sp>
      <p:sp>
        <p:nvSpPr>
          <p:cNvPr id="19" name="Text 17"/>
          <p:cNvSpPr/>
          <p:nvPr/>
        </p:nvSpPr>
        <p:spPr>
          <a:xfrm>
            <a:off x="9244584" y="3675888"/>
            <a:ext cx="2194560" cy="502920"/>
          </a:xfrm>
          <a:prstGeom prst="rect">
            <a:avLst/>
          </a:prstGeom>
          <a:noFill/>
          <a:ln/>
        </p:spPr>
        <p:txBody>
          <a:bodyPr wrap="square" lIns="0" tIns="0" rIns="0" bIns="0" rtlCol="0" anchor="t"/>
          <a:lstStyle/>
          <a:p>
            <a:pPr marL="0" indent="0">
              <a:lnSpc>
                <a:spcPts val="1600"/>
              </a:lnSpc>
              <a:buNone/>
            </a:pPr>
            <a:r>
              <a:rPr lang="en-US" sz="1100" i="1" dirty="0">
                <a:solidFill>
                  <a:srgbClr val="2E060B"/>
                </a:solidFill>
                <a:latin typeface="Palatino Linotype" pitchFamily="34" charset="0"/>
                <a:ea typeface="Palatino Linotype" pitchFamily="34" charset="-122"/>
                <a:cs typeface="Palatino Linotype" pitchFamily="34" charset="-120"/>
              </a:rPr>
              <a:t>Art. 4, alin. 2</a:t>
            </a:r>
            <a:endParaRPr lang="en-US" sz="1100" dirty="0"/>
          </a:p>
        </p:txBody>
      </p:sp>
      <p:sp>
        <p:nvSpPr>
          <p:cNvPr id="20" name="Shape 18"/>
          <p:cNvSpPr/>
          <p:nvPr/>
        </p:nvSpPr>
        <p:spPr>
          <a:xfrm>
            <a:off x="594360" y="4590288"/>
            <a:ext cx="10972800" cy="1298448"/>
          </a:xfrm>
          <a:prstGeom prst="roundRect">
            <a:avLst>
              <a:gd name="adj" fmla="val 6338"/>
            </a:avLst>
          </a:prstGeom>
          <a:solidFill>
            <a:srgbClr val="272A38"/>
          </a:solidFill>
          <a:ln w="12700">
            <a:solidFill>
              <a:srgbClr val="272A38"/>
            </a:solidFill>
            <a:prstDash val="solid"/>
          </a:ln>
        </p:spPr>
        <p:txBody>
          <a:bodyPr/>
          <a:lstStyle/>
          <a:p>
            <a:endParaRPr lang="ro-RO"/>
          </a:p>
        </p:txBody>
      </p:sp>
      <p:sp>
        <p:nvSpPr>
          <p:cNvPr id="21" name="Text 19"/>
          <p:cNvSpPr/>
          <p:nvPr/>
        </p:nvSpPr>
        <p:spPr>
          <a:xfrm>
            <a:off x="960120" y="4736592"/>
            <a:ext cx="10241280" cy="365760"/>
          </a:xfrm>
          <a:prstGeom prst="rect">
            <a:avLst/>
          </a:prstGeom>
          <a:noFill/>
          <a:ln/>
        </p:spPr>
        <p:txBody>
          <a:bodyPr wrap="square" lIns="0" tIns="0" rIns="0" bIns="0" rtlCol="0" anchor="ctr"/>
          <a:lstStyle/>
          <a:p>
            <a:pPr marL="0" indent="0">
              <a:buNone/>
            </a:pPr>
            <a:r>
              <a:rPr lang="en-US" sz="1450" b="1" dirty="0">
                <a:solidFill>
                  <a:srgbClr val="FFFFFF"/>
                </a:solidFill>
                <a:latin typeface="Palatino Linotype" pitchFamily="34" charset="0"/>
                <a:ea typeface="Palatino Linotype" pitchFamily="34" charset="-122"/>
                <a:cs typeface="Palatino Linotype" pitchFamily="34" charset="-120"/>
              </a:rPr>
              <a:t>Aplicate corect, criteriile dau același rezultat în toate zonele: șase criterii, aceeași severitate. Este aceeași vinietă.</a:t>
            </a:r>
            <a:endParaRPr lang="en-US" sz="1450" dirty="0"/>
          </a:p>
        </p:txBody>
      </p:sp>
      <p:sp>
        <p:nvSpPr>
          <p:cNvPr id="22" name="Text 20"/>
          <p:cNvSpPr/>
          <p:nvPr/>
        </p:nvSpPr>
        <p:spPr>
          <a:xfrm>
            <a:off x="960120" y="5175504"/>
            <a:ext cx="10241280" cy="530352"/>
          </a:xfrm>
          <a:prstGeom prst="rect">
            <a:avLst/>
          </a:prstGeom>
          <a:noFill/>
          <a:ln/>
        </p:spPr>
        <p:txBody>
          <a:bodyPr wrap="square" lIns="0" tIns="0" rIns="0" bIns="0" rtlCol="0" anchor="ctr"/>
          <a:lstStyle/>
          <a:p>
            <a:pPr marL="0" indent="0">
              <a:buNone/>
            </a:pPr>
            <a:r>
              <a:rPr lang="en-US" sz="1600" b="1" dirty="0">
                <a:solidFill>
                  <a:srgbClr val="FFC24B"/>
                </a:solidFill>
                <a:latin typeface="Palatino Linotype" pitchFamily="34" charset="0"/>
                <a:ea typeface="Palatino Linotype" pitchFamily="34" charset="-122"/>
                <a:cs typeface="Palatino Linotype" pitchFamily="34" charset="-120"/>
              </a:rPr>
              <a:t>Diferența nu este în creier și nici în criterii, ci în tabelele anexate legii. Pentru faptele de la art. 4 (B, D; C fără prescripție), procurorul poate dispune evaluarea consumatorului (art. 19).</a:t>
            </a:r>
            <a:endParaRPr lang="en-US" sz="1900" dirty="0"/>
          </a:p>
        </p:txBody>
      </p:sp>
      <p:sp>
        <p:nvSpPr>
          <p:cNvPr id="23" name="Text 21"/>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Legea nr. 143/2000, art. 1, art. 4 și art. 19, forma consolidată la 29 martie 2025 (legislatie.just.ro); tabelele anexă I și III</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9">
    <p:bg>
      <p:bgPr>
        <a:solidFill>
          <a:srgbClr val="FFC24B"/>
        </a:solidFill>
        <a:effectLst/>
      </p:bgPr>
    </p:bg>
    <p:spTree>
      <p:nvGrpSpPr>
        <p:cNvPr id="1" name=""/>
        <p:cNvGrpSpPr/>
        <p:nvPr/>
      </p:nvGrpSpPr>
      <p:grpSpPr>
        <a:xfrm>
          <a:off x="0" y="0"/>
          <a:ext cx="0" cy="0"/>
          <a:chOff x="0" y="0"/>
          <a:chExt cx="0" cy="0"/>
        </a:xfrm>
      </p:grpSpPr>
      <p:sp>
        <p:nvSpPr>
          <p:cNvPr id="2" name="Text 0"/>
          <p:cNvSpPr/>
          <p:nvPr/>
        </p:nvSpPr>
        <p:spPr>
          <a:xfrm>
            <a:off x="822960" y="777240"/>
            <a:ext cx="10515600" cy="310896"/>
          </a:xfrm>
          <a:prstGeom prst="rect">
            <a:avLst/>
          </a:prstGeom>
          <a:noFill/>
          <a:ln/>
        </p:spPr>
        <p:txBody>
          <a:bodyPr wrap="square" lIns="0" tIns="0" rIns="0" bIns="0" rtlCol="0" anchor="ctr"/>
          <a:lstStyle/>
          <a:p>
            <a:pPr marL="0" indent="0">
              <a:buNone/>
            </a:pPr>
            <a:r>
              <a:rPr lang="en-US" sz="1100" b="1" kern="0" spc="300" dirty="0">
                <a:solidFill>
                  <a:srgbClr val="3D2A00"/>
                </a:solidFill>
                <a:latin typeface="Palatino Linotype" pitchFamily="34" charset="0"/>
                <a:ea typeface="Palatino Linotype" pitchFamily="34" charset="-122"/>
                <a:cs typeface="Palatino Linotype" pitchFamily="34" charset="-120"/>
              </a:rPr>
              <a:t>ROMÂNIA · ART. 4, LEGEA NR. 143/2000</a:t>
            </a:r>
            <a:endParaRPr lang="en-US" sz="1100" dirty="0"/>
          </a:p>
        </p:txBody>
      </p:sp>
      <p:sp>
        <p:nvSpPr>
          <p:cNvPr id="3" name="Text 1"/>
          <p:cNvSpPr/>
          <p:nvPr/>
        </p:nvSpPr>
        <p:spPr>
          <a:xfrm>
            <a:off x="822960" y="1188720"/>
            <a:ext cx="10515600" cy="685800"/>
          </a:xfrm>
          <a:prstGeom prst="rect">
            <a:avLst/>
          </a:prstGeom>
          <a:noFill/>
          <a:ln/>
        </p:spPr>
        <p:txBody>
          <a:bodyPr wrap="square" lIns="0" tIns="0" rIns="0" bIns="0" rtlCol="0" anchor="ctr"/>
          <a:lstStyle/>
          <a:p>
            <a:pPr marL="0" indent="0">
              <a:buNone/>
            </a:pPr>
            <a:r>
              <a:rPr lang="en-US" sz="3500" b="1" dirty="0">
                <a:solidFill>
                  <a:srgbClr val="3D2A00"/>
                </a:solidFill>
                <a:latin typeface="Palatino Linotype" pitchFamily="34" charset="0"/>
                <a:ea typeface="Palatino Linotype" pitchFamily="34" charset="-122"/>
                <a:cs typeface="Palatino Linotype" pitchFamily="34" charset="-120"/>
              </a:rPr>
              <a:t>Aceeași faptă, trei forme ale legii</a:t>
            </a:r>
            <a:endParaRPr lang="en-US" sz="3500" dirty="0"/>
          </a:p>
        </p:txBody>
      </p:sp>
      <p:sp>
        <p:nvSpPr>
          <p:cNvPr id="4" name="Shape 2"/>
          <p:cNvSpPr/>
          <p:nvPr/>
        </p:nvSpPr>
        <p:spPr>
          <a:xfrm>
            <a:off x="822960" y="2103120"/>
            <a:ext cx="5029200" cy="2212848"/>
          </a:xfrm>
          <a:prstGeom prst="roundRect">
            <a:avLst>
              <a:gd name="adj" fmla="val 3719"/>
            </a:avLst>
          </a:prstGeom>
          <a:solidFill>
            <a:srgbClr val="E5A82F"/>
          </a:solidFill>
          <a:ln w="12700">
            <a:solidFill>
              <a:srgbClr val="333333"/>
            </a:solidFill>
            <a:prstDash val="solid"/>
          </a:ln>
        </p:spPr>
        <p:txBody>
          <a:bodyPr/>
          <a:lstStyle/>
          <a:p>
            <a:endParaRPr lang="ro-RO"/>
          </a:p>
        </p:txBody>
      </p:sp>
      <p:sp>
        <p:nvSpPr>
          <p:cNvPr id="5" name="Text 3"/>
          <p:cNvSpPr/>
          <p:nvPr/>
        </p:nvSpPr>
        <p:spPr>
          <a:xfrm>
            <a:off x="1143000" y="2286000"/>
            <a:ext cx="4389120" cy="347472"/>
          </a:xfrm>
          <a:prstGeom prst="rect">
            <a:avLst/>
          </a:prstGeom>
          <a:noFill/>
          <a:ln/>
        </p:spPr>
        <p:txBody>
          <a:bodyPr wrap="square" lIns="0" tIns="0" rIns="0" bIns="0" rtlCol="0" anchor="ctr"/>
          <a:lstStyle/>
          <a:p>
            <a:pPr marL="0" indent="0">
              <a:buNone/>
            </a:pPr>
            <a:r>
              <a:rPr lang="en-US" sz="1550" b="1" dirty="0">
                <a:solidFill>
                  <a:srgbClr val="3D2A00"/>
                </a:solidFill>
                <a:latin typeface="Palatino Linotype" pitchFamily="34" charset="0"/>
                <a:ea typeface="Palatino Linotype" pitchFamily="34" charset="-122"/>
                <a:cs typeface="Palatino Linotype" pitchFamily="34" charset="-120"/>
              </a:rPr>
              <a:t>2000 — forma inițială</a:t>
            </a:r>
            <a:endParaRPr lang="en-US" sz="1550" dirty="0"/>
          </a:p>
        </p:txBody>
      </p:sp>
      <p:sp>
        <p:nvSpPr>
          <p:cNvPr id="6" name="Text 4"/>
          <p:cNvSpPr/>
          <p:nvPr/>
        </p:nvSpPr>
        <p:spPr>
          <a:xfrm>
            <a:off x="1143000" y="2724912"/>
            <a:ext cx="4389120" cy="621792"/>
          </a:xfrm>
          <a:prstGeom prst="rect">
            <a:avLst/>
          </a:prstGeom>
          <a:noFill/>
          <a:ln/>
        </p:spPr>
        <p:txBody>
          <a:bodyPr wrap="square" lIns="0" tIns="0" rIns="0" bIns="0" rtlCol="0" anchor="ctr"/>
          <a:lstStyle/>
          <a:p>
            <a:pPr marL="0" indent="0">
              <a:buNone/>
            </a:pPr>
            <a:r>
              <a:rPr lang="en-US" sz="2300" b="1" dirty="0">
                <a:solidFill>
                  <a:srgbClr val="3D2A00"/>
                </a:solidFill>
                <a:latin typeface="Palatino Linotype" pitchFamily="34" charset="0"/>
                <a:ea typeface="Palatino Linotype" pitchFamily="34" charset="-122"/>
                <a:cs typeface="Palatino Linotype" pitchFamily="34" charset="-120"/>
              </a:rPr>
              <a:t>Închisoare de la 2 la 5 ani</a:t>
            </a:r>
            <a:endParaRPr lang="en-US" sz="2300" dirty="0"/>
          </a:p>
        </p:txBody>
      </p:sp>
      <p:sp>
        <p:nvSpPr>
          <p:cNvPr id="7" name="Text 5"/>
          <p:cNvSpPr/>
          <p:nvPr/>
        </p:nvSpPr>
        <p:spPr>
          <a:xfrm>
            <a:off x="1143000" y="3456432"/>
            <a:ext cx="4389120" cy="658368"/>
          </a:xfrm>
          <a:prstGeom prst="rect">
            <a:avLst/>
          </a:prstGeom>
          <a:noFill/>
          <a:ln/>
        </p:spPr>
        <p:txBody>
          <a:bodyPr wrap="square" lIns="0" tIns="0" rIns="0" bIns="0" rtlCol="0" anchor="t"/>
          <a:lstStyle/>
          <a:p>
            <a:pPr marL="0" indent="0">
              <a:lnSpc>
                <a:spcPts val="2100"/>
              </a:lnSpc>
              <a:buNone/>
            </a:pPr>
            <a:r>
              <a:rPr lang="en-US" sz="1350" dirty="0">
                <a:solidFill>
                  <a:srgbClr val="3D2A00"/>
                </a:solidFill>
                <a:latin typeface="Palatino Linotype" pitchFamily="34" charset="0"/>
                <a:ea typeface="Palatino Linotype" pitchFamily="34" charset="-122"/>
                <a:cs typeface="Palatino Linotype" pitchFamily="34" charset="-120"/>
              </a:rPr>
              <a:t>Fără distincție risc / mare risc; fără amendă.</a:t>
            </a:r>
            <a:endParaRPr lang="en-US" sz="1350" dirty="0"/>
          </a:p>
          <a:p>
            <a:pPr marL="0" indent="0">
              <a:lnSpc>
                <a:spcPts val="2100"/>
              </a:lnSpc>
              <a:buNone/>
            </a:pPr>
            <a:r>
              <a:rPr lang="en-US" sz="1350" dirty="0">
                <a:solidFill>
                  <a:srgbClr val="3D2A00"/>
                </a:solidFill>
                <a:latin typeface="Palatino Linotype" pitchFamily="34" charset="0"/>
                <a:ea typeface="Palatino Linotype" pitchFamily="34" charset="-122"/>
                <a:cs typeface="Palatino Linotype" pitchFamily="34" charset="-120"/>
              </a:rPr>
              <a:t>Consumul: cură sau supraveghere medicală (art. 27).</a:t>
            </a:r>
            <a:endParaRPr lang="en-US" sz="1350" dirty="0"/>
          </a:p>
        </p:txBody>
      </p:sp>
      <p:sp>
        <p:nvSpPr>
          <p:cNvPr id="8" name="Shape 6"/>
          <p:cNvSpPr/>
          <p:nvPr/>
        </p:nvSpPr>
        <p:spPr>
          <a:xfrm>
            <a:off x="6309360" y="2103120"/>
            <a:ext cx="5029200" cy="2212848"/>
          </a:xfrm>
          <a:prstGeom prst="roundRect">
            <a:avLst>
              <a:gd name="adj" fmla="val 3719"/>
            </a:avLst>
          </a:prstGeom>
          <a:solidFill>
            <a:srgbClr val="E5A82F"/>
          </a:solidFill>
          <a:ln w="12700">
            <a:solidFill>
              <a:srgbClr val="333333"/>
            </a:solidFill>
            <a:prstDash val="solid"/>
          </a:ln>
        </p:spPr>
        <p:txBody>
          <a:bodyPr/>
          <a:lstStyle/>
          <a:p>
            <a:endParaRPr lang="ro-RO"/>
          </a:p>
        </p:txBody>
      </p:sp>
      <p:sp>
        <p:nvSpPr>
          <p:cNvPr id="9" name="Text 7"/>
          <p:cNvSpPr/>
          <p:nvPr/>
        </p:nvSpPr>
        <p:spPr>
          <a:xfrm>
            <a:off x="6629400" y="2286000"/>
            <a:ext cx="4389120" cy="347472"/>
          </a:xfrm>
          <a:prstGeom prst="rect">
            <a:avLst/>
          </a:prstGeom>
          <a:noFill/>
          <a:ln/>
        </p:spPr>
        <p:txBody>
          <a:bodyPr wrap="square" lIns="0" tIns="0" rIns="0" bIns="0" rtlCol="0" anchor="ctr"/>
          <a:lstStyle/>
          <a:p>
            <a:pPr marL="0" indent="0">
              <a:buNone/>
            </a:pPr>
            <a:r>
              <a:rPr lang="en-US" sz="1550" b="1" dirty="0">
                <a:solidFill>
                  <a:srgbClr val="3D2A00"/>
                </a:solidFill>
                <a:latin typeface="Palatino Linotype" pitchFamily="34" charset="0"/>
                <a:ea typeface="Palatino Linotype" pitchFamily="34" charset="-122"/>
                <a:cs typeface="Palatino Linotype" pitchFamily="34" charset="-120"/>
              </a:rPr>
              <a:t>Din 1 februarie 2014 — în vigoare</a:t>
            </a:r>
            <a:endParaRPr lang="en-US" sz="1550" dirty="0"/>
          </a:p>
        </p:txBody>
      </p:sp>
      <p:sp>
        <p:nvSpPr>
          <p:cNvPr id="10" name="Text 8"/>
          <p:cNvSpPr/>
          <p:nvPr/>
        </p:nvSpPr>
        <p:spPr>
          <a:xfrm>
            <a:off x="6629400" y="2724912"/>
            <a:ext cx="4389120" cy="731520"/>
          </a:xfrm>
          <a:prstGeom prst="rect">
            <a:avLst/>
          </a:prstGeom>
          <a:noFill/>
          <a:ln/>
        </p:spPr>
        <p:txBody>
          <a:bodyPr wrap="square" lIns="0" tIns="0" rIns="0" bIns="0" rtlCol="0" anchor="ctr"/>
          <a:lstStyle/>
          <a:p>
            <a:pPr marL="0" indent="0">
              <a:lnSpc>
                <a:spcPts val="2800"/>
              </a:lnSpc>
              <a:buNone/>
            </a:pPr>
            <a:r>
              <a:rPr lang="en-US" sz="1800" b="1" dirty="0">
                <a:solidFill>
                  <a:srgbClr val="3D2A00"/>
                </a:solidFill>
                <a:latin typeface="Palatino Linotype" pitchFamily="34" charset="0"/>
                <a:ea typeface="Palatino Linotype" pitchFamily="34" charset="-122"/>
                <a:cs typeface="Palatino Linotype" pitchFamily="34" charset="-120"/>
              </a:rPr>
              <a:t>Risc: 3 luni – 2 ani sau amendă</a:t>
            </a:r>
            <a:endParaRPr lang="en-US" sz="1800" dirty="0"/>
          </a:p>
          <a:p>
            <a:pPr marL="0" indent="0">
              <a:lnSpc>
                <a:spcPts val="2800"/>
              </a:lnSpc>
              <a:buNone/>
            </a:pPr>
            <a:r>
              <a:rPr lang="en-US" sz="1800" b="1" dirty="0">
                <a:solidFill>
                  <a:srgbClr val="3D2A00"/>
                </a:solidFill>
                <a:latin typeface="Palatino Linotype" pitchFamily="34" charset="0"/>
                <a:ea typeface="Palatino Linotype" pitchFamily="34" charset="-122"/>
                <a:cs typeface="Palatino Linotype" pitchFamily="34" charset="-120"/>
              </a:rPr>
              <a:t>Mare risc: 6 luni – 3 ani</a:t>
            </a:r>
            <a:endParaRPr lang="en-US" sz="1800" dirty="0"/>
          </a:p>
        </p:txBody>
      </p:sp>
      <p:sp>
        <p:nvSpPr>
          <p:cNvPr id="11" name="Text 9"/>
          <p:cNvSpPr/>
          <p:nvPr/>
        </p:nvSpPr>
        <p:spPr>
          <a:xfrm>
            <a:off x="6629400" y="3529584"/>
            <a:ext cx="4389120" cy="658368"/>
          </a:xfrm>
          <a:prstGeom prst="rect">
            <a:avLst/>
          </a:prstGeom>
          <a:noFill/>
          <a:ln/>
        </p:spPr>
        <p:txBody>
          <a:bodyPr wrap="square" lIns="0" tIns="0" rIns="0" bIns="0" rtlCol="0" anchor="t"/>
          <a:lstStyle/>
          <a:p>
            <a:pPr marL="0" indent="0">
              <a:lnSpc>
                <a:spcPts val="2100"/>
              </a:lnSpc>
              <a:buNone/>
            </a:pPr>
            <a:r>
              <a:rPr lang="en-US" sz="1350" dirty="0">
                <a:solidFill>
                  <a:srgbClr val="3D2A00"/>
                </a:solidFill>
                <a:latin typeface="Palatino Linotype" pitchFamily="34" charset="0"/>
                <a:ea typeface="Palatino Linotype" pitchFamily="34" charset="-122"/>
                <a:cs typeface="Palatino Linotype" pitchFamily="34" charset="-120"/>
              </a:rPr>
              <a:t>Distincția risc / mare risc: Legea nr. 522/2004.</a:t>
            </a:r>
            <a:endParaRPr lang="en-US" sz="1350" dirty="0"/>
          </a:p>
          <a:p>
            <a:pPr marL="0" indent="0">
              <a:lnSpc>
                <a:spcPts val="2100"/>
              </a:lnSpc>
              <a:buNone/>
            </a:pPr>
            <a:r>
              <a:rPr lang="en-US" sz="1350" dirty="0">
                <a:solidFill>
                  <a:srgbClr val="3D2A00"/>
                </a:solidFill>
                <a:latin typeface="Palatino Linotype" pitchFamily="34" charset="0"/>
                <a:ea typeface="Palatino Linotype" pitchFamily="34" charset="-122"/>
                <a:cs typeface="Palatino Linotype" pitchFamily="34" charset="-120"/>
              </a:rPr>
              <a:t>Pedepsele actuale: Legea nr. 187/2012.</a:t>
            </a:r>
            <a:endParaRPr lang="en-US" sz="1350" dirty="0"/>
          </a:p>
        </p:txBody>
      </p:sp>
      <p:sp>
        <p:nvSpPr>
          <p:cNvPr id="12" name="Text 10"/>
          <p:cNvSpPr/>
          <p:nvPr/>
        </p:nvSpPr>
        <p:spPr>
          <a:xfrm>
            <a:off x="822960" y="4590288"/>
            <a:ext cx="10515600" cy="731520"/>
          </a:xfrm>
          <a:prstGeom prst="rect">
            <a:avLst/>
          </a:prstGeom>
          <a:noFill/>
          <a:ln/>
        </p:spPr>
        <p:txBody>
          <a:bodyPr wrap="square" lIns="0" tIns="0" rIns="0" bIns="0" rtlCol="0" anchor="ctr"/>
          <a:lstStyle/>
          <a:p>
            <a:pPr marL="0" indent="0">
              <a:lnSpc>
                <a:spcPts val="2500"/>
              </a:lnSpc>
              <a:buNone/>
            </a:pPr>
            <a:r>
              <a:rPr lang="en-US" sz="1600" b="1" dirty="0">
                <a:solidFill>
                  <a:srgbClr val="3D2A00"/>
                </a:solidFill>
                <a:latin typeface="Palatino Linotype" pitchFamily="34" charset="0"/>
                <a:ea typeface="Palatino Linotype" pitchFamily="34" charset="-122"/>
                <a:cs typeface="Palatino Linotype" pitchFamily="34" charset="-120"/>
              </a:rPr>
              <a:t>Între formele succesive ale legii nu s-a schimbat farmacologia substanțelor, ci decizia de politică penală (interpretare). Politica este subiectul următoarelor șase sesiuni.</a:t>
            </a:r>
            <a:endParaRPr lang="en-US" sz="1600" dirty="0"/>
          </a:p>
        </p:txBody>
      </p:sp>
      <p:sp>
        <p:nvSpPr>
          <p:cNvPr id="13" name="Text 11"/>
          <p:cNvSpPr/>
          <p:nvPr/>
        </p:nvSpPr>
        <p:spPr>
          <a:xfrm>
            <a:off x="822960" y="6327648"/>
            <a:ext cx="10515600" cy="274320"/>
          </a:xfrm>
          <a:prstGeom prst="rect">
            <a:avLst/>
          </a:prstGeom>
          <a:noFill/>
          <a:ln/>
        </p:spPr>
        <p:txBody>
          <a:bodyPr wrap="square" lIns="0" tIns="0" rIns="0" bIns="0" rtlCol="0" anchor="ctr"/>
          <a:lstStyle/>
          <a:p>
            <a:pPr marL="0" indent="0">
              <a:buNone/>
            </a:pPr>
            <a:r>
              <a:rPr lang="en-US" sz="850" i="1" dirty="0">
                <a:solidFill>
                  <a:srgbClr val="6B4A00"/>
                </a:solidFill>
                <a:latin typeface="Palatino Linotype" pitchFamily="34" charset="0"/>
                <a:ea typeface="Palatino Linotype" pitchFamily="34" charset="-122"/>
                <a:cs typeface="Palatino Linotype" pitchFamily="34" charset="-120"/>
              </a:rPr>
              <a:t>Monitorul Oficial nr. 362 din 3 august 2000 (forma inițială) · Legea nr. 522/2004 · Legea nr. 187/2012 · forma consolidată la 29 martie 2025, verificată pe legislatie.just.ro</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0">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SINTEZĂ</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11121A"/>
                </a:solidFill>
                <a:latin typeface="Palatino Linotype" pitchFamily="34" charset="0"/>
                <a:ea typeface="Palatino Linotype" pitchFamily="34" charset="-122"/>
                <a:cs typeface="Palatino Linotype" pitchFamily="34" charset="-120"/>
              </a:rPr>
              <a:t>Ce rămâne din aceste două ore</a:t>
            </a:r>
            <a:endParaRPr lang="en-US" sz="3000" dirty="0"/>
          </a:p>
        </p:txBody>
      </p:sp>
      <p:sp>
        <p:nvSpPr>
          <p:cNvPr id="4" name="Shape 2"/>
          <p:cNvSpPr/>
          <p:nvPr/>
        </p:nvSpPr>
        <p:spPr>
          <a:xfrm>
            <a:off x="594360" y="1755648"/>
            <a:ext cx="10972800" cy="749808"/>
          </a:xfrm>
          <a:prstGeom prst="roundRect">
            <a:avLst>
              <a:gd name="adj" fmla="val 10976"/>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868680" y="1755648"/>
            <a:ext cx="1965960" cy="749808"/>
          </a:xfrm>
          <a:prstGeom prst="rect">
            <a:avLst/>
          </a:prstGeom>
          <a:noFill/>
          <a:ln/>
        </p:spPr>
        <p:txBody>
          <a:bodyPr wrap="square" lIns="0" tIns="0" rIns="0" bIns="0" rtlCol="0" anchor="ctr"/>
          <a:lstStyle/>
          <a:p>
            <a:pPr marL="0" indent="0">
              <a:buNone/>
            </a:pPr>
            <a:r>
              <a:rPr lang="en-US" sz="2600" b="1" dirty="0">
                <a:solidFill>
                  <a:srgbClr val="B02532"/>
                </a:solidFill>
                <a:latin typeface="Palatino Linotype" pitchFamily="34" charset="0"/>
                <a:ea typeface="Palatino Linotype" pitchFamily="34" charset="-122"/>
                <a:cs typeface="Palatino Linotype" pitchFamily="34" charset="-120"/>
              </a:rPr>
              <a:t>20% · 5%</a:t>
            </a:r>
            <a:endParaRPr lang="en-US" sz="2300" dirty="0"/>
          </a:p>
        </p:txBody>
      </p:sp>
      <p:sp>
        <p:nvSpPr>
          <p:cNvPr id="6" name="Text 4"/>
          <p:cNvSpPr/>
          <p:nvPr/>
        </p:nvSpPr>
        <p:spPr>
          <a:xfrm>
            <a:off x="2971800" y="1828800"/>
            <a:ext cx="8321040" cy="310896"/>
          </a:xfrm>
          <a:prstGeom prst="rect">
            <a:avLst/>
          </a:prstGeom>
          <a:noFill/>
          <a:ln/>
        </p:spPr>
        <p:txBody>
          <a:bodyPr wrap="square" lIns="0" tIns="0" rIns="0" bIns="0" rtlCol="0" anchor="ctr"/>
          <a:lstStyle/>
          <a:p>
            <a:pPr marL="0" indent="0">
              <a:buNone/>
            </a:pPr>
            <a:r>
              <a:rPr lang="en-US" sz="1350" b="1" dirty="0">
                <a:solidFill>
                  <a:srgbClr val="11121A"/>
                </a:solidFill>
                <a:latin typeface="Palatino Linotype" pitchFamily="34" charset="0"/>
                <a:ea typeface="Palatino Linotype" pitchFamily="34" charset="-122"/>
                <a:cs typeface="Palatino Linotype" pitchFamily="34" charset="-120"/>
              </a:rPr>
              <a:t>Consumatori regulați în Vietnam; încă dependenți în primul an acasă, dintre cei dependenți acolo</a:t>
            </a:r>
            <a:endParaRPr lang="en-US" sz="1350" dirty="0"/>
          </a:p>
        </p:txBody>
      </p:sp>
      <p:sp>
        <p:nvSpPr>
          <p:cNvPr id="7" name="Text 5"/>
          <p:cNvSpPr/>
          <p:nvPr/>
        </p:nvSpPr>
        <p:spPr>
          <a:xfrm>
            <a:off x="2971800" y="2139696"/>
            <a:ext cx="8321040" cy="310896"/>
          </a:xfrm>
          <a:prstGeom prst="rect">
            <a:avLst/>
          </a:prstGeom>
          <a:noFill/>
          <a:ln/>
        </p:spPr>
        <p:txBody>
          <a:bodyPr wrap="square" lIns="0" tIns="0" rIns="0" bIns="0" rtlCol="0" anchor="ctr"/>
          <a:lstStyle/>
          <a:p>
            <a:pPr marL="0" indent="0">
              <a:buNone/>
            </a:pPr>
            <a:r>
              <a:rPr lang="en-US" sz="1200" dirty="0">
                <a:solidFill>
                  <a:srgbClr val="585A64"/>
                </a:solidFill>
                <a:latin typeface="Palatino Linotype" pitchFamily="34" charset="0"/>
                <a:ea typeface="Palatino Linotype" pitchFamily="34" charset="-122"/>
                <a:cs typeface="Palatino Linotype" pitchFamily="34" charset="-120"/>
              </a:rPr>
              <a:t>Drogul era același; contextul nu (interpretare).</a:t>
            </a:r>
            <a:endParaRPr lang="en-US" sz="1200" dirty="0"/>
          </a:p>
        </p:txBody>
      </p:sp>
      <p:sp>
        <p:nvSpPr>
          <p:cNvPr id="8" name="Text 6"/>
          <p:cNvSpPr/>
          <p:nvPr/>
        </p:nvSpPr>
        <p:spPr>
          <a:xfrm>
            <a:off x="868680" y="2578608"/>
            <a:ext cx="1965960" cy="749808"/>
          </a:xfrm>
          <a:prstGeom prst="rect">
            <a:avLst/>
          </a:prstGeom>
          <a:noFill/>
          <a:ln/>
        </p:spPr>
        <p:txBody>
          <a:bodyPr wrap="square" lIns="0" tIns="0" rIns="0" bIns="0" rtlCol="0" anchor="ctr"/>
          <a:lstStyle/>
          <a:p>
            <a:pPr marL="0" indent="0">
              <a:buNone/>
            </a:pPr>
            <a:r>
              <a:rPr lang="en-US" sz="1700" b="1" dirty="0">
                <a:solidFill>
                  <a:srgbClr val="4A2D8C"/>
                </a:solidFill>
                <a:latin typeface="Palatino Linotype" pitchFamily="34" charset="0"/>
                <a:ea typeface="Palatino Linotype" pitchFamily="34" charset="-122"/>
                <a:cs typeface="Palatino Linotype" pitchFamily="34" charset="-120"/>
              </a:rPr>
              <a:t>67,5% / 8,9%</a:t>
            </a:r>
            <a:endParaRPr lang="en-US" sz="1700" dirty="0"/>
          </a:p>
        </p:txBody>
      </p:sp>
      <p:sp>
        <p:nvSpPr>
          <p:cNvPr id="9" name="Text 7"/>
          <p:cNvSpPr/>
          <p:nvPr/>
        </p:nvSpPr>
        <p:spPr>
          <a:xfrm>
            <a:off x="2971800" y="2651760"/>
            <a:ext cx="8321040" cy="310896"/>
          </a:xfrm>
          <a:prstGeom prst="rect">
            <a:avLst/>
          </a:prstGeom>
          <a:noFill/>
          <a:ln/>
        </p:spPr>
        <p:txBody>
          <a:bodyPr wrap="square" lIns="0" tIns="0" rIns="0" bIns="0" rtlCol="0" anchor="ctr"/>
          <a:lstStyle/>
          <a:p>
            <a:pPr marL="0" indent="0">
              <a:buNone/>
            </a:pPr>
            <a:r>
              <a:rPr lang="en-US" sz="1350" b="1" dirty="0">
                <a:solidFill>
                  <a:srgbClr val="11121A"/>
                </a:solidFill>
                <a:latin typeface="Palatino Linotype" pitchFamily="34" charset="0"/>
                <a:ea typeface="Palatino Linotype" pitchFamily="34" charset="-122"/>
                <a:cs typeface="Palatino Linotype" pitchFamily="34" charset="-120"/>
              </a:rPr>
              <a:t>Probabilitatea de dependență la nicotină față de canabis</a:t>
            </a:r>
            <a:endParaRPr lang="en-US" sz="1350" dirty="0"/>
          </a:p>
        </p:txBody>
      </p:sp>
      <p:sp>
        <p:nvSpPr>
          <p:cNvPr id="10" name="Text 8"/>
          <p:cNvSpPr/>
          <p:nvPr/>
        </p:nvSpPr>
        <p:spPr>
          <a:xfrm>
            <a:off x="2971800" y="2962656"/>
            <a:ext cx="8321040" cy="310896"/>
          </a:xfrm>
          <a:prstGeom prst="rect">
            <a:avLst/>
          </a:prstGeom>
          <a:noFill/>
          <a:ln/>
        </p:spPr>
        <p:txBody>
          <a:bodyPr wrap="square" lIns="0" tIns="0" rIns="0" bIns="0" rtlCol="0" anchor="ctr"/>
          <a:lstStyle/>
          <a:p>
            <a:pPr marL="0" indent="0">
              <a:buNone/>
            </a:pPr>
            <a:r>
              <a:rPr lang="en-US" sz="1200" dirty="0">
                <a:solidFill>
                  <a:srgbClr val="585A64"/>
                </a:solidFill>
                <a:latin typeface="Palatino Linotype" pitchFamily="34" charset="0"/>
                <a:ea typeface="Palatino Linotype" pitchFamily="34" charset="-122"/>
                <a:cs typeface="Palatino Linotype" pitchFamily="34" charset="-120"/>
              </a:rPr>
              <a:t>Substanța cu cel mai mare risc din tabel este legală și mai bine acceptată social.</a:t>
            </a:r>
            <a:endParaRPr lang="en-US" sz="1200" dirty="0"/>
          </a:p>
        </p:txBody>
      </p:sp>
      <p:sp>
        <p:nvSpPr>
          <p:cNvPr id="11" name="Shape 9"/>
          <p:cNvSpPr/>
          <p:nvPr/>
        </p:nvSpPr>
        <p:spPr>
          <a:xfrm>
            <a:off x="594360" y="3401568"/>
            <a:ext cx="10972800" cy="749808"/>
          </a:xfrm>
          <a:prstGeom prst="roundRect">
            <a:avLst>
              <a:gd name="adj" fmla="val 10976"/>
            </a:avLst>
          </a:prstGeom>
          <a:solidFill>
            <a:srgbClr val="ECEAE4"/>
          </a:solidFill>
          <a:ln w="12700">
            <a:solidFill>
              <a:srgbClr val="ECEAE4"/>
            </a:solidFill>
            <a:prstDash val="solid"/>
          </a:ln>
        </p:spPr>
        <p:txBody>
          <a:bodyPr/>
          <a:lstStyle/>
          <a:p>
            <a:endParaRPr lang="ro-RO"/>
          </a:p>
        </p:txBody>
      </p:sp>
      <p:sp>
        <p:nvSpPr>
          <p:cNvPr id="12" name="Text 10"/>
          <p:cNvSpPr/>
          <p:nvPr/>
        </p:nvSpPr>
        <p:spPr>
          <a:xfrm>
            <a:off x="868680" y="3401568"/>
            <a:ext cx="1965960" cy="749808"/>
          </a:xfrm>
          <a:prstGeom prst="rect">
            <a:avLst/>
          </a:prstGeom>
          <a:noFill/>
          <a:ln/>
        </p:spPr>
        <p:txBody>
          <a:bodyPr wrap="square" lIns="0" tIns="0" rIns="0" bIns="0" rtlCol="0" anchor="ctr"/>
          <a:lstStyle/>
          <a:p>
            <a:pPr marL="0" indent="0">
              <a:buNone/>
            </a:pPr>
            <a:r>
              <a:rPr lang="en-US" sz="2600" b="1" dirty="0">
                <a:solidFill>
                  <a:srgbClr val="0E7C6B"/>
                </a:solidFill>
                <a:latin typeface="Palatino Linotype" pitchFamily="34" charset="0"/>
                <a:ea typeface="Palatino Linotype" pitchFamily="34" charset="-122"/>
                <a:cs typeface="Palatino Linotype" pitchFamily="34" charset="-120"/>
              </a:rPr>
              <a:t>83,7–99,2%</a:t>
            </a:r>
            <a:endParaRPr lang="en-US" sz="2300" dirty="0"/>
          </a:p>
        </p:txBody>
      </p:sp>
      <p:sp>
        <p:nvSpPr>
          <p:cNvPr id="13" name="Text 11"/>
          <p:cNvSpPr/>
          <p:nvPr/>
        </p:nvSpPr>
        <p:spPr>
          <a:xfrm>
            <a:off x="2971800" y="3474720"/>
            <a:ext cx="8321040" cy="310896"/>
          </a:xfrm>
          <a:prstGeom prst="rect">
            <a:avLst/>
          </a:prstGeom>
          <a:noFill/>
          <a:ln/>
        </p:spPr>
        <p:txBody>
          <a:bodyPr wrap="square" lIns="0" tIns="0" rIns="0" bIns="0" rtlCol="0" anchor="ctr"/>
          <a:lstStyle/>
          <a:p>
            <a:pPr marL="0" indent="0">
              <a:buNone/>
            </a:pPr>
            <a:r>
              <a:rPr lang="en-US" sz="1350" b="1" dirty="0">
                <a:solidFill>
                  <a:srgbClr val="11121A"/>
                </a:solidFill>
                <a:latin typeface="Palatino Linotype" pitchFamily="34" charset="0"/>
                <a:ea typeface="Palatino Linotype" pitchFamily="34" charset="-122"/>
                <a:cs typeface="Palatino Linotype" pitchFamily="34" charset="-120"/>
              </a:rPr>
              <a:t>Probabilitatea cumulativă de remisie, pe viață</a:t>
            </a:r>
            <a:endParaRPr lang="en-US" sz="1350" dirty="0"/>
          </a:p>
        </p:txBody>
      </p:sp>
      <p:sp>
        <p:nvSpPr>
          <p:cNvPr id="14" name="Text 12"/>
          <p:cNvSpPr/>
          <p:nvPr/>
        </p:nvSpPr>
        <p:spPr>
          <a:xfrm>
            <a:off x="2971800" y="3785616"/>
            <a:ext cx="8321040" cy="310896"/>
          </a:xfrm>
          <a:prstGeom prst="rect">
            <a:avLst/>
          </a:prstGeom>
          <a:noFill/>
          <a:ln/>
        </p:spPr>
        <p:txBody>
          <a:bodyPr wrap="square" lIns="0" tIns="0" rIns="0" bIns="0" rtlCol="0" anchor="ctr"/>
          <a:lstStyle/>
          <a:p>
            <a:pPr marL="0" indent="0">
              <a:buNone/>
            </a:pPr>
            <a:r>
              <a:rPr lang="en-US" sz="1200" dirty="0">
                <a:solidFill>
                  <a:srgbClr val="585A64"/>
                </a:solidFill>
                <a:latin typeface="Palatino Linotype" pitchFamily="34" charset="0"/>
                <a:ea typeface="Palatino Linotype" pitchFamily="34" charset="-122"/>
                <a:cs typeface="Palatino Linotype" pitchFamily="34" charset="-120"/>
              </a:rPr>
              <a:t>Remisia (nu neapărat abstinența) este evoluția cea mai frecventă (proiecții, SUA); mulți trec și prin recăderi.</a:t>
            </a:r>
            <a:endParaRPr lang="en-US" sz="1200" dirty="0"/>
          </a:p>
        </p:txBody>
      </p:sp>
      <p:sp>
        <p:nvSpPr>
          <p:cNvPr id="15" name="Text 13"/>
          <p:cNvSpPr/>
          <p:nvPr/>
        </p:nvSpPr>
        <p:spPr>
          <a:xfrm>
            <a:off x="868680" y="4224528"/>
            <a:ext cx="1965960" cy="749808"/>
          </a:xfrm>
          <a:prstGeom prst="rect">
            <a:avLst/>
          </a:prstGeom>
          <a:noFill/>
          <a:ln/>
        </p:spPr>
        <p:txBody>
          <a:bodyPr wrap="square" lIns="0" tIns="0" rIns="0" bIns="0" rtlCol="0" anchor="ctr"/>
          <a:lstStyle/>
          <a:p>
            <a:pPr marL="0" indent="0">
              <a:buNone/>
            </a:pPr>
            <a:r>
              <a:rPr lang="en-US" sz="2600" b="1" dirty="0">
                <a:solidFill>
                  <a:srgbClr val="9C4A0A"/>
                </a:solidFill>
                <a:latin typeface="Palatino Linotype" pitchFamily="34" charset="0"/>
                <a:ea typeface="Palatino Linotype" pitchFamily="34" charset="-122"/>
                <a:cs typeface="Palatino Linotype" pitchFamily="34" charset="-120"/>
              </a:rPr>
              <a:t>7,1% · 2,0%</a:t>
            </a:r>
            <a:endParaRPr lang="en-US" sz="2300" dirty="0"/>
          </a:p>
        </p:txBody>
      </p:sp>
      <p:sp>
        <p:nvSpPr>
          <p:cNvPr id="16" name="Text 14"/>
          <p:cNvSpPr/>
          <p:nvPr/>
        </p:nvSpPr>
        <p:spPr>
          <a:xfrm>
            <a:off x="2971800" y="4297680"/>
            <a:ext cx="8321040" cy="310896"/>
          </a:xfrm>
          <a:prstGeom prst="rect">
            <a:avLst/>
          </a:prstGeom>
          <a:noFill/>
          <a:ln/>
        </p:spPr>
        <p:txBody>
          <a:bodyPr wrap="square" lIns="0" tIns="0" rIns="0" bIns="0" rtlCol="0" anchor="ctr"/>
          <a:lstStyle/>
          <a:p>
            <a:pPr marL="0" indent="0">
              <a:buNone/>
            </a:pPr>
            <a:r>
              <a:rPr lang="en-US" sz="1350" b="1" dirty="0">
                <a:solidFill>
                  <a:srgbClr val="11121A"/>
                </a:solidFill>
                <a:latin typeface="Palatino Linotype" pitchFamily="34" charset="0"/>
                <a:ea typeface="Palatino Linotype" pitchFamily="34" charset="-122"/>
                <a:cs typeface="Palatino Linotype" pitchFamily="34" charset="-120"/>
              </a:rPr>
              <a:t>Dependența în primul an de consum: cocaină față de nicotină</a:t>
            </a:r>
            <a:endParaRPr lang="en-US" sz="1350" dirty="0"/>
          </a:p>
        </p:txBody>
      </p:sp>
      <p:sp>
        <p:nvSpPr>
          <p:cNvPr id="17" name="Text 15"/>
          <p:cNvSpPr/>
          <p:nvPr/>
        </p:nvSpPr>
        <p:spPr>
          <a:xfrm>
            <a:off x="2971800" y="4608576"/>
            <a:ext cx="8321040" cy="310896"/>
          </a:xfrm>
          <a:prstGeom prst="rect">
            <a:avLst/>
          </a:prstGeom>
          <a:noFill/>
          <a:ln/>
        </p:spPr>
        <p:txBody>
          <a:bodyPr wrap="square" lIns="0" tIns="0" rIns="0" bIns="0" rtlCol="0" anchor="ctr"/>
          <a:lstStyle/>
          <a:p>
            <a:pPr marL="0" indent="0">
              <a:buNone/>
            </a:pPr>
            <a:r>
              <a:rPr lang="en-US" sz="1200" dirty="0">
                <a:solidFill>
                  <a:srgbClr val="585A64"/>
                </a:solidFill>
                <a:latin typeface="Palatino Linotype" pitchFamily="34" charset="0"/>
                <a:ea typeface="Palatino Linotype" pitchFamily="34" charset="-122"/>
                <a:cs typeface="Palatino Linotype" pitchFamily="34" charset="-120"/>
              </a:rPr>
              <a:t>În primul an, ordinea urmează dopamina; pe viață, se inversează (interpretare).</a:t>
            </a:r>
            <a:endParaRPr lang="en-US" sz="1200" dirty="0"/>
          </a:p>
        </p:txBody>
      </p:sp>
      <p:sp>
        <p:nvSpPr>
          <p:cNvPr id="18" name="Shape 16"/>
          <p:cNvSpPr/>
          <p:nvPr/>
        </p:nvSpPr>
        <p:spPr>
          <a:xfrm>
            <a:off x="594360" y="5047488"/>
            <a:ext cx="10972800" cy="749808"/>
          </a:xfrm>
          <a:prstGeom prst="roundRect">
            <a:avLst>
              <a:gd name="adj" fmla="val 10976"/>
            </a:avLst>
          </a:prstGeom>
          <a:solidFill>
            <a:srgbClr val="ECEAE4"/>
          </a:solidFill>
          <a:ln w="12700">
            <a:solidFill>
              <a:srgbClr val="ECEAE4"/>
            </a:solidFill>
            <a:prstDash val="solid"/>
          </a:ln>
        </p:spPr>
        <p:txBody>
          <a:bodyPr/>
          <a:lstStyle/>
          <a:p>
            <a:endParaRPr lang="ro-RO"/>
          </a:p>
        </p:txBody>
      </p:sp>
      <p:sp>
        <p:nvSpPr>
          <p:cNvPr id="19" name="Text 17"/>
          <p:cNvSpPr/>
          <p:nvPr/>
        </p:nvSpPr>
        <p:spPr>
          <a:xfrm>
            <a:off x="868680" y="5047488"/>
            <a:ext cx="1965960" cy="749808"/>
          </a:xfrm>
          <a:prstGeom prst="rect">
            <a:avLst/>
          </a:prstGeom>
          <a:noFill/>
          <a:ln/>
        </p:spPr>
        <p:txBody>
          <a:bodyPr wrap="square" lIns="0" tIns="0" rIns="0" bIns="0" rtlCol="0" anchor="ctr"/>
          <a:lstStyle/>
          <a:p>
            <a:pPr marL="0" indent="0">
              <a:buNone/>
            </a:pPr>
            <a:r>
              <a:rPr lang="en-US" sz="2300" b="1" dirty="0">
                <a:solidFill>
                  <a:srgbClr val="8A6100"/>
                </a:solidFill>
                <a:latin typeface="Palatino Linotype" pitchFamily="34" charset="0"/>
                <a:ea typeface="Palatino Linotype" pitchFamily="34" charset="-122"/>
                <a:cs typeface="Palatino Linotype" pitchFamily="34" charset="-120"/>
              </a:rPr>
              <a:t>4</a:t>
            </a:r>
            <a:endParaRPr lang="en-US" sz="2300" dirty="0"/>
          </a:p>
        </p:txBody>
      </p:sp>
      <p:sp>
        <p:nvSpPr>
          <p:cNvPr id="20" name="Text 18"/>
          <p:cNvSpPr/>
          <p:nvPr/>
        </p:nvSpPr>
        <p:spPr>
          <a:xfrm>
            <a:off x="2971800" y="5120640"/>
            <a:ext cx="8321040" cy="310896"/>
          </a:xfrm>
          <a:prstGeom prst="rect">
            <a:avLst/>
          </a:prstGeom>
          <a:noFill/>
          <a:ln/>
        </p:spPr>
        <p:txBody>
          <a:bodyPr wrap="square" lIns="0" tIns="0" rIns="0" bIns="0" rtlCol="0" anchor="ctr"/>
          <a:lstStyle/>
          <a:p>
            <a:pPr marL="0" indent="0">
              <a:buNone/>
            </a:pPr>
            <a:r>
              <a:rPr lang="en-US" sz="1350" b="1" dirty="0">
                <a:solidFill>
                  <a:srgbClr val="11121A"/>
                </a:solidFill>
                <a:latin typeface="Palatino Linotype" pitchFamily="34" charset="0"/>
                <a:ea typeface="Palatino Linotype" pitchFamily="34" charset="-122"/>
                <a:cs typeface="Palatino Linotype" pitchFamily="34" charset="-120"/>
              </a:rPr>
              <a:t>Situații în care o sursă reală e folosită pentru mai mult decât susține</a:t>
            </a:r>
            <a:endParaRPr lang="en-US" sz="1350" dirty="0"/>
          </a:p>
        </p:txBody>
      </p:sp>
      <p:sp>
        <p:nvSpPr>
          <p:cNvPr id="21" name="Text 19"/>
          <p:cNvSpPr/>
          <p:nvPr/>
        </p:nvSpPr>
        <p:spPr>
          <a:xfrm>
            <a:off x="2971800" y="5431536"/>
            <a:ext cx="8321040" cy="310896"/>
          </a:xfrm>
          <a:prstGeom prst="rect">
            <a:avLst/>
          </a:prstGeom>
          <a:noFill/>
          <a:ln/>
        </p:spPr>
        <p:txBody>
          <a:bodyPr wrap="square" lIns="0" tIns="0" rIns="0" bIns="0" rtlCol="0" anchor="ctr"/>
          <a:lstStyle/>
          <a:p>
            <a:pPr marL="0" indent="0">
              <a:buNone/>
            </a:pPr>
            <a:r>
              <a:rPr lang="en-US" sz="1200" dirty="0">
                <a:solidFill>
                  <a:srgbClr val="585A64"/>
                </a:solidFill>
                <a:latin typeface="Palatino Linotype" pitchFamily="34" charset="0"/>
                <a:ea typeface="Palatino Linotype" pitchFamily="34" charset="-122"/>
                <a:cs typeface="Palatino Linotype" pitchFamily="34" charset="-120"/>
              </a:rPr>
              <a:t>La microdializă, cifrele atribuite nici nu apar în articol.</a:t>
            </a:r>
            <a:endParaRPr lang="en-US" sz="1200" dirty="0"/>
          </a:p>
        </p:txBody>
      </p:sp>
      <p:sp>
        <p:nvSpPr>
          <p:cNvPr id="22" name="Text 20"/>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474954"/>
                </a:solidFill>
                <a:latin typeface="Palatino Linotype" pitchFamily="34" charset="0"/>
                <a:ea typeface="Palatino Linotype" pitchFamily="34" charset="-122"/>
                <a:cs typeface="Palatino Linotype" pitchFamily="34" charset="-120"/>
              </a:rPr>
              <a:t>Surse: Robins și colab., 1975; Heather, 2017; Lopez-Quintero și colab., 2011a și 2011b</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1">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CE LUAȚI CU VOI</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200" b="1" dirty="0">
                <a:solidFill>
                  <a:srgbClr val="FFFFFF"/>
                </a:solidFill>
                <a:latin typeface="Palatino Linotype" pitchFamily="34" charset="0"/>
                <a:ea typeface="Palatino Linotype" pitchFamily="34" charset="-122"/>
                <a:cs typeface="Palatino Linotype" pitchFamily="34" charset="-120"/>
              </a:rPr>
              <a:t>Trei reguli transferabile</a:t>
            </a:r>
            <a:endParaRPr lang="en-US" sz="3200" dirty="0"/>
          </a:p>
        </p:txBody>
      </p:sp>
      <p:sp>
        <p:nvSpPr>
          <p:cNvPr id="4" name="Shape 2"/>
          <p:cNvSpPr/>
          <p:nvPr/>
        </p:nvSpPr>
        <p:spPr>
          <a:xfrm>
            <a:off x="594360" y="1783080"/>
            <a:ext cx="10972800" cy="1261872"/>
          </a:xfrm>
          <a:prstGeom prst="roundRect">
            <a:avLst>
              <a:gd name="adj" fmla="val 6522"/>
            </a:avLst>
          </a:prstGeom>
          <a:solidFill>
            <a:srgbClr val="1D1F2B"/>
          </a:solidFill>
          <a:ln w="12700">
            <a:solidFill>
              <a:srgbClr val="1D1F2B"/>
            </a:solidFill>
            <a:prstDash val="solid"/>
          </a:ln>
        </p:spPr>
        <p:txBody>
          <a:bodyPr/>
          <a:lstStyle/>
          <a:p>
            <a:endParaRPr lang="ro-RO"/>
          </a:p>
        </p:txBody>
      </p:sp>
      <p:sp>
        <p:nvSpPr>
          <p:cNvPr id="5" name="Shape 3"/>
          <p:cNvSpPr/>
          <p:nvPr/>
        </p:nvSpPr>
        <p:spPr>
          <a:xfrm>
            <a:off x="896112" y="1984248"/>
            <a:ext cx="493776" cy="493776"/>
          </a:xfrm>
          <a:prstGeom prst="ellipse">
            <a:avLst/>
          </a:prstGeom>
          <a:solidFill>
            <a:srgbClr val="27D3BE"/>
          </a:solidFill>
          <a:ln w="12700">
            <a:solidFill>
              <a:srgbClr val="27D3BE"/>
            </a:solidFill>
            <a:prstDash val="solid"/>
          </a:ln>
        </p:spPr>
        <p:txBody>
          <a:bodyPr/>
          <a:lstStyle/>
          <a:p>
            <a:endParaRPr lang="ro-RO"/>
          </a:p>
        </p:txBody>
      </p:sp>
      <p:sp>
        <p:nvSpPr>
          <p:cNvPr id="6" name="Text 4"/>
          <p:cNvSpPr/>
          <p:nvPr/>
        </p:nvSpPr>
        <p:spPr>
          <a:xfrm>
            <a:off x="896112" y="1984248"/>
            <a:ext cx="493776" cy="493776"/>
          </a:xfrm>
          <a:prstGeom prst="rect">
            <a:avLst/>
          </a:prstGeom>
          <a:noFill/>
          <a:ln/>
        </p:spPr>
        <p:txBody>
          <a:bodyPr wrap="square" lIns="0" tIns="0" rIns="0" bIns="0" rtlCol="0" anchor="ctr"/>
          <a:lstStyle/>
          <a:p>
            <a:pPr marL="0" indent="0" algn="ctr">
              <a:buNone/>
            </a:pPr>
            <a:r>
              <a:rPr lang="en-US" sz="1700" b="1" dirty="0">
                <a:solidFill>
                  <a:srgbClr val="11121A"/>
                </a:solidFill>
                <a:latin typeface="Palatino Linotype" pitchFamily="34" charset="0"/>
                <a:ea typeface="Palatino Linotype" pitchFamily="34" charset="-122"/>
                <a:cs typeface="Palatino Linotype" pitchFamily="34" charset="-120"/>
              </a:rPr>
              <a:t>1</a:t>
            </a:r>
            <a:endParaRPr lang="en-US" sz="1700" dirty="0"/>
          </a:p>
        </p:txBody>
      </p:sp>
      <p:sp>
        <p:nvSpPr>
          <p:cNvPr id="7" name="Text 5"/>
          <p:cNvSpPr/>
          <p:nvPr/>
        </p:nvSpPr>
        <p:spPr>
          <a:xfrm>
            <a:off x="1627632" y="1929384"/>
            <a:ext cx="9601200" cy="365760"/>
          </a:xfrm>
          <a:prstGeom prst="rect">
            <a:avLst/>
          </a:prstGeom>
          <a:noFill/>
          <a:ln/>
        </p:spPr>
        <p:txBody>
          <a:bodyPr wrap="square" lIns="0" tIns="0" rIns="0" bIns="0" rtlCol="0" anchor="ctr"/>
          <a:lstStyle/>
          <a:p>
            <a:pPr marL="0" indent="0">
              <a:buNone/>
            </a:pPr>
            <a:r>
              <a:rPr lang="en-US" sz="1700" b="1" dirty="0">
                <a:solidFill>
                  <a:srgbClr val="27D3BE"/>
                </a:solidFill>
                <a:latin typeface="Palatino Linotype" pitchFamily="34" charset="0"/>
                <a:ea typeface="Palatino Linotype" pitchFamily="34" charset="-122"/>
                <a:cs typeface="Palatino Linotype" pitchFamily="34" charset="-120"/>
              </a:rPr>
              <a:t>Separă mecanismul de destin</a:t>
            </a:r>
            <a:endParaRPr lang="en-US" sz="1700" dirty="0"/>
          </a:p>
        </p:txBody>
      </p:sp>
      <p:sp>
        <p:nvSpPr>
          <p:cNvPr id="8" name="Text 6"/>
          <p:cNvSpPr/>
          <p:nvPr/>
        </p:nvSpPr>
        <p:spPr>
          <a:xfrm>
            <a:off x="1627632" y="2331720"/>
            <a:ext cx="9601200" cy="621792"/>
          </a:xfrm>
          <a:prstGeom prst="rect">
            <a:avLst/>
          </a:prstGeom>
          <a:noFill/>
          <a:ln/>
        </p:spPr>
        <p:txBody>
          <a:bodyPr wrap="square" lIns="0" tIns="0" rIns="0" bIns="0" rtlCol="0" anchor="t"/>
          <a:lstStyle/>
          <a:p>
            <a:pPr marL="0" indent="0">
              <a:lnSpc>
                <a:spcPts val="1900"/>
              </a:lnSpc>
              <a:buNone/>
            </a:pPr>
            <a:r>
              <a:rPr lang="en-US" sz="1250" dirty="0">
                <a:solidFill>
                  <a:srgbClr val="959BB0"/>
                </a:solidFill>
                <a:latin typeface="Palatino Linotype" pitchFamily="34" charset="0"/>
                <a:ea typeface="Palatino Linotype" pitchFamily="34" charset="-122"/>
                <a:cs typeface="Palatino Linotype" pitchFamily="34" charset="-120"/>
              </a:rPr>
              <a:t>Neurobiologia descrie în detaliu ce se întâmplă în creier după consum, dar prezice mult mai slab cine va deveni dependent (interpretare). Când cineva folosește o imagine cerebrală ca să prezică o traiectorie de viață, cereți studiul longitudinal.</a:t>
            </a:r>
            <a:endParaRPr lang="en-US" sz="1250" dirty="0"/>
          </a:p>
        </p:txBody>
      </p:sp>
      <p:sp>
        <p:nvSpPr>
          <p:cNvPr id="9" name="Shape 7"/>
          <p:cNvSpPr/>
          <p:nvPr/>
        </p:nvSpPr>
        <p:spPr>
          <a:xfrm>
            <a:off x="594360" y="3172968"/>
            <a:ext cx="10972800" cy="1261872"/>
          </a:xfrm>
          <a:prstGeom prst="roundRect">
            <a:avLst>
              <a:gd name="adj" fmla="val 6522"/>
            </a:avLst>
          </a:prstGeom>
          <a:solidFill>
            <a:srgbClr val="272A38"/>
          </a:solidFill>
          <a:ln w="12700">
            <a:solidFill>
              <a:srgbClr val="272A38"/>
            </a:solidFill>
            <a:prstDash val="solid"/>
          </a:ln>
        </p:spPr>
        <p:txBody>
          <a:bodyPr/>
          <a:lstStyle/>
          <a:p>
            <a:endParaRPr lang="ro-RO"/>
          </a:p>
        </p:txBody>
      </p:sp>
      <p:sp>
        <p:nvSpPr>
          <p:cNvPr id="10" name="Shape 8"/>
          <p:cNvSpPr/>
          <p:nvPr/>
        </p:nvSpPr>
        <p:spPr>
          <a:xfrm>
            <a:off x="896112" y="3374136"/>
            <a:ext cx="493776" cy="493776"/>
          </a:xfrm>
          <a:prstGeom prst="ellipse">
            <a:avLst/>
          </a:prstGeom>
          <a:solidFill>
            <a:srgbClr val="9B7EF7"/>
          </a:solidFill>
          <a:ln w="12700">
            <a:solidFill>
              <a:srgbClr val="9B7EF7"/>
            </a:solidFill>
            <a:prstDash val="solid"/>
          </a:ln>
        </p:spPr>
        <p:txBody>
          <a:bodyPr/>
          <a:lstStyle/>
          <a:p>
            <a:endParaRPr lang="ro-RO"/>
          </a:p>
        </p:txBody>
      </p:sp>
      <p:sp>
        <p:nvSpPr>
          <p:cNvPr id="11" name="Text 9"/>
          <p:cNvSpPr/>
          <p:nvPr/>
        </p:nvSpPr>
        <p:spPr>
          <a:xfrm>
            <a:off x="896112" y="3374136"/>
            <a:ext cx="493776" cy="493776"/>
          </a:xfrm>
          <a:prstGeom prst="rect">
            <a:avLst/>
          </a:prstGeom>
          <a:noFill/>
          <a:ln/>
        </p:spPr>
        <p:txBody>
          <a:bodyPr wrap="square" lIns="0" tIns="0" rIns="0" bIns="0" rtlCol="0" anchor="ctr"/>
          <a:lstStyle/>
          <a:p>
            <a:pPr marL="0" indent="0" algn="ctr">
              <a:buNone/>
            </a:pPr>
            <a:r>
              <a:rPr lang="en-US" sz="1700" b="1" dirty="0">
                <a:solidFill>
                  <a:srgbClr val="11121A"/>
                </a:solidFill>
                <a:latin typeface="Palatino Linotype" pitchFamily="34" charset="0"/>
                <a:ea typeface="Palatino Linotype" pitchFamily="34" charset="-122"/>
                <a:cs typeface="Palatino Linotype" pitchFamily="34" charset="-120"/>
              </a:rPr>
              <a:t>2</a:t>
            </a:r>
            <a:endParaRPr lang="en-US" sz="1700" dirty="0"/>
          </a:p>
        </p:txBody>
      </p:sp>
      <p:sp>
        <p:nvSpPr>
          <p:cNvPr id="12" name="Text 10"/>
          <p:cNvSpPr/>
          <p:nvPr/>
        </p:nvSpPr>
        <p:spPr>
          <a:xfrm>
            <a:off x="1627632" y="3319272"/>
            <a:ext cx="9601200" cy="365760"/>
          </a:xfrm>
          <a:prstGeom prst="rect">
            <a:avLst/>
          </a:prstGeom>
          <a:noFill/>
          <a:ln/>
        </p:spPr>
        <p:txBody>
          <a:bodyPr wrap="square" lIns="0" tIns="0" rIns="0" bIns="0" rtlCol="0" anchor="ctr"/>
          <a:lstStyle/>
          <a:p>
            <a:pPr marL="0" indent="0">
              <a:buNone/>
            </a:pPr>
            <a:r>
              <a:rPr lang="en-US" sz="1700" b="1" dirty="0">
                <a:solidFill>
                  <a:srgbClr val="9B7EF7"/>
                </a:solidFill>
                <a:latin typeface="Palatino Linotype" pitchFamily="34" charset="0"/>
                <a:ea typeface="Palatino Linotype" pitchFamily="34" charset="-122"/>
                <a:cs typeface="Palatino Linotype" pitchFamily="34" charset="-120"/>
              </a:rPr>
              <a:t>Întreabă întotdeauna de unde vine cifra</a:t>
            </a:r>
            <a:endParaRPr lang="en-US" sz="1700" dirty="0"/>
          </a:p>
        </p:txBody>
      </p:sp>
      <p:sp>
        <p:nvSpPr>
          <p:cNvPr id="13" name="Text 11"/>
          <p:cNvSpPr/>
          <p:nvPr/>
        </p:nvSpPr>
        <p:spPr>
          <a:xfrm>
            <a:off x="1627632" y="3721608"/>
            <a:ext cx="9601200" cy="621792"/>
          </a:xfrm>
          <a:prstGeom prst="rect">
            <a:avLst/>
          </a:prstGeom>
          <a:noFill/>
          <a:ln/>
        </p:spPr>
        <p:txBody>
          <a:bodyPr wrap="square" lIns="0" tIns="0" rIns="0" bIns="0" rtlCol="0" anchor="t"/>
          <a:lstStyle/>
          <a:p>
            <a:pPr marL="0" indent="0">
              <a:lnSpc>
                <a:spcPts val="1900"/>
              </a:lnSpc>
              <a:buNone/>
            </a:pPr>
            <a:r>
              <a:rPr lang="en-US" sz="1250" dirty="0">
                <a:solidFill>
                  <a:srgbClr val="959BB0"/>
                </a:solidFill>
                <a:latin typeface="Palatino Linotype" pitchFamily="34" charset="0"/>
                <a:ea typeface="Palatino Linotype" pitchFamily="34" charset="-122"/>
                <a:cs typeface="Palatino Linotype" pitchFamily="34" charset="-120"/>
              </a:rPr>
              <a:t>În două ore am întâlnit patru titluri, cu cifre, un citat și o imagine, care nu susțin tot ce li se atribuie. Din Sesiunea 2, le găsiți voi, într-un raport oficial.</a:t>
            </a:r>
            <a:endParaRPr lang="en-US" sz="1250" dirty="0"/>
          </a:p>
        </p:txBody>
      </p:sp>
      <p:sp>
        <p:nvSpPr>
          <p:cNvPr id="14" name="Shape 12"/>
          <p:cNvSpPr/>
          <p:nvPr/>
        </p:nvSpPr>
        <p:spPr>
          <a:xfrm>
            <a:off x="594360" y="4562856"/>
            <a:ext cx="10972800" cy="1261872"/>
          </a:xfrm>
          <a:prstGeom prst="roundRect">
            <a:avLst>
              <a:gd name="adj" fmla="val 6522"/>
            </a:avLst>
          </a:prstGeom>
          <a:solidFill>
            <a:srgbClr val="1D1F2B"/>
          </a:solidFill>
          <a:ln w="12700">
            <a:solidFill>
              <a:srgbClr val="1D1F2B"/>
            </a:solidFill>
            <a:prstDash val="solid"/>
          </a:ln>
        </p:spPr>
        <p:txBody>
          <a:bodyPr/>
          <a:lstStyle/>
          <a:p>
            <a:endParaRPr lang="ro-RO"/>
          </a:p>
        </p:txBody>
      </p:sp>
      <p:sp>
        <p:nvSpPr>
          <p:cNvPr id="15" name="Shape 13"/>
          <p:cNvSpPr/>
          <p:nvPr/>
        </p:nvSpPr>
        <p:spPr>
          <a:xfrm>
            <a:off x="896112" y="4764024"/>
            <a:ext cx="493776" cy="493776"/>
          </a:xfrm>
          <a:prstGeom prst="ellipse">
            <a:avLst/>
          </a:prstGeom>
          <a:solidFill>
            <a:srgbClr val="FFC24B"/>
          </a:solidFill>
          <a:ln w="12700">
            <a:solidFill>
              <a:srgbClr val="FFC24B"/>
            </a:solidFill>
            <a:prstDash val="solid"/>
          </a:ln>
        </p:spPr>
        <p:txBody>
          <a:bodyPr/>
          <a:lstStyle/>
          <a:p>
            <a:endParaRPr lang="ro-RO"/>
          </a:p>
        </p:txBody>
      </p:sp>
      <p:sp>
        <p:nvSpPr>
          <p:cNvPr id="16" name="Text 14"/>
          <p:cNvSpPr/>
          <p:nvPr/>
        </p:nvSpPr>
        <p:spPr>
          <a:xfrm>
            <a:off x="896112" y="4764024"/>
            <a:ext cx="493776" cy="493776"/>
          </a:xfrm>
          <a:prstGeom prst="rect">
            <a:avLst/>
          </a:prstGeom>
          <a:noFill/>
          <a:ln/>
        </p:spPr>
        <p:txBody>
          <a:bodyPr wrap="square" lIns="0" tIns="0" rIns="0" bIns="0" rtlCol="0" anchor="ctr"/>
          <a:lstStyle/>
          <a:p>
            <a:pPr marL="0" indent="0" algn="ctr">
              <a:buNone/>
            </a:pPr>
            <a:r>
              <a:rPr lang="en-US" sz="1700" b="1" dirty="0">
                <a:solidFill>
                  <a:srgbClr val="11121A"/>
                </a:solidFill>
                <a:latin typeface="Palatino Linotype" pitchFamily="34" charset="0"/>
                <a:ea typeface="Palatino Linotype" pitchFamily="34" charset="-122"/>
                <a:cs typeface="Palatino Linotype" pitchFamily="34" charset="-120"/>
              </a:rPr>
              <a:t>3</a:t>
            </a:r>
            <a:endParaRPr lang="en-US" sz="1700" dirty="0"/>
          </a:p>
        </p:txBody>
      </p:sp>
      <p:sp>
        <p:nvSpPr>
          <p:cNvPr id="17" name="Text 15"/>
          <p:cNvSpPr/>
          <p:nvPr/>
        </p:nvSpPr>
        <p:spPr>
          <a:xfrm>
            <a:off x="1627632" y="4709160"/>
            <a:ext cx="9601200" cy="365760"/>
          </a:xfrm>
          <a:prstGeom prst="rect">
            <a:avLst/>
          </a:prstGeom>
          <a:noFill/>
          <a:ln/>
        </p:spPr>
        <p:txBody>
          <a:bodyPr wrap="square" lIns="0" tIns="0" rIns="0" bIns="0" rtlCol="0" anchor="ctr"/>
          <a:lstStyle/>
          <a:p>
            <a:pPr marL="0" indent="0">
              <a:buNone/>
            </a:pPr>
            <a:r>
              <a:rPr lang="en-US" sz="1700" b="1" dirty="0">
                <a:solidFill>
                  <a:srgbClr val="FFC24B"/>
                </a:solidFill>
                <a:latin typeface="Palatino Linotype" pitchFamily="34" charset="0"/>
                <a:ea typeface="Palatino Linotype" pitchFamily="34" charset="-122"/>
                <a:cs typeface="Palatino Linotype" pitchFamily="34" charset="-120"/>
              </a:rPr>
              <a:t>Modelul pe care îl adopți are efecte secundare</a:t>
            </a:r>
            <a:endParaRPr lang="en-US" sz="1700" dirty="0"/>
          </a:p>
        </p:txBody>
      </p:sp>
      <p:sp>
        <p:nvSpPr>
          <p:cNvPr id="18" name="Text 16"/>
          <p:cNvSpPr/>
          <p:nvPr/>
        </p:nvSpPr>
        <p:spPr>
          <a:xfrm>
            <a:off x="1627632" y="5111496"/>
            <a:ext cx="9601200" cy="621792"/>
          </a:xfrm>
          <a:prstGeom prst="rect">
            <a:avLst/>
          </a:prstGeom>
          <a:noFill/>
          <a:ln/>
        </p:spPr>
        <p:txBody>
          <a:bodyPr wrap="square" lIns="0" tIns="0" rIns="0" bIns="0" rtlCol="0" anchor="t"/>
          <a:lstStyle/>
          <a:p>
            <a:pPr marL="0" indent="0">
              <a:lnSpc>
                <a:spcPts val="1900"/>
              </a:lnSpc>
              <a:buNone/>
            </a:pPr>
            <a:r>
              <a:rPr lang="en-US" sz="1250" dirty="0">
                <a:solidFill>
                  <a:srgbClr val="959BB0"/>
                </a:solidFill>
                <a:latin typeface="Palatino Linotype" pitchFamily="34" charset="0"/>
                <a:ea typeface="Palatino Linotype" pitchFamily="34" charset="-122"/>
                <a:cs typeface="Palatino Linotype" pitchFamily="34" charset="-120"/>
              </a:rPr>
              <a:t>În studiile despre problemele psihice în general, explicația biogenetică a redus blamarea (g = −0,324) și a crescut pesimismul prognostic (g = +0,263). Alege-l cunoscând ambele direcții și spune-i pacientului și ce arată datele despre remisie.</a:t>
            </a:r>
            <a:endParaRPr lang="en-US" sz="1250" dirty="0"/>
          </a:p>
        </p:txBody>
      </p:sp>
      <p:sp>
        <p:nvSpPr>
          <p:cNvPr id="19" name="Text 17"/>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Valorile g: Kvaale și colab., Clin Psychol Rev, 2013 · Firul metodologic „de unde vine cifra?” revine în fiecare dintre cele șapte sesiuni ale cursului.</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2">
    <p:bg>
      <p:bgPr>
        <a:solidFill>
          <a:srgbClr val="FF4757"/>
        </a:solidFill>
        <a:effectLst/>
      </p:bgPr>
    </p:bg>
    <p:spTree>
      <p:nvGrpSpPr>
        <p:cNvPr id="1" name=""/>
        <p:cNvGrpSpPr/>
        <p:nvPr/>
      </p:nvGrpSpPr>
      <p:grpSpPr>
        <a:xfrm>
          <a:off x="0" y="0"/>
          <a:ext cx="0" cy="0"/>
          <a:chOff x="0" y="0"/>
          <a:chExt cx="0" cy="0"/>
        </a:xfrm>
      </p:grpSpPr>
      <p:sp>
        <p:nvSpPr>
          <p:cNvPr id="2" name="Text 0"/>
          <p:cNvSpPr/>
          <p:nvPr/>
        </p:nvSpPr>
        <p:spPr>
          <a:xfrm>
            <a:off x="822960" y="822960"/>
            <a:ext cx="10515600" cy="310896"/>
          </a:xfrm>
          <a:prstGeom prst="rect">
            <a:avLst/>
          </a:prstGeom>
          <a:noFill/>
          <a:ln/>
        </p:spPr>
        <p:txBody>
          <a:bodyPr wrap="square" lIns="0" tIns="0" rIns="0" bIns="0" rtlCol="0" anchor="ctr"/>
          <a:lstStyle/>
          <a:p>
            <a:pPr marL="0" indent="0">
              <a:buNone/>
            </a:pPr>
            <a:r>
              <a:rPr lang="en-US" sz="1100" b="1" kern="0" spc="300" dirty="0">
                <a:solidFill>
                  <a:srgbClr val="2E060B"/>
                </a:solidFill>
                <a:latin typeface="Palatino Linotype" pitchFamily="34" charset="0"/>
                <a:ea typeface="Palatino Linotype" pitchFamily="34" charset="-122"/>
                <a:cs typeface="Palatino Linotype" pitchFamily="34" charset="-120"/>
              </a:rPr>
              <a:t>ȘI A PATRA, CARE NU SE DEDUCE DIN NICIUN TABEL</a:t>
            </a:r>
            <a:endParaRPr lang="en-US" sz="1100" dirty="0"/>
          </a:p>
        </p:txBody>
      </p:sp>
      <p:sp>
        <p:nvSpPr>
          <p:cNvPr id="3" name="Text 1"/>
          <p:cNvSpPr/>
          <p:nvPr/>
        </p:nvSpPr>
        <p:spPr>
          <a:xfrm>
            <a:off x="822960" y="1325880"/>
            <a:ext cx="10515600" cy="1234440"/>
          </a:xfrm>
          <a:prstGeom prst="rect">
            <a:avLst/>
          </a:prstGeom>
          <a:noFill/>
          <a:ln/>
        </p:spPr>
        <p:txBody>
          <a:bodyPr wrap="square" lIns="0" tIns="0" rIns="0" bIns="0" rtlCol="0" anchor="ctr"/>
          <a:lstStyle/>
          <a:p>
            <a:pPr marL="0" indent="0">
              <a:lnSpc>
                <a:spcPts val="4600"/>
              </a:lnSpc>
              <a:buNone/>
            </a:pPr>
            <a:r>
              <a:rPr lang="en-US" sz="2900" b="1" dirty="0">
                <a:solidFill>
                  <a:srgbClr val="2E060B"/>
                </a:solidFill>
                <a:latin typeface="Palatino Linotype" pitchFamily="34" charset="0"/>
                <a:ea typeface="Palatino Linotype" pitchFamily="34" charset="-122"/>
                <a:cs typeface="Palatino Linotype" pitchFamily="34" charset="-120"/>
              </a:rPr>
              <a:t>Peste câțiva ani veți avea dreptul să semnați</a:t>
            </a:r>
            <a:endParaRPr lang="en-US" sz="2900" dirty="0"/>
          </a:p>
          <a:p>
            <a:pPr marL="0" indent="0">
              <a:lnSpc>
                <a:spcPts val="4600"/>
              </a:lnSpc>
              <a:buNone/>
            </a:pPr>
            <a:r>
              <a:rPr lang="en-US" sz="2900" b="1" dirty="0">
                <a:solidFill>
                  <a:srgbClr val="2E060B"/>
                </a:solidFill>
                <a:latin typeface="Palatino Linotype" pitchFamily="34" charset="0"/>
                <a:ea typeface="Palatino Linotype" pitchFamily="34" charset="-122"/>
                <a:cs typeface="Palatino Linotype" pitchFamily="34" charset="-120"/>
              </a:rPr>
              <a:t>o rețetă de benzodiazepine sau de opioide.</a:t>
            </a:r>
            <a:endParaRPr lang="en-US" sz="2900" dirty="0"/>
          </a:p>
        </p:txBody>
      </p:sp>
      <p:sp>
        <p:nvSpPr>
          <p:cNvPr id="4" name="Shape 2"/>
          <p:cNvSpPr/>
          <p:nvPr/>
        </p:nvSpPr>
        <p:spPr>
          <a:xfrm>
            <a:off x="822960" y="2743200"/>
            <a:ext cx="1600200" cy="32004"/>
          </a:xfrm>
          <a:prstGeom prst="rect">
            <a:avLst/>
          </a:prstGeom>
          <a:solidFill>
            <a:srgbClr val="2E060B"/>
          </a:solidFill>
          <a:ln w="12700">
            <a:solidFill>
              <a:srgbClr val="2E060B"/>
            </a:solidFill>
            <a:prstDash val="solid"/>
          </a:ln>
        </p:spPr>
        <p:txBody>
          <a:bodyPr/>
          <a:lstStyle/>
          <a:p>
            <a:endParaRPr lang="ro-RO"/>
          </a:p>
        </p:txBody>
      </p:sp>
      <p:sp>
        <p:nvSpPr>
          <p:cNvPr id="5" name="Text 3"/>
          <p:cNvSpPr/>
          <p:nvPr/>
        </p:nvSpPr>
        <p:spPr>
          <a:xfrm>
            <a:off x="822960" y="3054096"/>
            <a:ext cx="10515600" cy="841248"/>
          </a:xfrm>
          <a:prstGeom prst="rect">
            <a:avLst/>
          </a:prstGeom>
          <a:noFill/>
          <a:ln/>
        </p:spPr>
        <p:txBody>
          <a:bodyPr wrap="square" lIns="0" tIns="0" rIns="0" bIns="0" rtlCol="0" anchor="t"/>
          <a:lstStyle/>
          <a:p>
            <a:pPr marL="0" indent="0">
              <a:lnSpc>
                <a:spcPts val="2800"/>
              </a:lnSpc>
              <a:buNone/>
            </a:pPr>
            <a:r>
              <a:rPr lang="en-US" sz="1700" dirty="0">
                <a:solidFill>
                  <a:srgbClr val="2E060B"/>
                </a:solidFill>
                <a:latin typeface="Palatino Linotype" pitchFamily="34" charset="0"/>
                <a:ea typeface="Palatino Linotype" pitchFamily="34" charset="-122"/>
                <a:cs typeface="Palatino Linotype" pitchFamily="34" charset="-120"/>
              </a:rPr>
              <a:t>Benzodiazepinele dezinhibă, la șoarece, neuronul dopaminergic din VTA prin subunitatea α1, ca agoniștii opioizi μ (la șobolan): ambele acționează asupra interneuronilor GABA-ergici. Recompensa cere și α2, posibil α3. Extinderea la alprazolam și la om este o inferență.</a:t>
            </a:r>
            <a:endParaRPr lang="en-US" sz="1700" dirty="0"/>
          </a:p>
        </p:txBody>
      </p:sp>
      <p:sp>
        <p:nvSpPr>
          <p:cNvPr id="6" name="Text 4"/>
          <p:cNvSpPr/>
          <p:nvPr/>
        </p:nvSpPr>
        <p:spPr>
          <a:xfrm>
            <a:off x="822960" y="4041648"/>
            <a:ext cx="10515600" cy="1097280"/>
          </a:xfrm>
          <a:prstGeom prst="rect">
            <a:avLst/>
          </a:prstGeom>
          <a:noFill/>
          <a:ln/>
        </p:spPr>
        <p:txBody>
          <a:bodyPr wrap="square" lIns="0" tIns="0" rIns="0" bIns="0" rtlCol="0" anchor="ctr"/>
          <a:lstStyle/>
          <a:p>
            <a:pPr marL="0" indent="0">
              <a:lnSpc>
                <a:spcPts val="3600"/>
              </a:lnSpc>
              <a:buNone/>
            </a:pPr>
            <a:r>
              <a:rPr lang="en-US" sz="2200" b="1" dirty="0">
                <a:solidFill>
                  <a:srgbClr val="2E060B"/>
                </a:solidFill>
                <a:latin typeface="Palatino Linotype" pitchFamily="34" charset="0"/>
                <a:ea typeface="Palatino Linotype" pitchFamily="34" charset="-122"/>
                <a:cs typeface="Palatino Linotype" pitchFamily="34" charset="-120"/>
              </a:rPr>
              <a:t>Diferența dintre pacientul din varianta C și cel din varianta D</a:t>
            </a:r>
            <a:endParaRPr lang="en-US" sz="2200" dirty="0"/>
          </a:p>
          <a:p>
            <a:pPr marL="0" indent="0">
              <a:lnSpc>
                <a:spcPts val="3600"/>
              </a:lnSpc>
              <a:buNone/>
            </a:pPr>
            <a:r>
              <a:rPr lang="en-US" sz="2200" b="1" dirty="0">
                <a:solidFill>
                  <a:srgbClr val="2E060B"/>
                </a:solidFill>
                <a:latin typeface="Palatino Linotype" pitchFamily="34" charset="0"/>
                <a:ea typeface="Palatino Linotype" pitchFamily="34" charset="-122"/>
                <a:cs typeface="Palatino Linotype" pitchFamily="34" charset="-120"/>
              </a:rPr>
              <a:t>nu a fost creierul. A fost calea de acces: rețeta, față de piața ilicită (interpretare).</a:t>
            </a:r>
            <a:endParaRPr lang="en-US" sz="2200" dirty="0"/>
          </a:p>
        </p:txBody>
      </p:sp>
      <p:sp>
        <p:nvSpPr>
          <p:cNvPr id="7" name="Text 5"/>
          <p:cNvSpPr/>
          <p:nvPr/>
        </p:nvSpPr>
        <p:spPr>
          <a:xfrm>
            <a:off x="822960" y="5285232"/>
            <a:ext cx="10515600" cy="438912"/>
          </a:xfrm>
          <a:prstGeom prst="rect">
            <a:avLst/>
          </a:prstGeom>
          <a:noFill/>
          <a:ln/>
        </p:spPr>
        <p:txBody>
          <a:bodyPr wrap="square" lIns="0" tIns="0" rIns="0" bIns="0" rtlCol="0" anchor="ctr"/>
          <a:lstStyle/>
          <a:p>
            <a:pPr marL="0" indent="0">
              <a:buNone/>
            </a:pPr>
            <a:r>
              <a:rPr lang="en-US" sz="2000" b="1" dirty="0">
                <a:solidFill>
                  <a:srgbClr val="2E060B"/>
                </a:solidFill>
                <a:latin typeface="Palatino Linotype" pitchFamily="34" charset="0"/>
                <a:ea typeface="Palatino Linotype" pitchFamily="34" charset="-122"/>
                <a:cs typeface="Palatino Linotype" pitchFamily="34" charset="-120"/>
              </a:rPr>
              <a:t>Peste câțiva ani, acela veți fi voi.</a:t>
            </a:r>
            <a:endParaRPr lang="en-US" sz="2000" dirty="0"/>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CE NU PUTEM AFIRMA</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Limitele interpretării</a:t>
            </a:r>
            <a:endParaRPr lang="en-US" sz="3000" dirty="0"/>
          </a:p>
        </p:txBody>
      </p:sp>
      <p:sp>
        <p:nvSpPr>
          <p:cNvPr id="4" name="Shape 2"/>
          <p:cNvSpPr/>
          <p:nvPr/>
        </p:nvSpPr>
        <p:spPr>
          <a:xfrm>
            <a:off x="594360" y="1847088"/>
            <a:ext cx="5440680" cy="3401568"/>
          </a:xfrm>
          <a:prstGeom prst="roundRect">
            <a:avLst>
              <a:gd name="adj" fmla="val 2419"/>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914400" y="2048256"/>
            <a:ext cx="4846320" cy="292608"/>
          </a:xfrm>
          <a:prstGeom prst="rect">
            <a:avLst/>
          </a:prstGeom>
          <a:noFill/>
          <a:ln/>
        </p:spPr>
        <p:txBody>
          <a:bodyPr wrap="square" lIns="0" tIns="0" rIns="0" bIns="0" rtlCol="0" anchor="ctr"/>
          <a:lstStyle/>
          <a:p>
            <a:pPr marL="0" indent="0">
              <a:buNone/>
            </a:pPr>
            <a:r>
              <a:rPr lang="en-US" sz="1050" b="1" kern="0" spc="200" dirty="0">
                <a:solidFill>
                  <a:srgbClr val="27D3BE"/>
                </a:solidFill>
                <a:latin typeface="Palatino Linotype" pitchFamily="34" charset="0"/>
                <a:ea typeface="Palatino Linotype" pitchFamily="34" charset="-122"/>
                <a:cs typeface="Palatino Linotype" pitchFamily="34" charset="-120"/>
              </a:rPr>
              <a:t>DE CE ESTE PE ECRAN</a:t>
            </a:r>
            <a:endParaRPr lang="en-US" sz="1050" dirty="0"/>
          </a:p>
        </p:txBody>
      </p:sp>
      <p:sp>
        <p:nvSpPr>
          <p:cNvPr id="6" name="Text 4"/>
          <p:cNvSpPr/>
          <p:nvPr/>
        </p:nvSpPr>
        <p:spPr>
          <a:xfrm>
            <a:off x="914400" y="2450592"/>
            <a:ext cx="4846320" cy="2606040"/>
          </a:xfrm>
          <a:prstGeom prst="rect">
            <a:avLst/>
          </a:prstGeom>
          <a:noFill/>
          <a:ln/>
        </p:spPr>
        <p:txBody>
          <a:bodyPr wrap="square" lIns="0" tIns="0" rIns="0" bIns="0" rtlCol="0" anchor="t"/>
          <a:lstStyle/>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Ce nu a putut fi verificat în sursa primară nu se afișează ca cifră.</a:t>
            </a:r>
            <a:endParaRPr lang="en-US" sz="1300" dirty="0"/>
          </a:p>
          <a:p>
            <a:pPr marL="0" indent="0">
              <a:lnSpc>
                <a:spcPts val="2100"/>
              </a:lnSpc>
              <a:buNone/>
            </a:pPr>
            <a:endParaRPr lang="en-US" sz="1300" dirty="0"/>
          </a:p>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Consumul este declarat de respondenți, nu măsurat; datele NESARC sunt din SUA.</a:t>
            </a:r>
            <a:endParaRPr lang="en-US" sz="1300" dirty="0"/>
          </a:p>
          <a:p>
            <a:pPr marL="0" indent="0">
              <a:lnSpc>
                <a:spcPts val="2100"/>
              </a:lnSpc>
              <a:buNone/>
            </a:pPr>
            <a:r>
              <a:rPr lang="en-US" sz="1300" dirty="0">
                <a:solidFill>
                  <a:srgbClr val="FFFFFF"/>
                </a:solidFill>
                <a:latin typeface="Palatino Linotype" pitchFamily="34" charset="0"/>
                <a:ea typeface="Palatino Linotype" pitchFamily="34" charset="-122"/>
                <a:cs typeface="Palatino Linotype" pitchFamily="34" charset="-120"/>
              </a:rPr>
              <a:t>Lista completă este în notele de curs, la finalul unității.</a:t>
            </a:r>
            <a:endParaRPr lang="en-US" sz="1300" dirty="0"/>
          </a:p>
        </p:txBody>
      </p:sp>
      <p:sp>
        <p:nvSpPr>
          <p:cNvPr id="7" name="Shape 5"/>
          <p:cNvSpPr/>
          <p:nvPr/>
        </p:nvSpPr>
        <p:spPr>
          <a:xfrm>
            <a:off x="6309360" y="1847088"/>
            <a:ext cx="5257800" cy="3401568"/>
          </a:xfrm>
          <a:prstGeom prst="roundRect">
            <a:avLst>
              <a:gd name="adj" fmla="val 2419"/>
            </a:avLst>
          </a:prstGeom>
          <a:solidFill>
            <a:srgbClr val="272A38"/>
          </a:solidFill>
          <a:ln w="12700">
            <a:solidFill>
              <a:srgbClr val="272A38"/>
            </a:solidFill>
            <a:prstDash val="solid"/>
          </a:ln>
        </p:spPr>
        <p:txBody>
          <a:bodyPr/>
          <a:lstStyle/>
          <a:p>
            <a:endParaRPr lang="ro-RO"/>
          </a:p>
        </p:txBody>
      </p:sp>
      <p:sp>
        <p:nvSpPr>
          <p:cNvPr id="8" name="Text 6"/>
          <p:cNvSpPr/>
          <p:nvPr/>
        </p:nvSpPr>
        <p:spPr>
          <a:xfrm>
            <a:off x="6629400" y="2048256"/>
            <a:ext cx="4663440" cy="292608"/>
          </a:xfrm>
          <a:prstGeom prst="rect">
            <a:avLst/>
          </a:prstGeom>
          <a:noFill/>
          <a:ln/>
        </p:spPr>
        <p:txBody>
          <a:bodyPr wrap="square" lIns="0" tIns="0" rIns="0" bIns="0" rtlCol="0" anchor="ctr"/>
          <a:lstStyle/>
          <a:p>
            <a:pPr marL="0" indent="0">
              <a:buNone/>
            </a:pPr>
            <a:r>
              <a:rPr lang="en-US" sz="1050" b="1" kern="0" spc="200" dirty="0">
                <a:solidFill>
                  <a:srgbClr val="FF4757"/>
                </a:solidFill>
                <a:latin typeface="Palatino Linotype" pitchFamily="34" charset="0"/>
                <a:ea typeface="Palatino Linotype" pitchFamily="34" charset="-122"/>
                <a:cs typeface="Palatino Linotype" pitchFamily="34" charset="-120"/>
              </a:rPr>
              <a:t>CE NU AM PUTUT VERIFICA</a:t>
            </a:r>
            <a:endParaRPr lang="en-US" sz="1050" dirty="0"/>
          </a:p>
        </p:txBody>
      </p:sp>
      <p:sp>
        <p:nvSpPr>
          <p:cNvPr id="9" name="Text 7"/>
          <p:cNvSpPr/>
          <p:nvPr/>
        </p:nvSpPr>
        <p:spPr>
          <a:xfrm>
            <a:off x="6629400" y="2450592"/>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0" name="Text 8"/>
          <p:cNvSpPr/>
          <p:nvPr/>
        </p:nvSpPr>
        <p:spPr>
          <a:xfrm>
            <a:off x="6931152" y="2450592"/>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Procentele detaliate despre veteranii din Vietnam</a:t>
            </a:r>
            <a:endParaRPr lang="en-US" sz="1250" dirty="0"/>
          </a:p>
        </p:txBody>
      </p:sp>
      <p:sp>
        <p:nvSpPr>
          <p:cNvPr id="11" name="Text 9"/>
          <p:cNvSpPr/>
          <p:nvPr/>
        </p:nvSpPr>
        <p:spPr>
          <a:xfrm>
            <a:off x="6629400" y="2916936"/>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2" name="Text 10"/>
          <p:cNvSpPr/>
          <p:nvPr/>
        </p:nvSpPr>
        <p:spPr>
          <a:xfrm>
            <a:off x="6931152" y="2916936"/>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Valorile pentru morfină, metadonă și etanol</a:t>
            </a:r>
            <a:endParaRPr lang="en-US" sz="1250" dirty="0"/>
          </a:p>
        </p:txBody>
      </p:sp>
      <p:sp>
        <p:nvSpPr>
          <p:cNvPr id="13" name="Text 11"/>
          <p:cNvSpPr/>
          <p:nvPr/>
        </p:nvSpPr>
        <p:spPr>
          <a:xfrm>
            <a:off x="6629400" y="3383280"/>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4" name="Text 12"/>
          <p:cNvSpPr/>
          <p:nvPr/>
        </p:nvSpPr>
        <p:spPr>
          <a:xfrm>
            <a:off x="6931152" y="3383280"/>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Ponderea remisiilor fără tratament</a:t>
            </a:r>
            <a:endParaRPr lang="en-US" sz="1250" dirty="0"/>
          </a:p>
        </p:txBody>
      </p:sp>
      <p:sp>
        <p:nvSpPr>
          <p:cNvPr id="15" name="Text 13"/>
          <p:cNvSpPr/>
          <p:nvPr/>
        </p:nvSpPr>
        <p:spPr>
          <a:xfrm>
            <a:off x="6629400" y="3849624"/>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6" name="Text 14"/>
          <p:cNvSpPr/>
          <p:nvPr/>
        </p:nvSpPr>
        <p:spPr>
          <a:xfrm>
            <a:off x="6931152" y="3849624"/>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Mortalitatea prin sevraj la benzodiazepine</a:t>
            </a:r>
            <a:endParaRPr lang="en-US" sz="1250" dirty="0"/>
          </a:p>
        </p:txBody>
      </p:sp>
      <p:sp>
        <p:nvSpPr>
          <p:cNvPr id="17" name="Text 15"/>
          <p:cNvSpPr/>
          <p:nvPr/>
        </p:nvSpPr>
        <p:spPr>
          <a:xfrm>
            <a:off x="6629400" y="4315968"/>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18" name="Text 16"/>
          <p:cNvSpPr/>
          <p:nvPr/>
        </p:nvSpPr>
        <p:spPr>
          <a:xfrm>
            <a:off x="6931152" y="4315968"/>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Respingerea „Rat Park” de Science și Nature</a:t>
            </a:r>
            <a:endParaRPr lang="en-US" sz="1250" dirty="0"/>
          </a:p>
        </p:txBody>
      </p:sp>
      <p:sp>
        <p:nvSpPr>
          <p:cNvPr id="19" name="Text 17"/>
          <p:cNvSpPr/>
          <p:nvPr/>
        </p:nvSpPr>
        <p:spPr>
          <a:xfrm>
            <a:off x="6629400" y="4782312"/>
            <a:ext cx="256032" cy="411480"/>
          </a:xfrm>
          <a:prstGeom prst="rect">
            <a:avLst/>
          </a:prstGeom>
          <a:noFill/>
          <a:ln/>
        </p:spPr>
        <p:txBody>
          <a:bodyPr wrap="square" lIns="0" tIns="0" rIns="0" bIns="0" rtlCol="0" anchor="t"/>
          <a:lstStyle/>
          <a:p>
            <a:pPr marL="0" indent="0">
              <a:buNone/>
            </a:pPr>
            <a:r>
              <a:rPr lang="en-US" sz="1100" b="1" dirty="0">
                <a:solidFill>
                  <a:srgbClr val="FF4757"/>
                </a:solidFill>
                <a:latin typeface="Palatino Linotype" pitchFamily="34" charset="0"/>
                <a:ea typeface="Palatino Linotype" pitchFamily="34" charset="-122"/>
                <a:cs typeface="Palatino Linotype" pitchFamily="34" charset="-120"/>
              </a:rPr>
              <a:t>—</a:t>
            </a:r>
            <a:endParaRPr lang="en-US" sz="1100" dirty="0"/>
          </a:p>
        </p:txBody>
      </p:sp>
      <p:sp>
        <p:nvSpPr>
          <p:cNvPr id="20" name="Text 18"/>
          <p:cNvSpPr/>
          <p:nvPr/>
        </p:nvSpPr>
        <p:spPr>
          <a:xfrm>
            <a:off x="6931152" y="4782312"/>
            <a:ext cx="4389120" cy="438912"/>
          </a:xfrm>
          <a:prstGeom prst="rect">
            <a:avLst/>
          </a:prstGeom>
          <a:noFill/>
          <a:ln/>
        </p:spPr>
        <p:txBody>
          <a:bodyPr wrap="square" lIns="0" tIns="0" rIns="0" bIns="0" rtlCol="0" anchor="t"/>
          <a:lstStyle/>
          <a:p>
            <a:pPr marL="0" indent="0">
              <a:lnSpc>
                <a:spcPts val="1700"/>
              </a:lnSpc>
              <a:buNone/>
            </a:pPr>
            <a:r>
              <a:rPr lang="en-US" sz="1250" dirty="0">
                <a:solidFill>
                  <a:srgbClr val="959BB0"/>
                </a:solidFill>
                <a:latin typeface="Palatino Linotype" pitchFamily="34" charset="0"/>
                <a:ea typeface="Palatino Linotype" pitchFamily="34" charset="-122"/>
                <a:cs typeface="Palatino Linotype" pitchFamily="34" charset="-120"/>
              </a:rPr>
              <a:t>GPS 2024: valori diferite în două documente</a:t>
            </a:r>
            <a:endParaRPr lang="en-US" sz="1250" dirty="0"/>
          </a:p>
        </p:txBody>
      </p:sp>
      <p:sp>
        <p:nvSpPr>
          <p:cNvPr id="21" name="Text 19"/>
          <p:cNvSpPr/>
          <p:nvPr/>
        </p:nvSpPr>
        <p:spPr>
          <a:xfrm>
            <a:off x="594360" y="5468112"/>
            <a:ext cx="10972800" cy="384048"/>
          </a:xfrm>
          <a:prstGeom prst="rect">
            <a:avLst/>
          </a:prstGeom>
          <a:noFill/>
          <a:ln/>
        </p:spPr>
        <p:txBody>
          <a:bodyPr wrap="square" lIns="0" tIns="0" rIns="0" bIns="0" rtlCol="0" anchor="ctr"/>
          <a:lstStyle/>
          <a:p>
            <a:pPr marL="0" indent="0">
              <a:buNone/>
            </a:pPr>
            <a:r>
              <a:rPr lang="en-US" sz="1400" b="1" dirty="0">
                <a:solidFill>
                  <a:srgbClr val="9B7EF7"/>
                </a:solidFill>
                <a:latin typeface="Palatino Linotype" pitchFamily="34" charset="0"/>
                <a:ea typeface="Palatino Linotype" pitchFamily="34" charset="-122"/>
                <a:cs typeface="Palatino Linotype" pitchFamily="34" charset="-120"/>
              </a:rPr>
              <a:t>Când lipsește cifra, spuneți că lipsește; nu o aproximați.</a:t>
            </a:r>
            <a:endParaRPr lang="en-US" sz="1400" dirty="0"/>
          </a:p>
        </p:txBody>
      </p:sp>
      <p:sp>
        <p:nvSpPr>
          <p:cNvPr id="22" name="Text 20"/>
          <p:cNvSpPr/>
          <p:nvPr/>
        </p:nvSpPr>
        <p:spPr>
          <a:xfrm>
            <a:off x="594360" y="6309360"/>
            <a:ext cx="10972800" cy="292608"/>
          </a:xfrm>
          <a:prstGeom prst="rect">
            <a:avLst/>
          </a:prstGeom>
          <a:noFill/>
          <a:ln/>
        </p:spPr>
        <p:txBody>
          <a:bodyPr wrap="square" lIns="0" tIns="0" rIns="0" bIns="0" rtlCol="0" anchor="ctr"/>
          <a:lstStyle/>
          <a:p>
            <a:pPr marL="0" indent="0">
              <a:buNone/>
            </a:pPr>
            <a:r>
              <a:rPr lang="en-US" sz="950" i="1" dirty="0">
                <a:solidFill>
                  <a:srgbClr val="A6ADC2"/>
                </a:solidFill>
                <a:latin typeface="Palatino Linotype" pitchFamily="34" charset="0"/>
                <a:ea typeface="Palatino Linotype" pitchFamily="34" charset="-122"/>
                <a:cs typeface="Palatino Linotype" pitchFamily="34" charset="-120"/>
              </a:rPr>
              <a:t>Notele de curs C01, caseta „Limitele interpretării”; registrul afirmațiilor și al surselor</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3">
    <p:bg>
      <p:bgPr>
        <a:solidFill>
          <a:srgbClr val="0E7C6B"/>
        </a:solidFill>
        <a:effectLst/>
      </p:bgPr>
    </p:bg>
    <p:spTree>
      <p:nvGrpSpPr>
        <p:cNvPr id="1" name=""/>
        <p:cNvGrpSpPr/>
        <p:nvPr/>
      </p:nvGrpSpPr>
      <p:grpSpPr>
        <a:xfrm>
          <a:off x="0" y="0"/>
          <a:ext cx="0" cy="0"/>
          <a:chOff x="0" y="0"/>
          <a:chExt cx="0" cy="0"/>
        </a:xfrm>
      </p:grpSpPr>
      <p:sp>
        <p:nvSpPr>
          <p:cNvPr id="2" name="Shape 0"/>
          <p:cNvSpPr/>
          <p:nvPr/>
        </p:nvSpPr>
        <p:spPr>
          <a:xfrm>
            <a:off x="9006840" y="329184"/>
            <a:ext cx="2560320" cy="384048"/>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3" name="Text 1"/>
          <p:cNvSpPr/>
          <p:nvPr/>
        </p:nvSpPr>
        <p:spPr>
          <a:xfrm>
            <a:off x="9006840" y="329184"/>
            <a:ext cx="2560320" cy="384048"/>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KAHOOT · 20 DE ITEMI</a:t>
            </a:r>
            <a:endParaRPr lang="en-US" sz="1000" dirty="0"/>
          </a:p>
        </p:txBody>
      </p:sp>
      <p:sp>
        <p:nvSpPr>
          <p:cNvPr id="4" name="Text 2"/>
          <p:cNvSpPr/>
          <p:nvPr/>
        </p:nvSpPr>
        <p:spPr>
          <a:xfrm>
            <a:off x="822960" y="804672"/>
            <a:ext cx="7772400" cy="310896"/>
          </a:xfrm>
          <a:prstGeom prst="rect">
            <a:avLst/>
          </a:prstGeom>
          <a:noFill/>
          <a:ln/>
        </p:spPr>
        <p:txBody>
          <a:bodyPr wrap="square" lIns="0" tIns="0" rIns="0" bIns="0" rtlCol="0" anchor="ctr"/>
          <a:lstStyle/>
          <a:p>
            <a:pPr marL="0" indent="0">
              <a:buNone/>
            </a:pPr>
            <a:r>
              <a:rPr lang="en-US" sz="1100" b="1" kern="0" spc="300" dirty="0">
                <a:solidFill>
                  <a:srgbClr val="A9E8DE"/>
                </a:solidFill>
                <a:latin typeface="Palatino Linotype" pitchFamily="34" charset="0"/>
                <a:ea typeface="Palatino Linotype" pitchFamily="34" charset="-122"/>
                <a:cs typeface="Palatino Linotype" pitchFamily="34" charset="-120"/>
              </a:rPr>
              <a:t>EVALUARE FORMATIVĂ</a:t>
            </a:r>
            <a:endParaRPr lang="en-US" sz="1100" dirty="0"/>
          </a:p>
        </p:txBody>
      </p:sp>
      <p:sp>
        <p:nvSpPr>
          <p:cNvPr id="5" name="Text 3"/>
          <p:cNvSpPr/>
          <p:nvPr/>
        </p:nvSpPr>
        <p:spPr>
          <a:xfrm>
            <a:off x="822960" y="1298448"/>
            <a:ext cx="10515600" cy="731520"/>
          </a:xfrm>
          <a:prstGeom prst="rect">
            <a:avLst/>
          </a:prstGeom>
          <a:noFill/>
          <a:ln/>
        </p:spPr>
        <p:txBody>
          <a:bodyPr wrap="square" lIns="0" tIns="0" rIns="0" bIns="0" rtlCol="0" anchor="ctr"/>
          <a:lstStyle/>
          <a:p>
            <a:pPr marL="0" indent="0">
              <a:buNone/>
            </a:pPr>
            <a:r>
              <a:rPr lang="en-US" sz="3500" b="1" dirty="0">
                <a:solidFill>
                  <a:srgbClr val="FFFFFF"/>
                </a:solidFill>
                <a:latin typeface="Palatino Linotype" pitchFamily="34" charset="0"/>
                <a:ea typeface="Palatino Linotype" pitchFamily="34" charset="-122"/>
                <a:cs typeface="Palatino Linotype" pitchFamily="34" charset="-120"/>
              </a:rPr>
              <a:t>Ultimele opt minute</a:t>
            </a:r>
            <a:endParaRPr lang="en-US" sz="3500" dirty="0"/>
          </a:p>
        </p:txBody>
      </p:sp>
      <p:sp>
        <p:nvSpPr>
          <p:cNvPr id="6" name="Text 4"/>
          <p:cNvSpPr/>
          <p:nvPr/>
        </p:nvSpPr>
        <p:spPr>
          <a:xfrm>
            <a:off x="822960" y="2103120"/>
            <a:ext cx="10515600" cy="384048"/>
          </a:xfrm>
          <a:prstGeom prst="rect">
            <a:avLst/>
          </a:prstGeom>
          <a:noFill/>
          <a:ln/>
        </p:spPr>
        <p:txBody>
          <a:bodyPr wrap="square" lIns="0" tIns="0" rIns="0" bIns="0" rtlCol="0" anchor="ctr"/>
          <a:lstStyle/>
          <a:p>
            <a:pPr marL="0" indent="0">
              <a:buNone/>
            </a:pPr>
            <a:r>
              <a:rPr lang="en-US" sz="1600" dirty="0">
                <a:solidFill>
                  <a:srgbClr val="A9E8DE"/>
                </a:solidFill>
                <a:latin typeface="Palatino Linotype" pitchFamily="34" charset="0"/>
                <a:ea typeface="Palatino Linotype" pitchFamily="34" charset="-122"/>
                <a:cs typeface="Palatino Linotype" pitchFamily="34" charset="-120"/>
              </a:rPr>
              <a:t>Fără miză de notă. Banca de itemi a titularului, revizuită. Fiecare item are sursa afișată după răspuns.</a:t>
            </a:r>
            <a:endParaRPr lang="en-US" sz="1600" dirty="0"/>
          </a:p>
        </p:txBody>
      </p:sp>
      <p:sp>
        <p:nvSpPr>
          <p:cNvPr id="7" name="Text 5"/>
          <p:cNvSpPr/>
          <p:nvPr/>
        </p:nvSpPr>
        <p:spPr>
          <a:xfrm>
            <a:off x="822960" y="2816352"/>
            <a:ext cx="822960" cy="566928"/>
          </a:xfrm>
          <a:prstGeom prst="rect">
            <a:avLst/>
          </a:prstGeom>
          <a:noFill/>
          <a:ln/>
        </p:spPr>
        <p:txBody>
          <a:bodyPr wrap="square" lIns="0" tIns="0" rIns="0" bIns="0" rtlCol="0" anchor="ctr"/>
          <a:lstStyle/>
          <a:p>
            <a:pPr marL="0" indent="0">
              <a:buNone/>
            </a:pPr>
            <a:r>
              <a:rPr lang="en-US" sz="3200" b="1" dirty="0">
                <a:solidFill>
                  <a:srgbClr val="FFC24B"/>
                </a:solidFill>
                <a:latin typeface="Palatino Linotype" pitchFamily="34" charset="0"/>
                <a:ea typeface="Palatino Linotype" pitchFamily="34" charset="-122"/>
                <a:cs typeface="Palatino Linotype" pitchFamily="34" charset="-120"/>
              </a:rPr>
              <a:t>5</a:t>
            </a:r>
            <a:endParaRPr lang="en-US" sz="3200" dirty="0"/>
          </a:p>
        </p:txBody>
      </p:sp>
      <p:sp>
        <p:nvSpPr>
          <p:cNvPr id="8" name="Text 6"/>
          <p:cNvSpPr/>
          <p:nvPr/>
        </p:nvSpPr>
        <p:spPr>
          <a:xfrm>
            <a:off x="1783080" y="2816352"/>
            <a:ext cx="9509760" cy="566928"/>
          </a:xfrm>
          <a:prstGeom prst="rect">
            <a:avLst/>
          </a:prstGeom>
          <a:noFill/>
          <a:ln/>
        </p:spPr>
        <p:txBody>
          <a:bodyPr wrap="square" lIns="0" tIns="0" rIns="0" bIns="0" rtlCol="0" anchor="ctr"/>
          <a:lstStyle/>
          <a:p>
            <a:pPr marL="0" indent="0">
              <a:buNone/>
            </a:pPr>
            <a:r>
              <a:rPr lang="en-US" sz="1550" dirty="0">
                <a:solidFill>
                  <a:srgbClr val="FFFFFF"/>
                </a:solidFill>
                <a:latin typeface="Palatino Linotype" pitchFamily="34" charset="0"/>
                <a:ea typeface="Palatino Linotype" pitchFamily="34" charset="-122"/>
                <a:cs typeface="Palatino Linotype" pitchFamily="34" charset="-120"/>
              </a:rPr>
              <a:t>itemi de deschidere: 3 reiau votul de calibrare, 2 privesc tranziția și saltul mecanism–politică</a:t>
            </a:r>
            <a:endParaRPr lang="en-US" sz="1550" dirty="0"/>
          </a:p>
        </p:txBody>
      </p:sp>
      <p:sp>
        <p:nvSpPr>
          <p:cNvPr id="9" name="Text 7"/>
          <p:cNvSpPr/>
          <p:nvPr/>
        </p:nvSpPr>
        <p:spPr>
          <a:xfrm>
            <a:off x="822960" y="3566160"/>
            <a:ext cx="822960" cy="566928"/>
          </a:xfrm>
          <a:prstGeom prst="rect">
            <a:avLst/>
          </a:prstGeom>
          <a:noFill/>
          <a:ln/>
        </p:spPr>
        <p:txBody>
          <a:bodyPr wrap="square" lIns="0" tIns="0" rIns="0" bIns="0" rtlCol="0" anchor="ctr"/>
          <a:lstStyle/>
          <a:p>
            <a:pPr marL="0" indent="0">
              <a:buNone/>
            </a:pPr>
            <a:r>
              <a:rPr lang="en-US" sz="3200" b="1" dirty="0">
                <a:solidFill>
                  <a:srgbClr val="FFC24B"/>
                </a:solidFill>
                <a:latin typeface="Palatino Linotype" pitchFamily="34" charset="0"/>
                <a:ea typeface="Palatino Linotype" pitchFamily="34" charset="-122"/>
                <a:cs typeface="Palatino Linotype" pitchFamily="34" charset="-120"/>
              </a:rPr>
              <a:t>5</a:t>
            </a:r>
            <a:endParaRPr lang="en-US" sz="3200" dirty="0"/>
          </a:p>
        </p:txBody>
      </p:sp>
      <p:sp>
        <p:nvSpPr>
          <p:cNvPr id="10" name="Text 8"/>
          <p:cNvSpPr/>
          <p:nvPr/>
        </p:nvSpPr>
        <p:spPr>
          <a:xfrm>
            <a:off x="1783080" y="3566160"/>
            <a:ext cx="9509760" cy="566928"/>
          </a:xfrm>
          <a:prstGeom prst="rect">
            <a:avLst/>
          </a:prstGeom>
          <a:noFill/>
          <a:ln/>
        </p:spPr>
        <p:txBody>
          <a:bodyPr wrap="square" lIns="0" tIns="0" rIns="0" bIns="0" rtlCol="0" anchor="ctr"/>
          <a:lstStyle/>
          <a:p>
            <a:pPr marL="0" indent="0">
              <a:buNone/>
            </a:pPr>
            <a:r>
              <a:rPr lang="en-US" sz="1550" dirty="0">
                <a:solidFill>
                  <a:srgbClr val="FFFFFF"/>
                </a:solidFill>
                <a:latin typeface="Palatino Linotype" pitchFamily="34" charset="0"/>
                <a:ea typeface="Palatino Linotype" pitchFamily="34" charset="-122"/>
                <a:cs typeface="Palatino Linotype" pitchFamily="34" charset="-120"/>
              </a:rPr>
              <a:t>itemi de mecanism molecular (LO1)</a:t>
            </a:r>
            <a:endParaRPr lang="en-US" sz="1550" dirty="0"/>
          </a:p>
        </p:txBody>
      </p:sp>
      <p:sp>
        <p:nvSpPr>
          <p:cNvPr id="11" name="Text 9"/>
          <p:cNvSpPr/>
          <p:nvPr/>
        </p:nvSpPr>
        <p:spPr>
          <a:xfrm>
            <a:off x="822960" y="4315968"/>
            <a:ext cx="822960" cy="566928"/>
          </a:xfrm>
          <a:prstGeom prst="rect">
            <a:avLst/>
          </a:prstGeom>
          <a:noFill/>
          <a:ln/>
        </p:spPr>
        <p:txBody>
          <a:bodyPr wrap="square" lIns="0" tIns="0" rIns="0" bIns="0" rtlCol="0" anchor="ctr"/>
          <a:lstStyle/>
          <a:p>
            <a:pPr marL="0" indent="0">
              <a:buNone/>
            </a:pPr>
            <a:r>
              <a:rPr lang="en-US" sz="3200" b="1" dirty="0">
                <a:solidFill>
                  <a:srgbClr val="FFC24B"/>
                </a:solidFill>
                <a:latin typeface="Palatino Linotype" pitchFamily="34" charset="0"/>
                <a:ea typeface="Palatino Linotype" pitchFamily="34" charset="-122"/>
                <a:cs typeface="Palatino Linotype" pitchFamily="34" charset="-120"/>
              </a:rPr>
              <a:t>5</a:t>
            </a:r>
            <a:endParaRPr lang="en-US" sz="3200" dirty="0"/>
          </a:p>
        </p:txBody>
      </p:sp>
      <p:sp>
        <p:nvSpPr>
          <p:cNvPr id="12" name="Text 10"/>
          <p:cNvSpPr/>
          <p:nvPr/>
        </p:nvSpPr>
        <p:spPr>
          <a:xfrm>
            <a:off x="1783080" y="4315968"/>
            <a:ext cx="9509760" cy="566928"/>
          </a:xfrm>
          <a:prstGeom prst="rect">
            <a:avLst/>
          </a:prstGeom>
          <a:noFill/>
          <a:ln/>
        </p:spPr>
        <p:txBody>
          <a:bodyPr wrap="square" lIns="0" tIns="0" rIns="0" bIns="0" rtlCol="0" anchor="ctr"/>
          <a:lstStyle/>
          <a:p>
            <a:pPr marL="0" indent="0">
              <a:buNone/>
            </a:pPr>
            <a:r>
              <a:rPr lang="en-US" sz="1550" dirty="0">
                <a:solidFill>
                  <a:srgbClr val="FFFFFF"/>
                </a:solidFill>
                <a:latin typeface="Palatino Linotype" pitchFamily="34" charset="0"/>
                <a:ea typeface="Palatino Linotype" pitchFamily="34" charset="-122"/>
                <a:cs typeface="Palatino Linotype" pitchFamily="34" charset="-120"/>
              </a:rPr>
              <a:t>itemi despre dopamină, dependență și remisie (LO2)</a:t>
            </a:r>
            <a:endParaRPr lang="en-US" sz="1550" dirty="0"/>
          </a:p>
        </p:txBody>
      </p:sp>
      <p:sp>
        <p:nvSpPr>
          <p:cNvPr id="13" name="Text 11"/>
          <p:cNvSpPr/>
          <p:nvPr/>
        </p:nvSpPr>
        <p:spPr>
          <a:xfrm>
            <a:off x="822960" y="5065776"/>
            <a:ext cx="822960" cy="566928"/>
          </a:xfrm>
          <a:prstGeom prst="rect">
            <a:avLst/>
          </a:prstGeom>
          <a:noFill/>
          <a:ln/>
        </p:spPr>
        <p:txBody>
          <a:bodyPr wrap="square" lIns="0" tIns="0" rIns="0" bIns="0" rtlCol="0" anchor="ctr"/>
          <a:lstStyle/>
          <a:p>
            <a:pPr marL="0" indent="0">
              <a:buNone/>
            </a:pPr>
            <a:r>
              <a:rPr lang="en-US" sz="3200" b="1" dirty="0">
                <a:solidFill>
                  <a:srgbClr val="FFC24B"/>
                </a:solidFill>
                <a:latin typeface="Palatino Linotype" pitchFamily="34" charset="0"/>
                <a:ea typeface="Palatino Linotype" pitchFamily="34" charset="-122"/>
                <a:cs typeface="Palatino Linotype" pitchFamily="34" charset="-120"/>
              </a:rPr>
              <a:t>5</a:t>
            </a:r>
            <a:endParaRPr lang="en-US" sz="3200" dirty="0"/>
          </a:p>
        </p:txBody>
      </p:sp>
      <p:sp>
        <p:nvSpPr>
          <p:cNvPr id="14" name="Text 12"/>
          <p:cNvSpPr/>
          <p:nvPr/>
        </p:nvSpPr>
        <p:spPr>
          <a:xfrm>
            <a:off x="1783080" y="5065776"/>
            <a:ext cx="9509760" cy="566928"/>
          </a:xfrm>
          <a:prstGeom prst="rect">
            <a:avLst/>
          </a:prstGeom>
          <a:noFill/>
          <a:ln/>
        </p:spPr>
        <p:txBody>
          <a:bodyPr wrap="square" lIns="0" tIns="0" rIns="0" bIns="0" rtlCol="0" anchor="ctr"/>
          <a:lstStyle/>
          <a:p>
            <a:pPr marL="0" indent="0">
              <a:buNone/>
            </a:pPr>
            <a:r>
              <a:rPr lang="en-US" sz="1550" dirty="0">
                <a:solidFill>
                  <a:srgbClr val="FFFFFF"/>
                </a:solidFill>
                <a:latin typeface="Palatino Linotype" pitchFamily="34" charset="0"/>
                <a:ea typeface="Palatino Linotype" pitchFamily="34" charset="-122"/>
                <a:cs typeface="Palatino Linotype" pitchFamily="34" charset="-120"/>
              </a:rPr>
              <a:t>itemi de calitate a dovezii — de unde vine cifra (LO5)</a:t>
            </a:r>
            <a:endParaRPr lang="en-US" sz="1550" dirty="0"/>
          </a:p>
        </p:txBody>
      </p:sp>
      <p:sp>
        <p:nvSpPr>
          <p:cNvPr id="15" name="Text 13"/>
          <p:cNvSpPr/>
          <p:nvPr/>
        </p:nvSpPr>
        <p:spPr>
          <a:xfrm>
            <a:off x="822960" y="5870448"/>
            <a:ext cx="10515600" cy="384048"/>
          </a:xfrm>
          <a:prstGeom prst="rect">
            <a:avLst/>
          </a:prstGeom>
          <a:noFill/>
          <a:ln/>
        </p:spPr>
        <p:txBody>
          <a:bodyPr wrap="square" lIns="0" tIns="0" rIns="0" bIns="0" rtlCol="0" anchor="ctr"/>
          <a:lstStyle/>
          <a:p>
            <a:pPr marL="0" indent="0">
              <a:buNone/>
            </a:pPr>
            <a:r>
              <a:rPr lang="en-US" sz="1400" i="1" dirty="0">
                <a:solidFill>
                  <a:srgbClr val="A9E8DE"/>
                </a:solidFill>
                <a:latin typeface="Palatino Linotype" pitchFamily="34" charset="0"/>
                <a:ea typeface="Palatino Linotype" pitchFamily="34" charset="-122"/>
                <a:cs typeface="Palatino Linotype" pitchFamily="34" charset="-120"/>
              </a:rPr>
              <a:t>Ultimii cinci itemi sunt cei care contează. Nu testează ce știți despre droguri — testează dacă ați reținut să întrebați de unde vine cifra.</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4">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84048"/>
            <a:ext cx="8229600" cy="274320"/>
          </a:xfrm>
          <a:prstGeom prst="rect">
            <a:avLst/>
          </a:prstGeom>
          <a:noFill/>
          <a:ln/>
        </p:spPr>
        <p:txBody>
          <a:bodyPr wrap="square" lIns="0" tIns="0" rIns="0" bIns="0" rtlCol="0" anchor="ctr"/>
          <a:lstStyle/>
          <a:p>
            <a:pPr marL="0" indent="0">
              <a:buNone/>
            </a:pPr>
            <a:r>
              <a:rPr lang="en-US" sz="1100" b="1" kern="0" spc="300" dirty="0">
                <a:solidFill>
                  <a:srgbClr val="B02532"/>
                </a:solidFill>
                <a:latin typeface="Palatino Linotype" pitchFamily="34" charset="0"/>
                <a:ea typeface="Palatino Linotype" pitchFamily="34" charset="-122"/>
                <a:cs typeface="Palatino Linotype" pitchFamily="34" charset="-120"/>
              </a:rPr>
              <a:t>VERIFICABIL</a:t>
            </a:r>
            <a:endParaRPr lang="en-US" sz="1100" dirty="0"/>
          </a:p>
        </p:txBody>
      </p:sp>
      <p:sp>
        <p:nvSpPr>
          <p:cNvPr id="3" name="Text 1"/>
          <p:cNvSpPr/>
          <p:nvPr/>
        </p:nvSpPr>
        <p:spPr>
          <a:xfrm>
            <a:off x="594360" y="694944"/>
            <a:ext cx="10972800" cy="658368"/>
          </a:xfrm>
          <a:prstGeom prst="rect">
            <a:avLst/>
          </a:prstGeom>
          <a:noFill/>
          <a:ln/>
        </p:spPr>
        <p:txBody>
          <a:bodyPr wrap="square" lIns="0" tIns="0" rIns="0" bIns="0" rtlCol="0" anchor="ctr"/>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Sursele acestei sesiuni</a:t>
            </a:r>
            <a:endParaRPr lang="en-US" sz="3000" dirty="0"/>
          </a:p>
        </p:txBody>
      </p:sp>
      <p:sp>
        <p:nvSpPr>
          <p:cNvPr id="4" name="Text 2"/>
          <p:cNvSpPr/>
          <p:nvPr/>
        </p:nvSpPr>
        <p:spPr>
          <a:xfrm>
            <a:off x="594360" y="1444752"/>
            <a:ext cx="10972800" cy="384048"/>
          </a:xfrm>
          <a:prstGeom prst="rect">
            <a:avLst/>
          </a:prstGeom>
          <a:noFill/>
          <a:ln/>
        </p:spPr>
        <p:txBody>
          <a:bodyPr wrap="square" lIns="0" tIns="0" rIns="0" bIns="0" rtlCol="0" anchor="ctr"/>
          <a:lstStyle/>
          <a:p>
            <a:pPr marL="0" indent="0">
              <a:buNone/>
            </a:pPr>
            <a:r>
              <a:rPr lang="en-US" sz="1450" dirty="0">
                <a:solidFill>
                  <a:srgbClr val="959BB0"/>
                </a:solidFill>
                <a:latin typeface="Palatino Linotype" pitchFamily="34" charset="0"/>
                <a:ea typeface="Palatino Linotype" pitchFamily="34" charset="-122"/>
                <a:cs typeface="Palatino Linotype" pitchFamily="34" charset="-120"/>
              </a:rPr>
              <a:t>DOI-urile au fost confirmate după identificator, iar paginile oficiale au răspuns la verificare, în septembrie 2026; pagina EUDA, care blochează accesul automat, a fost consultată în arhiva Wayback.</a:t>
            </a:r>
            <a:endParaRPr lang="en-US" sz="1450" dirty="0"/>
          </a:p>
        </p:txBody>
      </p:sp>
      <p:sp>
        <p:nvSpPr>
          <p:cNvPr id="5" name="Shape 3"/>
          <p:cNvSpPr/>
          <p:nvPr/>
        </p:nvSpPr>
        <p:spPr>
          <a:xfrm>
            <a:off x="594360" y="2066544"/>
            <a:ext cx="10972800" cy="877824"/>
          </a:xfrm>
          <a:prstGeom prst="roundRect">
            <a:avLst>
              <a:gd name="adj" fmla="val 9375"/>
            </a:avLst>
          </a:prstGeom>
          <a:solidFill>
            <a:srgbClr val="1D1F2B"/>
          </a:solidFill>
          <a:ln w="12700">
            <a:solidFill>
              <a:srgbClr val="1D1F2B"/>
            </a:solidFill>
            <a:prstDash val="solid"/>
          </a:ln>
        </p:spPr>
        <p:txBody>
          <a:bodyPr/>
          <a:lstStyle/>
          <a:p>
            <a:endParaRPr lang="ro-RO"/>
          </a:p>
        </p:txBody>
      </p:sp>
      <p:sp>
        <p:nvSpPr>
          <p:cNvPr id="6" name="Shape 4"/>
          <p:cNvSpPr/>
          <p:nvPr/>
        </p:nvSpPr>
        <p:spPr>
          <a:xfrm>
            <a:off x="594360" y="2066544"/>
            <a:ext cx="50292" cy="877824"/>
          </a:xfrm>
          <a:prstGeom prst="rect">
            <a:avLst/>
          </a:prstGeom>
          <a:solidFill>
            <a:srgbClr val="27D3BE"/>
          </a:solidFill>
          <a:ln w="12700">
            <a:solidFill>
              <a:srgbClr val="27D3BE"/>
            </a:solidFill>
            <a:prstDash val="solid"/>
          </a:ln>
        </p:spPr>
        <p:txBody>
          <a:bodyPr/>
          <a:lstStyle/>
          <a:p>
            <a:endParaRPr lang="ro-RO"/>
          </a:p>
        </p:txBody>
      </p:sp>
      <p:sp>
        <p:nvSpPr>
          <p:cNvPr id="7" name="Text 5"/>
          <p:cNvSpPr/>
          <p:nvPr/>
        </p:nvSpPr>
        <p:spPr>
          <a:xfrm>
            <a:off x="914400" y="2148840"/>
            <a:ext cx="3200400" cy="310896"/>
          </a:xfrm>
          <a:prstGeom prst="rect">
            <a:avLst/>
          </a:prstGeom>
          <a:noFill/>
          <a:ln/>
        </p:spPr>
        <p:txBody>
          <a:bodyPr wrap="square" lIns="0" tIns="0" rIns="0" bIns="0" rtlCol="0" anchor="ctr"/>
          <a:lstStyle/>
          <a:p>
            <a:pPr marL="0" indent="0">
              <a:buNone/>
            </a:pPr>
            <a:r>
              <a:rPr lang="en-US" sz="1300" b="1" dirty="0">
                <a:solidFill>
                  <a:srgbClr val="27D3BE"/>
                </a:solidFill>
                <a:latin typeface="Palatino Linotype" pitchFamily="34" charset="0"/>
                <a:ea typeface="Palatino Linotype" pitchFamily="34" charset="-122"/>
                <a:cs typeface="Palatino Linotype" pitchFamily="34" charset="-120"/>
              </a:rPr>
              <a:t>Neurobiologie moleculară</a:t>
            </a:r>
            <a:endParaRPr lang="en-US" sz="1300" dirty="0"/>
          </a:p>
        </p:txBody>
      </p:sp>
      <p:sp>
        <p:nvSpPr>
          <p:cNvPr id="8" name="Text 6"/>
          <p:cNvSpPr/>
          <p:nvPr/>
        </p:nvSpPr>
        <p:spPr>
          <a:xfrm>
            <a:off x="914400" y="2478024"/>
            <a:ext cx="10332720" cy="402336"/>
          </a:xfrm>
          <a:prstGeom prst="rect">
            <a:avLst/>
          </a:prstGeom>
          <a:noFill/>
          <a:ln/>
        </p:spPr>
        <p:txBody>
          <a:bodyPr wrap="square" lIns="0" tIns="0" rIns="0" bIns="0" rtlCol="0" anchor="t"/>
          <a:lstStyle/>
          <a:p>
            <a:pPr marL="0" indent="0">
              <a:lnSpc>
                <a:spcPts val="1500"/>
              </a:lnSpc>
              <a:buNone/>
            </a:pPr>
            <a:r>
              <a:rPr lang="en-US" sz="1100" dirty="0">
                <a:solidFill>
                  <a:srgbClr val="959BB0"/>
                </a:solidFill>
                <a:latin typeface="Palatino Linotype" pitchFamily="34" charset="0"/>
                <a:ea typeface="Palatino Linotype" pitchFamily="34" charset="-122"/>
                <a:cs typeface="Palatino Linotype" pitchFamily="34" charset="-120"/>
              </a:rPr>
              <a:t>Di Chiara &amp; Imperato 1988 · Johnson &amp; North 1992 · Ritz 1987 · Picciotto 1998 · Tapper 2004 · Pertwee 2008 · Vengeliene 2008 · Tan 2010 · Löw 2000 · Engin 2014 și 2023 · Pfeiffer 1986 · Ribeiro 2010 · Volkow, Michaelides și Baler 2019</a:t>
            </a:r>
            <a:endParaRPr lang="en-US" sz="1100" dirty="0"/>
          </a:p>
        </p:txBody>
      </p:sp>
      <p:sp>
        <p:nvSpPr>
          <p:cNvPr id="9" name="Shape 7"/>
          <p:cNvSpPr/>
          <p:nvPr/>
        </p:nvSpPr>
        <p:spPr>
          <a:xfrm>
            <a:off x="594360" y="3035808"/>
            <a:ext cx="10972800" cy="877824"/>
          </a:xfrm>
          <a:prstGeom prst="roundRect">
            <a:avLst>
              <a:gd name="adj" fmla="val 9375"/>
            </a:avLst>
          </a:prstGeom>
          <a:solidFill>
            <a:srgbClr val="272A38"/>
          </a:solidFill>
          <a:ln w="12700">
            <a:solidFill>
              <a:srgbClr val="272A38"/>
            </a:solidFill>
            <a:prstDash val="solid"/>
          </a:ln>
        </p:spPr>
        <p:txBody>
          <a:bodyPr/>
          <a:lstStyle/>
          <a:p>
            <a:endParaRPr lang="ro-RO"/>
          </a:p>
        </p:txBody>
      </p:sp>
      <p:sp>
        <p:nvSpPr>
          <p:cNvPr id="10" name="Shape 8"/>
          <p:cNvSpPr/>
          <p:nvPr/>
        </p:nvSpPr>
        <p:spPr>
          <a:xfrm>
            <a:off x="594360" y="3035808"/>
            <a:ext cx="50292" cy="877824"/>
          </a:xfrm>
          <a:prstGeom prst="rect">
            <a:avLst/>
          </a:prstGeom>
          <a:solidFill>
            <a:srgbClr val="9B7EF7"/>
          </a:solidFill>
          <a:ln w="12700">
            <a:solidFill>
              <a:srgbClr val="9B7EF7"/>
            </a:solidFill>
            <a:prstDash val="solid"/>
          </a:ln>
        </p:spPr>
        <p:txBody>
          <a:bodyPr/>
          <a:lstStyle/>
          <a:p>
            <a:endParaRPr lang="ro-RO"/>
          </a:p>
        </p:txBody>
      </p:sp>
      <p:sp>
        <p:nvSpPr>
          <p:cNvPr id="11" name="Text 9"/>
          <p:cNvSpPr/>
          <p:nvPr/>
        </p:nvSpPr>
        <p:spPr>
          <a:xfrm>
            <a:off x="914400" y="3118104"/>
            <a:ext cx="3200400" cy="310896"/>
          </a:xfrm>
          <a:prstGeom prst="rect">
            <a:avLst/>
          </a:prstGeom>
          <a:noFill/>
          <a:ln/>
        </p:spPr>
        <p:txBody>
          <a:bodyPr wrap="square" lIns="0" tIns="0" rIns="0" bIns="0" rtlCol="0" anchor="ctr"/>
          <a:lstStyle/>
          <a:p>
            <a:pPr marL="0" indent="0">
              <a:buNone/>
            </a:pPr>
            <a:r>
              <a:rPr lang="en-US" sz="1300" b="1" dirty="0">
                <a:solidFill>
                  <a:srgbClr val="9B7EF7"/>
                </a:solidFill>
                <a:latin typeface="Palatino Linotype" pitchFamily="34" charset="0"/>
                <a:ea typeface="Palatino Linotype" pitchFamily="34" charset="-122"/>
                <a:cs typeface="Palatino Linotype" pitchFamily="34" charset="-120"/>
              </a:rPr>
              <a:t>Imagistică umană și primate</a:t>
            </a:r>
            <a:endParaRPr lang="en-US" sz="1300" dirty="0"/>
          </a:p>
        </p:txBody>
      </p:sp>
      <p:sp>
        <p:nvSpPr>
          <p:cNvPr id="12" name="Text 10"/>
          <p:cNvSpPr/>
          <p:nvPr/>
        </p:nvSpPr>
        <p:spPr>
          <a:xfrm>
            <a:off x="914400" y="3447288"/>
            <a:ext cx="10332720" cy="402336"/>
          </a:xfrm>
          <a:prstGeom prst="rect">
            <a:avLst/>
          </a:prstGeom>
          <a:noFill/>
          <a:ln/>
        </p:spPr>
        <p:txBody>
          <a:bodyPr wrap="square" lIns="0" tIns="0" rIns="0" bIns="0" rtlCol="0" anchor="t"/>
          <a:lstStyle/>
          <a:p>
            <a:pPr marL="0" indent="0">
              <a:lnSpc>
                <a:spcPts val="1500"/>
              </a:lnSpc>
              <a:buNone/>
            </a:pPr>
            <a:r>
              <a:rPr lang="en-US" sz="1100" dirty="0">
                <a:solidFill>
                  <a:srgbClr val="959BB0"/>
                </a:solidFill>
                <a:latin typeface="Palatino Linotype" pitchFamily="34" charset="0"/>
                <a:ea typeface="Palatino Linotype" pitchFamily="34" charset="-122"/>
                <a:cs typeface="Palatino Linotype" pitchFamily="34" charset="-120"/>
              </a:rPr>
              <a:t>Bossong 2009 și 2015 · Stokes 2009 · Barkus 2011 · Bloomfield 2016 · Volkow 1993 · Morgan 2002 · Nader 2006 · Berridge 2016 · Cannon 2003</a:t>
            </a:r>
            <a:endParaRPr lang="en-US" sz="1100" dirty="0"/>
          </a:p>
        </p:txBody>
      </p:sp>
      <p:sp>
        <p:nvSpPr>
          <p:cNvPr id="13" name="Shape 11"/>
          <p:cNvSpPr/>
          <p:nvPr/>
        </p:nvSpPr>
        <p:spPr>
          <a:xfrm>
            <a:off x="594360" y="4005072"/>
            <a:ext cx="10972800" cy="877824"/>
          </a:xfrm>
          <a:prstGeom prst="roundRect">
            <a:avLst>
              <a:gd name="adj" fmla="val 9375"/>
            </a:avLst>
          </a:prstGeom>
          <a:solidFill>
            <a:srgbClr val="1D1F2B"/>
          </a:solidFill>
          <a:ln w="12700">
            <a:solidFill>
              <a:srgbClr val="1D1F2B"/>
            </a:solidFill>
            <a:prstDash val="solid"/>
          </a:ln>
        </p:spPr>
        <p:txBody>
          <a:bodyPr/>
          <a:lstStyle/>
          <a:p>
            <a:endParaRPr lang="ro-RO"/>
          </a:p>
        </p:txBody>
      </p:sp>
      <p:sp>
        <p:nvSpPr>
          <p:cNvPr id="14" name="Shape 12"/>
          <p:cNvSpPr/>
          <p:nvPr/>
        </p:nvSpPr>
        <p:spPr>
          <a:xfrm>
            <a:off x="594360" y="4005072"/>
            <a:ext cx="50292" cy="877824"/>
          </a:xfrm>
          <a:prstGeom prst="rect">
            <a:avLst/>
          </a:prstGeom>
          <a:solidFill>
            <a:srgbClr val="FF4757"/>
          </a:solidFill>
          <a:ln w="12700">
            <a:solidFill>
              <a:srgbClr val="FF4757"/>
            </a:solidFill>
            <a:prstDash val="solid"/>
          </a:ln>
        </p:spPr>
        <p:txBody>
          <a:bodyPr/>
          <a:lstStyle/>
          <a:p>
            <a:endParaRPr lang="ro-RO"/>
          </a:p>
        </p:txBody>
      </p:sp>
      <p:sp>
        <p:nvSpPr>
          <p:cNvPr id="15" name="Text 13"/>
          <p:cNvSpPr/>
          <p:nvPr/>
        </p:nvSpPr>
        <p:spPr>
          <a:xfrm>
            <a:off x="914400" y="4087368"/>
            <a:ext cx="3200400" cy="310896"/>
          </a:xfrm>
          <a:prstGeom prst="rect">
            <a:avLst/>
          </a:prstGeom>
          <a:noFill/>
          <a:ln/>
        </p:spPr>
        <p:txBody>
          <a:bodyPr wrap="square" lIns="0" tIns="0" rIns="0" bIns="0" rtlCol="0" anchor="ctr"/>
          <a:lstStyle/>
          <a:p>
            <a:pPr marL="0" indent="0">
              <a:buNone/>
            </a:pPr>
            <a:r>
              <a:rPr lang="en-US" sz="1300" b="1" dirty="0">
                <a:solidFill>
                  <a:srgbClr val="FF4757"/>
                </a:solidFill>
                <a:latin typeface="Palatino Linotype" pitchFamily="34" charset="0"/>
                <a:ea typeface="Palatino Linotype" pitchFamily="34" charset="-122"/>
                <a:cs typeface="Palatino Linotype" pitchFamily="34" charset="-120"/>
              </a:rPr>
              <a:t>Epidemiologie și modele</a:t>
            </a:r>
            <a:endParaRPr lang="en-US" sz="1300" dirty="0"/>
          </a:p>
        </p:txBody>
      </p:sp>
      <p:sp>
        <p:nvSpPr>
          <p:cNvPr id="16" name="Text 14"/>
          <p:cNvSpPr/>
          <p:nvPr/>
        </p:nvSpPr>
        <p:spPr>
          <a:xfrm>
            <a:off x="914400" y="4416552"/>
            <a:ext cx="10332720" cy="402336"/>
          </a:xfrm>
          <a:prstGeom prst="rect">
            <a:avLst/>
          </a:prstGeom>
          <a:noFill/>
          <a:ln/>
        </p:spPr>
        <p:txBody>
          <a:bodyPr wrap="square" lIns="0" tIns="0" rIns="0" bIns="0" rtlCol="0" anchor="t"/>
          <a:lstStyle/>
          <a:p>
            <a:pPr marL="0" indent="0">
              <a:lnSpc>
                <a:spcPts val="1500"/>
              </a:lnSpc>
              <a:buNone/>
            </a:pPr>
            <a:r>
              <a:rPr lang="en-US" sz="1000" dirty="0">
                <a:solidFill>
                  <a:srgbClr val="959BB0"/>
                </a:solidFill>
                <a:latin typeface="Palatino Linotype" pitchFamily="34" charset="0"/>
                <a:ea typeface="Palatino Linotype" pitchFamily="34" charset="-122"/>
                <a:cs typeface="Palatino Linotype" pitchFamily="34" charset="-120"/>
              </a:rPr>
              <a:t>Robins 1975 și 1993 · Heather 2017 · Lopez-Quintero 2011 ×2 · Volkow și Blanco 2023 · Heyman 2013 · Leshner 1997 · Koob și Le Moal 1997, 2001 · Koob și Volkow 2016 · Hall 2015 · Kvaale 2013 ×2 · Loughman și Haslam 2018 · Nutt 2010 · Crossin 2023 · Rolles și Measham 2011 · UNODC 2026 · EUDA 2026 · ANPCDDA 2025 · GBD 2023</a:t>
            </a:r>
            <a:endParaRPr lang="en-US" sz="1100" dirty="0"/>
          </a:p>
        </p:txBody>
      </p:sp>
      <p:sp>
        <p:nvSpPr>
          <p:cNvPr id="17" name="Shape 15"/>
          <p:cNvSpPr/>
          <p:nvPr/>
        </p:nvSpPr>
        <p:spPr>
          <a:xfrm>
            <a:off x="594360" y="4974336"/>
            <a:ext cx="10972800" cy="877824"/>
          </a:xfrm>
          <a:prstGeom prst="roundRect">
            <a:avLst>
              <a:gd name="adj" fmla="val 9375"/>
            </a:avLst>
          </a:prstGeom>
          <a:solidFill>
            <a:srgbClr val="272A38"/>
          </a:solidFill>
          <a:ln w="12700">
            <a:solidFill>
              <a:srgbClr val="272A38"/>
            </a:solidFill>
            <a:prstDash val="solid"/>
          </a:ln>
        </p:spPr>
        <p:txBody>
          <a:bodyPr/>
          <a:lstStyle/>
          <a:p>
            <a:endParaRPr lang="ro-RO"/>
          </a:p>
        </p:txBody>
      </p:sp>
      <p:sp>
        <p:nvSpPr>
          <p:cNvPr id="18" name="Shape 16"/>
          <p:cNvSpPr/>
          <p:nvPr/>
        </p:nvSpPr>
        <p:spPr>
          <a:xfrm>
            <a:off x="594360" y="4974336"/>
            <a:ext cx="50292" cy="877824"/>
          </a:xfrm>
          <a:prstGeom prst="rect">
            <a:avLst/>
          </a:prstGeom>
          <a:solidFill>
            <a:srgbClr val="FFC24B"/>
          </a:solidFill>
          <a:ln w="12700">
            <a:solidFill>
              <a:srgbClr val="FFC24B"/>
            </a:solidFill>
            <a:prstDash val="solid"/>
          </a:ln>
        </p:spPr>
        <p:txBody>
          <a:bodyPr/>
          <a:lstStyle/>
          <a:p>
            <a:endParaRPr lang="ro-RO"/>
          </a:p>
        </p:txBody>
      </p:sp>
      <p:sp>
        <p:nvSpPr>
          <p:cNvPr id="19" name="Text 17"/>
          <p:cNvSpPr/>
          <p:nvPr/>
        </p:nvSpPr>
        <p:spPr>
          <a:xfrm>
            <a:off x="914400" y="5056632"/>
            <a:ext cx="3200400" cy="310896"/>
          </a:xfrm>
          <a:prstGeom prst="rect">
            <a:avLst/>
          </a:prstGeom>
          <a:noFill/>
          <a:ln/>
        </p:spPr>
        <p:txBody>
          <a:bodyPr wrap="square" lIns="0" tIns="0" rIns="0" bIns="0" rtlCol="0" anchor="ctr"/>
          <a:lstStyle/>
          <a:p>
            <a:pPr marL="0" indent="0">
              <a:buNone/>
            </a:pPr>
            <a:r>
              <a:rPr lang="en-US" sz="1300" b="1" dirty="0">
                <a:solidFill>
                  <a:srgbClr val="FFC24B"/>
                </a:solidFill>
                <a:latin typeface="Palatino Linotype" pitchFamily="34" charset="0"/>
                <a:ea typeface="Palatino Linotype" pitchFamily="34" charset="-122"/>
                <a:cs typeface="Palatino Linotype" pitchFamily="34" charset="-120"/>
              </a:rPr>
              <a:t>Surse primare de politică</a:t>
            </a:r>
            <a:endParaRPr lang="en-US" sz="1300" dirty="0"/>
          </a:p>
        </p:txBody>
      </p:sp>
      <p:sp>
        <p:nvSpPr>
          <p:cNvPr id="20" name="Text 18"/>
          <p:cNvSpPr/>
          <p:nvPr/>
        </p:nvSpPr>
        <p:spPr>
          <a:xfrm>
            <a:off x="914400" y="5385816"/>
            <a:ext cx="10332720" cy="402336"/>
          </a:xfrm>
          <a:prstGeom prst="rect">
            <a:avLst/>
          </a:prstGeom>
          <a:noFill/>
          <a:ln/>
        </p:spPr>
        <p:txBody>
          <a:bodyPr wrap="square" lIns="0" tIns="0" rIns="0" bIns="0" rtlCol="0" anchor="t"/>
          <a:lstStyle/>
          <a:p>
            <a:pPr marL="0" indent="0">
              <a:lnSpc>
                <a:spcPts val="1500"/>
              </a:lnSpc>
              <a:buNone/>
            </a:pPr>
            <a:r>
              <a:rPr lang="en-US" sz="1100" dirty="0">
                <a:solidFill>
                  <a:srgbClr val="959BB0"/>
                </a:solidFill>
                <a:latin typeface="Palatino Linotype" pitchFamily="34" charset="0"/>
                <a:ea typeface="Palatino Linotype" pitchFamily="34" charset="-122"/>
                <a:cs typeface="Palatino Linotype" pitchFamily="34" charset="-120"/>
              </a:rPr>
              <a:t>Nixon, transcript din 17 iunie 1971 · Legea nr. 143/2000 (art. 1, 4, 19; art. 27 în 2000) · Legile 522/2004 și 187/2012 · DSM-5-TR 2022, prin Hasin 2013 și ghidul NYSDOH · FDA 2020 · ghidul ASAM 2020 (alcool) și 2025 (benzodiazepine) · CMS (legea parității)</a:t>
            </a:r>
            <a:endParaRPr lang="en-US" sz="1100" dirty="0"/>
          </a:p>
        </p:txBody>
      </p:sp>
      <p:sp>
        <p:nvSpPr>
          <p:cNvPr id="21" name="Shape 19"/>
          <p:cNvSpPr/>
          <p:nvPr/>
        </p:nvSpPr>
        <p:spPr>
          <a:xfrm>
            <a:off x="594360" y="6053328"/>
            <a:ext cx="10972800" cy="548640"/>
          </a:xfrm>
          <a:prstGeom prst="roundRect">
            <a:avLst>
              <a:gd name="adj" fmla="val 15000"/>
            </a:avLst>
          </a:prstGeom>
          <a:solidFill>
            <a:srgbClr val="272A38"/>
          </a:solidFill>
          <a:ln w="12700">
            <a:solidFill>
              <a:srgbClr val="272A38"/>
            </a:solidFill>
            <a:prstDash val="solid"/>
          </a:ln>
        </p:spPr>
        <p:txBody>
          <a:bodyPr/>
          <a:lstStyle/>
          <a:p>
            <a:endParaRPr lang="ro-RO"/>
          </a:p>
        </p:txBody>
      </p:sp>
      <p:sp>
        <p:nvSpPr>
          <p:cNvPr id="22" name="Text 20"/>
          <p:cNvSpPr/>
          <p:nvPr/>
        </p:nvSpPr>
        <p:spPr>
          <a:xfrm>
            <a:off x="914400" y="6053328"/>
            <a:ext cx="10332720" cy="548640"/>
          </a:xfrm>
          <a:prstGeom prst="rect">
            <a:avLst/>
          </a:prstGeom>
          <a:noFill/>
          <a:ln/>
        </p:spPr>
        <p:txBody>
          <a:bodyPr wrap="square" lIns="0" tIns="0" rIns="0" bIns="0" rtlCol="0" anchor="ctr"/>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Registrul complet al surselor și al afirmațiilor, cu locatorul fiecărei cifre, este în notele de curs de pe site-ul cursului.</a:t>
            </a:r>
            <a:endParaRPr lang="en-US" sz="1200" dirty="0"/>
          </a:p>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Evaluarea: policy brief de o pagină (60%) și chestionar de 15 grile din cazurile din sală (40%); dezbaterile nu se notează.</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8083</Words>
  <Application>Microsoft Macintosh PowerPoint</Application>
  <PresentationFormat>Widescreen</PresentationFormat>
  <Paragraphs>846</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Palatino Linotype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Creierul tau pe droguri - Sesiunea 1</dc:title>
  <dc:subject>PptxGenJS Presentation</dc:subject>
  <dc:creator>Conf. Univ. Dr. Adrian Pana</dc:creator>
  <cp:lastModifiedBy>Adrian Pana</cp:lastModifiedBy>
  <cp:revision>1</cp:revision>
  <dcterms:created xsi:type="dcterms:W3CDTF">2026-08-25T20:10:12Z</dcterms:created>
  <dcterms:modified xsi:type="dcterms:W3CDTF">2026-08-26T15:30:57Z</dcterms:modified>
  <cp:keywords>sursa_amprenta=232344c9a4187a37; proiectie</cp:keywords>
</cp:coreProperties>
</file>