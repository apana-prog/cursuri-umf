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1.jpg" ContentType="image/jpg"/>
  <Override PartName="/ppt/media/image-24-1.jpg" ContentType="image/jp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Bine ați venit la a treia ședință. Azi vorbim despre Portugalia și despre cannabis, dar întrebarea din titlu e mai largă: cum despărțim, într-o discuție despre droguri, ce s-a întâmplat de ce ar trebui să facem.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 citit biletele de ieșire de data trecută. Două lucruri se schimbă de azi: cifrele vin ca frecvențe, din 100 de oameni, cu un singur grafic, și ritmul e mai alert. Fiecare parte se încheie cu o frază pe care o puteți spune mâine unui coleg.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Două linkuri, la zece minute distanță. Se contrazic pentru că amestecă două feluri de întrebări, nu pentru că unul ar minți. Prima întrebare se verifică într-o sursă. A doua se discută cu valori. Răspunsul provizoriu la titlu: despre fiecare propoziție, întrebați „aș putea verifica asta într-o sursă?”.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Votați acum, înainte de orice cifră. Nu există variantă greșită; contează prima impresie. La finalul părții a doua votăm din nou pe aceeași moțiune.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Multe discuții despre modelul portughez se poartă fără textul legii. Iată-l, în forma publicată în 2000: consumul și deținerea pentru consum propriu devin contravenții, în limita cantității pentru zece zile. Legea privea toate drogurile. Vânzarea a rămas penală. Iar cine cerea singur ajutor nu intra sub lege.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Instituția pe care România nu o are: comisia pentru descurajarea toxicodependenței. Trei membri, dintre care unul jurist. Pentru un tânăr fără dosar anterior și fără dependență, procedura se suspenda provizoriu. În locul amenzii, comisia putea aplica o simplă admonestare.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noi, deținerea pentru consum propriu este infracțiune. Există și la noi o cale spre sănătate: evaluarea dispusă de procuror și programul de asistență. Diferența față de Portugalia este că, la noi, această cale trece prin dosarul penal.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Același student, aceeași cantitate, aceeași zi, două orașe. Scrieți în două coloane ce i se întâmplă în fiecare oraș în luna următoare.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singur vot, înainte de date: ce credeți că s-a întâmplat cu consumul după 2001?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Comisia nu spune „a scăzut”. Spune „fără o creștere semnificativă”. Și, la HIV, spune „împreună cu extinderea serviciilor”. Comisia are o poziție declarată: recomandă dezincriminarea. Poziția nu îi invalidează datele, dar se spune odată cu citarea.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Primul termen nou: problema atribuirii. Pe scurt: știm că s-a îmbunătățit, nu știm cui îi dăm meritul. În Portugalia, legea și serviciile au venit deodată, iar datele nu le pot separa retrospectiv. Exemplul spitalului are valori ipotetice; ca să împărțiți meritul, v-ar trebui un spital care a făcut doar una dintre schimbări.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titlu construit după cele care circulă. L-ați crede? După vot: care cuvânt din titlu spune mai mult decât datele?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Cuvântul care depășește datele este „prin lege”. Rezultatul a venit cu legea și cu serviciile. Iar „a învins” este o judecată, nu un rezultat. Afirmația solidă e mai modestă: consumul nu a explodat.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Legea nu a rămas neschimbată în practică. În 2008, Curtea Supremă portugheză a restabilit calificarea de infracțiune peste pragul de zece zile. Și rețineți diferența: Portugalia a dezincriminat, nu a legalizat. Despre cifrele recente din presă, regula e aceeași în ambele direcții: care indicator, în ce an, din ce sursă.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Portugalia nu a legalizat drogurile: a scos consumul din codul penal și a extins, în același timp, tratamentul. Consumul nu a explodat. Cât din rest se datorează legii, nu știe nimeni.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Aceeași moțiune ca la început. Partea stângă susține, partea dreaptă se opune, indiferent ce ați votat. Scopul nu este să câștige cineva: urmăriți, în propriile argumente, unde se termină faptul și unde începe valoarea.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 voluntari din fiecare tabără, câte un minut. Cei care ascultă notează afirmațiile care s-ar putea verifica într-o sursă.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Fiecare tabără primește dovada care îi contrazice poziția. Regula: o includeți în argument, nu o ocoliți. Un argument care rezistă dovezii contrare e mai puternic decât unul care nu o cunoaște.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Cinci propoziții, cinci voturi rapide. Pentru fiecare: este un fapt verificabil, o alegere de valori sau altceva?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Între fapt și valoare există un al treilea tip: predicția despre ce s-ar întâmpla la noi. Și rețineți propoziția d: este o afirmație de fapt, chiar dacă datele portugheze nu o susțin. O afirmație falsă tot de fapt rămâne.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Votați din nou, pe aceeași moțiune. Nu contează în ce direcție v-ați mișcat, ci dacă știți de 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Când auziți un argument despre droguri, întrebați-vă: pot verifica asta într-o sursă? Dacă da, căutați sursa. Dacă nu, discutați despre ce vreți, nu despre ce s-a întâmplat.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vedem în zece minute. Urmează partea despre cannabis ca medicament.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mesaj pe care mulți dintre voi îl veți primi. Bunica unei colege face chimioterapie, îi este rău după fiecare cură, iar o vecină i-a adus un ulei de cannabis. Ce îi răspundeți?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Patru răspunsuri posibile. Alegeți-l pe cel pe care l-ați trimite.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Varianta sprijinită de dovezi e B. Raportul academiilor americane din 2017 găsește dovezi solide pentru trei situații, nu pentru douăzeci. Și la a treia situație a pus în formulare două cuvinte care contează: raportată de pacient.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doilea termen nou: rezultatul raportat de pacient. În cuvinte obișnuite: ce simte pacientul, față de ce găsește medicul.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Pentru bunica colegei: canabinoizii pot fi un adaos, nu un înlocuitor, și numai când tratamentul standard nu a ajuns. Pentru tratamentul cancerului, ghidul spune să nu fie folosiți în afara studiilor clinice. La scleroza multiplă, pacienții au raportat ameliorare, iar scala aplicată de examinator nu a arătat niciun efect.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Pacientul spune că îi este mai bine, examinatorul nu găsește nicio schimbare. Cine are dreptate? Notați împreună cu colegul două explicații.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Toate trei explicațiile sunt legitime, iar datele de aici nu decid între ele. Ce puteți face e să urmăriți formularea exactă. Iar la durere, două întrebări: cât de mare este efectul și la ce fel de durere.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se știe sigur: consumul de cannabis are o asociere dovedită cu psihoza, iar riscul cel mai mare e la cei care consumă cel mai des. Autorii spun însă că o legătură cauzală nu poate fi stabilită fără echivoc din aceste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Cifra a circulat mult: jumătate din cazurile noi de psihoză de la Amsterdam. Autorii au calculat-o presupunând cauzalitatea. Este o cifră care se calculează după ce ați acceptat că cannabisul produce psihoza, nu una care o dovedește.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titlu real, publicat de BBC News despre studiul pe care tocmai l-am văzut. L-ați crede?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Cuvântul de urmărit este „crește”: el descrie o cauză, iar studiul a măsurat o asociere. Un studiu genetic din 2018 se apropie mai mult de întrebarea despre direcție și sprijină ideea unui efect real, fără să închidă discuția. Ce nu e solid: mărimea exactă a efectului.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situații cu dovezi solide, iar la una dintre ele beneficiul îl simte pacientul, nu îl măsoară medicul. Cannabisul fumat zilnic, mai ales cel puternic, se leagă de psihoză; cât de mult, nu se știe exact.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treilea termen nou: legalizarea reglementată. Se vinde legal, ca alcoolul, dar cu reguli. Este altceva decât ce a făcut Portugalia. La tineri, rezultatul seamănă cu cel portughez: consumul nu a crescut cât se temea lumea, dar s-a schimbat felul în care se consumă.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Singurul grafic al ședinței. Cea mai clară schimbare nu privește adolescenții, ci copiii mici. La 100 000 de copii, vizitele la urgențe pentru cannabis au crescut de la aproximativ 2 pe an la aproximativ 6, apoi la aproximativ 18, după apariția comestibilelor. Mecanismul e banal: o bomboană arată ca o bomboană.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Dacă ar trebui să scrieți o singură regulă, care ar fi? Datele din Ontario vorbesc mai direct de una dintre variante, dar nu au comparat regulile între ele. Alegerea e o decizie de politică: exact separarea despre care vorbim azi.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Acolo unde cannabisul s-a legalizat, consumul adolescenților nu a explodat, dar s-a schimbat felul în care se consumă. Cei care au plătit cel mai clar au fost copiii mici.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Șase lucruri pe care le puteți face de mâine, ca studenți și ca viitori medici.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Zece întrebări despre ce am discutat azi. Rezultatul nu se notează.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 nu putem afirma pe baza surselor de azi. Lista completă e în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întrebări anonime, pe Mentimeter. Luni, pe pagina disciplinei, veți găsi două lucruri schimbate după răspunsurile voastre. Mulțumesc.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21A"/>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OPT_DROGURI/active/img/lisabona_tramvai_commons.jpg">    </p:cNvPr>
          <p:cNvPicPr>
            <a:picLocks noChangeAspect="1"/>
          </p:cNvPicPr>
          <p:nvPr/>
        </p:nvPicPr>
        <p:blipFill>
          <a:blip r:embed="rId1"/>
          <a:stretch>
            <a:fillRect/>
          </a:stretch>
        </p:blipFill>
        <p:spPr>
          <a:xfrm>
            <a:off x="4846320" y="0"/>
            <a:ext cx="7345375" cy="6858000"/>
          </a:xfrm>
          <a:prstGeom prst="rect">
            <a:avLst/>
          </a:prstGeom>
        </p:spPr>
      </p:pic>
      <p:sp>
        <p:nvSpPr>
          <p:cNvPr id="3" name="Shape 0"/>
          <p:cNvSpPr/>
          <p:nvPr/>
        </p:nvSpPr>
        <p:spPr>
          <a:xfrm>
            <a:off x="640080" y="777240"/>
            <a:ext cx="2377440" cy="329184"/>
          </a:xfrm>
          <a:prstGeom prst="roundRect">
            <a:avLst>
              <a:gd name="adj" fmla="val 50000"/>
            </a:avLst>
          </a:prstGeom>
          <a:solidFill>
            <a:srgbClr val="FF4757"/>
          </a:solidFill>
          <a:ln w="12700">
            <a:solidFill>
              <a:srgbClr val="FF4757"/>
            </a:solidFill>
            <a:prstDash val="solid"/>
          </a:ln>
        </p:spPr>
        <p:txBody>
          <a:bodyPr/>
          <a:p/>
        </p:txBody>
      </p:sp>
      <p:sp>
        <p:nvSpPr>
          <p:cNvPr id="4" name="Text 1"/>
          <p:cNvSpPr/>
          <p:nvPr/>
        </p:nvSpPr>
        <p:spPr>
          <a:xfrm>
            <a:off x="640080" y="777240"/>
            <a:ext cx="237744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ȘEDINȚA A TREIA</a:t>
            </a:r>
            <a:endParaRPr lang="en-US" sz="1300" dirty="0"/>
          </a:p>
        </p:txBody>
      </p:sp>
      <p:sp>
        <p:nvSpPr>
          <p:cNvPr id="5" name="Text 2"/>
          <p:cNvSpPr/>
          <p:nvPr/>
        </p:nvSpPr>
        <p:spPr>
          <a:xfrm>
            <a:off x="640080" y="1371600"/>
            <a:ext cx="4023360" cy="123444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Portugalia 2001 și cannabisul</a:t>
            </a:r>
            <a:endParaRPr lang="en-US" sz="3200" dirty="0"/>
          </a:p>
        </p:txBody>
      </p:sp>
      <p:sp>
        <p:nvSpPr>
          <p:cNvPr id="6" name="Text 3"/>
          <p:cNvSpPr/>
          <p:nvPr/>
        </p:nvSpPr>
        <p:spPr>
          <a:xfrm>
            <a:off x="640080" y="2651760"/>
            <a:ext cx="4023360" cy="914400"/>
          </a:xfrm>
          <a:prstGeom prst="rect">
            <a:avLst/>
          </a:prstGeom>
          <a:noFill/>
          <a:ln/>
        </p:spPr>
        <p:txBody>
          <a:bodyPr wrap="square" lIns="0" tIns="0" rIns="0" bIns="0" rtlCol="0" anchor="t"/>
          <a:lstStyle/>
          <a:p>
            <a:pPr indent="0" marL="0">
              <a:buNone/>
            </a:pPr>
            <a:r>
              <a:rPr lang="en-US" sz="2600" b="1" dirty="0">
                <a:solidFill>
                  <a:srgbClr val="27D3BE"/>
                </a:solidFill>
                <a:latin typeface="Palatino Linotype" pitchFamily="34" charset="0"/>
                <a:ea typeface="Palatino Linotype" pitchFamily="34" charset="-122"/>
                <a:cs typeface="Palatino Linotype" pitchFamily="34" charset="-120"/>
              </a:rPr>
              <a:t>cum separi politica de știință</a:t>
            </a:r>
            <a:endParaRPr lang="en-US" sz="2600" dirty="0"/>
          </a:p>
        </p:txBody>
      </p:sp>
      <p:sp>
        <p:nvSpPr>
          <p:cNvPr id="7" name="Shape 4"/>
          <p:cNvSpPr/>
          <p:nvPr/>
        </p:nvSpPr>
        <p:spPr>
          <a:xfrm>
            <a:off x="667512" y="3749040"/>
            <a:ext cx="1280160" cy="27432"/>
          </a:xfrm>
          <a:prstGeom prst="rect">
            <a:avLst/>
          </a:prstGeom>
          <a:solidFill>
            <a:srgbClr val="FF4757"/>
          </a:solidFill>
          <a:ln/>
        </p:spPr>
        <p:txBody>
          <a:bodyPr/>
          <a:p/>
        </p:txBody>
      </p:sp>
      <p:sp>
        <p:nvSpPr>
          <p:cNvPr id="8" name="Text 5"/>
          <p:cNvSpPr/>
          <p:nvPr/>
        </p:nvSpPr>
        <p:spPr>
          <a:xfrm>
            <a:off x="640080" y="3931920"/>
            <a:ext cx="4023360" cy="1097280"/>
          </a:xfrm>
          <a:prstGeom prst="rect">
            <a:avLst/>
          </a:prstGeom>
          <a:noFill/>
          <a:ln/>
        </p:spPr>
        <p:txBody>
          <a:bodyPr wrap="square" lIns="0" tIns="0" rIns="0" bIns="0" rtlCol="0" anchor="t"/>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Creierul tău pe droguri: neuroștiința adicției și politicile drogurilor</a:t>
            </a:r>
            <a:endParaRPr lang="en-US" sz="1300" dirty="0"/>
          </a:p>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Conf. univ. dr. Adrian Pană · UMF „Iuliu Hațieganu” Cluj-Napoca · 2026–2027</a:t>
            </a:r>
            <a:endParaRPr lang="en-US" sz="1300" dirty="0"/>
          </a:p>
        </p:txBody>
      </p:sp>
      <p:sp>
        <p:nvSpPr>
          <p:cNvPr id="9" name="Shape 6"/>
          <p:cNvSpPr/>
          <p:nvPr/>
        </p:nvSpPr>
        <p:spPr>
          <a:xfrm>
            <a:off x="640080" y="5166360"/>
            <a:ext cx="1417320" cy="1097280"/>
          </a:xfrm>
          <a:prstGeom prst="roundRect">
            <a:avLst>
              <a:gd name="adj" fmla="val 7500"/>
            </a:avLst>
          </a:prstGeom>
          <a:solidFill>
            <a:srgbClr val="FFFFFF"/>
          </a:solidFill>
          <a:ln w="12700">
            <a:solidFill>
              <a:srgbClr val="FFFFFF"/>
            </a:solidFill>
            <a:prstDash val="solid"/>
          </a:ln>
        </p:spPr>
        <p:txBody>
          <a:bodyPr/>
          <a:p/>
        </p:txBody>
      </p:sp>
      <p:sp>
        <p:nvSpPr>
          <p:cNvPr id="11" name="Text 8"/>
          <p:cNvSpPr/>
          <p:nvPr/>
        </p:nvSpPr>
        <p:spPr>
          <a:xfrm>
            <a:off x="2240280" y="5212080"/>
            <a:ext cx="2468880" cy="1005840"/>
          </a:xfrm>
          <a:prstGeom prst="rect">
            <a:avLst/>
          </a:prstGeom>
          <a:noFill/>
          <a:ln/>
        </p:spPr>
        <p:txBody>
          <a:bodyPr wrap="square" lIns="0" tIns="0" rIns="0" bIns="0" rtlCol="0" anchor="ctr"/>
          <a:lstStyle/>
          <a:p>
            <a:pPr indent="0" marL="0">
              <a:buNone/>
            </a:pPr>
            <a:r>
              <a:rPr lang="en-US" sz="1300" dirty="0">
                <a:solidFill>
                  <a:srgbClr val="959BB0"/>
                </a:solidFill>
                <a:latin typeface="Palatino Linotype" pitchFamily="34" charset="0"/>
                <a:ea typeface="Palatino Linotype" pitchFamily="34" charset="-122"/>
                <a:cs typeface="Palatino Linotype" pitchFamily="34" charset="-120"/>
              </a:rPr>
              <a:t>Deschideți Mentimeter de acum: votăm în primele minute.</a:t>
            </a:r>
            <a:endParaRPr lang="en-US" sz="1300" dirty="0"/>
          </a:p>
        </p:txBody>
      </p:sp>
      <p:sp>
        <p:nvSpPr>
          <p:cNvPr id="12" name="Shape 9"/>
          <p:cNvSpPr/>
          <p:nvPr/>
        </p:nvSpPr>
        <p:spPr>
          <a:xfrm>
            <a:off x="4846320" y="6355080"/>
            <a:ext cx="7345375" cy="502920"/>
          </a:xfrm>
          <a:prstGeom prst="rect">
            <a:avLst/>
          </a:prstGeom>
          <a:solidFill>
            <a:srgbClr val="11121A">
              <a:alpha val="70000"/>
            </a:srgbClr>
          </a:solidFill>
          <a:ln w="12700">
            <a:solidFill>
              <a:srgbClr val="11121A"/>
            </a:solidFill>
            <a:prstDash val="solid"/>
          </a:ln>
        </p:spPr>
        <p:txBody>
          <a:bodyPr/>
          <a:p/>
        </p:txBody>
      </p:sp>
      <p:sp>
        <p:nvSpPr>
          <p:cNvPr id="13" name="Text 10"/>
          <p:cNvSpPr/>
          <p:nvPr/>
        </p:nvSpPr>
        <p:spPr>
          <a:xfrm>
            <a:off x="5029200" y="6373368"/>
            <a:ext cx="6949440" cy="256032"/>
          </a:xfrm>
          <a:prstGeom prst="rect">
            <a:avLst/>
          </a:prstGeom>
          <a:noFill/>
          <a:ln/>
        </p:spPr>
        <p:txBody>
          <a:bodyPr wrap="square" lIns="0" tIns="0" rIns="0" bIns="0" rtlCol="0" anchor="ctr"/>
          <a:lstStyle/>
          <a:p>
            <a:pPr indent="0" marL="0">
              <a:buNone/>
            </a:pPr>
            <a:r>
              <a:rPr lang="en-US" sz="1100" dirty="0">
                <a:solidFill>
                  <a:srgbClr val="FFFFFF"/>
                </a:solidFill>
                <a:latin typeface="Palatino Linotype" pitchFamily="34" charset="0"/>
                <a:ea typeface="Palatino Linotype" pitchFamily="34" charset="-122"/>
                <a:cs typeface="Palatino Linotype" pitchFamily="34" charset="-120"/>
              </a:rPr>
              <a:t>Lisabona, cartierul Alfama</a:t>
            </a:r>
            <a:endParaRPr lang="en-US" sz="1100" dirty="0"/>
          </a:p>
        </p:txBody>
      </p:sp>
      <p:sp>
        <p:nvSpPr>
          <p:cNvPr id="14" name="Text 11"/>
          <p:cNvSpPr/>
          <p:nvPr/>
        </p:nvSpPr>
        <p:spPr>
          <a:xfrm>
            <a:off x="5029200" y="6601968"/>
            <a:ext cx="6949440" cy="219456"/>
          </a:xfrm>
          <a:prstGeom prst="rect">
            <a:avLst/>
          </a:prstGeom>
          <a:noFill/>
          <a:ln/>
        </p:spPr>
        <p:txBody>
          <a:bodyPr wrap="square" lIns="0" tIns="0" rIns="0" bIns="0" rtlCol="0" anchor="ctr"/>
          <a:lstStyle/>
          <a:p>
            <a:pPr indent="0" marL="0">
              <a:buNone/>
            </a:pPr>
            <a:r>
              <a:rPr lang="en-US" sz="850" i="1" dirty="0">
                <a:solidFill>
                  <a:srgbClr val="C9CCD8"/>
                </a:solidFill>
                <a:latin typeface="Palatino Linotype" pitchFamily="34" charset="0"/>
                <a:ea typeface="Palatino Linotype" pitchFamily="34" charset="-122"/>
                <a:cs typeface="Palatino Linotype" pitchFamily="34" charset="-120"/>
              </a:rPr>
              <a:t>Foto: Sharon Hahn Darlin · CC BY 2.0 · Wikimedia Commons</a:t>
            </a:r>
            <a:endParaRPr lang="en-US" sz="850" dirty="0"/>
          </a:p>
        </p:txBody>
      </p:sp>
      <p:pic>
        <p:nvPicPr>
          <p:cNvPr id="15" name="Picture 14" descr="Mentimeter_OPT_DROGURI_C03.png"/>
          <p:cNvPicPr>
            <a:picLocks noChangeAspect="1"/>
          </p:cNvPicPr>
          <p:nvPr/>
        </p:nvPicPr>
        <p:blipFill>
          <a:blip r:embed="rId4"/>
          <a:stretch>
            <a:fillRect/>
          </a:stretch>
        </p:blipFill>
        <p:spPr>
          <a:xfrm>
            <a:off x="1017269" y="5166360"/>
            <a:ext cx="662941" cy="662941"/>
          </a:xfrm>
          <a:prstGeom prst="rect">
            <a:avLst/>
          </a:prstGeom>
        </p:spPr>
      </p:pic>
      <p:sp>
        <p:nvSpPr>
          <p:cNvPr id="16" name="TextBox 15"/>
          <p:cNvSpPr txBox="1"/>
          <p:nvPr/>
        </p:nvSpPr>
        <p:spPr>
          <a:xfrm>
            <a:off x="640080" y="5867401"/>
            <a:ext cx="141732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DUPĂ BILETELE DE IEȘIRE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am schimbat după răspunsurile voastre</a:t>
            </a:r>
            <a:endParaRPr lang="en-US" sz="3200" dirty="0"/>
          </a:p>
        </p:txBody>
      </p:sp>
      <p:sp>
        <p:nvSpPr>
          <p:cNvPr id="4" name="Text 2"/>
          <p:cNvSpPr/>
          <p:nvPr/>
        </p:nvSpPr>
        <p:spPr>
          <a:xfrm>
            <a:off x="594360" y="1463040"/>
            <a:ext cx="10972800" cy="457200"/>
          </a:xfrm>
          <a:prstGeom prst="rect">
            <a:avLst/>
          </a:prstGeom>
          <a:noFill/>
          <a:ln/>
        </p:spPr>
        <p:txBody>
          <a:bodyPr wrap="square" lIns="0" tIns="0" rIns="0" bIns="0" rtlCol="0" anchor="t"/>
          <a:lstStyle/>
          <a:p>
            <a:pPr indent="0" marL="0">
              <a:buNone/>
            </a:pPr>
            <a:r>
              <a:rPr lang="en-US" sz="1700" i="1" dirty="0">
                <a:solidFill>
                  <a:srgbClr val="3A3C44"/>
                </a:solidFill>
                <a:latin typeface="Palatino Linotype" pitchFamily="34" charset="0"/>
                <a:ea typeface="Palatino Linotype" pitchFamily="34" charset="-122"/>
                <a:cs typeface="Palatino Linotype" pitchFamily="34" charset="-120"/>
              </a:rPr>
              <a:t>Am citit răspunsurile de la biletul de ieșire al ședinței a doua.</a:t>
            </a:r>
            <a:endParaRPr lang="en-US" sz="1700" dirty="0"/>
          </a:p>
        </p:txBody>
      </p:sp>
      <p:sp>
        <p:nvSpPr>
          <p:cNvPr id="5" name="Shape 3"/>
          <p:cNvSpPr/>
          <p:nvPr/>
        </p:nvSpPr>
        <p:spPr>
          <a:xfrm>
            <a:off x="594360" y="2194560"/>
            <a:ext cx="10972800" cy="1371600"/>
          </a:xfrm>
          <a:prstGeom prst="roundRect">
            <a:avLst>
              <a:gd name="adj" fmla="val 6000"/>
            </a:avLst>
          </a:prstGeom>
          <a:solidFill>
            <a:srgbClr val="ECEAE4"/>
          </a:solidFill>
          <a:ln w="12700">
            <a:solidFill>
              <a:srgbClr val="ECEAE4"/>
            </a:solidFill>
            <a:prstDash val="solid"/>
          </a:ln>
        </p:spPr>
        <p:txBody>
          <a:bodyPr/>
          <a:p/>
        </p:txBody>
      </p:sp>
      <p:sp>
        <p:nvSpPr>
          <p:cNvPr id="6" name="Shape 4"/>
          <p:cNvSpPr/>
          <p:nvPr/>
        </p:nvSpPr>
        <p:spPr>
          <a:xfrm>
            <a:off x="914400" y="2651760"/>
            <a:ext cx="420624" cy="420624"/>
          </a:xfrm>
          <a:prstGeom prst="ellipse">
            <a:avLst/>
          </a:prstGeom>
          <a:solidFill>
            <a:srgbClr val="B02532"/>
          </a:solidFill>
          <a:ln/>
        </p:spPr>
        <p:txBody>
          <a:bodyPr/>
          <a:p/>
        </p:txBody>
      </p:sp>
      <p:sp>
        <p:nvSpPr>
          <p:cNvPr id="7" name="Text 5"/>
          <p:cNvSpPr/>
          <p:nvPr/>
        </p:nvSpPr>
        <p:spPr>
          <a:xfrm>
            <a:off x="914400" y="26517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8" name="Text 6"/>
          <p:cNvSpPr/>
          <p:nvPr/>
        </p:nvSpPr>
        <p:spPr>
          <a:xfrm>
            <a:off x="1600200" y="2194560"/>
            <a:ext cx="9692640" cy="137160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Procentele devin frecvențe („din 100 de tineri, cam…”), cu un singur grafic pe temă: estimările voastre au mers de la 12 la 135.</a:t>
            </a:r>
            <a:endParaRPr lang="en-US" sz="2000" dirty="0"/>
          </a:p>
        </p:txBody>
      </p:sp>
      <p:sp>
        <p:nvSpPr>
          <p:cNvPr id="9" name="Shape 7"/>
          <p:cNvSpPr/>
          <p:nvPr/>
        </p:nvSpPr>
        <p:spPr>
          <a:xfrm>
            <a:off x="594360" y="3794760"/>
            <a:ext cx="10972800" cy="1371600"/>
          </a:xfrm>
          <a:prstGeom prst="roundRect">
            <a:avLst>
              <a:gd name="adj" fmla="val 6000"/>
            </a:avLst>
          </a:prstGeom>
          <a:solidFill>
            <a:srgbClr val="F9F8F5"/>
          </a:solidFill>
          <a:ln w="12700">
            <a:solidFill>
              <a:srgbClr val="F9F8F5"/>
            </a:solidFill>
            <a:prstDash val="solid"/>
          </a:ln>
        </p:spPr>
        <p:txBody>
          <a:bodyPr/>
          <a:p/>
        </p:txBody>
      </p:sp>
      <p:sp>
        <p:nvSpPr>
          <p:cNvPr id="10" name="Shape 8"/>
          <p:cNvSpPr/>
          <p:nvPr/>
        </p:nvSpPr>
        <p:spPr>
          <a:xfrm>
            <a:off x="914400" y="4251960"/>
            <a:ext cx="420624" cy="420624"/>
          </a:xfrm>
          <a:prstGeom prst="ellipse">
            <a:avLst/>
          </a:prstGeom>
          <a:solidFill>
            <a:srgbClr val="B02532"/>
          </a:solidFill>
          <a:ln/>
        </p:spPr>
        <p:txBody>
          <a:bodyPr/>
          <a:p/>
        </p:txBody>
      </p:sp>
      <p:sp>
        <p:nvSpPr>
          <p:cNvPr id="11" name="Text 9"/>
          <p:cNvSpPr/>
          <p:nvPr/>
        </p:nvSpPr>
        <p:spPr>
          <a:xfrm>
            <a:off x="914400" y="42519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2" name="Text 10"/>
          <p:cNvSpPr/>
          <p:nvPr/>
        </p:nvSpPr>
        <p:spPr>
          <a:xfrm>
            <a:off x="1600200" y="3794760"/>
            <a:ext cx="9692640" cy="1371600"/>
          </a:xfrm>
          <a:prstGeom prst="rect">
            <a:avLst/>
          </a:prstGeom>
          <a:noFill/>
          <a:ln/>
        </p:spPr>
        <p:txBody>
          <a:bodyPr wrap="square" lIns="0" tIns="0" rIns="0" bIns="0" rtlCol="0" anchor="ctr"/>
          <a:lstStyle/>
          <a:p>
            <a:pPr indent="0" marL="0">
              <a:buNone/>
            </a:pPr>
            <a:r>
              <a:rPr lang="en-US" sz="2000" dirty="0">
                <a:solidFill>
                  <a:srgbClr val="11121A"/>
                </a:solidFill>
                <a:latin typeface="Palatino Linotype" pitchFamily="34" charset="0"/>
                <a:ea typeface="Palatino Linotype" pitchFamily="34" charset="-122"/>
                <a:cs typeface="Palatino Linotype" pitchFamily="34" charset="-120"/>
              </a:rPr>
              <a:t>Ritm mai alert, cu pauze mai scurte între diapozitive; fiecare parte se încheie cu „ce îi spuneți mâine unui coleg”.</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MARȚI SEARA, PE GRUPUL ANULUI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Două titluri în aceeași seară</a:t>
            </a:r>
            <a:endParaRPr lang="en-US" sz="3200" dirty="0"/>
          </a:p>
        </p:txBody>
      </p:sp>
      <p:sp>
        <p:nvSpPr>
          <p:cNvPr id="4" name="Shape 2"/>
          <p:cNvSpPr/>
          <p:nvPr/>
        </p:nvSpPr>
        <p:spPr>
          <a:xfrm>
            <a:off x="594360" y="1554480"/>
            <a:ext cx="6035040" cy="457200"/>
          </a:xfrm>
          <a:prstGeom prst="roundRect">
            <a:avLst>
              <a:gd name="adj" fmla="val 18000"/>
            </a:avLst>
          </a:prstGeom>
          <a:solidFill>
            <a:srgbClr val="2B3048"/>
          </a:solidFill>
          <a:ln w="12700">
            <a:solidFill>
              <a:srgbClr val="2B3048"/>
            </a:solidFill>
            <a:prstDash val="solid"/>
          </a:ln>
        </p:spPr>
        <p:txBody>
          <a:bodyPr/>
          <a:p/>
        </p:txBody>
      </p:sp>
      <p:sp>
        <p:nvSpPr>
          <p:cNvPr id="5" name="Text 3"/>
          <p:cNvSpPr/>
          <p:nvPr/>
        </p:nvSpPr>
        <p:spPr>
          <a:xfrm>
            <a:off x="822960" y="1554480"/>
            <a:ext cx="5577840" cy="457200"/>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Anul II · grup</a:t>
            </a:r>
            <a:endParaRPr lang="en-US" sz="1300" dirty="0"/>
          </a:p>
        </p:txBody>
      </p:sp>
      <p:sp>
        <p:nvSpPr>
          <p:cNvPr id="6" name="Shape 4"/>
          <p:cNvSpPr/>
          <p:nvPr/>
        </p:nvSpPr>
        <p:spPr>
          <a:xfrm>
            <a:off x="594360" y="2194560"/>
            <a:ext cx="4948733" cy="868680"/>
          </a:xfrm>
          <a:prstGeom prst="roundRect">
            <a:avLst>
              <a:gd name="adj" fmla="val 9474"/>
            </a:avLst>
          </a:prstGeom>
          <a:solidFill>
            <a:srgbClr val="272A38"/>
          </a:solidFill>
          <a:ln w="12700">
            <a:solidFill>
              <a:srgbClr val="272A38"/>
            </a:solidFill>
            <a:prstDash val="solid"/>
          </a:ln>
        </p:spPr>
        <p:txBody>
          <a:bodyPr/>
          <a:p/>
        </p:txBody>
      </p:sp>
      <p:sp>
        <p:nvSpPr>
          <p:cNvPr id="7" name="Text 5"/>
          <p:cNvSpPr/>
          <p:nvPr/>
        </p:nvSpPr>
        <p:spPr>
          <a:xfrm>
            <a:off x="777240" y="2267712"/>
            <a:ext cx="4582973" cy="237744"/>
          </a:xfrm>
          <a:prstGeom prst="rect">
            <a:avLst/>
          </a:prstGeom>
          <a:noFill/>
          <a:ln/>
        </p:spPr>
        <p:txBody>
          <a:bodyPr wrap="square" lIns="0" tIns="0" rIns="0" bIns="0" rtlCol="0" anchor="t"/>
          <a:lstStyle/>
          <a:p>
            <a:pPr indent="0" marL="0">
              <a:buNone/>
            </a:pPr>
            <a:r>
              <a:rPr lang="en-US" sz="1100" b="1" dirty="0">
                <a:solidFill>
                  <a:srgbClr val="FFC24B"/>
                </a:solidFill>
                <a:latin typeface="Palatino Linotype" pitchFamily="34" charset="0"/>
                <a:ea typeface="Palatino Linotype" pitchFamily="34" charset="-122"/>
                <a:cs typeface="Palatino Linotype" pitchFamily="34" charset="-120"/>
              </a:rPr>
              <a:t>Andrei</a:t>
            </a:r>
            <a:endParaRPr lang="en-US" sz="1100" dirty="0"/>
          </a:p>
        </p:txBody>
      </p:sp>
      <p:sp>
        <p:nvSpPr>
          <p:cNvPr id="8" name="Text 6"/>
          <p:cNvSpPr/>
          <p:nvPr/>
        </p:nvSpPr>
        <p:spPr>
          <a:xfrm>
            <a:off x="777240" y="2505456"/>
            <a:ext cx="4582973" cy="50292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Portugalia a dezincriminat toate drogurile și a scăpat de ele.</a:t>
            </a:r>
            <a:endParaRPr lang="en-US" sz="1500" dirty="0"/>
          </a:p>
        </p:txBody>
      </p:sp>
      <p:sp>
        <p:nvSpPr>
          <p:cNvPr id="9" name="Shape 7"/>
          <p:cNvSpPr/>
          <p:nvPr/>
        </p:nvSpPr>
        <p:spPr>
          <a:xfrm>
            <a:off x="594360" y="3227832"/>
            <a:ext cx="4948733" cy="868680"/>
          </a:xfrm>
          <a:prstGeom prst="roundRect">
            <a:avLst>
              <a:gd name="adj" fmla="val 9474"/>
            </a:avLst>
          </a:prstGeom>
          <a:solidFill>
            <a:srgbClr val="272A38"/>
          </a:solidFill>
          <a:ln w="12700">
            <a:solidFill>
              <a:srgbClr val="272A38"/>
            </a:solidFill>
            <a:prstDash val="solid"/>
          </a:ln>
        </p:spPr>
        <p:txBody>
          <a:bodyPr/>
          <a:p/>
        </p:txBody>
      </p:sp>
      <p:sp>
        <p:nvSpPr>
          <p:cNvPr id="10" name="Text 8"/>
          <p:cNvSpPr/>
          <p:nvPr/>
        </p:nvSpPr>
        <p:spPr>
          <a:xfrm>
            <a:off x="777240" y="3300984"/>
            <a:ext cx="4582973" cy="237744"/>
          </a:xfrm>
          <a:prstGeom prst="rect">
            <a:avLst/>
          </a:prstGeom>
          <a:noFill/>
          <a:ln/>
        </p:spPr>
        <p:txBody>
          <a:bodyPr wrap="square" lIns="0" tIns="0" rIns="0" bIns="0" rtlCol="0" anchor="t"/>
          <a:lstStyle/>
          <a:p>
            <a:pPr indent="0" marL="0">
              <a:buNone/>
            </a:pPr>
            <a:r>
              <a:rPr lang="en-US" sz="1100" b="1" dirty="0">
                <a:solidFill>
                  <a:srgbClr val="FFC24B"/>
                </a:solidFill>
                <a:latin typeface="Palatino Linotype" pitchFamily="34" charset="0"/>
                <a:ea typeface="Palatino Linotype" pitchFamily="34" charset="-122"/>
                <a:cs typeface="Palatino Linotype" pitchFamily="34" charset="-120"/>
              </a:rPr>
              <a:t>Ioana</a:t>
            </a:r>
            <a:endParaRPr lang="en-US" sz="1100" dirty="0"/>
          </a:p>
        </p:txBody>
      </p:sp>
      <p:sp>
        <p:nvSpPr>
          <p:cNvPr id="11" name="Text 9"/>
          <p:cNvSpPr/>
          <p:nvPr/>
        </p:nvSpPr>
        <p:spPr>
          <a:xfrm>
            <a:off x="777240" y="3538728"/>
            <a:ext cx="4582973" cy="50292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O stradă din Porto, cu seringi pe trotuar: „modelul portughez a eșuat”.</a:t>
            </a:r>
            <a:endParaRPr lang="en-US" sz="1500" dirty="0"/>
          </a:p>
        </p:txBody>
      </p:sp>
      <p:sp>
        <p:nvSpPr>
          <p:cNvPr id="12" name="Shape 10"/>
          <p:cNvSpPr/>
          <p:nvPr/>
        </p:nvSpPr>
        <p:spPr>
          <a:xfrm>
            <a:off x="1680667" y="4261104"/>
            <a:ext cx="4948733" cy="640080"/>
          </a:xfrm>
          <a:prstGeom prst="roundRect">
            <a:avLst>
              <a:gd name="adj" fmla="val 12857"/>
            </a:avLst>
          </a:prstGeom>
          <a:solidFill>
            <a:srgbClr val="1F5C52"/>
          </a:solidFill>
          <a:ln w="12700">
            <a:solidFill>
              <a:srgbClr val="1F5C52"/>
            </a:solidFill>
            <a:prstDash val="solid"/>
          </a:ln>
        </p:spPr>
        <p:txBody>
          <a:bodyPr/>
          <a:p/>
        </p:txBody>
      </p:sp>
      <p:sp>
        <p:nvSpPr>
          <p:cNvPr id="13" name="Text 11"/>
          <p:cNvSpPr/>
          <p:nvPr/>
        </p:nvSpPr>
        <p:spPr>
          <a:xfrm>
            <a:off x="1863547" y="4334256"/>
            <a:ext cx="4582973" cy="237744"/>
          </a:xfrm>
          <a:prstGeom prst="rect">
            <a:avLst/>
          </a:prstGeom>
          <a:noFill/>
          <a:ln/>
        </p:spPr>
        <p:txBody>
          <a:bodyPr wrap="square" lIns="0" tIns="0" rIns="0" bIns="0" rtlCol="0" anchor="t"/>
          <a:lstStyle/>
          <a:p>
            <a:pPr indent="0" marL="0">
              <a:buNone/>
            </a:pPr>
            <a:r>
              <a:rPr lang="en-US" sz="1100" b="1" dirty="0">
                <a:solidFill>
                  <a:srgbClr val="9FE8DC"/>
                </a:solidFill>
                <a:latin typeface="Palatino Linotype" pitchFamily="34" charset="0"/>
                <a:ea typeface="Palatino Linotype" pitchFamily="34" charset="-122"/>
                <a:cs typeface="Palatino Linotype" pitchFamily="34" charset="-120"/>
              </a:rPr>
              <a:t>Mihai</a:t>
            </a:r>
            <a:endParaRPr lang="en-US" sz="1100" dirty="0"/>
          </a:p>
        </p:txBody>
      </p:sp>
      <p:sp>
        <p:nvSpPr>
          <p:cNvPr id="14" name="Text 12"/>
          <p:cNvSpPr/>
          <p:nvPr/>
        </p:nvSpPr>
        <p:spPr>
          <a:xfrm>
            <a:off x="1863547" y="4572000"/>
            <a:ext cx="4582973" cy="27432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Care e adevărat?</a:t>
            </a:r>
            <a:endParaRPr lang="en-US" sz="1500" dirty="0"/>
          </a:p>
        </p:txBody>
      </p:sp>
      <p:sp>
        <p:nvSpPr>
          <p:cNvPr id="15" name="Shape 13"/>
          <p:cNvSpPr/>
          <p:nvPr/>
        </p:nvSpPr>
        <p:spPr>
          <a:xfrm>
            <a:off x="594360" y="5065776"/>
            <a:ext cx="4948733" cy="640080"/>
          </a:xfrm>
          <a:prstGeom prst="roundRect">
            <a:avLst>
              <a:gd name="adj" fmla="val 12857"/>
            </a:avLst>
          </a:prstGeom>
          <a:solidFill>
            <a:srgbClr val="272A38"/>
          </a:solidFill>
          <a:ln w="12700">
            <a:solidFill>
              <a:srgbClr val="272A38"/>
            </a:solidFill>
            <a:prstDash val="solid"/>
          </a:ln>
        </p:spPr>
        <p:txBody>
          <a:bodyPr/>
          <a:p/>
        </p:txBody>
      </p:sp>
      <p:sp>
        <p:nvSpPr>
          <p:cNvPr id="16" name="Text 14"/>
          <p:cNvSpPr/>
          <p:nvPr/>
        </p:nvSpPr>
        <p:spPr>
          <a:xfrm>
            <a:off x="777240" y="5138928"/>
            <a:ext cx="4582973" cy="237744"/>
          </a:xfrm>
          <a:prstGeom prst="rect">
            <a:avLst/>
          </a:prstGeom>
          <a:noFill/>
          <a:ln/>
        </p:spPr>
        <p:txBody>
          <a:bodyPr wrap="square" lIns="0" tIns="0" rIns="0" bIns="0" rtlCol="0" anchor="t"/>
          <a:lstStyle/>
          <a:p>
            <a:pPr indent="0" marL="0">
              <a:buNone/>
            </a:pPr>
            <a:r>
              <a:rPr lang="en-US" sz="1100" b="1" dirty="0">
                <a:solidFill>
                  <a:srgbClr val="FFC24B"/>
                </a:solidFill>
                <a:latin typeface="Palatino Linotype" pitchFamily="34" charset="0"/>
                <a:ea typeface="Palatino Linotype" pitchFamily="34" charset="-122"/>
                <a:cs typeface="Palatino Linotype" pitchFamily="34" charset="-120"/>
              </a:rPr>
              <a:t>Ana</a:t>
            </a:r>
            <a:endParaRPr lang="en-US" sz="1100" dirty="0"/>
          </a:p>
        </p:txBody>
      </p:sp>
      <p:sp>
        <p:nvSpPr>
          <p:cNvPr id="17" name="Text 15"/>
          <p:cNvSpPr/>
          <p:nvPr/>
        </p:nvSpPr>
        <p:spPr>
          <a:xfrm>
            <a:off x="777240" y="5376672"/>
            <a:ext cx="4582973" cy="27432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Depinde de ce partid votezi.</a:t>
            </a:r>
            <a:endParaRPr lang="en-US" sz="1500" dirty="0"/>
          </a:p>
        </p:txBody>
      </p:sp>
      <p:sp>
        <p:nvSpPr>
          <p:cNvPr id="18" name="Text 16"/>
          <p:cNvSpPr/>
          <p:nvPr/>
        </p:nvSpPr>
        <p:spPr>
          <a:xfrm>
            <a:off x="7086600" y="1645920"/>
            <a:ext cx="448056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Două întrebări amestecate:</a:t>
            </a:r>
            <a:endParaRPr lang="en-US" sz="1600" dirty="0"/>
          </a:p>
        </p:txBody>
      </p:sp>
      <p:sp>
        <p:nvSpPr>
          <p:cNvPr id="19" name="Shape 17"/>
          <p:cNvSpPr/>
          <p:nvPr/>
        </p:nvSpPr>
        <p:spPr>
          <a:xfrm>
            <a:off x="7086600" y="2194560"/>
            <a:ext cx="4480560" cy="1463040"/>
          </a:xfrm>
          <a:prstGeom prst="roundRect">
            <a:avLst>
              <a:gd name="adj" fmla="val 5625"/>
            </a:avLst>
          </a:prstGeom>
          <a:solidFill>
            <a:srgbClr val="1D1F2B"/>
          </a:solidFill>
          <a:ln w="12700">
            <a:solidFill>
              <a:srgbClr val="1D1F2B"/>
            </a:solidFill>
            <a:prstDash val="solid"/>
          </a:ln>
        </p:spPr>
        <p:txBody>
          <a:bodyPr/>
          <a:p/>
        </p:txBody>
      </p:sp>
      <p:sp>
        <p:nvSpPr>
          <p:cNvPr id="20" name="Shape 18"/>
          <p:cNvSpPr/>
          <p:nvPr/>
        </p:nvSpPr>
        <p:spPr>
          <a:xfrm>
            <a:off x="7086600" y="2194560"/>
            <a:ext cx="73152" cy="1463040"/>
          </a:xfrm>
          <a:prstGeom prst="rect">
            <a:avLst/>
          </a:prstGeom>
          <a:solidFill>
            <a:srgbClr val="27D3BE"/>
          </a:solidFill>
          <a:ln w="12700">
            <a:solidFill>
              <a:srgbClr val="27D3BE"/>
            </a:solidFill>
            <a:prstDash val="solid"/>
          </a:ln>
        </p:spPr>
        <p:txBody>
          <a:bodyPr/>
          <a:p/>
        </p:txBody>
      </p:sp>
      <p:sp>
        <p:nvSpPr>
          <p:cNvPr id="21" name="Text 19"/>
          <p:cNvSpPr/>
          <p:nvPr/>
        </p:nvSpPr>
        <p:spPr>
          <a:xfrm>
            <a:off x="7406640" y="2377440"/>
            <a:ext cx="4023360" cy="548640"/>
          </a:xfrm>
          <a:prstGeom prst="rect">
            <a:avLst/>
          </a:prstGeom>
          <a:noFill/>
          <a:ln/>
        </p:spPr>
        <p:txBody>
          <a:bodyPr wrap="square" lIns="0" tIns="0" rIns="0" bIns="0" rtlCol="0" anchor="t"/>
          <a:lstStyle/>
          <a:p>
            <a:pPr indent="0" marL="0">
              <a:buNone/>
            </a:pPr>
            <a:r>
              <a:rPr lang="en-US" sz="2200" b="1" dirty="0">
                <a:solidFill>
                  <a:srgbClr val="27D3BE"/>
                </a:solidFill>
                <a:latin typeface="Palatino Linotype" pitchFamily="34" charset="0"/>
                <a:ea typeface="Palatino Linotype" pitchFamily="34" charset="-122"/>
                <a:cs typeface="Palatino Linotype" pitchFamily="34" charset="-120"/>
              </a:rPr>
              <a:t>Ce s-a întâmplat?</a:t>
            </a:r>
            <a:endParaRPr lang="en-US" sz="2200" dirty="0"/>
          </a:p>
        </p:txBody>
      </p:sp>
      <p:sp>
        <p:nvSpPr>
          <p:cNvPr id="22" name="Text 20"/>
          <p:cNvSpPr/>
          <p:nvPr/>
        </p:nvSpPr>
        <p:spPr>
          <a:xfrm>
            <a:off x="7406640" y="2971800"/>
            <a:ext cx="4023360" cy="54864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se verifică într-o sursă: știință</a:t>
            </a:r>
            <a:endParaRPr lang="en-US" sz="1600" dirty="0"/>
          </a:p>
        </p:txBody>
      </p:sp>
      <p:sp>
        <p:nvSpPr>
          <p:cNvPr id="23" name="Shape 21"/>
          <p:cNvSpPr/>
          <p:nvPr/>
        </p:nvSpPr>
        <p:spPr>
          <a:xfrm>
            <a:off x="7086600" y="3886200"/>
            <a:ext cx="4480560" cy="1463040"/>
          </a:xfrm>
          <a:prstGeom prst="roundRect">
            <a:avLst>
              <a:gd name="adj" fmla="val 5625"/>
            </a:avLst>
          </a:prstGeom>
          <a:solidFill>
            <a:srgbClr val="1D1F2B"/>
          </a:solidFill>
          <a:ln w="12700">
            <a:solidFill>
              <a:srgbClr val="1D1F2B"/>
            </a:solidFill>
            <a:prstDash val="solid"/>
          </a:ln>
        </p:spPr>
        <p:txBody>
          <a:bodyPr/>
          <a:p/>
        </p:txBody>
      </p:sp>
      <p:sp>
        <p:nvSpPr>
          <p:cNvPr id="24" name="Shape 22"/>
          <p:cNvSpPr/>
          <p:nvPr/>
        </p:nvSpPr>
        <p:spPr>
          <a:xfrm>
            <a:off x="7086600" y="3886200"/>
            <a:ext cx="73152" cy="1463040"/>
          </a:xfrm>
          <a:prstGeom prst="rect">
            <a:avLst/>
          </a:prstGeom>
          <a:solidFill>
            <a:srgbClr val="FF4757"/>
          </a:solidFill>
          <a:ln w="12700">
            <a:solidFill>
              <a:srgbClr val="FF4757"/>
            </a:solidFill>
            <a:prstDash val="solid"/>
          </a:ln>
        </p:spPr>
        <p:txBody>
          <a:bodyPr/>
          <a:p/>
        </p:txBody>
      </p:sp>
      <p:sp>
        <p:nvSpPr>
          <p:cNvPr id="25" name="Text 23"/>
          <p:cNvSpPr/>
          <p:nvPr/>
        </p:nvSpPr>
        <p:spPr>
          <a:xfrm>
            <a:off x="7406640" y="4069080"/>
            <a:ext cx="4023360" cy="548640"/>
          </a:xfrm>
          <a:prstGeom prst="rect">
            <a:avLst/>
          </a:prstGeom>
          <a:noFill/>
          <a:ln/>
        </p:spPr>
        <p:txBody>
          <a:bodyPr wrap="square" lIns="0" tIns="0" rIns="0" bIns="0" rtlCol="0" anchor="t"/>
          <a:lstStyle/>
          <a:p>
            <a:pPr indent="0" marL="0">
              <a:buNone/>
            </a:pPr>
            <a:r>
              <a:rPr lang="en-US" sz="2200" b="1" dirty="0">
                <a:solidFill>
                  <a:srgbClr val="FF4757"/>
                </a:solidFill>
                <a:latin typeface="Palatino Linotype" pitchFamily="34" charset="0"/>
                <a:ea typeface="Palatino Linotype" pitchFamily="34" charset="-122"/>
                <a:cs typeface="Palatino Linotype" pitchFamily="34" charset="-120"/>
              </a:rPr>
              <a:t>Ce ar trebui să facem?</a:t>
            </a:r>
            <a:endParaRPr lang="en-US" sz="2200" dirty="0"/>
          </a:p>
        </p:txBody>
      </p:sp>
      <p:sp>
        <p:nvSpPr>
          <p:cNvPr id="26" name="Text 24"/>
          <p:cNvSpPr/>
          <p:nvPr/>
        </p:nvSpPr>
        <p:spPr>
          <a:xfrm>
            <a:off x="7406640" y="4663440"/>
            <a:ext cx="4023360" cy="54864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se discută cu valori: politică</a:t>
            </a:r>
            <a:endParaRPr lang="en-US" sz="1600" dirty="0"/>
          </a:p>
        </p:txBody>
      </p:sp>
      <p:sp>
        <p:nvSpPr>
          <p:cNvPr id="27" name="Text 25"/>
          <p:cNvSpPr/>
          <p:nvPr/>
        </p:nvSpPr>
        <p:spPr>
          <a:xfrm>
            <a:off x="594360" y="6309360"/>
            <a:ext cx="5486400" cy="256032"/>
          </a:xfrm>
          <a:prstGeom prst="rect">
            <a:avLst/>
          </a:prstGeom>
          <a:noFill/>
          <a:ln/>
        </p:spPr>
        <p:txBody>
          <a:bodyPr wrap="square" lIns="0" tIns="0" rIns="0" bIns="0" rtlCol="0" anchor="t"/>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Scenă reconstituită.</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ÎNAINTE DE ORICE CIFRĂ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2600" b="1" dirty="0">
                <a:solidFill>
                  <a:srgbClr val="FFFFFF"/>
                </a:solidFill>
                <a:latin typeface="Palatino Linotype" pitchFamily="34" charset="0"/>
                <a:ea typeface="Palatino Linotype" pitchFamily="34" charset="-122"/>
                <a:cs typeface="Palatino Linotype" pitchFamily="34" charset="-120"/>
              </a:rPr>
              <a:t>„România ar trebui să adopte modelul portughez de dezincriminare a consumului personal de droguri.”</a:t>
            </a:r>
            <a:endParaRPr lang="en-US" sz="2600" dirty="0"/>
          </a:p>
        </p:txBody>
      </p:sp>
      <p:sp>
        <p:nvSpPr>
          <p:cNvPr id="6" name="Shape 4"/>
          <p:cNvSpPr/>
          <p:nvPr/>
        </p:nvSpPr>
        <p:spPr>
          <a:xfrm>
            <a:off x="594360" y="251460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7" name="Text 5"/>
          <p:cNvSpPr/>
          <p:nvPr/>
        </p:nvSpPr>
        <p:spPr>
          <a:xfrm>
            <a:off x="594360" y="251460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Total de acord</a:t>
            </a:r>
            <a:endParaRPr lang="en-US" sz="1500" dirty="0"/>
          </a:p>
        </p:txBody>
      </p:sp>
      <p:sp>
        <p:nvSpPr>
          <p:cNvPr id="8" name="Shape 6"/>
          <p:cNvSpPr/>
          <p:nvPr/>
        </p:nvSpPr>
        <p:spPr>
          <a:xfrm>
            <a:off x="2834640" y="251460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9" name="Text 7"/>
          <p:cNvSpPr/>
          <p:nvPr/>
        </p:nvSpPr>
        <p:spPr>
          <a:xfrm>
            <a:off x="2834640" y="251460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De acord</a:t>
            </a:r>
            <a:endParaRPr lang="en-US" sz="1500" dirty="0"/>
          </a:p>
        </p:txBody>
      </p:sp>
      <p:sp>
        <p:nvSpPr>
          <p:cNvPr id="10" name="Shape 8"/>
          <p:cNvSpPr/>
          <p:nvPr/>
        </p:nvSpPr>
        <p:spPr>
          <a:xfrm>
            <a:off x="5074920" y="251460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1" name="Text 9"/>
          <p:cNvSpPr/>
          <p:nvPr/>
        </p:nvSpPr>
        <p:spPr>
          <a:xfrm>
            <a:off x="5074920" y="251460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Nu știu</a:t>
            </a:r>
            <a:endParaRPr lang="en-US" sz="1500" dirty="0"/>
          </a:p>
        </p:txBody>
      </p:sp>
      <p:sp>
        <p:nvSpPr>
          <p:cNvPr id="12" name="Shape 10"/>
          <p:cNvSpPr/>
          <p:nvPr/>
        </p:nvSpPr>
        <p:spPr>
          <a:xfrm>
            <a:off x="7315200" y="251460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3" name="Text 11"/>
          <p:cNvSpPr/>
          <p:nvPr/>
        </p:nvSpPr>
        <p:spPr>
          <a:xfrm>
            <a:off x="7315200" y="251460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Împotrivă</a:t>
            </a:r>
            <a:endParaRPr lang="en-US" sz="1500" dirty="0"/>
          </a:p>
        </p:txBody>
      </p:sp>
      <p:sp>
        <p:nvSpPr>
          <p:cNvPr id="14" name="Shape 12"/>
          <p:cNvSpPr/>
          <p:nvPr/>
        </p:nvSpPr>
        <p:spPr>
          <a:xfrm>
            <a:off x="9555480" y="251460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5" name="Text 13"/>
          <p:cNvSpPr/>
          <p:nvPr/>
        </p:nvSpPr>
        <p:spPr>
          <a:xfrm>
            <a:off x="9555480" y="251460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Total împotrivă</a:t>
            </a:r>
            <a:endParaRPr lang="en-US" sz="1500" dirty="0"/>
          </a:p>
        </p:txBody>
      </p:sp>
      <p:sp>
        <p:nvSpPr>
          <p:cNvPr id="16" name="Text 14"/>
          <p:cNvSpPr/>
          <p:nvPr/>
        </p:nvSpPr>
        <p:spPr>
          <a:xfrm>
            <a:off x="594360" y="3291840"/>
            <a:ext cx="10972800" cy="82296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Votați după prima impresie. Votăm din nou pe aceeași moțiune, la finalul părții a doua.</a:t>
            </a:r>
            <a:endParaRPr lang="en-US" sz="1800" dirty="0"/>
          </a:p>
        </p:txBody>
      </p:sp>
      <p:sp>
        <p:nvSpPr>
          <p:cNvPr id="17" name="Shape 15"/>
          <p:cNvSpPr/>
          <p:nvPr/>
        </p:nvSpPr>
        <p:spPr>
          <a:xfrm>
            <a:off x="9509760" y="4206240"/>
            <a:ext cx="2057400" cy="1737360"/>
          </a:xfrm>
          <a:prstGeom prst="roundRect">
            <a:avLst>
              <a:gd name="adj" fmla="val 4737"/>
            </a:avLst>
          </a:prstGeom>
          <a:solidFill>
            <a:srgbClr val="FFFFFF"/>
          </a:solidFill>
          <a:ln w="12700">
            <a:solidFill>
              <a:srgbClr val="FFFFFF"/>
            </a:solidFill>
            <a:prstDash val="solid"/>
          </a:ln>
        </p:spPr>
        <p:txBody>
          <a:bodyPr/>
          <a:p/>
        </p:txBody>
      </p:sp>
      <p:pic>
        <p:nvPicPr>
          <p:cNvPr id="18" name="Picture 17" descr="Mentimeter_OPT_DROGURI_C03.png"/>
          <p:cNvPicPr>
            <a:picLocks noChangeAspect="1"/>
          </p:cNvPicPr>
          <p:nvPr/>
        </p:nvPicPr>
        <p:blipFill>
          <a:blip r:embed="rId3"/>
          <a:stretch>
            <a:fillRect/>
          </a:stretch>
        </p:blipFill>
        <p:spPr>
          <a:xfrm>
            <a:off x="9886949" y="4206240"/>
            <a:ext cx="1303021" cy="1303021"/>
          </a:xfrm>
          <a:prstGeom prst="rect">
            <a:avLst/>
          </a:prstGeom>
        </p:spPr>
      </p:pic>
      <p:sp>
        <p:nvSpPr>
          <p:cNvPr id="19" name="TextBox 18"/>
          <p:cNvSpPr txBox="1"/>
          <p:nvPr/>
        </p:nvSpPr>
        <p:spPr>
          <a:xfrm>
            <a:off x="9509760" y="5547361"/>
            <a:ext cx="20574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PARTEA ÎNTÂI · LISABONA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prevedea, exact, legea din 2000</a:t>
            </a:r>
            <a:endParaRPr lang="en-US" sz="3200" dirty="0"/>
          </a:p>
        </p:txBody>
      </p:sp>
      <p:sp>
        <p:nvSpPr>
          <p:cNvPr id="4" name="Shape 2"/>
          <p:cNvSpPr/>
          <p:nvPr/>
        </p:nvSpPr>
        <p:spPr>
          <a:xfrm>
            <a:off x="594360" y="1508760"/>
            <a:ext cx="6035040" cy="3246120"/>
          </a:xfrm>
          <a:prstGeom prst="rect">
            <a:avLst/>
          </a:prstGeom>
          <a:solidFill>
            <a:srgbClr val="FBF8F1"/>
          </a:solidFill>
          <a:ln w="9525">
            <a:solidFill>
              <a:srgbClr val="D6D2C8"/>
            </a:solidFill>
            <a:prstDash val="solid"/>
          </a:ln>
        </p:spPr>
        <p:txBody>
          <a:bodyPr/>
          <a:p/>
        </p:txBody>
      </p:sp>
      <p:sp>
        <p:nvSpPr>
          <p:cNvPr id="5" name="Text 3"/>
          <p:cNvSpPr/>
          <p:nvPr/>
        </p:nvSpPr>
        <p:spPr>
          <a:xfrm>
            <a:off x="868680" y="1645920"/>
            <a:ext cx="5486400" cy="274320"/>
          </a:xfrm>
          <a:prstGeom prst="rect">
            <a:avLst/>
          </a:prstGeom>
          <a:noFill/>
          <a:ln/>
        </p:spPr>
        <p:txBody>
          <a:bodyPr wrap="square" lIns="0" tIns="0" rIns="0" bIns="0" rtlCol="0" anchor="t"/>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LEI N.º 30/2000 · ART. 2</a:t>
            </a:r>
            <a:endParaRPr lang="en-US" sz="1100" dirty="0"/>
          </a:p>
        </p:txBody>
      </p:sp>
      <p:sp>
        <p:nvSpPr>
          <p:cNvPr id="6" name="Text 4"/>
          <p:cNvSpPr/>
          <p:nvPr/>
        </p:nvSpPr>
        <p:spPr>
          <a:xfrm>
            <a:off x="868680" y="2011680"/>
            <a:ext cx="5486400" cy="1097280"/>
          </a:xfrm>
          <a:prstGeom prst="rect">
            <a:avLst/>
          </a:prstGeom>
          <a:noFill/>
          <a:ln/>
        </p:spPr>
        <p:txBody>
          <a:bodyPr wrap="square" lIns="0" tIns="0" rIns="0" bIns="0" rtlCol="0" anchor="t"/>
          <a:lstStyle/>
          <a:p>
            <a:pPr indent="0" marL="0">
              <a:buNone/>
            </a:pPr>
            <a:r>
              <a:rPr lang="en-US" sz="1800" i="1" dirty="0">
                <a:solidFill>
                  <a:srgbClr val="11121A"/>
                </a:solidFill>
                <a:latin typeface="Palatino Linotype" pitchFamily="34" charset="0"/>
                <a:ea typeface="Palatino Linotype" pitchFamily="34" charset="-122"/>
                <a:cs typeface="Palatino Linotype" pitchFamily="34" charset="-120"/>
              </a:rPr>
              <a:t>„o consumo, a aquisição e a detenção para consumo próprio […] constituem contra-ordenação”</a:t>
            </a:r>
            <a:endParaRPr lang="en-US" sz="1800" dirty="0"/>
          </a:p>
        </p:txBody>
      </p:sp>
      <p:sp>
        <p:nvSpPr>
          <p:cNvPr id="7" name="Text 5"/>
          <p:cNvSpPr/>
          <p:nvPr/>
        </p:nvSpPr>
        <p:spPr>
          <a:xfrm>
            <a:off x="868680" y="3154680"/>
            <a:ext cx="5486400" cy="146304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Consumul, achiziția și deținerea pentru consum propriu sunt contravenții, nu infracțiuni: cel mult cantitatea pentru 10 zile. În vigoare de la 1 iulie 2001.</a:t>
            </a:r>
            <a:endParaRPr lang="en-US" sz="1550" dirty="0"/>
          </a:p>
        </p:txBody>
      </p:sp>
      <p:sp>
        <p:nvSpPr>
          <p:cNvPr id="8" name="Text 6"/>
          <p:cNvSpPr/>
          <p:nvPr/>
        </p:nvSpPr>
        <p:spPr>
          <a:xfrm>
            <a:off x="6949440" y="1508760"/>
            <a:ext cx="4572000" cy="41148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Trei prevederi</a:t>
            </a:r>
            <a:endParaRPr lang="en-US" sz="1700" dirty="0"/>
          </a:p>
        </p:txBody>
      </p:sp>
      <p:sp>
        <p:nvSpPr>
          <p:cNvPr id="9" name="Shape 7"/>
          <p:cNvSpPr/>
          <p:nvPr/>
        </p:nvSpPr>
        <p:spPr>
          <a:xfrm>
            <a:off x="6949440" y="2121408"/>
            <a:ext cx="420624" cy="420624"/>
          </a:xfrm>
          <a:prstGeom prst="ellipse">
            <a:avLst/>
          </a:prstGeom>
          <a:solidFill>
            <a:srgbClr val="B02532"/>
          </a:solidFill>
          <a:ln/>
        </p:spPr>
        <p:txBody>
          <a:bodyPr/>
          <a:p/>
        </p:txBody>
      </p:sp>
      <p:sp>
        <p:nvSpPr>
          <p:cNvPr id="10" name="Text 8"/>
          <p:cNvSpPr/>
          <p:nvPr/>
        </p:nvSpPr>
        <p:spPr>
          <a:xfrm>
            <a:off x="6949440" y="21214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11" name="Text 9"/>
          <p:cNvSpPr/>
          <p:nvPr/>
        </p:nvSpPr>
        <p:spPr>
          <a:xfrm>
            <a:off x="7543800" y="2011680"/>
            <a:ext cx="4023360" cy="68580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Toate drogurile, nu numai cannabisul.</a:t>
            </a:r>
            <a:endParaRPr lang="en-US" sz="1600" dirty="0"/>
          </a:p>
        </p:txBody>
      </p:sp>
      <p:sp>
        <p:nvSpPr>
          <p:cNvPr id="12" name="Shape 10"/>
          <p:cNvSpPr/>
          <p:nvPr/>
        </p:nvSpPr>
        <p:spPr>
          <a:xfrm>
            <a:off x="6949440" y="3035808"/>
            <a:ext cx="420624" cy="420624"/>
          </a:xfrm>
          <a:prstGeom prst="ellipse">
            <a:avLst/>
          </a:prstGeom>
          <a:solidFill>
            <a:srgbClr val="B02532"/>
          </a:solidFill>
          <a:ln/>
        </p:spPr>
        <p:txBody>
          <a:bodyPr/>
          <a:p/>
        </p:txBody>
      </p:sp>
      <p:sp>
        <p:nvSpPr>
          <p:cNvPr id="13" name="Text 11"/>
          <p:cNvSpPr/>
          <p:nvPr/>
        </p:nvSpPr>
        <p:spPr>
          <a:xfrm>
            <a:off x="6949440" y="30358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4" name="Text 12"/>
          <p:cNvSpPr/>
          <p:nvPr/>
        </p:nvSpPr>
        <p:spPr>
          <a:xfrm>
            <a:off x="7543800" y="2926080"/>
            <a:ext cx="4023360" cy="68580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Vânzarea rămâne faptă penală.</a:t>
            </a:r>
            <a:endParaRPr lang="en-US" sz="1600" dirty="0"/>
          </a:p>
        </p:txBody>
      </p:sp>
      <p:sp>
        <p:nvSpPr>
          <p:cNvPr id="15" name="Shape 13"/>
          <p:cNvSpPr/>
          <p:nvPr/>
        </p:nvSpPr>
        <p:spPr>
          <a:xfrm>
            <a:off x="6949440" y="3950208"/>
            <a:ext cx="420624" cy="420624"/>
          </a:xfrm>
          <a:prstGeom prst="ellipse">
            <a:avLst/>
          </a:prstGeom>
          <a:solidFill>
            <a:srgbClr val="B02532"/>
          </a:solidFill>
          <a:ln/>
        </p:spPr>
        <p:txBody>
          <a:bodyPr/>
          <a:p/>
        </p:txBody>
      </p:sp>
      <p:sp>
        <p:nvSpPr>
          <p:cNvPr id="16" name="Text 14"/>
          <p:cNvSpPr/>
          <p:nvPr/>
        </p:nvSpPr>
        <p:spPr>
          <a:xfrm>
            <a:off x="6949440" y="395020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7" name="Text 15"/>
          <p:cNvSpPr/>
          <p:nvPr/>
        </p:nvSpPr>
        <p:spPr>
          <a:xfrm>
            <a:off x="7543800" y="3840480"/>
            <a:ext cx="4023360" cy="68580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Cine cerea singur ajutor nu intra sub lege.</a:t>
            </a:r>
            <a:endParaRPr lang="en-US" sz="1600" dirty="0"/>
          </a:p>
        </p:txBody>
      </p:sp>
      <p:sp>
        <p:nvSpPr>
          <p:cNvPr id="18" name="Text 16"/>
          <p:cNvSpPr/>
          <p:nvPr/>
        </p:nvSpPr>
        <p:spPr>
          <a:xfrm>
            <a:off x="594360" y="4983480"/>
            <a:ext cx="10972800" cy="411480"/>
          </a:xfrm>
          <a:prstGeom prst="rect">
            <a:avLst/>
          </a:prstGeom>
          <a:noFill/>
          <a:ln/>
        </p:spPr>
        <p:txBody>
          <a:bodyPr wrap="square" lIns="0" tIns="0" rIns="0" bIns="0" rtlCol="0" anchor="t"/>
          <a:lstStyle/>
          <a:p>
            <a:pPr indent="0" marL="0">
              <a:buNone/>
            </a:pPr>
            <a:r>
              <a:rPr lang="en-US" sz="1500" i="1" dirty="0">
                <a:solidFill>
                  <a:srgbClr val="3A3C44"/>
                </a:solidFill>
                <a:latin typeface="Palatino Linotype" pitchFamily="34" charset="0"/>
                <a:ea typeface="Palatino Linotype" pitchFamily="34" charset="-122"/>
                <a:cs typeface="Palatino Linotype" pitchFamily="34" charset="-120"/>
              </a:rPr>
              <a:t>Forma inițială a legii; forma în vigoare azi nu a putut fi verificată.</a:t>
            </a:r>
            <a:endParaRPr lang="en-US" sz="1500" dirty="0"/>
          </a:p>
        </p:txBody>
      </p:sp>
      <p:sp>
        <p:nvSpPr>
          <p:cNvPr id="19" name="Text 17"/>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Legea portugheză nr. 30/2000, art. 2, forma publicată în 2000.</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PARTEA ÎNTÂI · LISABONA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Comisia, nu procurorul</a:t>
            </a:r>
            <a:endParaRPr lang="en-US" sz="3400" dirty="0"/>
          </a:p>
        </p:txBody>
      </p:sp>
      <p:sp>
        <p:nvSpPr>
          <p:cNvPr id="4" name="Shape 2"/>
          <p:cNvSpPr/>
          <p:nvPr/>
        </p:nvSpPr>
        <p:spPr>
          <a:xfrm>
            <a:off x="594360" y="1600200"/>
            <a:ext cx="2743200" cy="1691640"/>
          </a:xfrm>
          <a:prstGeom prst="roundRect">
            <a:avLst>
              <a:gd name="adj" fmla="val 4865"/>
            </a:avLst>
          </a:prstGeom>
          <a:solidFill>
            <a:srgbClr val="1D1F2B"/>
          </a:solidFill>
          <a:ln w="12700">
            <a:solidFill>
              <a:srgbClr val="1D1F2B"/>
            </a:solidFill>
            <a:prstDash val="solid"/>
          </a:ln>
        </p:spPr>
        <p:txBody>
          <a:bodyPr/>
          <a:p/>
        </p:txBody>
      </p:sp>
      <p:sp>
        <p:nvSpPr>
          <p:cNvPr id="5" name="Text 3"/>
          <p:cNvSpPr/>
          <p:nvPr/>
        </p:nvSpPr>
        <p:spPr>
          <a:xfrm>
            <a:off x="822960" y="1737360"/>
            <a:ext cx="2286000" cy="457200"/>
          </a:xfrm>
          <a:prstGeom prst="rect">
            <a:avLst/>
          </a:prstGeom>
          <a:noFill/>
          <a:ln/>
        </p:spPr>
        <p:txBody>
          <a:bodyPr wrap="square" lIns="0" tIns="0" rIns="0" bIns="0" rtlCol="0" anchor="t"/>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un jurist</a:t>
            </a:r>
            <a:endParaRPr lang="en-US" sz="2100" dirty="0"/>
          </a:p>
        </p:txBody>
      </p:sp>
      <p:sp>
        <p:nvSpPr>
          <p:cNvPr id="6" name="Text 4"/>
          <p:cNvSpPr/>
          <p:nvPr/>
        </p:nvSpPr>
        <p:spPr>
          <a:xfrm>
            <a:off x="822960" y="2240280"/>
            <a:ext cx="2286000" cy="91440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desemnat de ministrul justiției</a:t>
            </a:r>
            <a:endParaRPr lang="en-US" sz="1450" dirty="0"/>
          </a:p>
        </p:txBody>
      </p:sp>
      <p:sp>
        <p:nvSpPr>
          <p:cNvPr id="7" name="Shape 5"/>
          <p:cNvSpPr/>
          <p:nvPr/>
        </p:nvSpPr>
        <p:spPr>
          <a:xfrm>
            <a:off x="3520440" y="1600200"/>
            <a:ext cx="2743200" cy="1691640"/>
          </a:xfrm>
          <a:prstGeom prst="roundRect">
            <a:avLst>
              <a:gd name="adj" fmla="val 4865"/>
            </a:avLst>
          </a:prstGeom>
          <a:solidFill>
            <a:srgbClr val="1D1F2B"/>
          </a:solidFill>
          <a:ln w="12700">
            <a:solidFill>
              <a:srgbClr val="1D1F2B"/>
            </a:solidFill>
            <a:prstDash val="solid"/>
          </a:ln>
        </p:spPr>
        <p:txBody>
          <a:bodyPr/>
          <a:p/>
        </p:txBody>
      </p:sp>
      <p:sp>
        <p:nvSpPr>
          <p:cNvPr id="8" name="Text 6"/>
          <p:cNvSpPr/>
          <p:nvPr/>
        </p:nvSpPr>
        <p:spPr>
          <a:xfrm>
            <a:off x="3749040" y="1737360"/>
            <a:ext cx="2286000" cy="457200"/>
          </a:xfrm>
          <a:prstGeom prst="rect">
            <a:avLst/>
          </a:prstGeom>
          <a:noFill/>
          <a:ln/>
        </p:spPr>
        <p:txBody>
          <a:bodyPr wrap="square" lIns="0" tIns="0" rIns="0" bIns="0" rtlCol="0" anchor="t"/>
          <a:lstStyle/>
          <a:p>
            <a:pPr indent="0" marL="0">
              <a:buNone/>
            </a:pPr>
            <a:r>
              <a:rPr lang="en-US" sz="2100" b="1" dirty="0">
                <a:solidFill>
                  <a:srgbClr val="FFC24B"/>
                </a:solidFill>
                <a:latin typeface="Palatino Linotype" pitchFamily="34" charset="0"/>
                <a:ea typeface="Palatino Linotype" pitchFamily="34" charset="-122"/>
                <a:cs typeface="Palatino Linotype" pitchFamily="34" charset="-120"/>
              </a:rPr>
              <a:t>doi specialiști</a:t>
            </a:r>
            <a:endParaRPr lang="en-US" sz="2100" dirty="0"/>
          </a:p>
        </p:txBody>
      </p:sp>
      <p:sp>
        <p:nvSpPr>
          <p:cNvPr id="9" name="Text 7"/>
          <p:cNvSpPr/>
          <p:nvPr/>
        </p:nvSpPr>
        <p:spPr>
          <a:xfrm>
            <a:off x="3749040" y="2240280"/>
            <a:ext cx="2286000" cy="91440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medici, psihologi, sociologi, asistenți sociali</a:t>
            </a:r>
            <a:endParaRPr lang="en-US" sz="1450" dirty="0"/>
          </a:p>
        </p:txBody>
      </p:sp>
      <p:sp>
        <p:nvSpPr>
          <p:cNvPr id="10" name="Text 8"/>
          <p:cNvSpPr/>
          <p:nvPr/>
        </p:nvSpPr>
        <p:spPr>
          <a:xfrm>
            <a:off x="594360" y="3520440"/>
            <a:ext cx="5669280" cy="1005840"/>
          </a:xfrm>
          <a:prstGeom prst="rect">
            <a:avLst/>
          </a:prstGeom>
          <a:noFill/>
          <a:ln/>
        </p:spPr>
        <p:txBody>
          <a:bodyPr wrap="square" lIns="0" tIns="0" rIns="0" bIns="0" rtlCol="0" anchor="t"/>
          <a:lstStyle/>
          <a:p>
            <a:pPr indent="0" marL="0">
              <a:buNone/>
            </a:pPr>
            <a:r>
              <a:rPr lang="en-US" sz="1550" dirty="0">
                <a:solidFill>
                  <a:srgbClr val="959BB0"/>
                </a:solidFill>
                <a:latin typeface="Palatino Linotype" pitchFamily="34" charset="0"/>
                <a:ea typeface="Palatino Linotype" pitchFamily="34" charset="-122"/>
                <a:cs typeface="Palatino Linotype" pitchFamily="34" charset="-120"/>
              </a:rPr>
              <a:t>Trei membri. O analiză ulterioară: la data ei, comisiile funcționau în răspunderea Ministerului Sănătății.</a:t>
            </a:r>
            <a:endParaRPr lang="en-US" sz="1550" dirty="0"/>
          </a:p>
        </p:txBody>
      </p:sp>
      <p:sp>
        <p:nvSpPr>
          <p:cNvPr id="11" name="Text 9"/>
          <p:cNvSpPr/>
          <p:nvPr/>
        </p:nvSpPr>
        <p:spPr>
          <a:xfrm>
            <a:off x="6720840" y="1600200"/>
            <a:ext cx="4846320" cy="4114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Forma din 2000</a:t>
            </a:r>
            <a:endParaRPr lang="en-US" sz="1700" dirty="0"/>
          </a:p>
        </p:txBody>
      </p:sp>
      <p:sp>
        <p:nvSpPr>
          <p:cNvPr id="12" name="Shape 10"/>
          <p:cNvSpPr/>
          <p:nvPr/>
        </p:nvSpPr>
        <p:spPr>
          <a:xfrm>
            <a:off x="6720840" y="2103120"/>
            <a:ext cx="64008" cy="868680"/>
          </a:xfrm>
          <a:prstGeom prst="rect">
            <a:avLst/>
          </a:prstGeom>
          <a:solidFill>
            <a:srgbClr val="27D3BE"/>
          </a:solidFill>
          <a:ln w="12700">
            <a:solidFill>
              <a:srgbClr val="27D3BE"/>
            </a:solidFill>
            <a:prstDash val="solid"/>
          </a:ln>
        </p:spPr>
        <p:txBody>
          <a:bodyPr/>
          <a:p/>
        </p:txBody>
      </p:sp>
      <p:sp>
        <p:nvSpPr>
          <p:cNvPr id="13" name="Text 11"/>
          <p:cNvSpPr/>
          <p:nvPr/>
        </p:nvSpPr>
        <p:spPr>
          <a:xfrm>
            <a:off x="6949440" y="2103120"/>
            <a:ext cx="4663440" cy="384048"/>
          </a:xfrm>
          <a:prstGeom prst="rect">
            <a:avLst/>
          </a:prstGeom>
          <a:noFill/>
          <a:ln/>
        </p:spPr>
        <p:txBody>
          <a:bodyPr wrap="square" lIns="0" tIns="0" rIns="0" bIns="0" rtlCol="0" anchor="t"/>
          <a:lstStyle/>
          <a:p>
            <a:pPr indent="0" marL="0">
              <a:buNone/>
            </a:pPr>
            <a:r>
              <a:rPr lang="en-US" sz="1550" b="1" dirty="0">
                <a:solidFill>
                  <a:srgbClr val="FFFFFF"/>
                </a:solidFill>
                <a:latin typeface="Palatino Linotype" pitchFamily="34" charset="0"/>
                <a:ea typeface="Palatino Linotype" pitchFamily="34" charset="-122"/>
                <a:cs typeface="Palatino Linotype" pitchFamily="34" charset="-120"/>
              </a:rPr>
              <a:t>Fără dosar anterior, fără dependență</a:t>
            </a:r>
            <a:endParaRPr lang="en-US" sz="1550" dirty="0"/>
          </a:p>
        </p:txBody>
      </p:sp>
      <p:sp>
        <p:nvSpPr>
          <p:cNvPr id="14" name="Text 12"/>
          <p:cNvSpPr/>
          <p:nvPr/>
        </p:nvSpPr>
        <p:spPr>
          <a:xfrm>
            <a:off x="6949440" y="2514600"/>
            <a:ext cx="4663440" cy="41148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suspendare provizorie a procedurii</a:t>
            </a:r>
            <a:endParaRPr lang="en-US" sz="1500" dirty="0"/>
          </a:p>
        </p:txBody>
      </p:sp>
      <p:sp>
        <p:nvSpPr>
          <p:cNvPr id="15" name="Shape 13"/>
          <p:cNvSpPr/>
          <p:nvPr/>
        </p:nvSpPr>
        <p:spPr>
          <a:xfrm>
            <a:off x="6720840" y="3154680"/>
            <a:ext cx="64008" cy="868680"/>
          </a:xfrm>
          <a:prstGeom prst="rect">
            <a:avLst/>
          </a:prstGeom>
          <a:solidFill>
            <a:srgbClr val="27D3BE"/>
          </a:solidFill>
          <a:ln w="12700">
            <a:solidFill>
              <a:srgbClr val="27D3BE"/>
            </a:solidFill>
            <a:prstDash val="solid"/>
          </a:ln>
        </p:spPr>
        <p:txBody>
          <a:bodyPr/>
          <a:p/>
        </p:txBody>
      </p:sp>
      <p:sp>
        <p:nvSpPr>
          <p:cNvPr id="16" name="Text 14"/>
          <p:cNvSpPr/>
          <p:nvPr/>
        </p:nvSpPr>
        <p:spPr>
          <a:xfrm>
            <a:off x="6949440" y="3154680"/>
            <a:ext cx="4663440" cy="384048"/>
          </a:xfrm>
          <a:prstGeom prst="rect">
            <a:avLst/>
          </a:prstGeom>
          <a:noFill/>
          <a:ln/>
        </p:spPr>
        <p:txBody>
          <a:bodyPr wrap="square" lIns="0" tIns="0" rIns="0" bIns="0" rtlCol="0" anchor="t"/>
          <a:lstStyle/>
          <a:p>
            <a:pPr indent="0" marL="0">
              <a:buNone/>
            </a:pPr>
            <a:r>
              <a:rPr lang="en-US" sz="1550" b="1" dirty="0">
                <a:solidFill>
                  <a:srgbClr val="FFFFFF"/>
                </a:solidFill>
                <a:latin typeface="Palatino Linotype" pitchFamily="34" charset="0"/>
                <a:ea typeface="Palatino Linotype" pitchFamily="34" charset="-122"/>
                <a:cs typeface="Palatino Linotype" pitchFamily="34" charset="-120"/>
              </a:rPr>
              <a:t>Cu dependență, acceptă tratamentul</a:t>
            </a:r>
            <a:endParaRPr lang="en-US" sz="1550" dirty="0"/>
          </a:p>
        </p:txBody>
      </p:sp>
      <p:sp>
        <p:nvSpPr>
          <p:cNvPr id="17" name="Text 15"/>
          <p:cNvSpPr/>
          <p:nvPr/>
        </p:nvSpPr>
        <p:spPr>
          <a:xfrm>
            <a:off x="6949440" y="3566160"/>
            <a:ext cx="4663440" cy="41148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procedura se suspendă de asemenea</a:t>
            </a:r>
            <a:endParaRPr lang="en-US" sz="1500" dirty="0"/>
          </a:p>
        </p:txBody>
      </p:sp>
      <p:sp>
        <p:nvSpPr>
          <p:cNvPr id="18" name="Shape 16"/>
          <p:cNvSpPr/>
          <p:nvPr/>
        </p:nvSpPr>
        <p:spPr>
          <a:xfrm>
            <a:off x="6720840" y="4206240"/>
            <a:ext cx="64008" cy="868680"/>
          </a:xfrm>
          <a:prstGeom prst="rect">
            <a:avLst/>
          </a:prstGeom>
          <a:solidFill>
            <a:srgbClr val="27D3BE"/>
          </a:solidFill>
          <a:ln w="12700">
            <a:solidFill>
              <a:srgbClr val="27D3BE"/>
            </a:solidFill>
            <a:prstDash val="solid"/>
          </a:ln>
        </p:spPr>
        <p:txBody>
          <a:bodyPr/>
          <a:p/>
        </p:txBody>
      </p:sp>
      <p:sp>
        <p:nvSpPr>
          <p:cNvPr id="19" name="Text 17"/>
          <p:cNvSpPr/>
          <p:nvPr/>
        </p:nvSpPr>
        <p:spPr>
          <a:xfrm>
            <a:off x="6949440" y="4206240"/>
            <a:ext cx="4663440" cy="384048"/>
          </a:xfrm>
          <a:prstGeom prst="rect">
            <a:avLst/>
          </a:prstGeom>
          <a:noFill/>
          <a:ln/>
        </p:spPr>
        <p:txBody>
          <a:bodyPr wrap="square" lIns="0" tIns="0" rIns="0" bIns="0" rtlCol="0" anchor="t"/>
          <a:lstStyle/>
          <a:p>
            <a:pPr indent="0" marL="0">
              <a:buNone/>
            </a:pPr>
            <a:r>
              <a:rPr lang="en-US" sz="1550" b="1" dirty="0">
                <a:solidFill>
                  <a:srgbClr val="FFFFFF"/>
                </a:solidFill>
                <a:latin typeface="Palatino Linotype" pitchFamily="34" charset="0"/>
                <a:ea typeface="Palatino Linotype" pitchFamily="34" charset="-122"/>
                <a:cs typeface="Palatino Linotype" pitchFamily="34" charset="-120"/>
              </a:rPr>
              <a:t>În locul amenzii</a:t>
            </a:r>
            <a:endParaRPr lang="en-US" sz="1550" dirty="0"/>
          </a:p>
        </p:txBody>
      </p:sp>
      <p:sp>
        <p:nvSpPr>
          <p:cNvPr id="20" name="Text 18"/>
          <p:cNvSpPr/>
          <p:nvPr/>
        </p:nvSpPr>
        <p:spPr>
          <a:xfrm>
            <a:off x="6949440" y="4617720"/>
            <a:ext cx="4663440" cy="41148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comisia putea aplica o admonestare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ROMÂNIA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11121A"/>
                </a:solidFill>
                <a:latin typeface="Palatino Linotype" pitchFamily="34" charset="0"/>
                <a:ea typeface="Palatino Linotype" pitchFamily="34" charset="-122"/>
                <a:cs typeface="Palatino Linotype" pitchFamily="34" charset="-120"/>
              </a:rPr>
              <a:t>Și la noi?</a:t>
            </a:r>
            <a:endParaRPr lang="en-US" sz="3400" dirty="0"/>
          </a:p>
        </p:txBody>
      </p:sp>
      <p:sp>
        <p:nvSpPr>
          <p:cNvPr id="4" name="Shape 2"/>
          <p:cNvSpPr/>
          <p:nvPr/>
        </p:nvSpPr>
        <p:spPr>
          <a:xfrm>
            <a:off x="594360" y="1554480"/>
            <a:ext cx="10972800" cy="1143000"/>
          </a:xfrm>
          <a:prstGeom prst="roundRect">
            <a:avLst>
              <a:gd name="adj" fmla="val 7200"/>
            </a:avLst>
          </a:prstGeom>
          <a:solidFill>
            <a:srgbClr val="F4E0E2"/>
          </a:solidFill>
          <a:ln w="12700">
            <a:solidFill>
              <a:srgbClr val="F4E0E2"/>
            </a:solidFill>
            <a:prstDash val="solid"/>
          </a:ln>
        </p:spPr>
        <p:txBody>
          <a:bodyPr/>
          <a:p/>
        </p:txBody>
      </p:sp>
      <p:sp>
        <p:nvSpPr>
          <p:cNvPr id="5" name="Text 3"/>
          <p:cNvSpPr/>
          <p:nvPr/>
        </p:nvSpPr>
        <p:spPr>
          <a:xfrm>
            <a:off x="868680" y="1554480"/>
            <a:ext cx="10424160" cy="1143000"/>
          </a:xfrm>
          <a:prstGeom prst="rect">
            <a:avLst/>
          </a:prstGeom>
          <a:noFill/>
          <a:ln/>
        </p:spPr>
        <p:txBody>
          <a:bodyPr wrap="square" lIns="0" tIns="0" rIns="0" bIns="0" rtlCol="0" anchor="ctr"/>
          <a:lstStyle/>
          <a:p>
            <a:pPr indent="0" marL="0">
              <a:buNone/>
            </a:pPr>
            <a:r>
              <a:rPr lang="en-US" sz="2100" b="1" dirty="0">
                <a:solidFill>
                  <a:srgbClr val="B02532"/>
                </a:solidFill>
                <a:latin typeface="Palatino Linotype" pitchFamily="34" charset="0"/>
                <a:ea typeface="Palatino Linotype" pitchFamily="34" charset="-122"/>
                <a:cs typeface="Palatino Linotype" pitchFamily="34" charset="-120"/>
              </a:rPr>
              <a:t>Legea nr. 143/2000: deținerea pentru consum propriu este infracțiune.</a:t>
            </a:r>
            <a:endParaRPr lang="en-US" sz="2100" dirty="0"/>
          </a:p>
        </p:txBody>
      </p:sp>
      <p:sp>
        <p:nvSpPr>
          <p:cNvPr id="6" name="Shape 4"/>
          <p:cNvSpPr/>
          <p:nvPr/>
        </p:nvSpPr>
        <p:spPr>
          <a:xfrm>
            <a:off x="594360" y="2880360"/>
            <a:ext cx="5349240" cy="1143000"/>
          </a:xfrm>
          <a:prstGeom prst="roundRect">
            <a:avLst>
              <a:gd name="adj" fmla="val 7200"/>
            </a:avLst>
          </a:prstGeom>
          <a:solidFill>
            <a:srgbClr val="ECEAE4"/>
          </a:solidFill>
          <a:ln w="12700">
            <a:solidFill>
              <a:srgbClr val="ECEAE4"/>
            </a:solidFill>
            <a:prstDash val="solid"/>
          </a:ln>
        </p:spPr>
        <p:txBody>
          <a:bodyPr/>
          <a:p/>
        </p:txBody>
      </p:sp>
      <p:sp>
        <p:nvSpPr>
          <p:cNvPr id="7" name="Text 5"/>
          <p:cNvSpPr/>
          <p:nvPr/>
        </p:nvSpPr>
        <p:spPr>
          <a:xfrm>
            <a:off x="868680" y="2971800"/>
            <a:ext cx="4846320" cy="4114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Droguri de risc</a:t>
            </a:r>
            <a:endParaRPr lang="en-US" sz="1700" dirty="0"/>
          </a:p>
        </p:txBody>
      </p:sp>
      <p:sp>
        <p:nvSpPr>
          <p:cNvPr id="8" name="Text 6"/>
          <p:cNvSpPr/>
          <p:nvPr/>
        </p:nvSpPr>
        <p:spPr>
          <a:xfrm>
            <a:off x="868680" y="3401568"/>
            <a:ext cx="4846320" cy="548640"/>
          </a:xfrm>
          <a:prstGeom prst="rect">
            <a:avLst/>
          </a:prstGeom>
          <a:noFill/>
          <a:ln/>
        </p:spPr>
        <p:txBody>
          <a:bodyPr wrap="square" lIns="0" tIns="0" rIns="0" bIns="0" rtlCol="0" anchor="t"/>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închisoare de la 3 luni la 2 ani sau amendă</a:t>
            </a:r>
            <a:endParaRPr lang="en-US" sz="1550" dirty="0"/>
          </a:p>
        </p:txBody>
      </p:sp>
      <p:sp>
        <p:nvSpPr>
          <p:cNvPr id="9" name="Shape 7"/>
          <p:cNvSpPr/>
          <p:nvPr/>
        </p:nvSpPr>
        <p:spPr>
          <a:xfrm>
            <a:off x="6217920" y="2880360"/>
            <a:ext cx="5349240" cy="1143000"/>
          </a:xfrm>
          <a:prstGeom prst="roundRect">
            <a:avLst>
              <a:gd name="adj" fmla="val 7200"/>
            </a:avLst>
          </a:prstGeom>
          <a:solidFill>
            <a:srgbClr val="ECEAE4"/>
          </a:solidFill>
          <a:ln w="12700">
            <a:solidFill>
              <a:srgbClr val="ECEAE4"/>
            </a:solidFill>
            <a:prstDash val="solid"/>
          </a:ln>
        </p:spPr>
        <p:txBody>
          <a:bodyPr/>
          <a:p/>
        </p:txBody>
      </p:sp>
      <p:sp>
        <p:nvSpPr>
          <p:cNvPr id="10" name="Text 8"/>
          <p:cNvSpPr/>
          <p:nvPr/>
        </p:nvSpPr>
        <p:spPr>
          <a:xfrm>
            <a:off x="6492240" y="2971800"/>
            <a:ext cx="4846320" cy="41148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Droguri de mare risc</a:t>
            </a:r>
            <a:endParaRPr lang="en-US" sz="1700" dirty="0"/>
          </a:p>
        </p:txBody>
      </p:sp>
      <p:sp>
        <p:nvSpPr>
          <p:cNvPr id="11" name="Text 9"/>
          <p:cNvSpPr/>
          <p:nvPr/>
        </p:nvSpPr>
        <p:spPr>
          <a:xfrm>
            <a:off x="6492240" y="3401568"/>
            <a:ext cx="4846320" cy="548640"/>
          </a:xfrm>
          <a:prstGeom prst="rect">
            <a:avLst/>
          </a:prstGeom>
          <a:noFill/>
          <a:ln/>
        </p:spPr>
        <p:txBody>
          <a:bodyPr wrap="square" lIns="0" tIns="0" rIns="0" bIns="0" rtlCol="0" anchor="t"/>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închisoare de la 6 luni la 3 ani</a:t>
            </a:r>
            <a:endParaRPr lang="en-US" sz="1550" dirty="0"/>
          </a:p>
        </p:txBody>
      </p:sp>
      <p:sp>
        <p:nvSpPr>
          <p:cNvPr id="12" name="Text 10"/>
          <p:cNvSpPr/>
          <p:nvPr/>
        </p:nvSpPr>
        <p:spPr>
          <a:xfrm>
            <a:off x="594360" y="4251960"/>
            <a:ext cx="10972800" cy="82296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Procurorul poate dispune evaluarea, spre un program de asistență; dacă programul e respectat, instanța poate renunța la pedeapsă sau o poate amâna.</a:t>
            </a:r>
            <a:endParaRPr lang="en-US" sz="1600" dirty="0"/>
          </a:p>
        </p:txBody>
      </p:sp>
      <p:sp>
        <p:nvSpPr>
          <p:cNvPr id="13" name="Text 11"/>
          <p:cNvSpPr/>
          <p:nvPr/>
        </p:nvSpPr>
        <p:spPr>
          <a:xfrm>
            <a:off x="594360" y="5257800"/>
            <a:ext cx="10972800" cy="45720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Calea spre tratament există și la noi, dar trece prin dosarul penal.</a:t>
            </a:r>
            <a:endParaRPr lang="en-US" sz="1800" dirty="0"/>
          </a:p>
        </p:txBody>
      </p:sp>
      <p:sp>
        <p:nvSpPr>
          <p:cNvPr id="14" name="Text 12"/>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Legea nr. 143/2000, forma în vigoare.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2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LUCRAȚI CU COLEGUL DE BANCĂ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Lisabona și Cluj, aceeași zi</a:t>
            </a:r>
            <a:endParaRPr lang="en-US" sz="3400" dirty="0"/>
          </a:p>
        </p:txBody>
      </p:sp>
      <p:sp>
        <p:nvSpPr>
          <p:cNvPr id="6" name="Text 4"/>
          <p:cNvSpPr/>
          <p:nvPr/>
        </p:nvSpPr>
        <p:spPr>
          <a:xfrm>
            <a:off x="594360" y="1463040"/>
            <a:ext cx="10972800" cy="868680"/>
          </a:xfrm>
          <a:prstGeom prst="rect">
            <a:avLst/>
          </a:prstGeom>
          <a:noFill/>
          <a:ln/>
        </p:spPr>
        <p:txBody>
          <a:bodyPr wrap="square" lIns="0" tIns="0" rIns="0" bIns="0" rtlCol="0" anchor="t"/>
          <a:lstStyle/>
          <a:p>
            <a:pPr indent="0" marL="0">
              <a:buNone/>
            </a:pPr>
            <a:r>
              <a:rPr lang="en-US" sz="1800" dirty="0">
                <a:solidFill>
                  <a:srgbClr val="959BB0"/>
                </a:solidFill>
                <a:latin typeface="Palatino Linotype" pitchFamily="34" charset="0"/>
                <a:ea typeface="Palatino Linotype" pitchFamily="34" charset="-122"/>
                <a:cs typeface="Palatino Linotype" pitchFamily="34" charset="-120"/>
              </a:rPr>
              <a:t>Un student de douăzeci de ani este prins, în ambele orașe, cu aceeași cantitate mică de cannabis. Ce i se întâmplă în următoarea lună?</a:t>
            </a:r>
            <a:endParaRPr lang="en-US" sz="1800" dirty="0"/>
          </a:p>
        </p:txBody>
      </p:sp>
      <p:sp>
        <p:nvSpPr>
          <p:cNvPr id="7" name="Shape 5"/>
          <p:cNvSpPr/>
          <p:nvPr/>
        </p:nvSpPr>
        <p:spPr>
          <a:xfrm>
            <a:off x="594360" y="2514600"/>
            <a:ext cx="5349240" cy="2926080"/>
          </a:xfrm>
          <a:prstGeom prst="roundRect">
            <a:avLst>
              <a:gd name="adj" fmla="val 2813"/>
            </a:avLst>
          </a:prstGeom>
          <a:solidFill>
            <a:srgbClr val="1D1F2B"/>
          </a:solidFill>
          <a:ln w="12700">
            <a:solidFill>
              <a:srgbClr val="1D1F2B"/>
            </a:solidFill>
            <a:prstDash val="solid"/>
          </a:ln>
        </p:spPr>
        <p:txBody>
          <a:bodyPr/>
          <a:p/>
        </p:txBody>
      </p:sp>
      <p:sp>
        <p:nvSpPr>
          <p:cNvPr id="8" name="Text 6"/>
          <p:cNvSpPr/>
          <p:nvPr/>
        </p:nvSpPr>
        <p:spPr>
          <a:xfrm>
            <a:off x="868680" y="2651760"/>
            <a:ext cx="4754880" cy="457200"/>
          </a:xfrm>
          <a:prstGeom prst="rect">
            <a:avLst/>
          </a:prstGeom>
          <a:noFill/>
          <a:ln/>
        </p:spPr>
        <p:txBody>
          <a:bodyPr wrap="square" lIns="0" tIns="0" rIns="0" bIns="0" rtlCol="0" anchor="t"/>
          <a:lstStyle/>
          <a:p>
            <a:pPr indent="0" marL="0">
              <a:buNone/>
            </a:pPr>
            <a:r>
              <a:rPr lang="en-US" sz="2000" b="1" spc="300" kern="0" dirty="0">
                <a:solidFill>
                  <a:srgbClr val="27D3BE"/>
                </a:solidFill>
                <a:latin typeface="Palatino Linotype" pitchFamily="34" charset="0"/>
                <a:ea typeface="Palatino Linotype" pitchFamily="34" charset="-122"/>
                <a:cs typeface="Palatino Linotype" pitchFamily="34" charset="-120"/>
              </a:rPr>
              <a:t>LISABONA</a:t>
            </a:r>
            <a:endParaRPr lang="en-US" sz="2000" dirty="0"/>
          </a:p>
        </p:txBody>
      </p:sp>
      <p:sp>
        <p:nvSpPr>
          <p:cNvPr id="9" name="Shape 7"/>
          <p:cNvSpPr/>
          <p:nvPr/>
        </p:nvSpPr>
        <p:spPr>
          <a:xfrm>
            <a:off x="868680" y="3520440"/>
            <a:ext cx="4754880" cy="0"/>
          </a:xfrm>
          <a:prstGeom prst="line">
            <a:avLst/>
          </a:prstGeom>
          <a:noFill/>
          <a:ln w="12700">
            <a:solidFill>
              <a:srgbClr val="3A3E52"/>
            </a:solidFill>
            <a:prstDash val="dash"/>
          </a:ln>
        </p:spPr>
        <p:txBody>
          <a:bodyPr/>
          <a:p/>
        </p:txBody>
      </p:sp>
      <p:sp>
        <p:nvSpPr>
          <p:cNvPr id="10" name="Shape 8"/>
          <p:cNvSpPr/>
          <p:nvPr/>
        </p:nvSpPr>
        <p:spPr>
          <a:xfrm>
            <a:off x="868680" y="4114800"/>
            <a:ext cx="4754880" cy="0"/>
          </a:xfrm>
          <a:prstGeom prst="line">
            <a:avLst/>
          </a:prstGeom>
          <a:noFill/>
          <a:ln w="12700">
            <a:solidFill>
              <a:srgbClr val="3A3E52"/>
            </a:solidFill>
            <a:prstDash val="dash"/>
          </a:ln>
        </p:spPr>
        <p:txBody>
          <a:bodyPr/>
          <a:p/>
        </p:txBody>
      </p:sp>
      <p:sp>
        <p:nvSpPr>
          <p:cNvPr id="11" name="Shape 9"/>
          <p:cNvSpPr/>
          <p:nvPr/>
        </p:nvSpPr>
        <p:spPr>
          <a:xfrm>
            <a:off x="868680" y="4709160"/>
            <a:ext cx="4754880" cy="0"/>
          </a:xfrm>
          <a:prstGeom prst="line">
            <a:avLst/>
          </a:prstGeom>
          <a:noFill/>
          <a:ln w="12700">
            <a:solidFill>
              <a:srgbClr val="3A3E52"/>
            </a:solidFill>
            <a:prstDash val="dash"/>
          </a:ln>
        </p:spPr>
        <p:txBody>
          <a:bodyPr/>
          <a:p/>
        </p:txBody>
      </p:sp>
      <p:sp>
        <p:nvSpPr>
          <p:cNvPr id="12" name="Shape 10"/>
          <p:cNvSpPr/>
          <p:nvPr/>
        </p:nvSpPr>
        <p:spPr>
          <a:xfrm>
            <a:off x="6217920" y="2514600"/>
            <a:ext cx="5349240" cy="2926080"/>
          </a:xfrm>
          <a:prstGeom prst="roundRect">
            <a:avLst>
              <a:gd name="adj" fmla="val 2813"/>
            </a:avLst>
          </a:prstGeom>
          <a:solidFill>
            <a:srgbClr val="1D1F2B"/>
          </a:solidFill>
          <a:ln w="12700">
            <a:solidFill>
              <a:srgbClr val="1D1F2B"/>
            </a:solidFill>
            <a:prstDash val="solid"/>
          </a:ln>
        </p:spPr>
        <p:txBody>
          <a:bodyPr/>
          <a:p/>
        </p:txBody>
      </p:sp>
      <p:sp>
        <p:nvSpPr>
          <p:cNvPr id="13" name="Text 11"/>
          <p:cNvSpPr/>
          <p:nvPr/>
        </p:nvSpPr>
        <p:spPr>
          <a:xfrm>
            <a:off x="6492240" y="2651760"/>
            <a:ext cx="4754880" cy="457200"/>
          </a:xfrm>
          <a:prstGeom prst="rect">
            <a:avLst/>
          </a:prstGeom>
          <a:noFill/>
          <a:ln/>
        </p:spPr>
        <p:txBody>
          <a:bodyPr wrap="square" lIns="0" tIns="0" rIns="0" bIns="0" rtlCol="0" anchor="t"/>
          <a:lstStyle/>
          <a:p>
            <a:pPr indent="0" marL="0">
              <a:buNone/>
            </a:pPr>
            <a:r>
              <a:rPr lang="en-US" sz="2000" b="1" spc="300" kern="0" dirty="0">
                <a:solidFill>
                  <a:srgbClr val="FF4757"/>
                </a:solidFill>
                <a:latin typeface="Palatino Linotype" pitchFamily="34" charset="0"/>
                <a:ea typeface="Palatino Linotype" pitchFamily="34" charset="-122"/>
                <a:cs typeface="Palatino Linotype" pitchFamily="34" charset="-120"/>
              </a:rPr>
              <a:t>CLUJ</a:t>
            </a:r>
            <a:endParaRPr lang="en-US" sz="2000" dirty="0"/>
          </a:p>
        </p:txBody>
      </p:sp>
      <p:sp>
        <p:nvSpPr>
          <p:cNvPr id="14" name="Shape 12"/>
          <p:cNvSpPr/>
          <p:nvPr/>
        </p:nvSpPr>
        <p:spPr>
          <a:xfrm>
            <a:off x="6492240" y="3520440"/>
            <a:ext cx="4754880" cy="0"/>
          </a:xfrm>
          <a:prstGeom prst="line">
            <a:avLst/>
          </a:prstGeom>
          <a:noFill/>
          <a:ln w="12700">
            <a:solidFill>
              <a:srgbClr val="3A3E52"/>
            </a:solidFill>
            <a:prstDash val="dash"/>
          </a:ln>
        </p:spPr>
        <p:txBody>
          <a:bodyPr/>
          <a:p/>
        </p:txBody>
      </p:sp>
      <p:sp>
        <p:nvSpPr>
          <p:cNvPr id="15" name="Shape 13"/>
          <p:cNvSpPr/>
          <p:nvPr/>
        </p:nvSpPr>
        <p:spPr>
          <a:xfrm>
            <a:off x="6492240" y="4114800"/>
            <a:ext cx="4754880" cy="0"/>
          </a:xfrm>
          <a:prstGeom prst="line">
            <a:avLst/>
          </a:prstGeom>
          <a:noFill/>
          <a:ln w="12700">
            <a:solidFill>
              <a:srgbClr val="3A3E52"/>
            </a:solidFill>
            <a:prstDash val="dash"/>
          </a:ln>
        </p:spPr>
        <p:txBody>
          <a:bodyPr/>
          <a:p/>
        </p:txBody>
      </p:sp>
      <p:sp>
        <p:nvSpPr>
          <p:cNvPr id="16" name="Shape 14"/>
          <p:cNvSpPr/>
          <p:nvPr/>
        </p:nvSpPr>
        <p:spPr>
          <a:xfrm>
            <a:off x="6492240" y="4709160"/>
            <a:ext cx="4754880" cy="0"/>
          </a:xfrm>
          <a:prstGeom prst="line">
            <a:avLst/>
          </a:prstGeom>
          <a:noFill/>
          <a:ln w="12700">
            <a:solidFill>
              <a:srgbClr val="3A3E52"/>
            </a:solidFill>
            <a:prstDash val="dash"/>
          </a:ln>
        </p:spPr>
        <p:txBody>
          <a:bodyPr/>
          <a:p/>
        </p:txBody>
      </p:sp>
      <p:sp>
        <p:nvSpPr>
          <p:cNvPr id="17" name="Text 15"/>
          <p:cNvSpPr/>
          <p:nvPr/>
        </p:nvSpPr>
        <p:spPr>
          <a:xfrm>
            <a:off x="594360" y="5623560"/>
            <a:ext cx="1097280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Scrieți în două coloane. Apoi doi colegi citesc pentru toată sala.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CE S-A ÎNTÂMPLAT DUPĂ 2001</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După decriminalizare, consumul de droguri în Portugalia…</a:t>
            </a:r>
            <a:endParaRPr lang="en-US" sz="3000" dirty="0"/>
          </a:p>
        </p:txBody>
      </p:sp>
      <p:sp>
        <p:nvSpPr>
          <p:cNvPr id="6" name="Shape 4"/>
          <p:cNvSpPr/>
          <p:nvPr/>
        </p:nvSpPr>
        <p:spPr>
          <a:xfrm>
            <a:off x="594360" y="1920240"/>
            <a:ext cx="10972800" cy="777240"/>
          </a:xfrm>
          <a:prstGeom prst="roundRect">
            <a:avLst>
              <a:gd name="adj" fmla="val 10588"/>
            </a:avLst>
          </a:prstGeom>
          <a:solidFill>
            <a:srgbClr val="1D1F2B"/>
          </a:solidFill>
          <a:ln w="12700">
            <a:solidFill>
              <a:srgbClr val="1D1F2B"/>
            </a:solidFill>
            <a:prstDash val="solid"/>
          </a:ln>
        </p:spPr>
        <p:txBody>
          <a:bodyPr/>
          <a:p/>
        </p:txBody>
      </p:sp>
      <p:sp>
        <p:nvSpPr>
          <p:cNvPr id="7" name="Shape 5"/>
          <p:cNvSpPr/>
          <p:nvPr/>
        </p:nvSpPr>
        <p:spPr>
          <a:xfrm>
            <a:off x="914400" y="2098548"/>
            <a:ext cx="420624" cy="420624"/>
          </a:xfrm>
          <a:prstGeom prst="ellipse">
            <a:avLst/>
          </a:prstGeom>
          <a:solidFill>
            <a:srgbClr val="FFC24B"/>
          </a:solidFill>
          <a:ln/>
        </p:spPr>
        <p:txBody>
          <a:bodyPr/>
          <a:p/>
        </p:txBody>
      </p:sp>
      <p:sp>
        <p:nvSpPr>
          <p:cNvPr id="8" name="Text 6"/>
          <p:cNvSpPr/>
          <p:nvPr/>
        </p:nvSpPr>
        <p:spPr>
          <a:xfrm>
            <a:off x="914400" y="20985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920240"/>
            <a:ext cx="9692640" cy="77724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a crescut mult</a:t>
            </a:r>
            <a:endParaRPr lang="en-US" sz="2000" dirty="0"/>
          </a:p>
        </p:txBody>
      </p:sp>
      <p:sp>
        <p:nvSpPr>
          <p:cNvPr id="10" name="Shape 8"/>
          <p:cNvSpPr/>
          <p:nvPr/>
        </p:nvSpPr>
        <p:spPr>
          <a:xfrm>
            <a:off x="594360" y="2880360"/>
            <a:ext cx="10972800" cy="777240"/>
          </a:xfrm>
          <a:prstGeom prst="roundRect">
            <a:avLst>
              <a:gd name="adj" fmla="val 10588"/>
            </a:avLst>
          </a:prstGeom>
          <a:solidFill>
            <a:srgbClr val="1D1F2B"/>
          </a:solidFill>
          <a:ln w="12700">
            <a:solidFill>
              <a:srgbClr val="1D1F2B"/>
            </a:solidFill>
            <a:prstDash val="solid"/>
          </a:ln>
        </p:spPr>
        <p:txBody>
          <a:bodyPr/>
          <a:p/>
        </p:txBody>
      </p:sp>
      <p:sp>
        <p:nvSpPr>
          <p:cNvPr id="11" name="Shape 9"/>
          <p:cNvSpPr/>
          <p:nvPr/>
        </p:nvSpPr>
        <p:spPr>
          <a:xfrm>
            <a:off x="914400" y="3058668"/>
            <a:ext cx="420624" cy="420624"/>
          </a:xfrm>
          <a:prstGeom prst="ellipse">
            <a:avLst/>
          </a:prstGeom>
          <a:solidFill>
            <a:srgbClr val="FFC24B"/>
          </a:solidFill>
          <a:ln/>
        </p:spPr>
        <p:txBody>
          <a:bodyPr/>
          <a:p/>
        </p:txBody>
      </p:sp>
      <p:sp>
        <p:nvSpPr>
          <p:cNvPr id="12" name="Text 10"/>
          <p:cNvSpPr/>
          <p:nvPr/>
        </p:nvSpPr>
        <p:spPr>
          <a:xfrm>
            <a:off x="914400" y="305866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880360"/>
            <a:ext cx="9692640" cy="77724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a rămas aproximativ la fel</a:t>
            </a:r>
            <a:endParaRPr lang="en-US" sz="2000" dirty="0"/>
          </a:p>
        </p:txBody>
      </p:sp>
      <p:sp>
        <p:nvSpPr>
          <p:cNvPr id="14" name="Shape 12"/>
          <p:cNvSpPr/>
          <p:nvPr/>
        </p:nvSpPr>
        <p:spPr>
          <a:xfrm>
            <a:off x="594360" y="3840480"/>
            <a:ext cx="10972800" cy="777240"/>
          </a:xfrm>
          <a:prstGeom prst="roundRect">
            <a:avLst>
              <a:gd name="adj" fmla="val 10588"/>
            </a:avLst>
          </a:prstGeom>
          <a:solidFill>
            <a:srgbClr val="1D1F2B"/>
          </a:solidFill>
          <a:ln w="12700">
            <a:solidFill>
              <a:srgbClr val="1D1F2B"/>
            </a:solidFill>
            <a:prstDash val="solid"/>
          </a:ln>
        </p:spPr>
        <p:txBody>
          <a:bodyPr/>
          <a:p/>
        </p:txBody>
      </p:sp>
      <p:sp>
        <p:nvSpPr>
          <p:cNvPr id="15" name="Shape 13"/>
          <p:cNvSpPr/>
          <p:nvPr/>
        </p:nvSpPr>
        <p:spPr>
          <a:xfrm>
            <a:off x="914400" y="4018788"/>
            <a:ext cx="420624" cy="420624"/>
          </a:xfrm>
          <a:prstGeom prst="ellipse">
            <a:avLst/>
          </a:prstGeom>
          <a:solidFill>
            <a:srgbClr val="FFC24B"/>
          </a:solidFill>
          <a:ln/>
        </p:spPr>
        <p:txBody>
          <a:bodyPr/>
          <a:p/>
        </p:txBody>
      </p:sp>
      <p:sp>
        <p:nvSpPr>
          <p:cNvPr id="16" name="Text 14"/>
          <p:cNvSpPr/>
          <p:nvPr/>
        </p:nvSpPr>
        <p:spPr>
          <a:xfrm>
            <a:off x="914400" y="40187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840480"/>
            <a:ext cx="9692640" cy="77724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a scăzut</a:t>
            </a:r>
            <a:endParaRPr lang="en-US" sz="2000" dirty="0"/>
          </a:p>
        </p:txBody>
      </p:sp>
      <p:sp>
        <p:nvSpPr>
          <p:cNvPr id="18" name="Text 16"/>
          <p:cNvSpPr/>
          <p:nvPr/>
        </p:nvSpPr>
        <p:spPr>
          <a:xfrm>
            <a:off x="594360" y="4983480"/>
            <a:ext cx="8229600" cy="457200"/>
          </a:xfrm>
          <a:prstGeom prst="rect">
            <a:avLst/>
          </a:prstGeom>
          <a:noFill/>
          <a:ln/>
        </p:spPr>
        <p:txBody>
          <a:bodyPr wrap="square" lIns="0" tIns="0" rIns="0" bIns="0" rtlCol="0" anchor="t"/>
          <a:lstStyle/>
          <a:p>
            <a:pPr indent="0" marL="0">
              <a:buNone/>
            </a:pPr>
            <a:r>
              <a:rPr lang="en-US" sz="1600" i="1" dirty="0">
                <a:solidFill>
                  <a:srgbClr val="959BB0"/>
                </a:solidFill>
                <a:latin typeface="Palatino Linotype" pitchFamily="34" charset="0"/>
                <a:ea typeface="Palatino Linotype" pitchFamily="34" charset="-122"/>
                <a:cs typeface="Palatino Linotype" pitchFamily="34" charset="-120"/>
              </a:rPr>
              <a:t>Votați acum; discutăm imediat după.</a:t>
            </a:r>
            <a:endParaRPr lang="en-US" sz="1600" dirty="0"/>
          </a:p>
        </p:txBody>
      </p:sp>
      <p:sp>
        <p:nvSpPr>
          <p:cNvPr id="19" name="Shape 17"/>
          <p:cNvSpPr/>
          <p:nvPr/>
        </p:nvSpPr>
        <p:spPr>
          <a:xfrm>
            <a:off x="9509760" y="4892040"/>
            <a:ext cx="2057400" cy="1691640"/>
          </a:xfrm>
          <a:prstGeom prst="roundRect">
            <a:avLst>
              <a:gd name="adj" fmla="val 4865"/>
            </a:avLst>
          </a:prstGeom>
          <a:solidFill>
            <a:srgbClr val="FFFFFF"/>
          </a:solidFill>
          <a:ln w="12700">
            <a:solidFill>
              <a:srgbClr val="FFFFFF"/>
            </a:solidFill>
            <a:prstDash val="solid"/>
          </a:ln>
        </p:spPr>
        <p:txBody>
          <a:bodyPr/>
          <a:p/>
        </p:txBody>
      </p:sp>
      <p:pic>
        <p:nvPicPr>
          <p:cNvPr id="20" name="Picture 19" descr="Mentimeter_OPT_DROGURI_C03.png"/>
          <p:cNvPicPr>
            <a:picLocks noChangeAspect="1"/>
          </p:cNvPicPr>
          <p:nvPr/>
        </p:nvPicPr>
        <p:blipFill>
          <a:blip r:embed="rId3"/>
          <a:stretch>
            <a:fillRect/>
          </a:stretch>
        </p:blipFill>
        <p:spPr>
          <a:xfrm>
            <a:off x="9909809" y="4892040"/>
            <a:ext cx="1257301" cy="1257301"/>
          </a:xfrm>
          <a:prstGeom prst="rect">
            <a:avLst/>
          </a:prstGeom>
        </p:spPr>
      </p:pic>
      <p:sp>
        <p:nvSpPr>
          <p:cNvPr id="21" name="TextBox 20"/>
          <p:cNvSpPr txBox="1"/>
          <p:nvPr/>
        </p:nvSpPr>
        <p:spPr>
          <a:xfrm>
            <a:off x="9509760" y="6187441"/>
            <a:ext cx="20574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COMISIA THE LANCET · 2016</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spune comisia The Lancet</a:t>
            </a:r>
            <a:endParaRPr lang="en-US" sz="3200" dirty="0"/>
          </a:p>
        </p:txBody>
      </p:sp>
      <p:sp>
        <p:nvSpPr>
          <p:cNvPr id="4" name="Shape 2"/>
          <p:cNvSpPr/>
          <p:nvPr/>
        </p:nvSpPr>
        <p:spPr>
          <a:xfrm>
            <a:off x="594360" y="1508760"/>
            <a:ext cx="10972800" cy="1234440"/>
          </a:xfrm>
          <a:prstGeom prst="roundRect">
            <a:avLst>
              <a:gd name="adj" fmla="val 6667"/>
            </a:avLst>
          </a:prstGeom>
          <a:solidFill>
            <a:srgbClr val="ECEAE4"/>
          </a:solidFill>
          <a:ln w="12700">
            <a:solidFill>
              <a:srgbClr val="ECEAE4"/>
            </a:solidFill>
            <a:prstDash val="solid"/>
          </a:ln>
        </p:spPr>
        <p:txBody>
          <a:bodyPr/>
          <a:p/>
        </p:txBody>
      </p:sp>
      <p:sp>
        <p:nvSpPr>
          <p:cNvPr id="5" name="Text 3"/>
          <p:cNvSpPr/>
          <p:nvPr/>
        </p:nvSpPr>
        <p:spPr>
          <a:xfrm>
            <a:off x="868680" y="1508760"/>
            <a:ext cx="10424160" cy="1234440"/>
          </a:xfrm>
          <a:prstGeom prst="rect">
            <a:avLst/>
          </a:prstGeom>
          <a:noFill/>
          <a:ln/>
        </p:spPr>
        <p:txBody>
          <a:bodyPr wrap="square" lIns="0" tIns="0" rIns="0" bIns="0" rtlCol="0" anchor="ctr"/>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Portugalia: economii, mai puține încarcerări, beneficii pentru sănătatea publică și fără o creștere semnificativă a consumului.</a:t>
            </a:r>
            <a:endParaRPr lang="en-US" sz="1800" dirty="0"/>
          </a:p>
        </p:txBody>
      </p:sp>
      <p:sp>
        <p:nvSpPr>
          <p:cNvPr id="6" name="Shape 4"/>
          <p:cNvSpPr/>
          <p:nvPr/>
        </p:nvSpPr>
        <p:spPr>
          <a:xfrm>
            <a:off x="594360" y="2880360"/>
            <a:ext cx="10972800" cy="1371600"/>
          </a:xfrm>
          <a:prstGeom prst="roundRect">
            <a:avLst>
              <a:gd name="adj" fmla="val 6000"/>
            </a:avLst>
          </a:prstGeom>
          <a:solidFill>
            <a:srgbClr val="E1F0EC"/>
          </a:solidFill>
          <a:ln w="12700">
            <a:solidFill>
              <a:srgbClr val="E1F0EC"/>
            </a:solidFill>
            <a:prstDash val="solid"/>
          </a:ln>
        </p:spPr>
        <p:txBody>
          <a:bodyPr/>
          <a:p/>
        </p:txBody>
      </p:sp>
      <p:sp>
        <p:nvSpPr>
          <p:cNvPr id="7" name="Text 5"/>
          <p:cNvSpPr/>
          <p:nvPr/>
        </p:nvSpPr>
        <p:spPr>
          <a:xfrm>
            <a:off x="868680" y="2880360"/>
            <a:ext cx="10424160" cy="1371600"/>
          </a:xfrm>
          <a:prstGeom prst="rect">
            <a:avLst/>
          </a:prstGeom>
          <a:noFill/>
          <a:ln/>
        </p:spPr>
        <p:txBody>
          <a:bodyPr wrap="square" lIns="0" tIns="0" rIns="0" bIns="0" rtlCol="0" anchor="ctr"/>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Dezincriminarea, </a:t>
            </a:r>
            <a:pPr indent="0" marL="0">
              <a:buNone/>
            </a:pPr>
            <a:r>
              <a:rPr lang="en-US" sz="1800" b="1" u="sng" dirty="0">
                <a:solidFill>
                  <a:srgbClr val="0E7C6B"/>
                </a:solidFill>
                <a:latin typeface="Palatino Linotype" pitchFamily="34" charset="0"/>
                <a:ea typeface="Palatino Linotype" pitchFamily="34" charset="-122"/>
                <a:cs typeface="Palatino Linotype" pitchFamily="34" charset="-120"/>
              </a:rPr>
              <a:t>împreună cu</a:t>
            </a:r>
            <a:pPr indent="0" marL="0">
              <a:buNone/>
            </a:pPr>
            <a:r>
              <a:rPr lang="en-US" sz="1800" dirty="0">
                <a:solidFill>
                  <a:srgbClr val="11121A"/>
                </a:solidFill>
                <a:latin typeface="Palatino Linotype" pitchFamily="34" charset="0"/>
                <a:ea typeface="Palatino Linotype" pitchFamily="34" charset="-122"/>
                <a:cs typeface="Palatino Linotype" pitchFamily="34" charset="-120"/>
              </a:rPr>
              <a:t> extinderea serviciilor de prevenire a HIV, a permis controlul unei epidemii explozive de HIV prin injectare.</a:t>
            </a:r>
            <a:endParaRPr lang="en-US" sz="1800" dirty="0"/>
          </a:p>
        </p:txBody>
      </p:sp>
      <p:sp>
        <p:nvSpPr>
          <p:cNvPr id="8" name="Text 6"/>
          <p:cNvSpPr/>
          <p:nvPr/>
        </p:nvSpPr>
        <p:spPr>
          <a:xfrm>
            <a:off x="594360" y="4434840"/>
            <a:ext cx="10972800" cy="45720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Citiți a doua frază încă o dată. Nu scrie „dezincriminarea a oprit epidemia”.</a:t>
            </a:r>
            <a:endParaRPr lang="en-US" sz="1700" dirty="0"/>
          </a:p>
        </p:txBody>
      </p:sp>
      <p:sp>
        <p:nvSpPr>
          <p:cNvPr id="9" name="Text 7"/>
          <p:cNvSpPr/>
          <p:nvPr/>
        </p:nvSpPr>
        <p:spPr>
          <a:xfrm>
            <a:off x="594360" y="4983480"/>
            <a:ext cx="10972800" cy="731520"/>
          </a:xfrm>
          <a:prstGeom prst="rect">
            <a:avLst/>
          </a:prstGeom>
          <a:noFill/>
          <a:ln/>
        </p:spPr>
        <p:txBody>
          <a:bodyPr wrap="square" lIns="0" tIns="0" rIns="0" bIns="0" rtlCol="0" anchor="t"/>
          <a:lstStyle/>
          <a:p>
            <a:pPr indent="0" marL="0">
              <a:buNone/>
            </a:pPr>
            <a:r>
              <a:rPr lang="en-US" sz="1500" i="1" dirty="0">
                <a:solidFill>
                  <a:srgbClr val="3A3C44"/>
                </a:solidFill>
                <a:latin typeface="Palatino Linotype" pitchFamily="34" charset="0"/>
                <a:ea typeface="Palatino Linotype" pitchFamily="34" charset="-122"/>
                <a:cs typeface="Palatino Linotype" pitchFamily="34" charset="-120"/>
              </a:rPr>
              <a:t>Comisia nu e un observator neutru: recomandă dezincriminarea, iar unul dintre autori era afiliat Ministerului Sănătății portughez.</a:t>
            </a:r>
            <a:endParaRPr lang="en-US" sz="1500" dirty="0"/>
          </a:p>
        </p:txBody>
      </p:sp>
      <p:sp>
        <p:nvSpPr>
          <p:cNvPr id="10" name="Text 8"/>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Csete și colab., The Lancet, 2016.</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PRIMUL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Problema atribuirii</a:t>
            </a:r>
            <a:endParaRPr lang="en-US" sz="3400" dirty="0"/>
          </a:p>
        </p:txBody>
      </p:sp>
      <p:sp>
        <p:nvSpPr>
          <p:cNvPr id="4" name="Text 2"/>
          <p:cNvSpPr/>
          <p:nvPr/>
        </p:nvSpPr>
        <p:spPr>
          <a:xfrm>
            <a:off x="594360" y="1417320"/>
            <a:ext cx="5577840" cy="105156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Două schimbări în același timp; datele nu spun cât din rezultat se datorează fiecăreia.</a:t>
            </a:r>
            <a:endParaRPr lang="en-US" sz="1800" dirty="0"/>
          </a:p>
        </p:txBody>
      </p:sp>
      <p:sp>
        <p:nvSpPr>
          <p:cNvPr id="5" name="Text 3"/>
          <p:cNvSpPr/>
          <p:nvPr/>
        </p:nvSpPr>
        <p:spPr>
          <a:xfrm>
            <a:off x="594360" y="2560320"/>
            <a:ext cx="5577840" cy="868680"/>
          </a:xfrm>
          <a:prstGeom prst="rect">
            <a:avLst/>
          </a:prstGeom>
          <a:noFill/>
          <a:ln/>
        </p:spPr>
        <p:txBody>
          <a:bodyPr wrap="square" lIns="0" tIns="0" rIns="0" bIns="0" rtlCol="0" anchor="t"/>
          <a:lstStyle/>
          <a:p>
            <a:pPr indent="0" marL="0">
              <a:buNone/>
            </a:pPr>
            <a:r>
              <a:rPr lang="en-US" sz="1900" b="1" i="1" dirty="0">
                <a:solidFill>
                  <a:srgbClr val="FFC24B"/>
                </a:solidFill>
                <a:latin typeface="Palatino Linotype" pitchFamily="34" charset="0"/>
                <a:ea typeface="Palatino Linotype" pitchFamily="34" charset="-122"/>
                <a:cs typeface="Palatino Linotype" pitchFamily="34" charset="-120"/>
              </a:rPr>
              <a:t>„Știm că s-a îmbunătățit, nu știm cui îi dăm meritul.”</a:t>
            </a:r>
            <a:endParaRPr lang="en-US" sz="1900" dirty="0"/>
          </a:p>
        </p:txBody>
      </p:sp>
      <p:sp>
        <p:nvSpPr>
          <p:cNvPr id="6" name="Text 4"/>
          <p:cNvSpPr/>
          <p:nvPr/>
        </p:nvSpPr>
        <p:spPr>
          <a:xfrm>
            <a:off x="594360" y="3657600"/>
            <a:ext cx="5577840" cy="1097280"/>
          </a:xfrm>
          <a:prstGeom prst="rect">
            <a:avLst/>
          </a:prstGeom>
          <a:noFill/>
          <a:ln/>
        </p:spPr>
        <p:txBody>
          <a:bodyPr wrap="square" lIns="0" tIns="0" rIns="0" bIns="0" rtlCol="0" anchor="t"/>
          <a:lstStyle/>
          <a:p>
            <a:pPr indent="0" marL="0">
              <a:buNone/>
            </a:pPr>
            <a:r>
              <a:rPr lang="en-US" sz="1550" dirty="0">
                <a:solidFill>
                  <a:srgbClr val="959BB0"/>
                </a:solidFill>
                <a:latin typeface="Palatino Linotype" pitchFamily="34" charset="0"/>
                <a:ea typeface="Palatino Linotype" pitchFamily="34" charset="-122"/>
                <a:cs typeface="Palatino Linotype" pitchFamily="34" charset="-120"/>
              </a:rPr>
              <a:t>Portugalia: o analiză din 2021 scrie că scăderea infecțiilor și a încarcerărilor nu poate fi legată liniar de lege.</a:t>
            </a:r>
            <a:endParaRPr lang="en-US" sz="1550" dirty="0"/>
          </a:p>
        </p:txBody>
      </p:sp>
      <p:sp>
        <p:nvSpPr>
          <p:cNvPr id="7" name="Shape 5"/>
          <p:cNvSpPr/>
          <p:nvPr/>
        </p:nvSpPr>
        <p:spPr>
          <a:xfrm>
            <a:off x="6492240" y="1463040"/>
            <a:ext cx="5074920" cy="4206240"/>
          </a:xfrm>
          <a:prstGeom prst="roundRect">
            <a:avLst>
              <a:gd name="adj" fmla="val 1957"/>
            </a:avLst>
          </a:prstGeom>
          <a:solidFill>
            <a:srgbClr val="1D1F2B"/>
          </a:solidFill>
          <a:ln w="12700">
            <a:solidFill>
              <a:srgbClr val="1D1F2B"/>
            </a:solidFill>
            <a:prstDash val="solid"/>
          </a:ln>
        </p:spPr>
        <p:txBody>
          <a:bodyPr/>
          <a:p/>
        </p:txBody>
      </p:sp>
      <p:sp>
        <p:nvSpPr>
          <p:cNvPr id="8" name="Text 6"/>
          <p:cNvSpPr/>
          <p:nvPr/>
        </p:nvSpPr>
        <p:spPr>
          <a:xfrm>
            <a:off x="6766560" y="1645920"/>
            <a:ext cx="4572000" cy="274320"/>
          </a:xfrm>
          <a:prstGeom prst="rect">
            <a:avLst/>
          </a:prstGeom>
          <a:noFill/>
          <a:ln/>
        </p:spPr>
        <p:txBody>
          <a:bodyPr wrap="square" lIns="0" tIns="0" rIns="0" bIns="0" rtlCol="0" anchor="t"/>
          <a:lstStyle/>
          <a:p>
            <a:pPr indent="0" marL="0">
              <a:buNone/>
            </a:pPr>
            <a:r>
              <a:rPr lang="en-US" sz="1200" b="1" spc="200" kern="0" dirty="0">
                <a:solidFill>
                  <a:srgbClr val="27D3BE"/>
                </a:solidFill>
                <a:latin typeface="Palatino Linotype" pitchFamily="34" charset="0"/>
                <a:ea typeface="Palatino Linotype" pitchFamily="34" charset="-122"/>
                <a:cs typeface="Palatino Linotype" pitchFamily="34" charset="-120"/>
              </a:rPr>
              <a:t>SPITALUL ȘI NOUL PROTOCOL</a:t>
            </a:r>
            <a:endParaRPr lang="en-US" sz="1200" dirty="0"/>
          </a:p>
        </p:txBody>
      </p:sp>
      <p:sp>
        <p:nvSpPr>
          <p:cNvPr id="9" name="Text 7"/>
          <p:cNvSpPr/>
          <p:nvPr/>
        </p:nvSpPr>
        <p:spPr>
          <a:xfrm>
            <a:off x="6766560" y="2011680"/>
            <a:ext cx="4572000" cy="128016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În aceeași lună: doi medici noi la urgențe și un protocol nou de triaj. Așteptarea scade la jumătate.</a:t>
            </a:r>
            <a:endParaRPr lang="en-US" sz="1600" dirty="0"/>
          </a:p>
        </p:txBody>
      </p:sp>
      <p:sp>
        <p:nvSpPr>
          <p:cNvPr id="10" name="Text 8"/>
          <p:cNvSpPr/>
          <p:nvPr/>
        </p:nvSpPr>
        <p:spPr>
          <a:xfrm>
            <a:off x="6766560" y="3383280"/>
            <a:ext cx="4572000" cy="91440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Directorul: </a:t>
            </a:r>
            <a:pPr indent="0" marL="0">
              <a:buNone/>
            </a:pPr>
            <a:r>
              <a:rPr lang="en-US" sz="1600" dirty="0">
                <a:solidFill>
                  <a:srgbClr val="FFFFFF"/>
                </a:solidFill>
                <a:latin typeface="Palatino Linotype" pitchFamily="34" charset="0"/>
                <a:ea typeface="Palatino Linotype" pitchFamily="34" charset="-122"/>
                <a:cs typeface="Palatino Linotype" pitchFamily="34" charset="-120"/>
              </a:rPr>
              <a:t>„protocolul a funcționat”.</a:t>
            </a:r>
            <a:endParaRPr lang="en-US" sz="1600" dirty="0"/>
          </a:p>
          <a:p>
            <a:pPr indent="0" marL="0">
              <a:buNone/>
            </a:pPr>
            <a:r>
              <a:rPr lang="en-US" sz="1600" b="1" dirty="0">
                <a:solidFill>
                  <a:srgbClr val="FF4757"/>
                </a:solidFill>
                <a:latin typeface="Palatino Linotype" pitchFamily="34" charset="0"/>
                <a:ea typeface="Palatino Linotype" pitchFamily="34" charset="-122"/>
                <a:cs typeface="Palatino Linotype" pitchFamily="34" charset="-120"/>
              </a:rPr>
              <a:t>Sindicatul: </a:t>
            </a:r>
            <a:pPr indent="0" marL="0">
              <a:buNone/>
            </a:pPr>
            <a:r>
              <a:rPr lang="en-US" sz="1600" dirty="0">
                <a:solidFill>
                  <a:srgbClr val="FFFFFF"/>
                </a:solidFill>
                <a:latin typeface="Palatino Linotype" pitchFamily="34" charset="0"/>
                <a:ea typeface="Palatino Linotype" pitchFamily="34" charset="-122"/>
                <a:cs typeface="Palatino Linotype" pitchFamily="34" charset="-120"/>
              </a:rPr>
              <a:t>„angajările au funcționat”.</a:t>
            </a:r>
            <a:endParaRPr lang="en-US" sz="1600" dirty="0"/>
          </a:p>
        </p:txBody>
      </p:sp>
      <p:sp>
        <p:nvSpPr>
          <p:cNvPr id="11" name="Text 9"/>
          <p:cNvSpPr/>
          <p:nvPr/>
        </p:nvSpPr>
        <p:spPr>
          <a:xfrm>
            <a:off x="6766560" y="4434840"/>
            <a:ext cx="4572000" cy="411480"/>
          </a:xfrm>
          <a:prstGeom prst="rect">
            <a:avLst/>
          </a:prstGeom>
          <a:noFill/>
          <a:ln/>
        </p:spPr>
        <p:txBody>
          <a:bodyPr wrap="square" lIns="0" tIns="0" rIns="0" bIns="0" rtlCol="0" anchor="t"/>
          <a:lstStyle/>
          <a:p>
            <a:pPr indent="0" marL="0">
              <a:buNone/>
            </a:pPr>
            <a:r>
              <a:rPr lang="en-US" sz="1600" b="1" dirty="0">
                <a:solidFill>
                  <a:srgbClr val="27D3BE"/>
                </a:solidFill>
                <a:latin typeface="Palatino Linotype" pitchFamily="34" charset="0"/>
                <a:ea typeface="Palatino Linotype" pitchFamily="34" charset="-122"/>
                <a:cs typeface="Palatino Linotype" pitchFamily="34" charset="-120"/>
              </a:rPr>
              <a:t>Amândoi citesc aceeași cifră.</a:t>
            </a:r>
            <a:endParaRPr lang="en-US" sz="1600" dirty="0"/>
          </a:p>
        </p:txBody>
      </p:sp>
      <p:sp>
        <p:nvSpPr>
          <p:cNvPr id="12" name="Text 10"/>
          <p:cNvSpPr/>
          <p:nvPr/>
        </p:nvSpPr>
        <p:spPr>
          <a:xfrm>
            <a:off x="6766560" y="5257800"/>
            <a:ext cx="4572000" cy="256032"/>
          </a:xfrm>
          <a:prstGeom prst="rect">
            <a:avLst/>
          </a:prstGeom>
          <a:noFill/>
          <a:ln/>
        </p:spPr>
        <p:txBody>
          <a:bodyPr wrap="square" lIns="0" tIns="0" rIns="0" bIns="0" rtlCol="0" anchor="t"/>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Valori ipotetice.</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AȚI CREDE ACEST TITLU?</a:t>
            </a:r>
            <a:endParaRPr lang="en-US" sz="1300" dirty="0"/>
          </a:p>
        </p:txBody>
      </p:sp>
      <p:sp>
        <p:nvSpPr>
          <p:cNvPr id="5" name="Shape 3"/>
          <p:cNvSpPr/>
          <p:nvPr/>
        </p:nvSpPr>
        <p:spPr>
          <a:xfrm>
            <a:off x="822960" y="1005840"/>
            <a:ext cx="10515600" cy="2377440"/>
          </a:xfrm>
          <a:prstGeom prst="rect">
            <a:avLst/>
          </a:prstGeom>
          <a:solidFill>
            <a:srgbClr val="FBF8F1"/>
          </a:solidFill>
          <a:ln w="9525">
            <a:solidFill>
              <a:srgbClr val="D6D2C8"/>
            </a:solidFill>
            <a:prstDash val="solid"/>
          </a:ln>
          <a:effectLst>
            <a:outerShdw sx="100000" sy="100000" kx="0" ky="0" algn="bl" rotWithShape="0" blurRad="127000" dist="63500" dir="3600000">
              <a:srgbClr val="000000">
                <a:alpha val="45000"/>
              </a:srgbClr>
            </a:outerShdw>
          </a:effectLst>
        </p:spPr>
        <p:txBody>
          <a:bodyPr/>
          <a:p/>
        </p:txBody>
      </p:sp>
      <p:sp>
        <p:nvSpPr>
          <p:cNvPr id="6" name="Shape 4"/>
          <p:cNvSpPr/>
          <p:nvPr/>
        </p:nvSpPr>
        <p:spPr>
          <a:xfrm>
            <a:off x="1234440" y="1417320"/>
            <a:ext cx="9692640" cy="27432"/>
          </a:xfrm>
          <a:prstGeom prst="rect">
            <a:avLst/>
          </a:prstGeom>
          <a:solidFill>
            <a:srgbClr val="11121A"/>
          </a:solidFill>
          <a:ln w="12700">
            <a:solidFill>
              <a:srgbClr val="11121A"/>
            </a:solidFill>
            <a:prstDash val="solid"/>
          </a:ln>
        </p:spPr>
        <p:txBody>
          <a:bodyPr/>
          <a:p/>
        </p:txBody>
      </p:sp>
      <p:sp>
        <p:nvSpPr>
          <p:cNvPr id="7" name="Text 5"/>
          <p:cNvSpPr/>
          <p:nvPr/>
        </p:nvSpPr>
        <p:spPr>
          <a:xfrm>
            <a:off x="1234440" y="1536192"/>
            <a:ext cx="9692640" cy="274320"/>
          </a:xfrm>
          <a:prstGeom prst="rect">
            <a:avLst/>
          </a:prstGeom>
          <a:noFill/>
          <a:ln/>
        </p:spPr>
        <p:txBody>
          <a:bodyPr wrap="square" lIns="0" tIns="0" rIns="0" bIns="0" rtlCol="0" anchor="t"/>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TITLU CONSTRUIT DUPĂ CELE CARE CIRCULĂ</a:t>
            </a:r>
            <a:endParaRPr lang="en-US" sz="1100" dirty="0"/>
          </a:p>
        </p:txBody>
      </p:sp>
      <p:sp>
        <p:nvSpPr>
          <p:cNvPr id="8" name="Text 6"/>
          <p:cNvSpPr/>
          <p:nvPr/>
        </p:nvSpPr>
        <p:spPr>
          <a:xfrm>
            <a:off x="1234440" y="1920240"/>
            <a:ext cx="9692640" cy="1280160"/>
          </a:xfrm>
          <a:prstGeom prst="rect">
            <a:avLst/>
          </a:prstGeom>
          <a:noFill/>
          <a:ln/>
        </p:spPr>
        <p:txBody>
          <a:bodyPr wrap="square" lIns="0" tIns="0" rIns="0" bIns="0" rtlCol="0" anchor="t"/>
          <a:lstStyle/>
          <a:p>
            <a:pPr indent="0" marL="0">
              <a:buNone/>
            </a:pPr>
            <a:r>
              <a:rPr lang="en-US" sz="3600" b="1" dirty="0">
                <a:solidFill>
                  <a:srgbClr val="11121A"/>
                </a:solidFill>
                <a:latin typeface="Palatino Linotype" pitchFamily="34" charset="0"/>
                <a:ea typeface="Palatino Linotype" pitchFamily="34" charset="-122"/>
                <a:cs typeface="Palatino Linotype" pitchFamily="34" charset="-120"/>
              </a:rPr>
              <a:t>Portugalia a învins drogurile prin lege.</a:t>
            </a:r>
            <a:endParaRPr lang="en-US" sz="3600" dirty="0"/>
          </a:p>
        </p:txBody>
      </p:sp>
      <p:sp>
        <p:nvSpPr>
          <p:cNvPr id="9" name="Shape 7"/>
          <p:cNvSpPr/>
          <p:nvPr/>
        </p:nvSpPr>
        <p:spPr>
          <a:xfrm>
            <a:off x="822960" y="374904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0" name="Text 8"/>
          <p:cNvSpPr/>
          <p:nvPr/>
        </p:nvSpPr>
        <p:spPr>
          <a:xfrm>
            <a:off x="822960" y="374904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Da</a:t>
            </a:r>
            <a:endParaRPr lang="en-US" sz="1500" dirty="0"/>
          </a:p>
        </p:txBody>
      </p:sp>
      <p:sp>
        <p:nvSpPr>
          <p:cNvPr id="11" name="Shape 9"/>
          <p:cNvSpPr/>
          <p:nvPr/>
        </p:nvSpPr>
        <p:spPr>
          <a:xfrm>
            <a:off x="3200400" y="374904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2" name="Text 10"/>
          <p:cNvSpPr/>
          <p:nvPr/>
        </p:nvSpPr>
        <p:spPr>
          <a:xfrm>
            <a:off x="3200400" y="374904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Nu</a:t>
            </a:r>
            <a:endParaRPr lang="en-US" sz="1500" dirty="0"/>
          </a:p>
        </p:txBody>
      </p:sp>
      <p:sp>
        <p:nvSpPr>
          <p:cNvPr id="13" name="Shape 11"/>
          <p:cNvSpPr/>
          <p:nvPr/>
        </p:nvSpPr>
        <p:spPr>
          <a:xfrm>
            <a:off x="5577840" y="374904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4" name="Text 12"/>
          <p:cNvSpPr/>
          <p:nvPr/>
        </p:nvSpPr>
        <p:spPr>
          <a:xfrm>
            <a:off x="5577840" y="374904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Depinde</a:t>
            </a:r>
            <a:endParaRPr lang="en-US" sz="1500" dirty="0"/>
          </a:p>
        </p:txBody>
      </p:sp>
      <p:sp>
        <p:nvSpPr>
          <p:cNvPr id="15" name="Text 13"/>
          <p:cNvSpPr/>
          <p:nvPr/>
        </p:nvSpPr>
        <p:spPr>
          <a:xfrm>
            <a:off x="594360" y="4434840"/>
            <a:ext cx="10972800" cy="822960"/>
          </a:xfrm>
          <a:prstGeom prst="rect">
            <a:avLst/>
          </a:prstGeom>
          <a:noFill/>
          <a:ln/>
        </p:spPr>
        <p:txBody>
          <a:bodyPr wrap="square" lIns="0" tIns="0" rIns="0" bIns="0" rtlCol="0" anchor="t"/>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După vot, trei răspunsuri din sală: ce cuvânt din titlu depășește datele?</a:t>
            </a:r>
            <a:endParaRPr lang="en-US" sz="2000" dirty="0"/>
          </a:p>
        </p:txBody>
      </p:sp>
      <p:sp>
        <p:nvSpPr>
          <p:cNvPr id="16" name="Shape 14"/>
          <p:cNvSpPr/>
          <p:nvPr/>
        </p:nvSpPr>
        <p:spPr>
          <a:xfrm>
            <a:off x="9509760" y="4846320"/>
            <a:ext cx="2057400" cy="1737360"/>
          </a:xfrm>
          <a:prstGeom prst="roundRect">
            <a:avLst>
              <a:gd name="adj" fmla="val 4737"/>
            </a:avLst>
          </a:prstGeom>
          <a:solidFill>
            <a:srgbClr val="FFFFFF"/>
          </a:solidFill>
          <a:ln w="12700">
            <a:solidFill>
              <a:srgbClr val="FFFFFF"/>
            </a:solidFill>
            <a:prstDash val="solid"/>
          </a:ln>
        </p:spPr>
        <p:txBody>
          <a:bodyPr/>
          <a:p/>
        </p:txBody>
      </p:sp>
      <p:pic>
        <p:nvPicPr>
          <p:cNvPr id="17" name="Picture 16" descr="Mentimeter_OPT_DROGURI_C03.png"/>
          <p:cNvPicPr>
            <a:picLocks noChangeAspect="1"/>
          </p:cNvPicPr>
          <p:nvPr/>
        </p:nvPicPr>
        <p:blipFill>
          <a:blip r:embed="rId3"/>
          <a:stretch>
            <a:fillRect/>
          </a:stretch>
        </p:blipFill>
        <p:spPr>
          <a:xfrm>
            <a:off x="9886949" y="4846320"/>
            <a:ext cx="1303021" cy="1303021"/>
          </a:xfrm>
          <a:prstGeom prst="rect">
            <a:avLst/>
          </a:prstGeom>
        </p:spPr>
      </p:pic>
      <p:sp>
        <p:nvSpPr>
          <p:cNvPr id="18" name="TextBox 17"/>
          <p:cNvSpPr txBox="1"/>
          <p:nvPr/>
        </p:nvSpPr>
        <p:spPr>
          <a:xfrm>
            <a:off x="9509760" y="6187441"/>
            <a:ext cx="20574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CUVÂNTUL CARE DEPĂȘEȘTE DATELE</a:t>
            </a:r>
            <a:endParaRPr lang="en-US" sz="1300" dirty="0"/>
          </a:p>
        </p:txBody>
      </p:sp>
      <p:sp>
        <p:nvSpPr>
          <p:cNvPr id="3" name="Text 1"/>
          <p:cNvSpPr/>
          <p:nvPr/>
        </p:nvSpPr>
        <p:spPr>
          <a:xfrm>
            <a:off x="594360" y="914400"/>
            <a:ext cx="10972800" cy="1188720"/>
          </a:xfrm>
          <a:prstGeom prst="rect">
            <a:avLst/>
          </a:prstGeom>
          <a:noFill/>
          <a:ln/>
        </p:spPr>
        <p:txBody>
          <a:bodyPr wrap="square" lIns="0" tIns="0" rIns="0" bIns="0" rtlCol="0" anchor="t"/>
          <a:lstStyle/>
          <a:p>
            <a:pPr indent="0" marL="0">
              <a:buNone/>
            </a:pPr>
            <a:r>
              <a:rPr lang="en-US" sz="4000" b="1" dirty="0">
                <a:solidFill>
                  <a:srgbClr val="8A8F9E"/>
                </a:solidFill>
                <a:latin typeface="Palatino Linotype" pitchFamily="34" charset="0"/>
                <a:ea typeface="Palatino Linotype" pitchFamily="34" charset="-122"/>
                <a:cs typeface="Palatino Linotype" pitchFamily="34" charset="-120"/>
              </a:rPr>
              <a:t>Portugalia a învins drogurile </a:t>
            </a:r>
            <a:pPr indent="0" marL="0">
              <a:buNone/>
            </a:pPr>
            <a:r>
              <a:rPr lang="en-US" sz="4000" b="1" u="sng" dirty="0">
                <a:solidFill>
                  <a:srgbClr val="B02532"/>
                </a:solidFill>
                <a:latin typeface="Palatino Linotype" pitchFamily="34" charset="0"/>
                <a:ea typeface="Palatino Linotype" pitchFamily="34" charset="-122"/>
                <a:cs typeface="Palatino Linotype" pitchFamily="34" charset="-120"/>
              </a:rPr>
              <a:t>prin lege</a:t>
            </a:r>
            <a:pPr indent="0" marL="0">
              <a:buNone/>
            </a:pPr>
            <a:r>
              <a:rPr lang="en-US" sz="4000" b="1" dirty="0">
                <a:solidFill>
                  <a:srgbClr val="8A8F9E"/>
                </a:solidFill>
                <a:latin typeface="Palatino Linotype" pitchFamily="34" charset="0"/>
                <a:ea typeface="Palatino Linotype" pitchFamily="34" charset="-122"/>
                <a:cs typeface="Palatino Linotype" pitchFamily="34" charset="-120"/>
              </a:rPr>
              <a:t>.</a:t>
            </a:r>
            <a:endParaRPr lang="en-US" sz="4000" dirty="0"/>
          </a:p>
        </p:txBody>
      </p:sp>
      <p:sp>
        <p:nvSpPr>
          <p:cNvPr id="4" name="Text 2"/>
          <p:cNvSpPr/>
          <p:nvPr/>
        </p:nvSpPr>
        <p:spPr>
          <a:xfrm>
            <a:off x="594360" y="2514600"/>
            <a:ext cx="10972800" cy="548640"/>
          </a:xfrm>
          <a:prstGeom prst="rect">
            <a:avLst/>
          </a:prstGeom>
          <a:noFill/>
          <a:ln/>
        </p:spPr>
        <p:txBody>
          <a:bodyPr wrap="square" lIns="0" tIns="0" rIns="0" bIns="0" rtlCol="0" anchor="t"/>
          <a:lstStyle/>
          <a:p>
            <a:pPr indent="0" marL="0">
              <a:buNone/>
            </a:pPr>
            <a:r>
              <a:rPr lang="en-US" sz="2200" b="1" dirty="0">
                <a:solidFill>
                  <a:srgbClr val="11121A"/>
                </a:solidFill>
                <a:latin typeface="Palatino Linotype" pitchFamily="34" charset="0"/>
                <a:ea typeface="Palatino Linotype" pitchFamily="34" charset="-122"/>
                <a:cs typeface="Palatino Linotype" pitchFamily="34" charset="-120"/>
              </a:rPr>
              <a:t>Rezultatul a venit cu legea și cu serviciile, nu numai prin lege.</a:t>
            </a:r>
            <a:endParaRPr lang="en-US" sz="2200" dirty="0"/>
          </a:p>
        </p:txBody>
      </p:sp>
      <p:sp>
        <p:nvSpPr>
          <p:cNvPr id="5" name="Text 3"/>
          <p:cNvSpPr/>
          <p:nvPr/>
        </p:nvSpPr>
        <p:spPr>
          <a:xfrm>
            <a:off x="594360" y="3246120"/>
            <a:ext cx="10972800" cy="548640"/>
          </a:xfrm>
          <a:prstGeom prst="rect">
            <a:avLst/>
          </a:prstGeom>
          <a:noFill/>
          <a:ln/>
        </p:spPr>
        <p:txBody>
          <a:bodyPr wrap="square" lIns="0" tIns="0" rIns="0" bIns="0" rtlCol="0" anchor="t"/>
          <a:lstStyle/>
          <a:p>
            <a:pPr indent="0" marL="0">
              <a:buNone/>
            </a:pPr>
            <a:r>
              <a:rPr lang="en-US" sz="1900" dirty="0">
                <a:solidFill>
                  <a:srgbClr val="3A3C44"/>
                </a:solidFill>
                <a:latin typeface="Palatino Linotype" pitchFamily="34" charset="0"/>
                <a:ea typeface="Palatino Linotype" pitchFamily="34" charset="-122"/>
                <a:cs typeface="Palatino Linotype" pitchFamily="34" charset="-120"/>
              </a:rPr>
              <a:t>Iar „a învins” este o judecată pe care nicio sursă citată aici nu o face.</a:t>
            </a:r>
            <a:endParaRPr lang="en-US" sz="1900" dirty="0"/>
          </a:p>
        </p:txBody>
      </p:sp>
      <p:sp>
        <p:nvSpPr>
          <p:cNvPr id="6" name="Shape 4"/>
          <p:cNvSpPr/>
          <p:nvPr/>
        </p:nvSpPr>
        <p:spPr>
          <a:xfrm>
            <a:off x="594360" y="4160520"/>
            <a:ext cx="10972800" cy="1188720"/>
          </a:xfrm>
          <a:prstGeom prst="roundRect">
            <a:avLst>
              <a:gd name="adj" fmla="val 6923"/>
            </a:avLst>
          </a:prstGeom>
          <a:solidFill>
            <a:srgbClr val="E1F0EC"/>
          </a:solidFill>
          <a:ln w="12700">
            <a:solidFill>
              <a:srgbClr val="E1F0EC"/>
            </a:solidFill>
            <a:prstDash val="solid"/>
          </a:ln>
        </p:spPr>
        <p:txBody>
          <a:bodyPr/>
          <a:p/>
        </p:txBody>
      </p:sp>
      <p:sp>
        <p:nvSpPr>
          <p:cNvPr id="7" name="Text 5"/>
          <p:cNvSpPr/>
          <p:nvPr/>
        </p:nvSpPr>
        <p:spPr>
          <a:xfrm>
            <a:off x="868680" y="4160520"/>
            <a:ext cx="10424160" cy="1188720"/>
          </a:xfrm>
          <a:prstGeom prst="rect">
            <a:avLst/>
          </a:prstGeom>
          <a:noFill/>
          <a:ln/>
        </p:spPr>
        <p:txBody>
          <a:bodyPr wrap="square" lIns="0" tIns="0" rIns="0" bIns="0" rtlCol="0" anchor="ctr"/>
          <a:lstStyle/>
          <a:p>
            <a:pPr indent="0" marL="0">
              <a:buNone/>
            </a:pPr>
            <a:r>
              <a:rPr lang="en-US" sz="1800" dirty="0">
                <a:solidFill>
                  <a:srgbClr val="11121A"/>
                </a:solidFill>
                <a:latin typeface="Palatino Linotype" pitchFamily="34" charset="0"/>
                <a:ea typeface="Palatino Linotype" pitchFamily="34" charset="-122"/>
                <a:cs typeface="Palatino Linotype" pitchFamily="34" charset="-120"/>
              </a:rPr>
              <a:t>Ce putem spune solid: după dezincriminare nu a urmat explozia de consum de care se temeau criticii.</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DUPĂ 2001</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Povestea nu s-a oprit în 2001</a:t>
            </a:r>
            <a:endParaRPr lang="en-US" sz="3200" dirty="0"/>
          </a:p>
        </p:txBody>
      </p:sp>
      <p:sp>
        <p:nvSpPr>
          <p:cNvPr id="4" name="Shape 2"/>
          <p:cNvSpPr/>
          <p:nvPr/>
        </p:nvSpPr>
        <p:spPr>
          <a:xfrm>
            <a:off x="822960" y="2148840"/>
            <a:ext cx="5669280" cy="36576"/>
          </a:xfrm>
          <a:prstGeom prst="rect">
            <a:avLst/>
          </a:prstGeom>
          <a:solidFill>
            <a:srgbClr val="3A3E52"/>
          </a:solidFill>
          <a:ln w="12700">
            <a:solidFill>
              <a:srgbClr val="3A3E52"/>
            </a:solidFill>
            <a:prstDash val="solid"/>
          </a:ln>
        </p:spPr>
        <p:txBody>
          <a:bodyPr/>
          <a:p/>
        </p:txBody>
      </p:sp>
      <p:sp>
        <p:nvSpPr>
          <p:cNvPr id="5" name="Shape 3"/>
          <p:cNvSpPr/>
          <p:nvPr/>
        </p:nvSpPr>
        <p:spPr>
          <a:xfrm>
            <a:off x="822960" y="2011680"/>
            <a:ext cx="310896" cy="310896"/>
          </a:xfrm>
          <a:prstGeom prst="ellipse">
            <a:avLst/>
          </a:prstGeom>
          <a:solidFill>
            <a:srgbClr val="27D3BE"/>
          </a:solidFill>
          <a:ln w="25400">
            <a:solidFill>
              <a:srgbClr val="11121A"/>
            </a:solidFill>
            <a:prstDash val="solid"/>
          </a:ln>
        </p:spPr>
        <p:txBody>
          <a:bodyPr/>
          <a:p/>
        </p:txBody>
      </p:sp>
      <p:sp>
        <p:nvSpPr>
          <p:cNvPr id="6" name="Text 4"/>
          <p:cNvSpPr/>
          <p:nvPr/>
        </p:nvSpPr>
        <p:spPr>
          <a:xfrm>
            <a:off x="822960" y="1508760"/>
            <a:ext cx="2286000" cy="411480"/>
          </a:xfrm>
          <a:prstGeom prst="rect">
            <a:avLst/>
          </a:prstGeom>
          <a:noFill/>
          <a:ln/>
        </p:spPr>
        <p:txBody>
          <a:bodyPr wrap="square" lIns="0" tIns="0" rIns="0" bIns="0" rtlCol="0" anchor="t"/>
          <a:lstStyle/>
          <a:p>
            <a:pPr indent="0" marL="0">
              <a:buNone/>
            </a:pPr>
            <a:r>
              <a:rPr lang="en-US" sz="2000" b="1" dirty="0">
                <a:solidFill>
                  <a:srgbClr val="27D3BE"/>
                </a:solidFill>
                <a:latin typeface="Palatino Linotype" pitchFamily="34" charset="0"/>
                <a:ea typeface="Palatino Linotype" pitchFamily="34" charset="-122"/>
                <a:cs typeface="Palatino Linotype" pitchFamily="34" charset="-120"/>
              </a:rPr>
              <a:t>2001</a:t>
            </a:r>
            <a:endParaRPr lang="en-US" sz="2000" dirty="0"/>
          </a:p>
        </p:txBody>
      </p:sp>
      <p:sp>
        <p:nvSpPr>
          <p:cNvPr id="7" name="Text 5"/>
          <p:cNvSpPr/>
          <p:nvPr/>
        </p:nvSpPr>
        <p:spPr>
          <a:xfrm>
            <a:off x="822960" y="2514600"/>
            <a:ext cx="2560320" cy="109728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legea intră în vigoare</a:t>
            </a:r>
            <a:endParaRPr lang="en-US" sz="1500" dirty="0"/>
          </a:p>
        </p:txBody>
      </p:sp>
      <p:sp>
        <p:nvSpPr>
          <p:cNvPr id="8" name="Shape 6"/>
          <p:cNvSpPr/>
          <p:nvPr/>
        </p:nvSpPr>
        <p:spPr>
          <a:xfrm>
            <a:off x="3566160" y="2011680"/>
            <a:ext cx="310896" cy="310896"/>
          </a:xfrm>
          <a:prstGeom prst="ellipse">
            <a:avLst/>
          </a:prstGeom>
          <a:solidFill>
            <a:srgbClr val="FF4757"/>
          </a:solidFill>
          <a:ln w="25400">
            <a:solidFill>
              <a:srgbClr val="11121A"/>
            </a:solidFill>
            <a:prstDash val="solid"/>
          </a:ln>
        </p:spPr>
        <p:txBody>
          <a:bodyPr/>
          <a:p/>
        </p:txBody>
      </p:sp>
      <p:sp>
        <p:nvSpPr>
          <p:cNvPr id="9" name="Text 7"/>
          <p:cNvSpPr/>
          <p:nvPr/>
        </p:nvSpPr>
        <p:spPr>
          <a:xfrm>
            <a:off x="3566160" y="1508760"/>
            <a:ext cx="2286000" cy="411480"/>
          </a:xfrm>
          <a:prstGeom prst="rect">
            <a:avLst/>
          </a:prstGeom>
          <a:noFill/>
          <a:ln/>
        </p:spPr>
        <p:txBody>
          <a:bodyPr wrap="square" lIns="0" tIns="0" rIns="0" bIns="0" rtlCol="0" anchor="t"/>
          <a:lstStyle/>
          <a:p>
            <a:pPr indent="0" marL="0">
              <a:buNone/>
            </a:pPr>
            <a:r>
              <a:rPr lang="en-US" sz="2000" b="1" dirty="0">
                <a:solidFill>
                  <a:srgbClr val="FF4757"/>
                </a:solidFill>
                <a:latin typeface="Palatino Linotype" pitchFamily="34" charset="0"/>
                <a:ea typeface="Palatino Linotype" pitchFamily="34" charset="-122"/>
                <a:cs typeface="Palatino Linotype" pitchFamily="34" charset="-120"/>
              </a:rPr>
              <a:t>2008</a:t>
            </a:r>
            <a:endParaRPr lang="en-US" sz="2000" dirty="0"/>
          </a:p>
        </p:txBody>
      </p:sp>
      <p:sp>
        <p:nvSpPr>
          <p:cNvPr id="10" name="Text 8"/>
          <p:cNvSpPr/>
          <p:nvPr/>
        </p:nvSpPr>
        <p:spPr>
          <a:xfrm>
            <a:off x="3566160" y="2514600"/>
            <a:ext cx="2560320" cy="109728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Curtea Supremă a restabilit infracțiunea peste 10 zile</a:t>
            </a:r>
            <a:endParaRPr lang="en-US" sz="1500" dirty="0"/>
          </a:p>
        </p:txBody>
      </p:sp>
      <p:sp>
        <p:nvSpPr>
          <p:cNvPr id="11" name="Text 9"/>
          <p:cNvSpPr/>
          <p:nvPr/>
        </p:nvSpPr>
        <p:spPr>
          <a:xfrm>
            <a:off x="594360" y="3886200"/>
            <a:ext cx="6035040" cy="1188720"/>
          </a:xfrm>
          <a:prstGeom prst="rect">
            <a:avLst/>
          </a:prstGeom>
          <a:noFill/>
          <a:ln/>
        </p:spPr>
        <p:txBody>
          <a:bodyPr wrap="square" lIns="0" tIns="0" rIns="0" bIns="0" rtlCol="0" anchor="t"/>
          <a:lstStyle/>
          <a:p>
            <a:pPr indent="0" marL="0">
              <a:buNone/>
            </a:pPr>
            <a:r>
              <a:rPr lang="en-US" sz="1550" dirty="0">
                <a:solidFill>
                  <a:srgbClr val="959BB0"/>
                </a:solidFill>
                <a:latin typeface="Palatino Linotype" pitchFamily="34" charset="0"/>
                <a:ea typeface="Palatino Linotype" pitchFamily="34" charset="-122"/>
                <a:cs typeface="Palatino Linotype" pitchFamily="34" charset="-120"/>
              </a:rPr>
              <a:t>Paradoxul, după o analiză din 2021: o țară care a dezincriminat a devenit, în ultimul deceniu, mai severă cu consumatorii.</a:t>
            </a:r>
            <a:endParaRPr lang="en-US" sz="1550" dirty="0"/>
          </a:p>
        </p:txBody>
      </p:sp>
      <p:sp>
        <p:nvSpPr>
          <p:cNvPr id="12" name="Shape 10"/>
          <p:cNvSpPr/>
          <p:nvPr/>
        </p:nvSpPr>
        <p:spPr>
          <a:xfrm>
            <a:off x="6903720" y="1508760"/>
            <a:ext cx="4663440" cy="3931920"/>
          </a:xfrm>
          <a:prstGeom prst="roundRect">
            <a:avLst>
              <a:gd name="adj" fmla="val 2093"/>
            </a:avLst>
          </a:prstGeom>
          <a:solidFill>
            <a:srgbClr val="1D1F2B"/>
          </a:solidFill>
          <a:ln w="12700">
            <a:solidFill>
              <a:srgbClr val="1D1F2B"/>
            </a:solidFill>
            <a:prstDash val="solid"/>
          </a:ln>
        </p:spPr>
        <p:txBody>
          <a:bodyPr/>
          <a:p/>
        </p:txBody>
      </p:sp>
      <p:sp>
        <p:nvSpPr>
          <p:cNvPr id="13" name="Text 11"/>
          <p:cNvSpPr/>
          <p:nvPr/>
        </p:nvSpPr>
        <p:spPr>
          <a:xfrm>
            <a:off x="7178040" y="1691640"/>
            <a:ext cx="4206240" cy="45720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Dezincriminare ≠ legalizare</a:t>
            </a:r>
            <a:endParaRPr lang="en-US" sz="1900" dirty="0"/>
          </a:p>
        </p:txBody>
      </p:sp>
      <p:sp>
        <p:nvSpPr>
          <p:cNvPr id="14" name="Text 12"/>
          <p:cNvSpPr/>
          <p:nvPr/>
        </p:nvSpPr>
        <p:spPr>
          <a:xfrm>
            <a:off x="7178040" y="2240280"/>
            <a:ext cx="4206240" cy="1737360"/>
          </a:xfrm>
          <a:prstGeom prst="rect">
            <a:avLst/>
          </a:prstGeom>
          <a:noFill/>
          <a:ln/>
        </p:spPr>
        <p:txBody>
          <a:bodyPr wrap="square" lIns="0" tIns="0" rIns="0" bIns="0" rtlCol="0" anchor="t"/>
          <a:lstStyle/>
          <a:p>
            <a:pPr indent="0" marL="0">
              <a:buNone/>
            </a:pPr>
            <a:r>
              <a:rPr lang="en-US" sz="1550" dirty="0">
                <a:solidFill>
                  <a:srgbClr val="FFFFFF"/>
                </a:solidFill>
                <a:latin typeface="Palatino Linotype" pitchFamily="34" charset="0"/>
                <a:ea typeface="Palatino Linotype" pitchFamily="34" charset="-122"/>
                <a:cs typeface="Palatino Linotype" pitchFamily="34" charset="-120"/>
              </a:rPr>
              <a:t>Consumatorul nu mai e infractor; cine vinde rămâne în afara legii. Statul nu controlează ce se vinde: nici puritatea, nici concentrația.</a:t>
            </a:r>
            <a:endParaRPr lang="en-US" sz="1550" dirty="0"/>
          </a:p>
        </p:txBody>
      </p:sp>
      <p:sp>
        <p:nvSpPr>
          <p:cNvPr id="15" name="Text 13"/>
          <p:cNvSpPr/>
          <p:nvPr/>
        </p:nvSpPr>
        <p:spPr>
          <a:xfrm>
            <a:off x="7178040" y="4069080"/>
            <a:ext cx="4206240" cy="1188720"/>
          </a:xfrm>
          <a:prstGeom prst="rect">
            <a:avLst/>
          </a:prstGeom>
          <a:noFill/>
          <a:ln/>
        </p:spPr>
        <p:txBody>
          <a:bodyPr wrap="square" lIns="0" tIns="0" rIns="0" bIns="0" rtlCol="0" anchor="t"/>
          <a:lstStyle/>
          <a:p>
            <a:pPr indent="0" marL="0">
              <a:buNone/>
            </a:pPr>
            <a:r>
              <a:rPr lang="en-US" sz="1400" i="1" dirty="0">
                <a:solidFill>
                  <a:srgbClr val="959BB0"/>
                </a:solidFill>
                <a:latin typeface="Palatino Linotype" pitchFamily="34" charset="0"/>
                <a:ea typeface="Palatino Linotype" pitchFamily="34" charset="-122"/>
                <a:cs typeface="Palatino Linotype" pitchFamily="34" charset="-120"/>
              </a:rPr>
              <a:t>Cifrele recente din presă (decese, seringi, bugete) nu au putut fi verificate în documentul primar.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30 DE SECUNDE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ÎNTÂI · ÎNCHEIERE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spuneți mâine unui coleg</a:t>
            </a:r>
            <a:endParaRPr lang="en-US" sz="3400" dirty="0"/>
          </a:p>
        </p:txBody>
      </p:sp>
      <p:sp>
        <p:nvSpPr>
          <p:cNvPr id="6" name="Shape 4"/>
          <p:cNvSpPr/>
          <p:nvPr/>
        </p:nvSpPr>
        <p:spPr>
          <a:xfrm>
            <a:off x="594360" y="1828800"/>
            <a:ext cx="73152" cy="3291840"/>
          </a:xfrm>
          <a:prstGeom prst="rect">
            <a:avLst/>
          </a:prstGeom>
          <a:solidFill>
            <a:srgbClr val="27D3BE"/>
          </a:solidFill>
          <a:ln w="12700">
            <a:solidFill>
              <a:srgbClr val="27D3BE"/>
            </a:solidFill>
            <a:prstDash val="solid"/>
          </a:ln>
        </p:spPr>
        <p:txBody>
          <a:bodyPr/>
          <a:p/>
        </p:txBody>
      </p:sp>
      <p:sp>
        <p:nvSpPr>
          <p:cNvPr id="7" name="Text 5"/>
          <p:cNvSpPr/>
          <p:nvPr/>
        </p:nvSpPr>
        <p:spPr>
          <a:xfrm>
            <a:off x="960120" y="1828800"/>
            <a:ext cx="10515600" cy="3291840"/>
          </a:xfrm>
          <a:prstGeom prst="rect">
            <a:avLst/>
          </a:prstGeom>
          <a:noFill/>
          <a:ln/>
        </p:spPr>
        <p:txBody>
          <a:bodyPr wrap="square" lIns="0" tIns="0" rIns="0" bIns="0" rtlCol="0" anchor="ctr"/>
          <a:lstStyle/>
          <a:p>
            <a:pPr indent="0" marL="0">
              <a:buNone/>
            </a:pPr>
            <a:r>
              <a:rPr lang="en-US" sz="2300" i="1" dirty="0">
                <a:solidFill>
                  <a:srgbClr val="FFFFFF"/>
                </a:solidFill>
                <a:latin typeface="Palatino Linotype" pitchFamily="34" charset="0"/>
                <a:ea typeface="Palatino Linotype" pitchFamily="34" charset="-122"/>
                <a:cs typeface="Palatino Linotype" pitchFamily="34" charset="-120"/>
              </a:rPr>
              <a:t>„Portugalia nu a legalizat drogurile: a scos consumul din codul penal și a trimis oamenii la o comisie, iar în același timp a extins tratamentul. Consumul nu a explodat. Cât din rest se datorează legii, nu știe nimeni.”</a:t>
            </a:r>
            <a:endParaRPr lang="en-US" sz="2300" dirty="0"/>
          </a:p>
        </p:txBody>
      </p:sp>
      <p:sp>
        <p:nvSpPr>
          <p:cNvPr id="8" name="Text 6"/>
          <p:cNvSpPr/>
          <p:nvPr/>
        </p:nvSpPr>
        <p:spPr>
          <a:xfrm>
            <a:off x="594360" y="5486400"/>
            <a:ext cx="1097280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Spuneți-o, cu cuvintele voastre, colegului de bancă.</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 · 3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A DOUA · CELE DOUĂ TABERE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Moțiunea și cele două tabere</a:t>
            </a:r>
            <a:endParaRPr lang="en-US" sz="3200" dirty="0"/>
          </a:p>
        </p:txBody>
      </p:sp>
      <p:sp>
        <p:nvSpPr>
          <p:cNvPr id="6" name="Text 4"/>
          <p:cNvSpPr/>
          <p:nvPr/>
        </p:nvSpPr>
        <p:spPr>
          <a:xfrm>
            <a:off x="594360" y="1417320"/>
            <a:ext cx="10972800" cy="868680"/>
          </a:xfrm>
          <a:prstGeom prst="rect">
            <a:avLst/>
          </a:prstGeom>
          <a:noFill/>
          <a:ln/>
        </p:spPr>
        <p:txBody>
          <a:bodyPr wrap="square" lIns="0" tIns="0" rIns="0" bIns="0" rtlCol="0" anchor="t"/>
          <a:lstStyle/>
          <a:p>
            <a:pPr indent="0" marL="0">
              <a:buNone/>
            </a:pPr>
            <a:r>
              <a:rPr lang="en-US" sz="1900" i="1" dirty="0">
                <a:solidFill>
                  <a:srgbClr val="FFFFFF"/>
                </a:solidFill>
                <a:latin typeface="Palatino Linotype" pitchFamily="34" charset="0"/>
                <a:ea typeface="Palatino Linotype" pitchFamily="34" charset="-122"/>
                <a:cs typeface="Palatino Linotype" pitchFamily="34" charset="-120"/>
              </a:rPr>
              <a:t>„România ar trebui să adopte modelul portughez de dezincriminare a consumului personal de droguri.”</a:t>
            </a:r>
            <a:endParaRPr lang="en-US" sz="1900" dirty="0"/>
          </a:p>
        </p:txBody>
      </p:sp>
      <p:sp>
        <p:nvSpPr>
          <p:cNvPr id="7" name="Shape 5"/>
          <p:cNvSpPr/>
          <p:nvPr/>
        </p:nvSpPr>
        <p:spPr>
          <a:xfrm>
            <a:off x="594360" y="2468880"/>
            <a:ext cx="5349240" cy="1737360"/>
          </a:xfrm>
          <a:prstGeom prst="roundRect">
            <a:avLst>
              <a:gd name="adj" fmla="val 4737"/>
            </a:avLst>
          </a:prstGeom>
          <a:solidFill>
            <a:srgbClr val="27D3BE"/>
          </a:solidFill>
          <a:ln w="12700">
            <a:solidFill>
              <a:srgbClr val="27D3BE"/>
            </a:solidFill>
            <a:prstDash val="solid"/>
          </a:ln>
        </p:spPr>
        <p:txBody>
          <a:bodyPr/>
          <a:p/>
        </p:txBody>
      </p:sp>
      <p:sp>
        <p:nvSpPr>
          <p:cNvPr id="8" name="Text 6"/>
          <p:cNvSpPr/>
          <p:nvPr/>
        </p:nvSpPr>
        <p:spPr>
          <a:xfrm>
            <a:off x="868680" y="2651760"/>
            <a:ext cx="4754880" cy="457200"/>
          </a:xfrm>
          <a:prstGeom prst="rect">
            <a:avLst/>
          </a:prstGeom>
          <a:noFill/>
          <a:ln/>
        </p:spPr>
        <p:txBody>
          <a:bodyPr wrap="square" lIns="0" tIns="0" rIns="0" bIns="0" rtlCol="0" anchor="t"/>
          <a:lstStyle/>
          <a:p>
            <a:pPr indent="0" marL="0">
              <a:buNone/>
            </a:pPr>
            <a:r>
              <a:rPr lang="en-US" sz="2200" b="1" spc="200" kern="0" dirty="0">
                <a:solidFill>
                  <a:srgbClr val="073B34"/>
                </a:solidFill>
                <a:latin typeface="Palatino Linotype" pitchFamily="34" charset="0"/>
                <a:ea typeface="Palatino Linotype" pitchFamily="34" charset="-122"/>
                <a:cs typeface="Palatino Linotype" pitchFamily="34" charset="-120"/>
              </a:rPr>
              <a:t>STÂNGA SĂLII</a:t>
            </a:r>
            <a:endParaRPr lang="en-US" sz="2200" dirty="0"/>
          </a:p>
        </p:txBody>
      </p:sp>
      <p:sp>
        <p:nvSpPr>
          <p:cNvPr id="9" name="Text 7"/>
          <p:cNvSpPr/>
          <p:nvPr/>
        </p:nvSpPr>
        <p:spPr>
          <a:xfrm>
            <a:off x="868680" y="3200400"/>
            <a:ext cx="4754880" cy="548640"/>
          </a:xfrm>
          <a:prstGeom prst="rect">
            <a:avLst/>
          </a:prstGeom>
          <a:noFill/>
          <a:ln/>
        </p:spPr>
        <p:txBody>
          <a:bodyPr wrap="square" lIns="0" tIns="0" rIns="0" bIns="0" rtlCol="0" anchor="t"/>
          <a:lstStyle/>
          <a:p>
            <a:pPr indent="0" marL="0">
              <a:buNone/>
            </a:pPr>
            <a:r>
              <a:rPr lang="en-US" sz="1900" dirty="0">
                <a:solidFill>
                  <a:srgbClr val="073B34"/>
                </a:solidFill>
                <a:latin typeface="Palatino Linotype" pitchFamily="34" charset="0"/>
                <a:ea typeface="Palatino Linotype" pitchFamily="34" charset="-122"/>
                <a:cs typeface="Palatino Linotype" pitchFamily="34" charset="-120"/>
              </a:rPr>
              <a:t>pentru moțiune</a:t>
            </a:r>
            <a:endParaRPr lang="en-US" sz="1900" dirty="0"/>
          </a:p>
        </p:txBody>
      </p:sp>
      <p:sp>
        <p:nvSpPr>
          <p:cNvPr id="10" name="Shape 8"/>
          <p:cNvSpPr/>
          <p:nvPr/>
        </p:nvSpPr>
        <p:spPr>
          <a:xfrm>
            <a:off x="6217920" y="2468880"/>
            <a:ext cx="5349240" cy="1737360"/>
          </a:xfrm>
          <a:prstGeom prst="roundRect">
            <a:avLst>
              <a:gd name="adj" fmla="val 4737"/>
            </a:avLst>
          </a:prstGeom>
          <a:solidFill>
            <a:srgbClr val="FF4757"/>
          </a:solidFill>
          <a:ln w="12700">
            <a:solidFill>
              <a:srgbClr val="FF4757"/>
            </a:solidFill>
            <a:prstDash val="solid"/>
          </a:ln>
        </p:spPr>
        <p:txBody>
          <a:bodyPr/>
          <a:p/>
        </p:txBody>
      </p:sp>
      <p:sp>
        <p:nvSpPr>
          <p:cNvPr id="11" name="Text 9"/>
          <p:cNvSpPr/>
          <p:nvPr/>
        </p:nvSpPr>
        <p:spPr>
          <a:xfrm>
            <a:off x="6492240" y="2651760"/>
            <a:ext cx="4754880" cy="457200"/>
          </a:xfrm>
          <a:prstGeom prst="rect">
            <a:avLst/>
          </a:prstGeom>
          <a:noFill/>
          <a:ln/>
        </p:spPr>
        <p:txBody>
          <a:bodyPr wrap="square" lIns="0" tIns="0" rIns="0" bIns="0" rtlCol="0" anchor="t"/>
          <a:lstStyle/>
          <a:p>
            <a:pPr indent="0" marL="0">
              <a:buNone/>
            </a:pPr>
            <a:r>
              <a:rPr lang="en-US" sz="2200" b="1" spc="200" kern="0" dirty="0">
                <a:solidFill>
                  <a:srgbClr val="2E060B"/>
                </a:solidFill>
                <a:latin typeface="Palatino Linotype" pitchFamily="34" charset="0"/>
                <a:ea typeface="Palatino Linotype" pitchFamily="34" charset="-122"/>
                <a:cs typeface="Palatino Linotype" pitchFamily="34" charset="-120"/>
              </a:rPr>
              <a:t>DREAPTA SĂLII</a:t>
            </a:r>
            <a:endParaRPr lang="en-US" sz="2200" dirty="0"/>
          </a:p>
        </p:txBody>
      </p:sp>
      <p:sp>
        <p:nvSpPr>
          <p:cNvPr id="12" name="Text 10"/>
          <p:cNvSpPr/>
          <p:nvPr/>
        </p:nvSpPr>
        <p:spPr>
          <a:xfrm>
            <a:off x="6492240" y="3200400"/>
            <a:ext cx="4754880" cy="548640"/>
          </a:xfrm>
          <a:prstGeom prst="rect">
            <a:avLst/>
          </a:prstGeom>
          <a:noFill/>
          <a:ln/>
        </p:spPr>
        <p:txBody>
          <a:bodyPr wrap="square" lIns="0" tIns="0" rIns="0" bIns="0" rtlCol="0" anchor="t"/>
          <a:lstStyle/>
          <a:p>
            <a:pPr indent="0" marL="0">
              <a:buNone/>
            </a:pPr>
            <a:r>
              <a:rPr lang="en-US" sz="1900" dirty="0">
                <a:solidFill>
                  <a:srgbClr val="2E060B"/>
                </a:solidFill>
                <a:latin typeface="Palatino Linotype" pitchFamily="34" charset="0"/>
                <a:ea typeface="Palatino Linotype" pitchFamily="34" charset="-122"/>
                <a:cs typeface="Palatino Linotype" pitchFamily="34" charset="-120"/>
              </a:rPr>
              <a:t>împotriva moțiunii</a:t>
            </a:r>
            <a:endParaRPr lang="en-US" sz="1900" dirty="0"/>
          </a:p>
        </p:txBody>
      </p:sp>
      <p:sp>
        <p:nvSpPr>
          <p:cNvPr id="13" name="Text 11"/>
          <p:cNvSpPr/>
          <p:nvPr/>
        </p:nvSpPr>
        <p:spPr>
          <a:xfrm>
            <a:off x="594360" y="4434840"/>
            <a:ext cx="10972800" cy="457200"/>
          </a:xfrm>
          <a:prstGeom prst="rect">
            <a:avLst/>
          </a:prstGeom>
          <a:noFill/>
          <a:ln/>
        </p:spPr>
        <p:txBody>
          <a:bodyPr wrap="square" lIns="0" tIns="0" rIns="0" bIns="0" rtlCol="0" anchor="t"/>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Indiferent ce ați votat la început. Trei minute: strângeți argumentele.</a:t>
            </a:r>
            <a:endParaRPr lang="en-US" sz="1800" dirty="0"/>
          </a:p>
        </p:txBody>
      </p:sp>
      <p:sp>
        <p:nvSpPr>
          <p:cNvPr id="14" name="Text 12"/>
          <p:cNvSpPr/>
          <p:nvPr/>
        </p:nvSpPr>
        <p:spPr>
          <a:xfrm>
            <a:off x="594360" y="5029200"/>
            <a:ext cx="10972800" cy="82296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Scopul nu e să câștige cineva, ci să vedeți unde se termină faptul și unde începe valoarea. Dezbaterea nu se notează.</a:t>
            </a:r>
            <a:endParaRPr lang="en-US" sz="1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 · 5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CELE DOUĂ TABERE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Prima rundă</a:t>
            </a:r>
            <a:endParaRPr lang="en-US" sz="3400" dirty="0"/>
          </a:p>
        </p:txBody>
      </p:sp>
      <p:sp>
        <p:nvSpPr>
          <p:cNvPr id="6" name="Shape 4"/>
          <p:cNvSpPr/>
          <p:nvPr/>
        </p:nvSpPr>
        <p:spPr>
          <a:xfrm>
            <a:off x="594360" y="1645920"/>
            <a:ext cx="5349240" cy="2377440"/>
          </a:xfrm>
          <a:prstGeom prst="roundRect">
            <a:avLst>
              <a:gd name="adj" fmla="val 3462"/>
            </a:avLst>
          </a:prstGeom>
          <a:solidFill>
            <a:srgbClr val="1D1F2B"/>
          </a:solidFill>
          <a:ln w="12700">
            <a:solidFill>
              <a:srgbClr val="1D1F2B"/>
            </a:solidFill>
            <a:prstDash val="solid"/>
          </a:ln>
        </p:spPr>
        <p:txBody>
          <a:bodyPr/>
          <a:p/>
        </p:txBody>
      </p:sp>
      <p:sp>
        <p:nvSpPr>
          <p:cNvPr id="7" name="Text 5"/>
          <p:cNvSpPr/>
          <p:nvPr/>
        </p:nvSpPr>
        <p:spPr>
          <a:xfrm>
            <a:off x="868680" y="1783080"/>
            <a:ext cx="4754880" cy="457200"/>
          </a:xfrm>
          <a:prstGeom prst="rect">
            <a:avLst/>
          </a:prstGeom>
          <a:noFill/>
          <a:ln/>
        </p:spPr>
        <p:txBody>
          <a:bodyPr wrap="square" lIns="0" tIns="0" rIns="0" bIns="0" rtlCol="0" anchor="t"/>
          <a:lstStyle/>
          <a:p>
            <a:pPr indent="0" marL="0">
              <a:buNone/>
            </a:pPr>
            <a:r>
              <a:rPr lang="en-US" sz="2000" b="1" spc="300" kern="0" dirty="0">
                <a:solidFill>
                  <a:srgbClr val="27D3BE"/>
                </a:solidFill>
                <a:latin typeface="Palatino Linotype" pitchFamily="34" charset="0"/>
                <a:ea typeface="Palatino Linotype" pitchFamily="34" charset="-122"/>
                <a:cs typeface="Palatino Linotype" pitchFamily="34" charset="-120"/>
              </a:rPr>
              <a:t>PENTRU</a:t>
            </a:r>
            <a:endParaRPr lang="en-US" sz="2000" dirty="0"/>
          </a:p>
        </p:txBody>
      </p:sp>
      <p:sp>
        <p:nvSpPr>
          <p:cNvPr id="8" name="Shape 6"/>
          <p:cNvSpPr/>
          <p:nvPr/>
        </p:nvSpPr>
        <p:spPr>
          <a:xfrm>
            <a:off x="868680" y="2423160"/>
            <a:ext cx="457200" cy="457200"/>
          </a:xfrm>
          <a:prstGeom prst="ellipse">
            <a:avLst/>
          </a:prstGeom>
          <a:solidFill>
            <a:srgbClr val="27D3BE"/>
          </a:solidFill>
          <a:ln/>
        </p:spPr>
        <p:txBody>
          <a:bodyPr/>
          <a:p/>
        </p:txBody>
      </p:sp>
      <p:sp>
        <p:nvSpPr>
          <p:cNvPr id="9" name="Text 7"/>
          <p:cNvSpPr/>
          <p:nvPr/>
        </p:nvSpPr>
        <p:spPr>
          <a:xfrm>
            <a:off x="868680" y="242316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0" name="Text 8"/>
          <p:cNvSpPr/>
          <p:nvPr/>
        </p:nvSpPr>
        <p:spPr>
          <a:xfrm>
            <a:off x="1508760" y="2423160"/>
            <a:ext cx="4023360" cy="45720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voluntar · un minut</a:t>
            </a:r>
            <a:endParaRPr lang="en-US" sz="1700" dirty="0"/>
          </a:p>
        </p:txBody>
      </p:sp>
      <p:sp>
        <p:nvSpPr>
          <p:cNvPr id="11" name="Shape 9"/>
          <p:cNvSpPr/>
          <p:nvPr/>
        </p:nvSpPr>
        <p:spPr>
          <a:xfrm>
            <a:off x="868680" y="3154680"/>
            <a:ext cx="457200" cy="457200"/>
          </a:xfrm>
          <a:prstGeom prst="ellipse">
            <a:avLst/>
          </a:prstGeom>
          <a:solidFill>
            <a:srgbClr val="27D3BE"/>
          </a:solidFill>
          <a:ln/>
        </p:spPr>
        <p:txBody>
          <a:bodyPr/>
          <a:p/>
        </p:txBody>
      </p:sp>
      <p:sp>
        <p:nvSpPr>
          <p:cNvPr id="12" name="Text 10"/>
          <p:cNvSpPr/>
          <p:nvPr/>
        </p:nvSpPr>
        <p:spPr>
          <a:xfrm>
            <a:off x="868680" y="3154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3" name="Text 11"/>
          <p:cNvSpPr/>
          <p:nvPr/>
        </p:nvSpPr>
        <p:spPr>
          <a:xfrm>
            <a:off x="1508760" y="3154680"/>
            <a:ext cx="4023360" cy="45720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voluntar · un minut</a:t>
            </a:r>
            <a:endParaRPr lang="en-US" sz="1700" dirty="0"/>
          </a:p>
        </p:txBody>
      </p:sp>
      <p:sp>
        <p:nvSpPr>
          <p:cNvPr id="14" name="Shape 12"/>
          <p:cNvSpPr/>
          <p:nvPr/>
        </p:nvSpPr>
        <p:spPr>
          <a:xfrm>
            <a:off x="6217920" y="1645920"/>
            <a:ext cx="5349240" cy="2377440"/>
          </a:xfrm>
          <a:prstGeom prst="roundRect">
            <a:avLst>
              <a:gd name="adj" fmla="val 3462"/>
            </a:avLst>
          </a:prstGeom>
          <a:solidFill>
            <a:srgbClr val="1D1F2B"/>
          </a:solidFill>
          <a:ln w="12700">
            <a:solidFill>
              <a:srgbClr val="1D1F2B"/>
            </a:solidFill>
            <a:prstDash val="solid"/>
          </a:ln>
        </p:spPr>
        <p:txBody>
          <a:bodyPr/>
          <a:p/>
        </p:txBody>
      </p:sp>
      <p:sp>
        <p:nvSpPr>
          <p:cNvPr id="15" name="Text 13"/>
          <p:cNvSpPr/>
          <p:nvPr/>
        </p:nvSpPr>
        <p:spPr>
          <a:xfrm>
            <a:off x="6492240" y="1783080"/>
            <a:ext cx="4754880" cy="457200"/>
          </a:xfrm>
          <a:prstGeom prst="rect">
            <a:avLst/>
          </a:prstGeom>
          <a:noFill/>
          <a:ln/>
        </p:spPr>
        <p:txBody>
          <a:bodyPr wrap="square" lIns="0" tIns="0" rIns="0" bIns="0" rtlCol="0" anchor="t"/>
          <a:lstStyle/>
          <a:p>
            <a:pPr indent="0" marL="0">
              <a:buNone/>
            </a:pPr>
            <a:r>
              <a:rPr lang="en-US" sz="2000" b="1" spc="300" kern="0" dirty="0">
                <a:solidFill>
                  <a:srgbClr val="FF4757"/>
                </a:solidFill>
                <a:latin typeface="Palatino Linotype" pitchFamily="34" charset="0"/>
                <a:ea typeface="Palatino Linotype" pitchFamily="34" charset="-122"/>
                <a:cs typeface="Palatino Linotype" pitchFamily="34" charset="-120"/>
              </a:rPr>
              <a:t>ÎMPOTRIVĂ</a:t>
            </a:r>
            <a:endParaRPr lang="en-US" sz="2000" dirty="0"/>
          </a:p>
        </p:txBody>
      </p:sp>
      <p:sp>
        <p:nvSpPr>
          <p:cNvPr id="16" name="Shape 14"/>
          <p:cNvSpPr/>
          <p:nvPr/>
        </p:nvSpPr>
        <p:spPr>
          <a:xfrm>
            <a:off x="6492240" y="2423160"/>
            <a:ext cx="457200" cy="457200"/>
          </a:xfrm>
          <a:prstGeom prst="ellipse">
            <a:avLst/>
          </a:prstGeom>
          <a:solidFill>
            <a:srgbClr val="FF4757"/>
          </a:solidFill>
          <a:ln/>
        </p:spPr>
        <p:txBody>
          <a:bodyPr/>
          <a:p/>
        </p:txBody>
      </p:sp>
      <p:sp>
        <p:nvSpPr>
          <p:cNvPr id="17" name="Text 15"/>
          <p:cNvSpPr/>
          <p:nvPr/>
        </p:nvSpPr>
        <p:spPr>
          <a:xfrm>
            <a:off x="6492240" y="242316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18" name="Text 16"/>
          <p:cNvSpPr/>
          <p:nvPr/>
        </p:nvSpPr>
        <p:spPr>
          <a:xfrm>
            <a:off x="7132320" y="2423160"/>
            <a:ext cx="4023360" cy="45720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voluntar · un minut</a:t>
            </a:r>
            <a:endParaRPr lang="en-US" sz="1700" dirty="0"/>
          </a:p>
        </p:txBody>
      </p:sp>
      <p:sp>
        <p:nvSpPr>
          <p:cNvPr id="19" name="Shape 17"/>
          <p:cNvSpPr/>
          <p:nvPr/>
        </p:nvSpPr>
        <p:spPr>
          <a:xfrm>
            <a:off x="6492240" y="3154680"/>
            <a:ext cx="457200" cy="457200"/>
          </a:xfrm>
          <a:prstGeom prst="ellipse">
            <a:avLst/>
          </a:prstGeom>
          <a:solidFill>
            <a:srgbClr val="FF4757"/>
          </a:solidFill>
          <a:ln/>
        </p:spPr>
        <p:txBody>
          <a:bodyPr/>
          <a:p/>
        </p:txBody>
      </p:sp>
      <p:sp>
        <p:nvSpPr>
          <p:cNvPr id="20" name="Text 18"/>
          <p:cNvSpPr/>
          <p:nvPr/>
        </p:nvSpPr>
        <p:spPr>
          <a:xfrm>
            <a:off x="6492240" y="3154680"/>
            <a:ext cx="457200" cy="457200"/>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21" name="Text 19"/>
          <p:cNvSpPr/>
          <p:nvPr/>
        </p:nvSpPr>
        <p:spPr>
          <a:xfrm>
            <a:off x="7132320" y="3154680"/>
            <a:ext cx="4023360" cy="457200"/>
          </a:xfrm>
          <a:prstGeom prst="rect">
            <a:avLst/>
          </a:prstGeom>
          <a:noFill/>
          <a:ln/>
        </p:spPr>
        <p:txBody>
          <a:bodyPr wrap="square" lIns="0" tIns="0" rIns="0" bIns="0" rtlCol="0" anchor="ctr"/>
          <a:lstStyle/>
          <a:p>
            <a:pPr indent="0" marL="0">
              <a:buNone/>
            </a:pPr>
            <a:r>
              <a:rPr lang="en-US" sz="1700" dirty="0">
                <a:solidFill>
                  <a:srgbClr val="FFFFFF"/>
                </a:solidFill>
                <a:latin typeface="Palatino Linotype" pitchFamily="34" charset="0"/>
                <a:ea typeface="Palatino Linotype" pitchFamily="34" charset="-122"/>
                <a:cs typeface="Palatino Linotype" pitchFamily="34" charset="-120"/>
              </a:rPr>
              <a:t>voluntar · un minut</a:t>
            </a:r>
            <a:endParaRPr lang="en-US" sz="1700" dirty="0"/>
          </a:p>
        </p:txBody>
      </p:sp>
      <p:sp>
        <p:nvSpPr>
          <p:cNvPr id="22" name="Text 20"/>
          <p:cNvSpPr/>
          <p:nvPr/>
        </p:nvSpPr>
        <p:spPr>
          <a:xfrm>
            <a:off x="594360" y="4343400"/>
            <a:ext cx="10972800" cy="82296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Ceilalți notează: ce afirmație din argument s-ar putea verifica într-o sursă?</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TABERE · 4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A DOUA RUNDĂ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Dovada care vă contrazice</a:t>
            </a:r>
            <a:endParaRPr lang="en-US" sz="3400" dirty="0"/>
          </a:p>
        </p:txBody>
      </p:sp>
      <p:sp>
        <p:nvSpPr>
          <p:cNvPr id="6" name="Shape 4"/>
          <p:cNvSpPr/>
          <p:nvPr/>
        </p:nvSpPr>
        <p:spPr>
          <a:xfrm>
            <a:off x="594360" y="1600200"/>
            <a:ext cx="5349240" cy="2743200"/>
          </a:xfrm>
          <a:prstGeom prst="roundRect">
            <a:avLst>
              <a:gd name="adj" fmla="val 3000"/>
            </a:avLst>
          </a:prstGeom>
          <a:solidFill>
            <a:srgbClr val="1D1F2B"/>
          </a:solidFill>
          <a:ln w="12700">
            <a:solidFill>
              <a:srgbClr val="1D1F2B"/>
            </a:solidFill>
            <a:prstDash val="solid"/>
          </a:ln>
        </p:spPr>
        <p:txBody>
          <a:bodyPr/>
          <a:p/>
        </p:txBody>
      </p:sp>
      <p:sp>
        <p:nvSpPr>
          <p:cNvPr id="7" name="Shape 5"/>
          <p:cNvSpPr/>
          <p:nvPr/>
        </p:nvSpPr>
        <p:spPr>
          <a:xfrm>
            <a:off x="594360" y="1600200"/>
            <a:ext cx="5349240" cy="73152"/>
          </a:xfrm>
          <a:prstGeom prst="rect">
            <a:avLst/>
          </a:prstGeom>
          <a:solidFill>
            <a:srgbClr val="27D3BE"/>
          </a:solidFill>
          <a:ln w="12700">
            <a:solidFill>
              <a:srgbClr val="27D3BE"/>
            </a:solidFill>
            <a:prstDash val="solid"/>
          </a:ln>
        </p:spPr>
        <p:txBody>
          <a:bodyPr/>
          <a:p/>
        </p:txBody>
      </p:sp>
      <p:sp>
        <p:nvSpPr>
          <p:cNvPr id="8" name="Text 6"/>
          <p:cNvSpPr/>
          <p:nvPr/>
        </p:nvSpPr>
        <p:spPr>
          <a:xfrm>
            <a:off x="868680" y="1810512"/>
            <a:ext cx="4846320" cy="365760"/>
          </a:xfrm>
          <a:prstGeom prst="rect">
            <a:avLst/>
          </a:prstGeom>
          <a:noFill/>
          <a:ln/>
        </p:spPr>
        <p:txBody>
          <a:bodyPr wrap="square" lIns="0" tIns="0" rIns="0" bIns="0" rtlCol="0" anchor="t"/>
          <a:lstStyle/>
          <a:p>
            <a:pPr indent="0" marL="0">
              <a:buNone/>
            </a:pPr>
            <a:r>
              <a:rPr lang="en-US" sz="1400" b="1" spc="200" kern="0" dirty="0">
                <a:solidFill>
                  <a:srgbClr val="27D3BE"/>
                </a:solidFill>
                <a:latin typeface="Palatino Linotype" pitchFamily="34" charset="0"/>
                <a:ea typeface="Palatino Linotype" pitchFamily="34" charset="-122"/>
                <a:cs typeface="Palatino Linotype" pitchFamily="34" charset="-120"/>
              </a:rPr>
              <a:t>TABĂRA „PENTRU” PRIMEȘTE</a:t>
            </a:r>
            <a:endParaRPr lang="en-US" sz="1400" dirty="0"/>
          </a:p>
        </p:txBody>
      </p:sp>
      <p:sp>
        <p:nvSpPr>
          <p:cNvPr id="9" name="Text 7"/>
          <p:cNvSpPr/>
          <p:nvPr/>
        </p:nvSpPr>
        <p:spPr>
          <a:xfrm>
            <a:off x="868680" y="2286000"/>
            <a:ext cx="4846320" cy="192024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Problema atribuirii: rezultatele bune au venit împreună cu extinderea serviciilor și nu pot fi atribuite numai legii.</a:t>
            </a:r>
            <a:endParaRPr lang="en-US" sz="1800" dirty="0"/>
          </a:p>
        </p:txBody>
      </p:sp>
      <p:sp>
        <p:nvSpPr>
          <p:cNvPr id="10" name="Shape 8"/>
          <p:cNvSpPr/>
          <p:nvPr/>
        </p:nvSpPr>
        <p:spPr>
          <a:xfrm>
            <a:off x="6217920" y="1600200"/>
            <a:ext cx="5349240" cy="2743200"/>
          </a:xfrm>
          <a:prstGeom prst="roundRect">
            <a:avLst>
              <a:gd name="adj" fmla="val 3000"/>
            </a:avLst>
          </a:prstGeom>
          <a:solidFill>
            <a:srgbClr val="1D1F2B"/>
          </a:solidFill>
          <a:ln w="12700">
            <a:solidFill>
              <a:srgbClr val="1D1F2B"/>
            </a:solidFill>
            <a:prstDash val="solid"/>
          </a:ln>
        </p:spPr>
        <p:txBody>
          <a:bodyPr/>
          <a:p/>
        </p:txBody>
      </p:sp>
      <p:sp>
        <p:nvSpPr>
          <p:cNvPr id="11" name="Shape 9"/>
          <p:cNvSpPr/>
          <p:nvPr/>
        </p:nvSpPr>
        <p:spPr>
          <a:xfrm>
            <a:off x="6217920" y="1600200"/>
            <a:ext cx="5349240" cy="73152"/>
          </a:xfrm>
          <a:prstGeom prst="rect">
            <a:avLst/>
          </a:prstGeom>
          <a:solidFill>
            <a:srgbClr val="FF4757"/>
          </a:solidFill>
          <a:ln w="12700">
            <a:solidFill>
              <a:srgbClr val="FF4757"/>
            </a:solidFill>
            <a:prstDash val="solid"/>
          </a:ln>
        </p:spPr>
        <p:txBody>
          <a:bodyPr/>
          <a:p/>
        </p:txBody>
      </p:sp>
      <p:sp>
        <p:nvSpPr>
          <p:cNvPr id="12" name="Text 10"/>
          <p:cNvSpPr/>
          <p:nvPr/>
        </p:nvSpPr>
        <p:spPr>
          <a:xfrm>
            <a:off x="6492240" y="1810512"/>
            <a:ext cx="4846320" cy="365760"/>
          </a:xfrm>
          <a:prstGeom prst="rect">
            <a:avLst/>
          </a:prstGeom>
          <a:noFill/>
          <a:ln/>
        </p:spPr>
        <p:txBody>
          <a:bodyPr wrap="square" lIns="0" tIns="0" rIns="0" bIns="0" rtlCol="0" anchor="t"/>
          <a:lstStyle/>
          <a:p>
            <a:pPr indent="0" marL="0">
              <a:buNone/>
            </a:pPr>
            <a:r>
              <a:rPr lang="en-US" sz="1400" b="1" spc="200" kern="0" dirty="0">
                <a:solidFill>
                  <a:srgbClr val="FF4757"/>
                </a:solidFill>
                <a:latin typeface="Palatino Linotype" pitchFamily="34" charset="0"/>
                <a:ea typeface="Palatino Linotype" pitchFamily="34" charset="-122"/>
                <a:cs typeface="Palatino Linotype" pitchFamily="34" charset="-120"/>
              </a:rPr>
              <a:t>TABĂRA „ÎMPOTRIVĂ” PRIMEȘTE</a:t>
            </a:r>
            <a:endParaRPr lang="en-US" sz="1400" dirty="0"/>
          </a:p>
        </p:txBody>
      </p:sp>
      <p:sp>
        <p:nvSpPr>
          <p:cNvPr id="13" name="Text 11"/>
          <p:cNvSpPr/>
          <p:nvPr/>
        </p:nvSpPr>
        <p:spPr>
          <a:xfrm>
            <a:off x="6492240" y="2286000"/>
            <a:ext cx="4846320" cy="192024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Concluzia comisiei din 2016: fără creștere semnificativă a consumului și cu mai puține încarcerări.</a:t>
            </a:r>
            <a:endParaRPr lang="en-US" sz="1800" dirty="0"/>
          </a:p>
        </p:txBody>
      </p:sp>
      <p:sp>
        <p:nvSpPr>
          <p:cNvPr id="14" name="Text 12"/>
          <p:cNvSpPr/>
          <p:nvPr/>
        </p:nvSpPr>
        <p:spPr>
          <a:xfrm>
            <a:off x="594360" y="4617720"/>
            <a:ext cx="10972800" cy="82296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Includeți dovada în argument; nu o ocoliți. Câte un voluntar pe tabără, un minut.</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5 VOTURI</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DUPĂ DEZBATERE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Fapt sau valoare?</a:t>
            </a:r>
            <a:endParaRPr lang="en-US" sz="3400" dirty="0"/>
          </a:p>
        </p:txBody>
      </p:sp>
      <p:sp>
        <p:nvSpPr>
          <p:cNvPr id="6" name="Shape 4"/>
          <p:cNvSpPr/>
          <p:nvPr/>
        </p:nvSpPr>
        <p:spPr>
          <a:xfrm>
            <a:off x="594360" y="1463040"/>
            <a:ext cx="10972800" cy="658368"/>
          </a:xfrm>
          <a:prstGeom prst="roundRect">
            <a:avLst>
              <a:gd name="adj" fmla="val 12500"/>
            </a:avLst>
          </a:prstGeom>
          <a:solidFill>
            <a:srgbClr val="1D1F2B"/>
          </a:solidFill>
          <a:ln w="12700">
            <a:solidFill>
              <a:srgbClr val="1D1F2B"/>
            </a:solidFill>
            <a:prstDash val="solid"/>
          </a:ln>
        </p:spPr>
        <p:txBody>
          <a:bodyPr/>
          <a:p/>
        </p:txBody>
      </p:sp>
      <p:sp>
        <p:nvSpPr>
          <p:cNvPr id="7" name="Shape 5"/>
          <p:cNvSpPr/>
          <p:nvPr/>
        </p:nvSpPr>
        <p:spPr>
          <a:xfrm>
            <a:off x="777240" y="1581912"/>
            <a:ext cx="420624" cy="420624"/>
          </a:xfrm>
          <a:prstGeom prst="ellipse">
            <a:avLst/>
          </a:prstGeom>
          <a:solidFill>
            <a:srgbClr val="FFC24B"/>
          </a:solidFill>
          <a:ln/>
        </p:spPr>
        <p:txBody>
          <a:bodyPr/>
          <a:p/>
        </p:txBody>
      </p:sp>
      <p:sp>
        <p:nvSpPr>
          <p:cNvPr id="8" name="Text 6"/>
          <p:cNvSpPr/>
          <p:nvPr/>
        </p:nvSpPr>
        <p:spPr>
          <a:xfrm>
            <a:off x="777240" y="1581912"/>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371600" y="1463040"/>
            <a:ext cx="9966960" cy="658368"/>
          </a:xfrm>
          <a:prstGeom prst="rect">
            <a:avLst/>
          </a:prstGeom>
          <a:noFill/>
          <a:ln/>
        </p:spPr>
        <p:txBody>
          <a:bodyPr wrap="square" lIns="0" tIns="0" rIns="0" bIns="0" rtlCol="0" anchor="ctr"/>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„Consumul nu a crescut semnificativ după 2001.”</a:t>
            </a:r>
            <a:endParaRPr lang="en-US" sz="1700" dirty="0"/>
          </a:p>
        </p:txBody>
      </p:sp>
      <p:sp>
        <p:nvSpPr>
          <p:cNvPr id="10" name="Shape 8"/>
          <p:cNvSpPr/>
          <p:nvPr/>
        </p:nvSpPr>
        <p:spPr>
          <a:xfrm>
            <a:off x="594360" y="2249424"/>
            <a:ext cx="10972800" cy="658368"/>
          </a:xfrm>
          <a:prstGeom prst="roundRect">
            <a:avLst>
              <a:gd name="adj" fmla="val 12500"/>
            </a:avLst>
          </a:prstGeom>
          <a:solidFill>
            <a:srgbClr val="1D1F2B"/>
          </a:solidFill>
          <a:ln w="12700">
            <a:solidFill>
              <a:srgbClr val="1D1F2B"/>
            </a:solidFill>
            <a:prstDash val="solid"/>
          </a:ln>
        </p:spPr>
        <p:txBody>
          <a:bodyPr/>
          <a:p/>
        </p:txBody>
      </p:sp>
      <p:sp>
        <p:nvSpPr>
          <p:cNvPr id="11" name="Shape 9"/>
          <p:cNvSpPr/>
          <p:nvPr/>
        </p:nvSpPr>
        <p:spPr>
          <a:xfrm>
            <a:off x="777240" y="2368296"/>
            <a:ext cx="420624" cy="420624"/>
          </a:xfrm>
          <a:prstGeom prst="ellipse">
            <a:avLst/>
          </a:prstGeom>
          <a:solidFill>
            <a:srgbClr val="FFC24B"/>
          </a:solidFill>
          <a:ln/>
        </p:spPr>
        <p:txBody>
          <a:bodyPr/>
          <a:p/>
        </p:txBody>
      </p:sp>
      <p:sp>
        <p:nvSpPr>
          <p:cNvPr id="12" name="Text 10"/>
          <p:cNvSpPr/>
          <p:nvPr/>
        </p:nvSpPr>
        <p:spPr>
          <a:xfrm>
            <a:off x="777240" y="2368296"/>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371600" y="2249424"/>
            <a:ext cx="9966960" cy="658368"/>
          </a:xfrm>
          <a:prstGeom prst="rect">
            <a:avLst/>
          </a:prstGeom>
          <a:noFill/>
          <a:ln/>
        </p:spPr>
        <p:txBody>
          <a:bodyPr wrap="square" lIns="0" tIns="0" rIns="0" bIns="0" rtlCol="0" anchor="ctr"/>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„Un tânăr nu merită cazier pentru o țigară.”</a:t>
            </a:r>
            <a:endParaRPr lang="en-US" sz="1700" dirty="0"/>
          </a:p>
        </p:txBody>
      </p:sp>
      <p:sp>
        <p:nvSpPr>
          <p:cNvPr id="14" name="Shape 12"/>
          <p:cNvSpPr/>
          <p:nvPr/>
        </p:nvSpPr>
        <p:spPr>
          <a:xfrm>
            <a:off x="594360" y="3035808"/>
            <a:ext cx="10972800" cy="658368"/>
          </a:xfrm>
          <a:prstGeom prst="roundRect">
            <a:avLst>
              <a:gd name="adj" fmla="val 12500"/>
            </a:avLst>
          </a:prstGeom>
          <a:solidFill>
            <a:srgbClr val="1D1F2B"/>
          </a:solidFill>
          <a:ln w="12700">
            <a:solidFill>
              <a:srgbClr val="1D1F2B"/>
            </a:solidFill>
            <a:prstDash val="solid"/>
          </a:ln>
        </p:spPr>
        <p:txBody>
          <a:bodyPr/>
          <a:p/>
        </p:txBody>
      </p:sp>
      <p:sp>
        <p:nvSpPr>
          <p:cNvPr id="15" name="Shape 13"/>
          <p:cNvSpPr/>
          <p:nvPr/>
        </p:nvSpPr>
        <p:spPr>
          <a:xfrm>
            <a:off x="777240" y="3154680"/>
            <a:ext cx="420624" cy="420624"/>
          </a:xfrm>
          <a:prstGeom prst="ellipse">
            <a:avLst/>
          </a:prstGeom>
          <a:solidFill>
            <a:srgbClr val="FFC24B"/>
          </a:solidFill>
          <a:ln/>
        </p:spPr>
        <p:txBody>
          <a:bodyPr/>
          <a:p/>
        </p:txBody>
      </p:sp>
      <p:sp>
        <p:nvSpPr>
          <p:cNvPr id="16" name="Text 14"/>
          <p:cNvSpPr/>
          <p:nvPr/>
        </p:nvSpPr>
        <p:spPr>
          <a:xfrm>
            <a:off x="777240" y="3154680"/>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371600" y="3035808"/>
            <a:ext cx="9966960" cy="658368"/>
          </a:xfrm>
          <a:prstGeom prst="rect">
            <a:avLst/>
          </a:prstGeom>
          <a:noFill/>
          <a:ln/>
        </p:spPr>
        <p:txBody>
          <a:bodyPr wrap="square" lIns="0" tIns="0" rIns="0" bIns="0" rtlCol="0" anchor="ctr"/>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„Statul trebuie să transmită un mesaj ferm.”</a:t>
            </a:r>
            <a:endParaRPr lang="en-US" sz="1700" dirty="0"/>
          </a:p>
        </p:txBody>
      </p:sp>
      <p:sp>
        <p:nvSpPr>
          <p:cNvPr id="18" name="Shape 16"/>
          <p:cNvSpPr/>
          <p:nvPr/>
        </p:nvSpPr>
        <p:spPr>
          <a:xfrm>
            <a:off x="594360" y="3822192"/>
            <a:ext cx="10972800" cy="658368"/>
          </a:xfrm>
          <a:prstGeom prst="roundRect">
            <a:avLst>
              <a:gd name="adj" fmla="val 12500"/>
            </a:avLst>
          </a:prstGeom>
          <a:solidFill>
            <a:srgbClr val="1D1F2B"/>
          </a:solidFill>
          <a:ln w="12700">
            <a:solidFill>
              <a:srgbClr val="1D1F2B"/>
            </a:solidFill>
            <a:prstDash val="solid"/>
          </a:ln>
        </p:spPr>
        <p:txBody>
          <a:bodyPr/>
          <a:p/>
        </p:txBody>
      </p:sp>
      <p:sp>
        <p:nvSpPr>
          <p:cNvPr id="19" name="Shape 17"/>
          <p:cNvSpPr/>
          <p:nvPr/>
        </p:nvSpPr>
        <p:spPr>
          <a:xfrm>
            <a:off x="777240" y="3941064"/>
            <a:ext cx="420624" cy="420624"/>
          </a:xfrm>
          <a:prstGeom prst="ellipse">
            <a:avLst/>
          </a:prstGeom>
          <a:solidFill>
            <a:srgbClr val="FFC24B"/>
          </a:solidFill>
          <a:ln/>
        </p:spPr>
        <p:txBody>
          <a:bodyPr/>
          <a:p/>
        </p:txBody>
      </p:sp>
      <p:sp>
        <p:nvSpPr>
          <p:cNvPr id="20" name="Text 18"/>
          <p:cNvSpPr/>
          <p:nvPr/>
        </p:nvSpPr>
        <p:spPr>
          <a:xfrm>
            <a:off x="777240" y="3941064"/>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371600" y="3822192"/>
            <a:ext cx="9966960" cy="658368"/>
          </a:xfrm>
          <a:prstGeom prst="rect">
            <a:avLst/>
          </a:prstGeom>
          <a:noFill/>
          <a:ln/>
        </p:spPr>
        <p:txBody>
          <a:bodyPr wrap="square" lIns="0" tIns="0" rIns="0" bIns="0" rtlCol="0" anchor="ctr"/>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„Dezincriminarea crește consumul.”</a:t>
            </a:r>
            <a:endParaRPr lang="en-US" sz="1700" dirty="0"/>
          </a:p>
        </p:txBody>
      </p:sp>
      <p:sp>
        <p:nvSpPr>
          <p:cNvPr id="22" name="Shape 20"/>
          <p:cNvSpPr/>
          <p:nvPr/>
        </p:nvSpPr>
        <p:spPr>
          <a:xfrm>
            <a:off x="594360" y="4608576"/>
            <a:ext cx="10972800" cy="658368"/>
          </a:xfrm>
          <a:prstGeom prst="roundRect">
            <a:avLst>
              <a:gd name="adj" fmla="val 12500"/>
            </a:avLst>
          </a:prstGeom>
          <a:solidFill>
            <a:srgbClr val="1D1F2B"/>
          </a:solidFill>
          <a:ln w="12700">
            <a:solidFill>
              <a:srgbClr val="1D1F2B"/>
            </a:solidFill>
            <a:prstDash val="solid"/>
          </a:ln>
        </p:spPr>
        <p:txBody>
          <a:bodyPr/>
          <a:p/>
        </p:txBody>
      </p:sp>
      <p:sp>
        <p:nvSpPr>
          <p:cNvPr id="23" name="Shape 21"/>
          <p:cNvSpPr/>
          <p:nvPr/>
        </p:nvSpPr>
        <p:spPr>
          <a:xfrm>
            <a:off x="777240" y="4727448"/>
            <a:ext cx="420624" cy="420624"/>
          </a:xfrm>
          <a:prstGeom prst="ellipse">
            <a:avLst/>
          </a:prstGeom>
          <a:solidFill>
            <a:srgbClr val="FFC24B"/>
          </a:solidFill>
          <a:ln/>
        </p:spPr>
        <p:txBody>
          <a:bodyPr/>
          <a:p/>
        </p:txBody>
      </p:sp>
      <p:sp>
        <p:nvSpPr>
          <p:cNvPr id="24" name="Text 22"/>
          <p:cNvSpPr/>
          <p:nvPr/>
        </p:nvSpPr>
        <p:spPr>
          <a:xfrm>
            <a:off x="777240" y="47274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e</a:t>
            </a:r>
            <a:endParaRPr lang="en-US" sz="1400" dirty="0"/>
          </a:p>
        </p:txBody>
      </p:sp>
      <p:sp>
        <p:nvSpPr>
          <p:cNvPr id="25" name="Text 23"/>
          <p:cNvSpPr/>
          <p:nvPr/>
        </p:nvSpPr>
        <p:spPr>
          <a:xfrm>
            <a:off x="1371600" y="4608576"/>
            <a:ext cx="9966960" cy="658368"/>
          </a:xfrm>
          <a:prstGeom prst="rect">
            <a:avLst/>
          </a:prstGeom>
          <a:noFill/>
          <a:ln/>
        </p:spPr>
        <p:txBody>
          <a:bodyPr wrap="square" lIns="0" tIns="0" rIns="0" bIns="0" rtlCol="0" anchor="ctr"/>
          <a:lstStyle/>
          <a:p>
            <a:pPr indent="0" marL="0">
              <a:buNone/>
            </a:pPr>
            <a:r>
              <a:rPr lang="en-US" sz="1700" i="1" dirty="0">
                <a:solidFill>
                  <a:srgbClr val="FFFFFF"/>
                </a:solidFill>
                <a:latin typeface="Palatino Linotype" pitchFamily="34" charset="0"/>
                <a:ea typeface="Palatino Linotype" pitchFamily="34" charset="-122"/>
                <a:cs typeface="Palatino Linotype" pitchFamily="34" charset="-120"/>
              </a:rPr>
              <a:t>„Comisiile portugheze ar funcționa la fel în România.”</a:t>
            </a:r>
            <a:endParaRPr lang="en-US" sz="1700" dirty="0"/>
          </a:p>
        </p:txBody>
      </p:sp>
      <p:sp>
        <p:nvSpPr>
          <p:cNvPr id="26" name="Shape 24"/>
          <p:cNvSpPr/>
          <p:nvPr/>
        </p:nvSpPr>
        <p:spPr>
          <a:xfrm>
            <a:off x="594360" y="553212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27" name="Text 25"/>
          <p:cNvSpPr/>
          <p:nvPr/>
        </p:nvSpPr>
        <p:spPr>
          <a:xfrm>
            <a:off x="594360" y="553212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Fapt</a:t>
            </a:r>
            <a:endParaRPr lang="en-US" sz="1500" dirty="0"/>
          </a:p>
        </p:txBody>
      </p:sp>
      <p:sp>
        <p:nvSpPr>
          <p:cNvPr id="28" name="Shape 26"/>
          <p:cNvSpPr/>
          <p:nvPr/>
        </p:nvSpPr>
        <p:spPr>
          <a:xfrm>
            <a:off x="2971800" y="553212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29" name="Text 27"/>
          <p:cNvSpPr/>
          <p:nvPr/>
        </p:nvSpPr>
        <p:spPr>
          <a:xfrm>
            <a:off x="2971800" y="553212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Valoare</a:t>
            </a:r>
            <a:endParaRPr lang="en-US" sz="1500" dirty="0"/>
          </a:p>
        </p:txBody>
      </p:sp>
      <p:sp>
        <p:nvSpPr>
          <p:cNvPr id="30" name="Shape 28"/>
          <p:cNvSpPr/>
          <p:nvPr/>
        </p:nvSpPr>
        <p:spPr>
          <a:xfrm>
            <a:off x="5349240" y="553212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31" name="Text 29"/>
          <p:cNvSpPr/>
          <p:nvPr/>
        </p:nvSpPr>
        <p:spPr>
          <a:xfrm>
            <a:off x="5349240" y="553212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Predicție</a:t>
            </a:r>
            <a:endParaRPr lang="en-US" sz="1500" dirty="0"/>
          </a:p>
        </p:txBody>
      </p:sp>
      <p:sp>
        <p:nvSpPr>
          <p:cNvPr id="32" name="Shape 30"/>
          <p:cNvSpPr/>
          <p:nvPr/>
        </p:nvSpPr>
        <p:spPr>
          <a:xfrm>
            <a:off x="8778240" y="5440680"/>
            <a:ext cx="2788920" cy="1234440"/>
          </a:xfrm>
          <a:prstGeom prst="roundRect">
            <a:avLst>
              <a:gd name="adj" fmla="val 6667"/>
            </a:avLst>
          </a:prstGeom>
          <a:solidFill>
            <a:srgbClr val="FFFFFF"/>
          </a:solidFill>
          <a:ln w="12700">
            <a:solidFill>
              <a:srgbClr val="FFFFFF"/>
            </a:solidFill>
            <a:prstDash val="solid"/>
          </a:ln>
        </p:spPr>
        <p:txBody>
          <a:bodyPr/>
          <a:p/>
        </p:txBody>
      </p:sp>
      <p:pic>
        <p:nvPicPr>
          <p:cNvPr id="33" name="Picture 32" descr="Mentimeter_OPT_DROGURI_C03.png"/>
          <p:cNvPicPr>
            <a:picLocks noChangeAspect="1"/>
          </p:cNvPicPr>
          <p:nvPr/>
        </p:nvPicPr>
        <p:blipFill>
          <a:blip r:embed="rId3"/>
          <a:stretch>
            <a:fillRect/>
          </a:stretch>
        </p:blipFill>
        <p:spPr>
          <a:xfrm>
            <a:off x="9772649" y="5440680"/>
            <a:ext cx="800101" cy="800101"/>
          </a:xfrm>
          <a:prstGeom prst="rect">
            <a:avLst/>
          </a:prstGeom>
        </p:spPr>
      </p:pic>
      <p:sp>
        <p:nvSpPr>
          <p:cNvPr id="34" name="TextBox 33"/>
          <p:cNvSpPr txBox="1"/>
          <p:nvPr/>
        </p:nvSpPr>
        <p:spPr>
          <a:xfrm>
            <a:off x="8778240" y="6278881"/>
            <a:ext cx="278892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FAPT, VALOARE, PREDICȚIE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Al treilea tip: predicția</a:t>
            </a:r>
            <a:endParaRPr lang="en-US" sz="3200" dirty="0"/>
          </a:p>
        </p:txBody>
      </p:sp>
      <p:sp>
        <p:nvSpPr>
          <p:cNvPr id="4" name="Shape 2"/>
          <p:cNvSpPr/>
          <p:nvPr/>
        </p:nvSpPr>
        <p:spPr>
          <a:xfrm>
            <a:off x="685800" y="1508760"/>
            <a:ext cx="420624" cy="420624"/>
          </a:xfrm>
          <a:prstGeom prst="ellipse">
            <a:avLst/>
          </a:prstGeom>
          <a:solidFill>
            <a:srgbClr val="0E7C6B"/>
          </a:solidFill>
          <a:ln/>
        </p:spPr>
        <p:txBody>
          <a:bodyPr/>
          <a:p/>
        </p:txBody>
      </p:sp>
      <p:sp>
        <p:nvSpPr>
          <p:cNvPr id="5" name="Text 3"/>
          <p:cNvSpPr/>
          <p:nvPr/>
        </p:nvSpPr>
        <p:spPr>
          <a:xfrm>
            <a:off x="685800" y="150876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a</a:t>
            </a:r>
            <a:endParaRPr lang="en-US" sz="1400" dirty="0"/>
          </a:p>
        </p:txBody>
      </p:sp>
      <p:sp>
        <p:nvSpPr>
          <p:cNvPr id="6" name="Text 4"/>
          <p:cNvSpPr/>
          <p:nvPr/>
        </p:nvSpPr>
        <p:spPr>
          <a:xfrm>
            <a:off x="1280160" y="1463040"/>
            <a:ext cx="4937760" cy="512064"/>
          </a:xfrm>
          <a:prstGeom prst="rect">
            <a:avLst/>
          </a:prstGeom>
          <a:noFill/>
          <a:ln/>
        </p:spPr>
        <p:txBody>
          <a:bodyPr wrap="square" lIns="0" tIns="0" rIns="0" bIns="0" rtlCol="0" anchor="ctr"/>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Fapt, cu sursă</a:t>
            </a:r>
            <a:endParaRPr lang="en-US" sz="1700" dirty="0"/>
          </a:p>
        </p:txBody>
      </p:sp>
      <p:sp>
        <p:nvSpPr>
          <p:cNvPr id="7" name="Shape 5"/>
          <p:cNvSpPr/>
          <p:nvPr/>
        </p:nvSpPr>
        <p:spPr>
          <a:xfrm>
            <a:off x="685800" y="2112264"/>
            <a:ext cx="420624" cy="420624"/>
          </a:xfrm>
          <a:prstGeom prst="ellipse">
            <a:avLst/>
          </a:prstGeom>
          <a:solidFill>
            <a:srgbClr val="4A2D8C"/>
          </a:solidFill>
          <a:ln/>
        </p:spPr>
        <p:txBody>
          <a:bodyPr/>
          <a:p/>
        </p:txBody>
      </p:sp>
      <p:sp>
        <p:nvSpPr>
          <p:cNvPr id="8" name="Text 6"/>
          <p:cNvSpPr/>
          <p:nvPr/>
        </p:nvSpPr>
        <p:spPr>
          <a:xfrm>
            <a:off x="685800" y="21122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b</a:t>
            </a:r>
            <a:endParaRPr lang="en-US" sz="1400" dirty="0"/>
          </a:p>
        </p:txBody>
      </p:sp>
      <p:sp>
        <p:nvSpPr>
          <p:cNvPr id="9" name="Text 7"/>
          <p:cNvSpPr/>
          <p:nvPr/>
        </p:nvSpPr>
        <p:spPr>
          <a:xfrm>
            <a:off x="1280160" y="2066544"/>
            <a:ext cx="4937760" cy="512064"/>
          </a:xfrm>
          <a:prstGeom prst="rect">
            <a:avLst/>
          </a:prstGeom>
          <a:noFill/>
          <a:ln/>
        </p:spPr>
        <p:txBody>
          <a:bodyPr wrap="square" lIns="0" tIns="0" rIns="0" bIns="0" rtlCol="0" anchor="ctr"/>
          <a:lstStyle/>
          <a:p>
            <a:pPr indent="0" marL="0">
              <a:buNone/>
            </a:pPr>
            <a:r>
              <a:rPr lang="en-US" sz="1700" b="1" dirty="0">
                <a:solidFill>
                  <a:srgbClr val="4A2D8C"/>
                </a:solidFill>
                <a:latin typeface="Palatino Linotype" pitchFamily="34" charset="0"/>
                <a:ea typeface="Palatino Linotype" pitchFamily="34" charset="-122"/>
                <a:cs typeface="Palatino Linotype" pitchFamily="34" charset="-120"/>
              </a:rPr>
              <a:t>Valoare</a:t>
            </a:r>
            <a:endParaRPr lang="en-US" sz="1700" dirty="0"/>
          </a:p>
        </p:txBody>
      </p:sp>
      <p:sp>
        <p:nvSpPr>
          <p:cNvPr id="10" name="Shape 8"/>
          <p:cNvSpPr/>
          <p:nvPr/>
        </p:nvSpPr>
        <p:spPr>
          <a:xfrm>
            <a:off x="685800" y="2715768"/>
            <a:ext cx="420624" cy="420624"/>
          </a:xfrm>
          <a:prstGeom prst="ellipse">
            <a:avLst/>
          </a:prstGeom>
          <a:solidFill>
            <a:srgbClr val="4A2D8C"/>
          </a:solidFill>
          <a:ln/>
        </p:spPr>
        <p:txBody>
          <a:bodyPr/>
          <a:p/>
        </p:txBody>
      </p:sp>
      <p:sp>
        <p:nvSpPr>
          <p:cNvPr id="11" name="Text 9"/>
          <p:cNvSpPr/>
          <p:nvPr/>
        </p:nvSpPr>
        <p:spPr>
          <a:xfrm>
            <a:off x="685800" y="271576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c</a:t>
            </a:r>
            <a:endParaRPr lang="en-US" sz="1400" dirty="0"/>
          </a:p>
        </p:txBody>
      </p:sp>
      <p:sp>
        <p:nvSpPr>
          <p:cNvPr id="12" name="Text 10"/>
          <p:cNvSpPr/>
          <p:nvPr/>
        </p:nvSpPr>
        <p:spPr>
          <a:xfrm>
            <a:off x="1280160" y="2670048"/>
            <a:ext cx="4937760" cy="512064"/>
          </a:xfrm>
          <a:prstGeom prst="rect">
            <a:avLst/>
          </a:prstGeom>
          <a:noFill/>
          <a:ln/>
        </p:spPr>
        <p:txBody>
          <a:bodyPr wrap="square" lIns="0" tIns="0" rIns="0" bIns="0" rtlCol="0" anchor="ctr"/>
          <a:lstStyle/>
          <a:p>
            <a:pPr indent="0" marL="0">
              <a:buNone/>
            </a:pPr>
            <a:r>
              <a:rPr lang="en-US" sz="1700" b="1" dirty="0">
                <a:solidFill>
                  <a:srgbClr val="4A2D8C"/>
                </a:solidFill>
                <a:latin typeface="Palatino Linotype" pitchFamily="34" charset="0"/>
                <a:ea typeface="Palatino Linotype" pitchFamily="34" charset="-122"/>
                <a:cs typeface="Palatino Linotype" pitchFamily="34" charset="-120"/>
              </a:rPr>
              <a:t>Valoare, deși sună ca un fapt</a:t>
            </a:r>
            <a:endParaRPr lang="en-US" sz="1700" dirty="0"/>
          </a:p>
        </p:txBody>
      </p:sp>
      <p:sp>
        <p:nvSpPr>
          <p:cNvPr id="13" name="Shape 11"/>
          <p:cNvSpPr/>
          <p:nvPr/>
        </p:nvSpPr>
        <p:spPr>
          <a:xfrm>
            <a:off x="685800" y="3319272"/>
            <a:ext cx="420624" cy="420624"/>
          </a:xfrm>
          <a:prstGeom prst="ellipse">
            <a:avLst/>
          </a:prstGeom>
          <a:solidFill>
            <a:srgbClr val="0E7C6B"/>
          </a:solidFill>
          <a:ln/>
        </p:spPr>
        <p:txBody>
          <a:bodyPr/>
          <a:p/>
        </p:txBody>
      </p:sp>
      <p:sp>
        <p:nvSpPr>
          <p:cNvPr id="14" name="Text 12"/>
          <p:cNvSpPr/>
          <p:nvPr/>
        </p:nvSpPr>
        <p:spPr>
          <a:xfrm>
            <a:off x="685800" y="33192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d</a:t>
            </a:r>
            <a:endParaRPr lang="en-US" sz="1400" dirty="0"/>
          </a:p>
        </p:txBody>
      </p:sp>
      <p:sp>
        <p:nvSpPr>
          <p:cNvPr id="15" name="Text 13"/>
          <p:cNvSpPr/>
          <p:nvPr/>
        </p:nvSpPr>
        <p:spPr>
          <a:xfrm>
            <a:off x="1280160" y="3273552"/>
            <a:ext cx="4937760" cy="512064"/>
          </a:xfrm>
          <a:prstGeom prst="rect">
            <a:avLst/>
          </a:prstGeom>
          <a:noFill/>
          <a:ln/>
        </p:spPr>
        <p:txBody>
          <a:bodyPr wrap="square" lIns="0" tIns="0" rIns="0" bIns="0" rtlCol="0" anchor="ctr"/>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Fapt; datele portugheze nu îl susțin</a:t>
            </a:r>
            <a:endParaRPr lang="en-US" sz="1700" dirty="0"/>
          </a:p>
        </p:txBody>
      </p:sp>
      <p:sp>
        <p:nvSpPr>
          <p:cNvPr id="16" name="Shape 14"/>
          <p:cNvSpPr/>
          <p:nvPr/>
        </p:nvSpPr>
        <p:spPr>
          <a:xfrm>
            <a:off x="685800" y="3922776"/>
            <a:ext cx="420624" cy="420624"/>
          </a:xfrm>
          <a:prstGeom prst="ellipse">
            <a:avLst/>
          </a:prstGeom>
          <a:solidFill>
            <a:srgbClr val="B02532"/>
          </a:solidFill>
          <a:ln/>
        </p:spPr>
        <p:txBody>
          <a:bodyPr/>
          <a:p/>
        </p:txBody>
      </p:sp>
      <p:sp>
        <p:nvSpPr>
          <p:cNvPr id="17" name="Text 15"/>
          <p:cNvSpPr/>
          <p:nvPr/>
        </p:nvSpPr>
        <p:spPr>
          <a:xfrm>
            <a:off x="685800" y="392277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e</a:t>
            </a:r>
            <a:endParaRPr lang="en-US" sz="1400" dirty="0"/>
          </a:p>
        </p:txBody>
      </p:sp>
      <p:sp>
        <p:nvSpPr>
          <p:cNvPr id="18" name="Text 16"/>
          <p:cNvSpPr/>
          <p:nvPr/>
        </p:nvSpPr>
        <p:spPr>
          <a:xfrm>
            <a:off x="1280160" y="3877056"/>
            <a:ext cx="4937760" cy="512064"/>
          </a:xfrm>
          <a:prstGeom prst="rect">
            <a:avLst/>
          </a:prstGeom>
          <a:noFill/>
          <a:ln/>
        </p:spPr>
        <p:txBody>
          <a:bodyPr wrap="square" lIns="0" tIns="0" rIns="0" bIns="0" rtlCol="0" anchor="ctr"/>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Predicție</a:t>
            </a:r>
            <a:endParaRPr lang="en-US" sz="1700" dirty="0"/>
          </a:p>
        </p:txBody>
      </p:sp>
      <p:sp>
        <p:nvSpPr>
          <p:cNvPr id="19" name="Shape 17"/>
          <p:cNvSpPr/>
          <p:nvPr/>
        </p:nvSpPr>
        <p:spPr>
          <a:xfrm>
            <a:off x="6492240" y="1463040"/>
            <a:ext cx="5074920" cy="2971800"/>
          </a:xfrm>
          <a:prstGeom prst="roundRect">
            <a:avLst>
              <a:gd name="adj" fmla="val 2769"/>
            </a:avLst>
          </a:prstGeom>
          <a:solidFill>
            <a:srgbClr val="F4E0E2"/>
          </a:solidFill>
          <a:ln w="12700">
            <a:solidFill>
              <a:srgbClr val="F4E0E2"/>
            </a:solidFill>
            <a:prstDash val="solid"/>
          </a:ln>
        </p:spPr>
        <p:txBody>
          <a:bodyPr/>
          <a:p/>
        </p:txBody>
      </p:sp>
      <p:sp>
        <p:nvSpPr>
          <p:cNvPr id="20" name="Text 18"/>
          <p:cNvSpPr/>
          <p:nvPr/>
        </p:nvSpPr>
        <p:spPr>
          <a:xfrm>
            <a:off x="6766560" y="1600200"/>
            <a:ext cx="4572000" cy="27432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Predicția pare științifică, dar depinde de ce Portugalia nu poate spune despre România: câți medici și psihologi ar avea comisiile, cât de repede s-ar înființa serviciile, cum ar aplica poliția legea.</a:t>
            </a:r>
            <a:endParaRPr lang="en-US" sz="1600" dirty="0"/>
          </a:p>
        </p:txBody>
      </p:sp>
      <p:sp>
        <p:nvSpPr>
          <p:cNvPr id="21" name="Text 19"/>
          <p:cNvSpPr/>
          <p:nvPr/>
        </p:nvSpPr>
        <p:spPr>
          <a:xfrm>
            <a:off x="594360" y="4800600"/>
            <a:ext cx="10972800" cy="45720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O afirmație falsă rămâne tot o afirmație de fapt: se verifică.</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AL DOILEA VOT</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Aceeași moțiune, al doilea vot</a:t>
            </a:r>
            <a:endParaRPr lang="en-US" sz="3200" dirty="0"/>
          </a:p>
        </p:txBody>
      </p:sp>
      <p:sp>
        <p:nvSpPr>
          <p:cNvPr id="6" name="Text 4"/>
          <p:cNvSpPr/>
          <p:nvPr/>
        </p:nvSpPr>
        <p:spPr>
          <a:xfrm>
            <a:off x="594360" y="1417320"/>
            <a:ext cx="10972800" cy="868680"/>
          </a:xfrm>
          <a:prstGeom prst="rect">
            <a:avLst/>
          </a:prstGeom>
          <a:noFill/>
          <a:ln/>
        </p:spPr>
        <p:txBody>
          <a:bodyPr wrap="square" lIns="0" tIns="0" rIns="0" bIns="0" rtlCol="0" anchor="t"/>
          <a:lstStyle/>
          <a:p>
            <a:pPr indent="0" marL="0">
              <a:buNone/>
            </a:pPr>
            <a:r>
              <a:rPr lang="en-US" sz="1800" i="1" dirty="0">
                <a:solidFill>
                  <a:srgbClr val="959BB0"/>
                </a:solidFill>
                <a:latin typeface="Palatino Linotype" pitchFamily="34" charset="0"/>
                <a:ea typeface="Palatino Linotype" pitchFamily="34" charset="-122"/>
                <a:cs typeface="Palatino Linotype" pitchFamily="34" charset="-120"/>
              </a:rPr>
              <a:t>„România ar trebui să adopte modelul portughez de dezincriminare a consumului personal de droguri.”</a:t>
            </a:r>
            <a:endParaRPr lang="en-US" sz="1800" dirty="0"/>
          </a:p>
        </p:txBody>
      </p:sp>
      <p:sp>
        <p:nvSpPr>
          <p:cNvPr id="7" name="Shape 5"/>
          <p:cNvSpPr/>
          <p:nvPr/>
        </p:nvSpPr>
        <p:spPr>
          <a:xfrm>
            <a:off x="594360" y="246888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8" name="Text 6"/>
          <p:cNvSpPr/>
          <p:nvPr/>
        </p:nvSpPr>
        <p:spPr>
          <a:xfrm>
            <a:off x="594360" y="246888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Total de acord</a:t>
            </a:r>
            <a:endParaRPr lang="en-US" sz="1500" dirty="0"/>
          </a:p>
        </p:txBody>
      </p:sp>
      <p:sp>
        <p:nvSpPr>
          <p:cNvPr id="9" name="Shape 7"/>
          <p:cNvSpPr/>
          <p:nvPr/>
        </p:nvSpPr>
        <p:spPr>
          <a:xfrm>
            <a:off x="2834640" y="246888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0" name="Text 8"/>
          <p:cNvSpPr/>
          <p:nvPr/>
        </p:nvSpPr>
        <p:spPr>
          <a:xfrm>
            <a:off x="2834640" y="246888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De acord</a:t>
            </a:r>
            <a:endParaRPr lang="en-US" sz="1500" dirty="0"/>
          </a:p>
        </p:txBody>
      </p:sp>
      <p:sp>
        <p:nvSpPr>
          <p:cNvPr id="11" name="Shape 9"/>
          <p:cNvSpPr/>
          <p:nvPr/>
        </p:nvSpPr>
        <p:spPr>
          <a:xfrm>
            <a:off x="5074920" y="246888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2" name="Text 10"/>
          <p:cNvSpPr/>
          <p:nvPr/>
        </p:nvSpPr>
        <p:spPr>
          <a:xfrm>
            <a:off x="5074920" y="246888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Nu știu</a:t>
            </a:r>
            <a:endParaRPr lang="en-US" sz="1500" dirty="0"/>
          </a:p>
        </p:txBody>
      </p:sp>
      <p:sp>
        <p:nvSpPr>
          <p:cNvPr id="13" name="Shape 11"/>
          <p:cNvSpPr/>
          <p:nvPr/>
        </p:nvSpPr>
        <p:spPr>
          <a:xfrm>
            <a:off x="7315200" y="246888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4" name="Text 12"/>
          <p:cNvSpPr/>
          <p:nvPr/>
        </p:nvSpPr>
        <p:spPr>
          <a:xfrm>
            <a:off x="7315200" y="246888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Împotrivă</a:t>
            </a:r>
            <a:endParaRPr lang="en-US" sz="1500" dirty="0"/>
          </a:p>
        </p:txBody>
      </p:sp>
      <p:sp>
        <p:nvSpPr>
          <p:cNvPr id="15" name="Shape 13"/>
          <p:cNvSpPr/>
          <p:nvPr/>
        </p:nvSpPr>
        <p:spPr>
          <a:xfrm>
            <a:off x="9555480" y="2468880"/>
            <a:ext cx="2057400" cy="329184"/>
          </a:xfrm>
          <a:prstGeom prst="roundRect">
            <a:avLst>
              <a:gd name="adj" fmla="val 50000"/>
            </a:avLst>
          </a:prstGeom>
          <a:solidFill>
            <a:srgbClr val="272A38"/>
          </a:solidFill>
          <a:ln w="12700">
            <a:solidFill>
              <a:srgbClr val="272A38"/>
            </a:solidFill>
            <a:prstDash val="solid"/>
          </a:ln>
        </p:spPr>
        <p:txBody>
          <a:bodyPr/>
          <a:p/>
        </p:txBody>
      </p:sp>
      <p:sp>
        <p:nvSpPr>
          <p:cNvPr id="16" name="Text 14"/>
          <p:cNvSpPr/>
          <p:nvPr/>
        </p:nvSpPr>
        <p:spPr>
          <a:xfrm>
            <a:off x="9555480" y="2468880"/>
            <a:ext cx="205740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Total împotrivă</a:t>
            </a:r>
            <a:endParaRPr lang="en-US" sz="1500" dirty="0"/>
          </a:p>
        </p:txBody>
      </p:sp>
      <p:sp>
        <p:nvSpPr>
          <p:cNvPr id="17" name="Shape 15"/>
          <p:cNvSpPr/>
          <p:nvPr/>
        </p:nvSpPr>
        <p:spPr>
          <a:xfrm>
            <a:off x="594360" y="3108960"/>
            <a:ext cx="5349240" cy="2011680"/>
          </a:xfrm>
          <a:prstGeom prst="roundRect">
            <a:avLst>
              <a:gd name="adj" fmla="val 4091"/>
            </a:avLst>
          </a:prstGeom>
          <a:solidFill>
            <a:srgbClr val="1D1F2B"/>
          </a:solidFill>
          <a:ln w="12700">
            <a:solidFill>
              <a:srgbClr val="1D1F2B"/>
            </a:solidFill>
            <a:prstDash val="solid"/>
          </a:ln>
        </p:spPr>
        <p:txBody>
          <a:bodyPr/>
          <a:p/>
        </p:txBody>
      </p:sp>
      <p:sp>
        <p:nvSpPr>
          <p:cNvPr id="18" name="Text 16"/>
          <p:cNvSpPr/>
          <p:nvPr/>
        </p:nvSpPr>
        <p:spPr>
          <a:xfrm>
            <a:off x="868680" y="3200400"/>
            <a:ext cx="4754880" cy="411480"/>
          </a:xfrm>
          <a:prstGeom prst="rect">
            <a:avLst/>
          </a:prstGeom>
          <a:noFill/>
          <a:ln/>
        </p:spPr>
        <p:txBody>
          <a:bodyPr wrap="square" lIns="0" tIns="0" rIns="0" bIns="0" rtlCol="0" anchor="t"/>
          <a:lstStyle/>
          <a:p>
            <a:pPr indent="0" marL="0">
              <a:buNone/>
            </a:pPr>
            <a:r>
              <a:rPr lang="en-US" sz="1600" b="1" dirty="0">
                <a:solidFill>
                  <a:srgbClr val="959BB0"/>
                </a:solidFill>
                <a:latin typeface="Palatino Linotype" pitchFamily="34" charset="0"/>
                <a:ea typeface="Palatino Linotype" pitchFamily="34" charset="-122"/>
                <a:cs typeface="Palatino Linotype" pitchFamily="34" charset="-120"/>
              </a:rPr>
              <a:t>Primul vot</a:t>
            </a:r>
            <a:endParaRPr lang="en-US" sz="1600" dirty="0"/>
          </a:p>
        </p:txBody>
      </p:sp>
      <p:sp>
        <p:nvSpPr>
          <p:cNvPr id="19" name="Text 17"/>
          <p:cNvSpPr/>
          <p:nvPr/>
        </p:nvSpPr>
        <p:spPr>
          <a:xfrm>
            <a:off x="594360" y="3657600"/>
            <a:ext cx="5349240" cy="1280160"/>
          </a:xfrm>
          <a:prstGeom prst="rect">
            <a:avLst/>
          </a:prstGeom>
          <a:noFill/>
          <a:ln/>
        </p:spPr>
        <p:txBody>
          <a:bodyPr wrap="square" lIns="0" tIns="0" rIns="0" bIns="0" rtlCol="0" anchor="ctr"/>
          <a:lstStyle/>
          <a:p>
            <a:pPr algn="ctr" indent="0" marL="0">
              <a:buNone/>
            </a:pPr>
            <a:r>
              <a:rPr lang="en-US" sz="1400" dirty="0">
                <a:solidFill>
                  <a:srgbClr val="959BB0"/>
                </a:solidFill>
                <a:latin typeface="Palatino Linotype" pitchFamily="34" charset="0"/>
                <a:ea typeface="Palatino Linotype" pitchFamily="34" charset="-122"/>
                <a:cs typeface="Palatino Linotype" pitchFamily="34" charset="-120"/>
              </a:rPr>
              <a:t>[rezultatele Mentimeter]</a:t>
            </a:r>
            <a:endParaRPr lang="en-US" sz="1400" dirty="0"/>
          </a:p>
        </p:txBody>
      </p:sp>
      <p:sp>
        <p:nvSpPr>
          <p:cNvPr id="20" name="Shape 18"/>
          <p:cNvSpPr/>
          <p:nvPr/>
        </p:nvSpPr>
        <p:spPr>
          <a:xfrm>
            <a:off x="6217920" y="3108960"/>
            <a:ext cx="5349240" cy="2011680"/>
          </a:xfrm>
          <a:prstGeom prst="roundRect">
            <a:avLst>
              <a:gd name="adj" fmla="val 4091"/>
            </a:avLst>
          </a:prstGeom>
          <a:solidFill>
            <a:srgbClr val="1D1F2B"/>
          </a:solidFill>
          <a:ln w="12700">
            <a:solidFill>
              <a:srgbClr val="1D1F2B"/>
            </a:solidFill>
            <a:prstDash val="solid"/>
          </a:ln>
        </p:spPr>
        <p:txBody>
          <a:bodyPr/>
          <a:p/>
        </p:txBody>
      </p:sp>
      <p:sp>
        <p:nvSpPr>
          <p:cNvPr id="21" name="Text 19"/>
          <p:cNvSpPr/>
          <p:nvPr/>
        </p:nvSpPr>
        <p:spPr>
          <a:xfrm>
            <a:off x="6492240" y="3200400"/>
            <a:ext cx="4754880" cy="411480"/>
          </a:xfrm>
          <a:prstGeom prst="rect">
            <a:avLst/>
          </a:prstGeom>
          <a:noFill/>
          <a:ln/>
        </p:spPr>
        <p:txBody>
          <a:bodyPr wrap="square" lIns="0" tIns="0" rIns="0" bIns="0" rtlCol="0" anchor="t"/>
          <a:lstStyle/>
          <a:p>
            <a:pPr indent="0" marL="0">
              <a:buNone/>
            </a:pPr>
            <a:r>
              <a:rPr lang="en-US" sz="1600" b="1" dirty="0">
                <a:solidFill>
                  <a:srgbClr val="FFC24B"/>
                </a:solidFill>
                <a:latin typeface="Palatino Linotype" pitchFamily="34" charset="0"/>
                <a:ea typeface="Palatino Linotype" pitchFamily="34" charset="-122"/>
                <a:cs typeface="Palatino Linotype" pitchFamily="34" charset="-120"/>
              </a:rPr>
              <a:t>Al doilea vot</a:t>
            </a:r>
            <a:endParaRPr lang="en-US" sz="1600" dirty="0"/>
          </a:p>
        </p:txBody>
      </p:sp>
      <p:sp>
        <p:nvSpPr>
          <p:cNvPr id="22" name="Text 20"/>
          <p:cNvSpPr/>
          <p:nvPr/>
        </p:nvSpPr>
        <p:spPr>
          <a:xfrm>
            <a:off x="6217920" y="3657600"/>
            <a:ext cx="5349240" cy="1280160"/>
          </a:xfrm>
          <a:prstGeom prst="rect">
            <a:avLst/>
          </a:prstGeom>
          <a:noFill/>
          <a:ln/>
        </p:spPr>
        <p:txBody>
          <a:bodyPr wrap="square" lIns="0" tIns="0" rIns="0" bIns="0" rtlCol="0" anchor="ctr"/>
          <a:lstStyle/>
          <a:p>
            <a:pPr algn="ctr" indent="0" marL="0">
              <a:buNone/>
            </a:pPr>
            <a:r>
              <a:rPr lang="en-US" sz="1400" dirty="0">
                <a:solidFill>
                  <a:srgbClr val="959BB0"/>
                </a:solidFill>
                <a:latin typeface="Palatino Linotype" pitchFamily="34" charset="0"/>
                <a:ea typeface="Palatino Linotype" pitchFamily="34" charset="-122"/>
                <a:cs typeface="Palatino Linotype" pitchFamily="34" charset="-120"/>
              </a:rPr>
              <a:t>[rezultatele Mentimeter]</a:t>
            </a:r>
            <a:endParaRPr lang="en-US" sz="1400" dirty="0"/>
          </a:p>
        </p:txBody>
      </p:sp>
      <p:sp>
        <p:nvSpPr>
          <p:cNvPr id="23" name="Text 21"/>
          <p:cNvSpPr/>
          <p:nvPr/>
        </p:nvSpPr>
        <p:spPr>
          <a:xfrm>
            <a:off x="594360" y="5349240"/>
            <a:ext cx="10972800" cy="457200"/>
          </a:xfrm>
          <a:prstGeom prst="rect">
            <a:avLst/>
          </a:prstGeom>
          <a:noFill/>
          <a:ln/>
        </p:spPr>
        <p:txBody>
          <a:bodyPr wrap="square" lIns="0" tIns="0" rIns="0" bIns="0" rtlCol="0" anchor="t"/>
          <a:lstStyle/>
          <a:p>
            <a:pPr indent="0" marL="0">
              <a:buNone/>
            </a:pPr>
            <a:r>
              <a:rPr lang="en-US" sz="1800" b="1" dirty="0">
                <a:solidFill>
                  <a:srgbClr val="FFC24B"/>
                </a:solidFill>
                <a:latin typeface="Palatino Linotype" pitchFamily="34" charset="0"/>
                <a:ea typeface="Palatino Linotype" pitchFamily="34" charset="-122"/>
                <a:cs typeface="Palatino Linotype" pitchFamily="34" charset="-120"/>
              </a:rPr>
              <a:t>Nu contează în ce direcție v-ați mișcat, ci dacă ați știut de ce.</a:t>
            </a:r>
            <a:endParaRPr lang="en-US" sz="1800" dirty="0"/>
          </a:p>
        </p:txBody>
      </p:sp>
      <p:sp>
        <p:nvSpPr>
          <p:cNvPr id="24" name="Shape 22"/>
          <p:cNvSpPr/>
          <p:nvPr/>
        </p:nvSpPr>
        <p:spPr>
          <a:xfrm>
            <a:off x="9738360" y="5532120"/>
            <a:ext cx="1828800" cy="1188720"/>
          </a:xfrm>
          <a:prstGeom prst="roundRect">
            <a:avLst>
              <a:gd name="adj" fmla="val 6923"/>
            </a:avLst>
          </a:prstGeom>
          <a:solidFill>
            <a:srgbClr val="FFFFFF"/>
          </a:solidFill>
          <a:ln w="12700">
            <a:solidFill>
              <a:srgbClr val="FFFFFF"/>
            </a:solidFill>
            <a:prstDash val="solid"/>
          </a:ln>
        </p:spPr>
        <p:txBody>
          <a:bodyPr/>
          <a:p/>
        </p:txBody>
      </p:sp>
      <p:pic>
        <p:nvPicPr>
          <p:cNvPr id="25" name="Picture 24" descr="Mentimeter_OPT_DROGURI_C03.png"/>
          <p:cNvPicPr>
            <a:picLocks noChangeAspect="1"/>
          </p:cNvPicPr>
          <p:nvPr/>
        </p:nvPicPr>
        <p:blipFill>
          <a:blip r:embed="rId3"/>
          <a:stretch>
            <a:fillRect/>
          </a:stretch>
        </p:blipFill>
        <p:spPr>
          <a:xfrm>
            <a:off x="10275569" y="5532120"/>
            <a:ext cx="754381" cy="754381"/>
          </a:xfrm>
          <a:prstGeom prst="rect">
            <a:avLst/>
          </a:prstGeom>
        </p:spPr>
      </p:pic>
      <p:sp>
        <p:nvSpPr>
          <p:cNvPr id="26" name="TextBox 25"/>
          <p:cNvSpPr txBox="1"/>
          <p:nvPr/>
        </p:nvSpPr>
        <p:spPr>
          <a:xfrm>
            <a:off x="9738360" y="6324601"/>
            <a:ext cx="18288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30 DE SECUNDE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A DOUA · ÎNCHEIERE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spuneți mâine unui coleg</a:t>
            </a:r>
            <a:endParaRPr lang="en-US" sz="3400" dirty="0"/>
          </a:p>
        </p:txBody>
      </p:sp>
      <p:sp>
        <p:nvSpPr>
          <p:cNvPr id="6" name="Shape 4"/>
          <p:cNvSpPr/>
          <p:nvPr/>
        </p:nvSpPr>
        <p:spPr>
          <a:xfrm>
            <a:off x="594360" y="1828800"/>
            <a:ext cx="73152" cy="3291840"/>
          </a:xfrm>
          <a:prstGeom prst="rect">
            <a:avLst/>
          </a:prstGeom>
          <a:solidFill>
            <a:srgbClr val="27D3BE"/>
          </a:solidFill>
          <a:ln w="12700">
            <a:solidFill>
              <a:srgbClr val="27D3BE"/>
            </a:solidFill>
            <a:prstDash val="solid"/>
          </a:ln>
        </p:spPr>
        <p:txBody>
          <a:bodyPr/>
          <a:p/>
        </p:txBody>
      </p:sp>
      <p:sp>
        <p:nvSpPr>
          <p:cNvPr id="7" name="Text 5"/>
          <p:cNvSpPr/>
          <p:nvPr/>
        </p:nvSpPr>
        <p:spPr>
          <a:xfrm>
            <a:off x="960120" y="1828800"/>
            <a:ext cx="10515600" cy="3291840"/>
          </a:xfrm>
          <a:prstGeom prst="rect">
            <a:avLst/>
          </a:prstGeom>
          <a:noFill/>
          <a:ln/>
        </p:spPr>
        <p:txBody>
          <a:bodyPr wrap="square" lIns="0" tIns="0" rIns="0" bIns="0" rtlCol="0" anchor="ctr"/>
          <a:lstStyle/>
          <a:p>
            <a:pPr indent="0" marL="0">
              <a:buNone/>
            </a:pPr>
            <a:r>
              <a:rPr lang="en-US" sz="2300" i="1" dirty="0">
                <a:solidFill>
                  <a:srgbClr val="FFFFFF"/>
                </a:solidFill>
                <a:latin typeface="Palatino Linotype" pitchFamily="34" charset="0"/>
                <a:ea typeface="Palatino Linotype" pitchFamily="34" charset="-122"/>
                <a:cs typeface="Palatino Linotype" pitchFamily="34" charset="-120"/>
              </a:rPr>
              <a:t>„Când auzi un argument despre droguri, întreabă-te: pot verifica asta într-o sursă? Dacă da, cere sursa. Dacă nu, discutați despre ce vreți, nu despre ce s-a întâmplat.”</a:t>
            </a:r>
            <a:endParaRPr lang="en-US" sz="2300" dirty="0"/>
          </a:p>
        </p:txBody>
      </p:sp>
      <p:sp>
        <p:nvSpPr>
          <p:cNvPr id="8" name="Text 6"/>
          <p:cNvSpPr/>
          <p:nvPr/>
        </p:nvSpPr>
        <p:spPr>
          <a:xfrm>
            <a:off x="594360" y="5486400"/>
            <a:ext cx="1097280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Spuneți-o, cu cuvintele voastre, colegului de bancă.</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2103120"/>
            <a:ext cx="10972800" cy="1280160"/>
          </a:xfrm>
          <a:prstGeom prst="rect">
            <a:avLst/>
          </a:prstGeom>
          <a:noFill/>
          <a:ln/>
        </p:spPr>
        <p:txBody>
          <a:bodyPr wrap="square" lIns="0" tIns="0" rIns="0" bIns="0" rtlCol="0" anchor="ctr"/>
          <a:lstStyle/>
          <a:p>
            <a:pPr algn="ctr" indent="0" marL="0">
              <a:buNone/>
            </a:pPr>
            <a:r>
              <a:rPr lang="en-US" sz="6600" b="1" dirty="0">
                <a:solidFill>
                  <a:srgbClr val="FFFFFF"/>
                </a:solidFill>
                <a:latin typeface="Palatino Linotype" pitchFamily="34" charset="0"/>
                <a:ea typeface="Palatino Linotype" pitchFamily="34" charset="-122"/>
                <a:cs typeface="Palatino Linotype" pitchFamily="34" charset="-120"/>
              </a:rPr>
              <a:t>Zece minute</a:t>
            </a:r>
            <a:endParaRPr lang="en-US" sz="6600" dirty="0"/>
          </a:p>
        </p:txBody>
      </p:sp>
      <p:sp>
        <p:nvSpPr>
          <p:cNvPr id="3" name="Text 1"/>
          <p:cNvSpPr/>
          <p:nvPr/>
        </p:nvSpPr>
        <p:spPr>
          <a:xfrm>
            <a:off x="1371600" y="3566160"/>
            <a:ext cx="9418320" cy="822960"/>
          </a:xfrm>
          <a:prstGeom prst="rect">
            <a:avLst/>
          </a:prstGeom>
          <a:noFill/>
          <a:ln/>
        </p:spPr>
        <p:txBody>
          <a:bodyPr wrap="square" lIns="0" tIns="0" rIns="0" bIns="0" rtlCol="0" anchor="t"/>
          <a:lstStyle/>
          <a:p>
            <a:pPr algn="ctr" indent="0" marL="0">
              <a:buNone/>
            </a:pPr>
            <a:r>
              <a:rPr lang="en-US" sz="2000" dirty="0">
                <a:solidFill>
                  <a:srgbClr val="959BB0"/>
                </a:solidFill>
                <a:latin typeface="Palatino Linotype" pitchFamily="34" charset="0"/>
                <a:ea typeface="Palatino Linotype" pitchFamily="34" charset="-122"/>
                <a:cs typeface="Palatino Linotype" pitchFamily="34" charset="-120"/>
              </a:rPr>
              <a:t>Urmează farmacia: uleiul bunicii, colegul de apartament și copiii mici din Ontario.</a:t>
            </a:r>
            <a:endParaRPr lang="en-US" sz="2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1121A"/>
        </a:solidFill>
      </p:bgPr>
    </p:bg>
    <p:spTree>
      <p:nvGrpSpPr>
        <p:cNvPr id="1" name=""/>
        <p:cNvGrpSpPr/>
        <p:nvPr/>
      </p:nvGrpSpPr>
      <p:grpSpPr>
        <a:xfrm>
          <a:off x="0" y="0"/>
          <a:ext cx="0" cy="0"/>
          <a:chOff x="0" y="0"/>
          <a:chExt cx="0" cy="0"/>
        </a:xfrm>
      </p:grpSpPr>
      <p:pic>
        <p:nvPicPr>
          <p:cNvPr id="2" name="Image 0" descr="/Users/adrianpana/Downloads/UMF_Cluj_SP/Materiale SP/Atelier_didactic/discipline/OPT_DROGURI/active/img/cannabis_planta_commons.jpg">    </p:cNvPr>
          <p:cNvPicPr>
            <a:picLocks noChangeAspect="1"/>
          </p:cNvPicPr>
          <p:nvPr/>
        </p:nvPicPr>
        <p:blipFill>
          <a:blip r:embed="rId1"/>
          <a:stretch>
            <a:fillRect/>
          </a:stretch>
        </p:blipFill>
        <p:spPr>
          <a:xfrm>
            <a:off x="0" y="0"/>
            <a:ext cx="4846320" cy="6455664"/>
          </a:xfrm>
          <a:prstGeom prst="rect">
            <a:avLst/>
          </a:prstGeom>
        </p:spPr>
      </p:pic>
      <p:sp>
        <p:nvSpPr>
          <p:cNvPr id="3" name="Shape 0"/>
          <p:cNvSpPr/>
          <p:nvPr/>
        </p:nvSpPr>
        <p:spPr>
          <a:xfrm>
            <a:off x="0" y="6355080"/>
            <a:ext cx="4846320" cy="502920"/>
          </a:xfrm>
          <a:prstGeom prst="rect">
            <a:avLst/>
          </a:prstGeom>
          <a:solidFill>
            <a:srgbClr val="11121A">
              <a:alpha val="70000"/>
            </a:srgbClr>
          </a:solidFill>
          <a:ln w="12700">
            <a:solidFill>
              <a:srgbClr val="11121A"/>
            </a:solidFill>
            <a:prstDash val="solid"/>
          </a:ln>
        </p:spPr>
        <p:txBody>
          <a:bodyPr/>
          <a:p/>
        </p:txBody>
      </p:sp>
      <p:sp>
        <p:nvSpPr>
          <p:cNvPr id="4" name="Text 1"/>
          <p:cNvSpPr/>
          <p:nvPr/>
        </p:nvSpPr>
        <p:spPr>
          <a:xfrm>
            <a:off x="182880" y="6373368"/>
            <a:ext cx="4480560" cy="256032"/>
          </a:xfrm>
          <a:prstGeom prst="rect">
            <a:avLst/>
          </a:prstGeom>
          <a:noFill/>
          <a:ln/>
        </p:spPr>
        <p:txBody>
          <a:bodyPr wrap="square" lIns="0" tIns="0" rIns="0" bIns="0" rtlCol="0" anchor="ctr"/>
          <a:lstStyle/>
          <a:p>
            <a:pPr indent="0" marL="0">
              <a:buNone/>
            </a:pPr>
            <a:r>
              <a:rPr lang="en-US" sz="1100" dirty="0">
                <a:solidFill>
                  <a:srgbClr val="FFFFFF"/>
                </a:solidFill>
                <a:latin typeface="Palatino Linotype" pitchFamily="34" charset="0"/>
                <a:ea typeface="Palatino Linotype" pitchFamily="34" charset="-122"/>
                <a:cs typeface="Palatino Linotype" pitchFamily="34" charset="-120"/>
              </a:rPr>
              <a:t>Planta de cannabis</a:t>
            </a:r>
            <a:endParaRPr lang="en-US" sz="1100" dirty="0"/>
          </a:p>
        </p:txBody>
      </p:sp>
      <p:sp>
        <p:nvSpPr>
          <p:cNvPr id="5" name="Text 2"/>
          <p:cNvSpPr/>
          <p:nvPr/>
        </p:nvSpPr>
        <p:spPr>
          <a:xfrm>
            <a:off x="182880" y="6601968"/>
            <a:ext cx="4480560" cy="219456"/>
          </a:xfrm>
          <a:prstGeom prst="rect">
            <a:avLst/>
          </a:prstGeom>
          <a:noFill/>
          <a:ln/>
        </p:spPr>
        <p:txBody>
          <a:bodyPr wrap="square" lIns="0" tIns="0" rIns="0" bIns="0" rtlCol="0" anchor="ctr"/>
          <a:lstStyle/>
          <a:p>
            <a:pPr indent="0" marL="0">
              <a:buNone/>
            </a:pPr>
            <a:r>
              <a:rPr lang="en-US" sz="850" i="1" dirty="0">
                <a:solidFill>
                  <a:srgbClr val="C9CCD8"/>
                </a:solidFill>
                <a:latin typeface="Palatino Linotype" pitchFamily="34" charset="0"/>
                <a:ea typeface="Palatino Linotype" pitchFamily="34" charset="-122"/>
                <a:cs typeface="Palatino Linotype" pitchFamily="34" charset="-120"/>
              </a:rPr>
              <a:t>Foto: James St. John · CC BY 2.0 · Wikimedia Commons</a:t>
            </a:r>
            <a:endParaRPr lang="en-US" sz="850" dirty="0"/>
          </a:p>
        </p:txBody>
      </p:sp>
      <p:sp>
        <p:nvSpPr>
          <p:cNvPr id="6" name="Text 3"/>
          <p:cNvSpPr/>
          <p:nvPr/>
        </p:nvSpPr>
        <p:spPr>
          <a:xfrm>
            <a:off x="5303520" y="347472"/>
            <a:ext cx="64008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PARTEA A TREIA · FARMACIA</a:t>
            </a:r>
            <a:endParaRPr lang="en-US" sz="1300" dirty="0"/>
          </a:p>
        </p:txBody>
      </p:sp>
      <p:sp>
        <p:nvSpPr>
          <p:cNvPr id="7" name="Text 4"/>
          <p:cNvSpPr/>
          <p:nvPr/>
        </p:nvSpPr>
        <p:spPr>
          <a:xfrm>
            <a:off x="5303520" y="731520"/>
            <a:ext cx="6400800" cy="64008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Mesajul de duminică</a:t>
            </a:r>
            <a:endParaRPr lang="en-US" sz="3200" dirty="0"/>
          </a:p>
        </p:txBody>
      </p:sp>
      <p:sp>
        <p:nvSpPr>
          <p:cNvPr id="8" name="Shape 5"/>
          <p:cNvSpPr/>
          <p:nvPr/>
        </p:nvSpPr>
        <p:spPr>
          <a:xfrm>
            <a:off x="5303520" y="1600200"/>
            <a:ext cx="6263640" cy="457200"/>
          </a:xfrm>
          <a:prstGeom prst="roundRect">
            <a:avLst>
              <a:gd name="adj" fmla="val 18000"/>
            </a:avLst>
          </a:prstGeom>
          <a:solidFill>
            <a:srgbClr val="2B3048"/>
          </a:solidFill>
          <a:ln w="12700">
            <a:solidFill>
              <a:srgbClr val="2B3048"/>
            </a:solidFill>
            <a:prstDash val="solid"/>
          </a:ln>
        </p:spPr>
        <p:txBody>
          <a:bodyPr/>
          <a:p/>
        </p:txBody>
      </p:sp>
      <p:sp>
        <p:nvSpPr>
          <p:cNvPr id="9" name="Text 6"/>
          <p:cNvSpPr/>
          <p:nvPr/>
        </p:nvSpPr>
        <p:spPr>
          <a:xfrm>
            <a:off x="5532120" y="1600200"/>
            <a:ext cx="5806440" cy="457200"/>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Duminică seara</a:t>
            </a:r>
            <a:endParaRPr lang="en-US" sz="1300" dirty="0"/>
          </a:p>
        </p:txBody>
      </p:sp>
      <p:sp>
        <p:nvSpPr>
          <p:cNvPr id="10" name="Shape 7"/>
          <p:cNvSpPr/>
          <p:nvPr/>
        </p:nvSpPr>
        <p:spPr>
          <a:xfrm>
            <a:off x="5303520" y="2240280"/>
            <a:ext cx="5136185" cy="1097280"/>
          </a:xfrm>
          <a:prstGeom prst="roundRect">
            <a:avLst>
              <a:gd name="adj" fmla="val 7500"/>
            </a:avLst>
          </a:prstGeom>
          <a:solidFill>
            <a:srgbClr val="272A38"/>
          </a:solidFill>
          <a:ln w="12700">
            <a:solidFill>
              <a:srgbClr val="272A38"/>
            </a:solidFill>
            <a:prstDash val="solid"/>
          </a:ln>
        </p:spPr>
        <p:txBody>
          <a:bodyPr/>
          <a:p/>
        </p:txBody>
      </p:sp>
      <p:sp>
        <p:nvSpPr>
          <p:cNvPr id="11" name="Text 8"/>
          <p:cNvSpPr/>
          <p:nvPr/>
        </p:nvSpPr>
        <p:spPr>
          <a:xfrm>
            <a:off x="5486400" y="2313432"/>
            <a:ext cx="4770425" cy="237744"/>
          </a:xfrm>
          <a:prstGeom prst="rect">
            <a:avLst/>
          </a:prstGeom>
          <a:noFill/>
          <a:ln/>
        </p:spPr>
        <p:txBody>
          <a:bodyPr wrap="square" lIns="0" tIns="0" rIns="0" bIns="0" rtlCol="0" anchor="t"/>
          <a:lstStyle/>
          <a:p>
            <a:pPr indent="0" marL="0">
              <a:buNone/>
            </a:pPr>
            <a:r>
              <a:rPr lang="en-US" sz="1100" b="1" dirty="0">
                <a:solidFill>
                  <a:srgbClr val="FFC24B"/>
                </a:solidFill>
                <a:latin typeface="Palatino Linotype" pitchFamily="34" charset="0"/>
                <a:ea typeface="Palatino Linotype" pitchFamily="34" charset="-122"/>
                <a:cs typeface="Palatino Linotype" pitchFamily="34" charset="-120"/>
              </a:rPr>
              <a:t>Colega ta</a:t>
            </a:r>
            <a:endParaRPr lang="en-US" sz="1100" dirty="0"/>
          </a:p>
        </p:txBody>
      </p:sp>
      <p:sp>
        <p:nvSpPr>
          <p:cNvPr id="12" name="Text 9"/>
          <p:cNvSpPr/>
          <p:nvPr/>
        </p:nvSpPr>
        <p:spPr>
          <a:xfrm>
            <a:off x="5486400" y="2551176"/>
            <a:ext cx="4770425" cy="73152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Bunica face chimioterapie și îi e rău după fiecare cură, deși ia medicamentele împotriva vărsăturilor.</a:t>
            </a:r>
            <a:endParaRPr lang="en-US" sz="1500" dirty="0"/>
          </a:p>
        </p:txBody>
      </p:sp>
      <p:sp>
        <p:nvSpPr>
          <p:cNvPr id="13" name="Shape 10"/>
          <p:cNvSpPr/>
          <p:nvPr/>
        </p:nvSpPr>
        <p:spPr>
          <a:xfrm>
            <a:off x="5303520" y="3502152"/>
            <a:ext cx="5136185" cy="1097280"/>
          </a:xfrm>
          <a:prstGeom prst="roundRect">
            <a:avLst>
              <a:gd name="adj" fmla="val 7500"/>
            </a:avLst>
          </a:prstGeom>
          <a:solidFill>
            <a:srgbClr val="272A38"/>
          </a:solidFill>
          <a:ln w="12700">
            <a:solidFill>
              <a:srgbClr val="272A38"/>
            </a:solidFill>
            <a:prstDash val="solid"/>
          </a:ln>
        </p:spPr>
        <p:txBody>
          <a:bodyPr/>
          <a:p/>
        </p:txBody>
      </p:sp>
      <p:sp>
        <p:nvSpPr>
          <p:cNvPr id="14" name="Text 11"/>
          <p:cNvSpPr/>
          <p:nvPr/>
        </p:nvSpPr>
        <p:spPr>
          <a:xfrm>
            <a:off x="5486400" y="3575304"/>
            <a:ext cx="4770425" cy="237744"/>
          </a:xfrm>
          <a:prstGeom prst="rect">
            <a:avLst/>
          </a:prstGeom>
          <a:noFill/>
          <a:ln/>
        </p:spPr>
        <p:txBody>
          <a:bodyPr wrap="square" lIns="0" tIns="0" rIns="0" bIns="0" rtlCol="0" anchor="t"/>
          <a:lstStyle/>
          <a:p>
            <a:pPr indent="0" marL="0">
              <a:buNone/>
            </a:pPr>
            <a:r>
              <a:rPr lang="en-US" sz="1100" b="1" dirty="0">
                <a:solidFill>
                  <a:srgbClr val="FFC24B"/>
                </a:solidFill>
                <a:latin typeface="Palatino Linotype" pitchFamily="34" charset="0"/>
                <a:ea typeface="Palatino Linotype" pitchFamily="34" charset="-122"/>
                <a:cs typeface="Palatino Linotype" pitchFamily="34" charset="-120"/>
              </a:rPr>
              <a:t>Colega ta</a:t>
            </a:r>
            <a:endParaRPr lang="en-US" sz="1100" dirty="0"/>
          </a:p>
        </p:txBody>
      </p:sp>
      <p:sp>
        <p:nvSpPr>
          <p:cNvPr id="15" name="Text 12"/>
          <p:cNvSpPr/>
          <p:nvPr/>
        </p:nvSpPr>
        <p:spPr>
          <a:xfrm>
            <a:off x="5486400" y="3813048"/>
            <a:ext cx="4770425" cy="73152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O vecină i-a adus un ulei „de cannabis, natural, care vindecă și cancerul”. Tu ești la medicină. Merge?</a:t>
            </a:r>
            <a:endParaRPr lang="en-US" sz="1500" dirty="0"/>
          </a:p>
        </p:txBody>
      </p:sp>
      <p:sp>
        <p:nvSpPr>
          <p:cNvPr id="16" name="Text 13"/>
          <p:cNvSpPr/>
          <p:nvPr/>
        </p:nvSpPr>
        <p:spPr>
          <a:xfrm>
            <a:off x="5303520" y="5989320"/>
            <a:ext cx="5486400" cy="256032"/>
          </a:xfrm>
          <a:prstGeom prst="rect">
            <a:avLst/>
          </a:prstGeom>
          <a:noFill/>
          <a:ln/>
        </p:spPr>
        <p:txBody>
          <a:bodyPr wrap="square" lIns="0" tIns="0" rIns="0" bIns="0" rtlCol="0" anchor="t"/>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Scenă reconstituită.</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MESAJUL DE DUMINICĂ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răspundeți?</a:t>
            </a:r>
            <a:endParaRPr lang="en-US" sz="3400" dirty="0"/>
          </a:p>
        </p:txBody>
      </p:sp>
      <p:sp>
        <p:nvSpPr>
          <p:cNvPr id="6" name="Shape 4"/>
          <p:cNvSpPr/>
          <p:nvPr/>
        </p:nvSpPr>
        <p:spPr>
          <a:xfrm>
            <a:off x="594360" y="1463040"/>
            <a:ext cx="10972800" cy="914400"/>
          </a:xfrm>
          <a:prstGeom prst="roundRect">
            <a:avLst>
              <a:gd name="adj" fmla="val 9000"/>
            </a:avLst>
          </a:prstGeom>
          <a:solidFill>
            <a:srgbClr val="1D1F2B"/>
          </a:solidFill>
          <a:ln w="12700">
            <a:solidFill>
              <a:srgbClr val="1D1F2B"/>
            </a:solidFill>
            <a:prstDash val="solid"/>
          </a:ln>
        </p:spPr>
        <p:txBody>
          <a:bodyPr/>
          <a:p/>
        </p:txBody>
      </p:sp>
      <p:sp>
        <p:nvSpPr>
          <p:cNvPr id="7" name="Shape 5"/>
          <p:cNvSpPr/>
          <p:nvPr/>
        </p:nvSpPr>
        <p:spPr>
          <a:xfrm>
            <a:off x="914400" y="1709928"/>
            <a:ext cx="420624" cy="420624"/>
          </a:xfrm>
          <a:prstGeom prst="ellipse">
            <a:avLst/>
          </a:prstGeom>
          <a:solidFill>
            <a:srgbClr val="FFC24B"/>
          </a:solidFill>
          <a:ln/>
        </p:spPr>
        <p:txBody>
          <a:bodyPr/>
          <a:p/>
        </p:txBody>
      </p:sp>
      <p:sp>
        <p:nvSpPr>
          <p:cNvPr id="8" name="Text 6"/>
          <p:cNvSpPr/>
          <p:nvPr/>
        </p:nvSpPr>
        <p:spPr>
          <a:xfrm>
            <a:off x="914400" y="17099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463040"/>
            <a:ext cx="9692640" cy="91440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„Da, cannabisul tratează și greața, și cancerul.”</a:t>
            </a:r>
            <a:endParaRPr lang="en-US" sz="1650" dirty="0"/>
          </a:p>
        </p:txBody>
      </p:sp>
      <p:sp>
        <p:nvSpPr>
          <p:cNvPr id="10" name="Shape 8"/>
          <p:cNvSpPr/>
          <p:nvPr/>
        </p:nvSpPr>
        <p:spPr>
          <a:xfrm>
            <a:off x="594360" y="2514600"/>
            <a:ext cx="10972800" cy="914400"/>
          </a:xfrm>
          <a:prstGeom prst="roundRect">
            <a:avLst>
              <a:gd name="adj" fmla="val 9000"/>
            </a:avLst>
          </a:prstGeom>
          <a:solidFill>
            <a:srgbClr val="1D1F2B"/>
          </a:solidFill>
          <a:ln w="12700">
            <a:solidFill>
              <a:srgbClr val="1D1F2B"/>
            </a:solidFill>
            <a:prstDash val="solid"/>
          </a:ln>
        </p:spPr>
        <p:txBody>
          <a:bodyPr/>
          <a:p/>
        </p:txBody>
      </p:sp>
      <p:sp>
        <p:nvSpPr>
          <p:cNvPr id="11" name="Shape 9"/>
          <p:cNvSpPr/>
          <p:nvPr/>
        </p:nvSpPr>
        <p:spPr>
          <a:xfrm>
            <a:off x="914400" y="2761488"/>
            <a:ext cx="420624" cy="420624"/>
          </a:xfrm>
          <a:prstGeom prst="ellipse">
            <a:avLst/>
          </a:prstGeom>
          <a:solidFill>
            <a:srgbClr val="FFC24B"/>
          </a:solidFill>
          <a:ln/>
        </p:spPr>
        <p:txBody>
          <a:bodyPr/>
          <a:p/>
        </p:txBody>
      </p:sp>
      <p:sp>
        <p:nvSpPr>
          <p:cNvPr id="12" name="Text 10"/>
          <p:cNvSpPr/>
          <p:nvPr/>
        </p:nvSpPr>
        <p:spPr>
          <a:xfrm>
            <a:off x="914400" y="27614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514600"/>
            <a:ext cx="9692640" cy="91440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„Poate ajuta la greață în anumite situații; pentru cancer, ghidul nu îl recomandă în afara studiilor; să vorbească cu oncologul.”</a:t>
            </a:r>
            <a:endParaRPr lang="en-US" sz="1650" dirty="0"/>
          </a:p>
        </p:txBody>
      </p:sp>
      <p:sp>
        <p:nvSpPr>
          <p:cNvPr id="14" name="Shape 12"/>
          <p:cNvSpPr/>
          <p:nvPr/>
        </p:nvSpPr>
        <p:spPr>
          <a:xfrm>
            <a:off x="594360" y="3566160"/>
            <a:ext cx="10972800" cy="914400"/>
          </a:xfrm>
          <a:prstGeom prst="roundRect">
            <a:avLst>
              <a:gd name="adj" fmla="val 9000"/>
            </a:avLst>
          </a:prstGeom>
          <a:solidFill>
            <a:srgbClr val="1D1F2B"/>
          </a:solidFill>
          <a:ln w="12700">
            <a:solidFill>
              <a:srgbClr val="1D1F2B"/>
            </a:solidFill>
            <a:prstDash val="solid"/>
          </a:ln>
        </p:spPr>
        <p:txBody>
          <a:bodyPr/>
          <a:p/>
        </p:txBody>
      </p:sp>
      <p:sp>
        <p:nvSpPr>
          <p:cNvPr id="15" name="Shape 13"/>
          <p:cNvSpPr/>
          <p:nvPr/>
        </p:nvSpPr>
        <p:spPr>
          <a:xfrm>
            <a:off x="914400" y="3813048"/>
            <a:ext cx="420624" cy="420624"/>
          </a:xfrm>
          <a:prstGeom prst="ellipse">
            <a:avLst/>
          </a:prstGeom>
          <a:solidFill>
            <a:srgbClr val="FFC24B"/>
          </a:solidFill>
          <a:ln/>
        </p:spPr>
        <p:txBody>
          <a:bodyPr/>
          <a:p/>
        </p:txBody>
      </p:sp>
      <p:sp>
        <p:nvSpPr>
          <p:cNvPr id="16" name="Text 14"/>
          <p:cNvSpPr/>
          <p:nvPr/>
        </p:nvSpPr>
        <p:spPr>
          <a:xfrm>
            <a:off x="914400" y="3813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566160"/>
            <a:ext cx="9692640" cy="91440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„Nu, cannabisul nu are niciun efect medical.”</a:t>
            </a:r>
            <a:endParaRPr lang="en-US" sz="1650" dirty="0"/>
          </a:p>
        </p:txBody>
      </p:sp>
      <p:sp>
        <p:nvSpPr>
          <p:cNvPr id="18" name="Shape 16"/>
          <p:cNvSpPr/>
          <p:nvPr/>
        </p:nvSpPr>
        <p:spPr>
          <a:xfrm>
            <a:off x="594360" y="4617720"/>
            <a:ext cx="10972800" cy="914400"/>
          </a:xfrm>
          <a:prstGeom prst="roundRect">
            <a:avLst>
              <a:gd name="adj" fmla="val 9000"/>
            </a:avLst>
          </a:prstGeom>
          <a:solidFill>
            <a:srgbClr val="1D1F2B"/>
          </a:solidFill>
          <a:ln w="12700">
            <a:solidFill>
              <a:srgbClr val="1D1F2B"/>
            </a:solidFill>
            <a:prstDash val="solid"/>
          </a:ln>
        </p:spPr>
        <p:txBody>
          <a:bodyPr/>
          <a:p/>
        </p:txBody>
      </p:sp>
      <p:sp>
        <p:nvSpPr>
          <p:cNvPr id="19" name="Shape 17"/>
          <p:cNvSpPr/>
          <p:nvPr/>
        </p:nvSpPr>
        <p:spPr>
          <a:xfrm>
            <a:off x="914400" y="4864608"/>
            <a:ext cx="420624" cy="420624"/>
          </a:xfrm>
          <a:prstGeom prst="ellipse">
            <a:avLst/>
          </a:prstGeom>
          <a:solidFill>
            <a:srgbClr val="FFC24B"/>
          </a:solidFill>
          <a:ln/>
        </p:spPr>
        <p:txBody>
          <a:bodyPr/>
          <a:p/>
        </p:txBody>
      </p:sp>
      <p:sp>
        <p:nvSpPr>
          <p:cNvPr id="20" name="Text 18"/>
          <p:cNvSpPr/>
          <p:nvPr/>
        </p:nvSpPr>
        <p:spPr>
          <a:xfrm>
            <a:off x="914400" y="48646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617720"/>
            <a:ext cx="9692640" cy="914400"/>
          </a:xfrm>
          <a:prstGeom prst="rect">
            <a:avLst/>
          </a:prstGeom>
          <a:noFill/>
          <a:ln/>
        </p:spPr>
        <p:txBody>
          <a:bodyPr wrap="square" lIns="0" tIns="0" rIns="0" bIns="0" rtlCol="0" anchor="ctr"/>
          <a:lstStyle/>
          <a:p>
            <a:pPr indent="0" marL="0">
              <a:buNone/>
            </a:pPr>
            <a:r>
              <a:rPr lang="en-US" sz="1650" dirty="0">
                <a:solidFill>
                  <a:srgbClr val="FFFFFF"/>
                </a:solidFill>
                <a:latin typeface="Palatino Linotype" pitchFamily="34" charset="0"/>
                <a:ea typeface="Palatino Linotype" pitchFamily="34" charset="-122"/>
                <a:cs typeface="Palatino Linotype" pitchFamily="34" charset="-120"/>
              </a:rPr>
              <a:t>„Nu știu.”</a:t>
            </a:r>
            <a:endParaRPr lang="en-US" sz="1650" dirty="0"/>
          </a:p>
        </p:txBody>
      </p:sp>
      <p:sp>
        <p:nvSpPr>
          <p:cNvPr id="22" name="Shape 20"/>
          <p:cNvSpPr/>
          <p:nvPr/>
        </p:nvSpPr>
        <p:spPr>
          <a:xfrm>
            <a:off x="9738360" y="5669280"/>
            <a:ext cx="1828800" cy="1051560"/>
          </a:xfrm>
          <a:prstGeom prst="roundRect">
            <a:avLst>
              <a:gd name="adj" fmla="val 7826"/>
            </a:avLst>
          </a:prstGeom>
          <a:solidFill>
            <a:srgbClr val="FFFFFF"/>
          </a:solidFill>
          <a:ln w="12700">
            <a:solidFill>
              <a:srgbClr val="FFFFFF"/>
            </a:solidFill>
            <a:prstDash val="solid"/>
          </a:ln>
        </p:spPr>
        <p:txBody>
          <a:bodyPr/>
          <a:p/>
        </p:txBody>
      </p:sp>
      <p:pic>
        <p:nvPicPr>
          <p:cNvPr id="23" name="Picture 22" descr="Mentimeter_OPT_DROGURI_C03.png"/>
          <p:cNvPicPr>
            <a:picLocks noChangeAspect="1"/>
          </p:cNvPicPr>
          <p:nvPr/>
        </p:nvPicPr>
        <p:blipFill>
          <a:blip r:embed="rId3"/>
          <a:stretch>
            <a:fillRect/>
          </a:stretch>
        </p:blipFill>
        <p:spPr>
          <a:xfrm>
            <a:off x="10344149" y="5669280"/>
            <a:ext cx="617221" cy="617221"/>
          </a:xfrm>
          <a:prstGeom prst="rect">
            <a:avLst/>
          </a:prstGeom>
        </p:spPr>
      </p:pic>
      <p:sp>
        <p:nvSpPr>
          <p:cNvPr id="24" name="TextBox 23"/>
          <p:cNvSpPr txBox="1"/>
          <p:nvPr/>
        </p:nvSpPr>
        <p:spPr>
          <a:xfrm>
            <a:off x="9738360" y="6324601"/>
            <a:ext cx="18288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NASEM · 2017 · DOVEZI CONCLUDENTE SAU SUBSTANȚIALE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Trei situații, nu douăzeci</a:t>
            </a:r>
            <a:endParaRPr lang="en-US" sz="3200" dirty="0"/>
          </a:p>
        </p:txBody>
      </p:sp>
      <p:sp>
        <p:nvSpPr>
          <p:cNvPr id="4" name="Shape 2"/>
          <p:cNvSpPr/>
          <p:nvPr/>
        </p:nvSpPr>
        <p:spPr>
          <a:xfrm>
            <a:off x="594360" y="1554480"/>
            <a:ext cx="3520440" cy="2194560"/>
          </a:xfrm>
          <a:prstGeom prst="roundRect">
            <a:avLst>
              <a:gd name="adj" fmla="val 3750"/>
            </a:avLst>
          </a:prstGeom>
          <a:solidFill>
            <a:srgbClr val="ECEAE4"/>
          </a:solidFill>
          <a:ln w="12700">
            <a:solidFill>
              <a:srgbClr val="ECEAE4"/>
            </a:solidFill>
            <a:prstDash val="solid"/>
          </a:ln>
        </p:spPr>
        <p:txBody>
          <a:bodyPr/>
          <a:p/>
        </p:txBody>
      </p:sp>
      <p:sp>
        <p:nvSpPr>
          <p:cNvPr id="5" name="Text 3"/>
          <p:cNvSpPr/>
          <p:nvPr/>
        </p:nvSpPr>
        <p:spPr>
          <a:xfrm>
            <a:off x="868680" y="1645920"/>
            <a:ext cx="914400" cy="731520"/>
          </a:xfrm>
          <a:prstGeom prst="rect">
            <a:avLst/>
          </a:prstGeom>
          <a:noFill/>
          <a:ln/>
        </p:spPr>
        <p:txBody>
          <a:bodyPr wrap="square" lIns="0" tIns="0" rIns="0" bIns="0" rtlCol="0" anchor="t"/>
          <a:lstStyle/>
          <a:p>
            <a:pPr indent="0" marL="0">
              <a:buNone/>
            </a:pPr>
            <a:r>
              <a:rPr lang="en-US" sz="4000" b="1" dirty="0">
                <a:solidFill>
                  <a:srgbClr val="0E7C6B"/>
                </a:solidFill>
                <a:latin typeface="Palatino Linotype" pitchFamily="34" charset="0"/>
                <a:ea typeface="Palatino Linotype" pitchFamily="34" charset="-122"/>
                <a:cs typeface="Palatino Linotype" pitchFamily="34" charset="-120"/>
              </a:rPr>
              <a:t>1</a:t>
            </a:r>
            <a:endParaRPr lang="en-US" sz="4000" dirty="0"/>
          </a:p>
        </p:txBody>
      </p:sp>
      <p:sp>
        <p:nvSpPr>
          <p:cNvPr id="6" name="Text 4"/>
          <p:cNvSpPr/>
          <p:nvPr/>
        </p:nvSpPr>
        <p:spPr>
          <a:xfrm>
            <a:off x="868680" y="2377440"/>
            <a:ext cx="3017520" cy="457200"/>
          </a:xfrm>
          <a:prstGeom prst="rect">
            <a:avLst/>
          </a:prstGeom>
          <a:noFill/>
          <a:ln/>
        </p:spPr>
        <p:txBody>
          <a:bodyPr wrap="square" lIns="0" tIns="0" rIns="0" bIns="0" rtlCol="0" anchor="t"/>
          <a:lstStyle/>
          <a:p>
            <a:pPr indent="0" marL="0">
              <a:buNone/>
            </a:pPr>
            <a:r>
              <a:rPr lang="en-US" sz="1900" b="1" dirty="0">
                <a:solidFill>
                  <a:srgbClr val="11121A"/>
                </a:solidFill>
                <a:latin typeface="Palatino Linotype" pitchFamily="34" charset="0"/>
                <a:ea typeface="Palatino Linotype" pitchFamily="34" charset="-122"/>
                <a:cs typeface="Palatino Linotype" pitchFamily="34" charset="-120"/>
              </a:rPr>
              <a:t>Durerea cronică</a:t>
            </a:r>
            <a:endParaRPr lang="en-US" sz="1900" dirty="0"/>
          </a:p>
        </p:txBody>
      </p:sp>
      <p:sp>
        <p:nvSpPr>
          <p:cNvPr id="7" name="Text 5"/>
          <p:cNvSpPr/>
          <p:nvPr/>
        </p:nvSpPr>
        <p:spPr>
          <a:xfrm>
            <a:off x="868680" y="2834640"/>
            <a:ext cx="3017520" cy="822960"/>
          </a:xfrm>
          <a:prstGeom prst="rect">
            <a:avLst/>
          </a:prstGeom>
          <a:noFill/>
          <a:ln/>
        </p:spPr>
        <p:txBody>
          <a:bodyPr wrap="square" lIns="0" tIns="0" rIns="0" bIns="0" rtlCol="0" anchor="t"/>
          <a:lstStyle/>
          <a:p>
            <a:pPr indent="0" marL="0">
              <a:buNone/>
            </a:pPr>
            <a:r>
              <a:rPr lang="en-US" sz="1500" dirty="0">
                <a:solidFill>
                  <a:srgbClr val="3A3C44"/>
                </a:solidFill>
                <a:latin typeface="Palatino Linotype" pitchFamily="34" charset="0"/>
                <a:ea typeface="Palatino Linotype" pitchFamily="34" charset="-122"/>
                <a:cs typeface="Palatino Linotype" pitchFamily="34" charset="-120"/>
              </a:rPr>
              <a:t>la adulți (cannabis)</a:t>
            </a:r>
            <a:endParaRPr lang="en-US" sz="1500" dirty="0"/>
          </a:p>
        </p:txBody>
      </p:sp>
      <p:sp>
        <p:nvSpPr>
          <p:cNvPr id="8" name="Shape 6"/>
          <p:cNvSpPr/>
          <p:nvPr/>
        </p:nvSpPr>
        <p:spPr>
          <a:xfrm>
            <a:off x="4366260" y="1554480"/>
            <a:ext cx="3520440" cy="2194560"/>
          </a:xfrm>
          <a:prstGeom prst="roundRect">
            <a:avLst>
              <a:gd name="adj" fmla="val 3750"/>
            </a:avLst>
          </a:prstGeom>
          <a:solidFill>
            <a:srgbClr val="ECEAE4"/>
          </a:solidFill>
          <a:ln w="12700">
            <a:solidFill>
              <a:srgbClr val="ECEAE4"/>
            </a:solidFill>
            <a:prstDash val="solid"/>
          </a:ln>
        </p:spPr>
        <p:txBody>
          <a:bodyPr/>
          <a:p/>
        </p:txBody>
      </p:sp>
      <p:sp>
        <p:nvSpPr>
          <p:cNvPr id="9" name="Text 7"/>
          <p:cNvSpPr/>
          <p:nvPr/>
        </p:nvSpPr>
        <p:spPr>
          <a:xfrm>
            <a:off x="4640580" y="1645920"/>
            <a:ext cx="914400" cy="731520"/>
          </a:xfrm>
          <a:prstGeom prst="rect">
            <a:avLst/>
          </a:prstGeom>
          <a:noFill/>
          <a:ln/>
        </p:spPr>
        <p:txBody>
          <a:bodyPr wrap="square" lIns="0" tIns="0" rIns="0" bIns="0" rtlCol="0" anchor="t"/>
          <a:lstStyle/>
          <a:p>
            <a:pPr indent="0" marL="0">
              <a:buNone/>
            </a:pPr>
            <a:r>
              <a:rPr lang="en-US" sz="4000" b="1" dirty="0">
                <a:solidFill>
                  <a:srgbClr val="8A6100"/>
                </a:solidFill>
                <a:latin typeface="Palatino Linotype" pitchFamily="34" charset="0"/>
                <a:ea typeface="Palatino Linotype" pitchFamily="34" charset="-122"/>
                <a:cs typeface="Palatino Linotype" pitchFamily="34" charset="-120"/>
              </a:rPr>
              <a:t>2</a:t>
            </a:r>
            <a:endParaRPr lang="en-US" sz="4000" dirty="0"/>
          </a:p>
        </p:txBody>
      </p:sp>
      <p:sp>
        <p:nvSpPr>
          <p:cNvPr id="10" name="Text 8"/>
          <p:cNvSpPr/>
          <p:nvPr/>
        </p:nvSpPr>
        <p:spPr>
          <a:xfrm>
            <a:off x="4640580" y="2377440"/>
            <a:ext cx="3017520" cy="457200"/>
          </a:xfrm>
          <a:prstGeom prst="rect">
            <a:avLst/>
          </a:prstGeom>
          <a:noFill/>
          <a:ln/>
        </p:spPr>
        <p:txBody>
          <a:bodyPr wrap="square" lIns="0" tIns="0" rIns="0" bIns="0" rtlCol="0" anchor="t"/>
          <a:lstStyle/>
          <a:p>
            <a:pPr indent="0" marL="0">
              <a:buNone/>
            </a:pPr>
            <a:r>
              <a:rPr lang="en-US" sz="1900" b="1" dirty="0">
                <a:solidFill>
                  <a:srgbClr val="11121A"/>
                </a:solidFill>
                <a:latin typeface="Palatino Linotype" pitchFamily="34" charset="0"/>
                <a:ea typeface="Palatino Linotype" pitchFamily="34" charset="-122"/>
                <a:cs typeface="Palatino Linotype" pitchFamily="34" charset="-120"/>
              </a:rPr>
              <a:t>Greața și vărsăturile</a:t>
            </a:r>
            <a:endParaRPr lang="en-US" sz="1900" dirty="0"/>
          </a:p>
        </p:txBody>
      </p:sp>
      <p:sp>
        <p:nvSpPr>
          <p:cNvPr id="11" name="Text 9"/>
          <p:cNvSpPr/>
          <p:nvPr/>
        </p:nvSpPr>
        <p:spPr>
          <a:xfrm>
            <a:off x="4640580" y="2834640"/>
            <a:ext cx="3017520" cy="822960"/>
          </a:xfrm>
          <a:prstGeom prst="rect">
            <a:avLst/>
          </a:prstGeom>
          <a:noFill/>
          <a:ln/>
        </p:spPr>
        <p:txBody>
          <a:bodyPr wrap="square" lIns="0" tIns="0" rIns="0" bIns="0" rtlCol="0" anchor="t"/>
          <a:lstStyle/>
          <a:p>
            <a:pPr indent="0" marL="0">
              <a:buNone/>
            </a:pPr>
            <a:r>
              <a:rPr lang="en-US" sz="1500" dirty="0">
                <a:solidFill>
                  <a:srgbClr val="3A3C44"/>
                </a:solidFill>
                <a:latin typeface="Palatino Linotype" pitchFamily="34" charset="0"/>
                <a:ea typeface="Palatino Linotype" pitchFamily="34" charset="-122"/>
                <a:cs typeface="Palatino Linotype" pitchFamily="34" charset="-120"/>
              </a:rPr>
              <a:t>produse de chimioterapie (canabinoizi pe cale orală)</a:t>
            </a:r>
            <a:endParaRPr lang="en-US" sz="1500" dirty="0"/>
          </a:p>
        </p:txBody>
      </p:sp>
      <p:sp>
        <p:nvSpPr>
          <p:cNvPr id="12" name="Shape 10"/>
          <p:cNvSpPr/>
          <p:nvPr/>
        </p:nvSpPr>
        <p:spPr>
          <a:xfrm>
            <a:off x="8138160" y="1554480"/>
            <a:ext cx="3520440" cy="2194560"/>
          </a:xfrm>
          <a:prstGeom prst="roundRect">
            <a:avLst>
              <a:gd name="adj" fmla="val 3750"/>
            </a:avLst>
          </a:prstGeom>
          <a:solidFill>
            <a:srgbClr val="ECEAE4"/>
          </a:solidFill>
          <a:ln w="12700">
            <a:solidFill>
              <a:srgbClr val="ECEAE4"/>
            </a:solidFill>
            <a:prstDash val="solid"/>
          </a:ln>
        </p:spPr>
        <p:txBody>
          <a:bodyPr/>
          <a:p/>
        </p:txBody>
      </p:sp>
      <p:sp>
        <p:nvSpPr>
          <p:cNvPr id="13" name="Text 11"/>
          <p:cNvSpPr/>
          <p:nvPr/>
        </p:nvSpPr>
        <p:spPr>
          <a:xfrm>
            <a:off x="8412480" y="1645920"/>
            <a:ext cx="914400" cy="731520"/>
          </a:xfrm>
          <a:prstGeom prst="rect">
            <a:avLst/>
          </a:prstGeom>
          <a:noFill/>
          <a:ln/>
        </p:spPr>
        <p:txBody>
          <a:bodyPr wrap="square" lIns="0" tIns="0" rIns="0" bIns="0" rtlCol="0" anchor="t"/>
          <a:lstStyle/>
          <a:p>
            <a:pPr indent="0" marL="0">
              <a:buNone/>
            </a:pPr>
            <a:r>
              <a:rPr lang="en-US" sz="4000" b="1" dirty="0">
                <a:solidFill>
                  <a:srgbClr val="4A2D8C"/>
                </a:solidFill>
                <a:latin typeface="Palatino Linotype" pitchFamily="34" charset="0"/>
                <a:ea typeface="Palatino Linotype" pitchFamily="34" charset="-122"/>
                <a:cs typeface="Palatino Linotype" pitchFamily="34" charset="-120"/>
              </a:rPr>
              <a:t>3</a:t>
            </a:r>
            <a:endParaRPr lang="en-US" sz="4000" dirty="0"/>
          </a:p>
        </p:txBody>
      </p:sp>
      <p:sp>
        <p:nvSpPr>
          <p:cNvPr id="14" name="Text 12"/>
          <p:cNvSpPr/>
          <p:nvPr/>
        </p:nvSpPr>
        <p:spPr>
          <a:xfrm>
            <a:off x="8412480" y="2377440"/>
            <a:ext cx="3017520" cy="457200"/>
          </a:xfrm>
          <a:prstGeom prst="rect">
            <a:avLst/>
          </a:prstGeom>
          <a:noFill/>
          <a:ln/>
        </p:spPr>
        <p:txBody>
          <a:bodyPr wrap="square" lIns="0" tIns="0" rIns="0" bIns="0" rtlCol="0" anchor="t"/>
          <a:lstStyle/>
          <a:p>
            <a:pPr indent="0" marL="0">
              <a:buNone/>
            </a:pPr>
            <a:r>
              <a:rPr lang="en-US" sz="1900" b="1" dirty="0">
                <a:solidFill>
                  <a:srgbClr val="11121A"/>
                </a:solidFill>
                <a:latin typeface="Palatino Linotype" pitchFamily="34" charset="0"/>
                <a:ea typeface="Palatino Linotype" pitchFamily="34" charset="-122"/>
                <a:cs typeface="Palatino Linotype" pitchFamily="34" charset="-120"/>
              </a:rPr>
              <a:t>Spasticitatea</a:t>
            </a:r>
            <a:endParaRPr lang="en-US" sz="1900" dirty="0"/>
          </a:p>
        </p:txBody>
      </p:sp>
      <p:sp>
        <p:nvSpPr>
          <p:cNvPr id="15" name="Text 13"/>
          <p:cNvSpPr/>
          <p:nvPr/>
        </p:nvSpPr>
        <p:spPr>
          <a:xfrm>
            <a:off x="8412480" y="2834640"/>
            <a:ext cx="3017520" cy="822960"/>
          </a:xfrm>
          <a:prstGeom prst="rect">
            <a:avLst/>
          </a:prstGeom>
          <a:noFill/>
          <a:ln/>
        </p:spPr>
        <p:txBody>
          <a:bodyPr wrap="square" lIns="0" tIns="0" rIns="0" bIns="0" rtlCol="0" anchor="t"/>
          <a:lstStyle/>
          <a:p>
            <a:pPr indent="0" marL="0">
              <a:buNone/>
            </a:pPr>
            <a:r>
              <a:rPr lang="en-US" sz="1500" dirty="0">
                <a:solidFill>
                  <a:srgbClr val="3A3C44"/>
                </a:solidFill>
                <a:latin typeface="Palatino Linotype" pitchFamily="34" charset="0"/>
                <a:ea typeface="Palatino Linotype" pitchFamily="34" charset="-122"/>
                <a:cs typeface="Palatino Linotype" pitchFamily="34" charset="-120"/>
              </a:rPr>
              <a:t>din scleroza multiplă, raportată de pacient</a:t>
            </a:r>
            <a:endParaRPr lang="en-US" sz="1500" dirty="0"/>
          </a:p>
        </p:txBody>
      </p:sp>
      <p:sp>
        <p:nvSpPr>
          <p:cNvPr id="16" name="Text 14"/>
          <p:cNvSpPr/>
          <p:nvPr/>
        </p:nvSpPr>
        <p:spPr>
          <a:xfrm>
            <a:off x="594360" y="4023360"/>
            <a:ext cx="10972800" cy="548640"/>
          </a:xfrm>
          <a:prstGeom prst="rect">
            <a:avLst/>
          </a:prstGeom>
          <a:noFill/>
          <a:ln/>
        </p:spPr>
        <p:txBody>
          <a:bodyPr wrap="square" lIns="0" tIns="0" rIns="0" bIns="0" rtlCol="0" anchor="t"/>
          <a:lstStyle/>
          <a:p>
            <a:pPr indent="0" marL="0">
              <a:buNone/>
            </a:pPr>
            <a:r>
              <a:rPr lang="en-US" sz="1900" b="1" dirty="0">
                <a:solidFill>
                  <a:srgbClr val="B02532"/>
                </a:solidFill>
                <a:latin typeface="Palatino Linotype" pitchFamily="34" charset="0"/>
                <a:ea typeface="Palatino Linotype" pitchFamily="34" charset="-122"/>
                <a:cs typeface="Palatino Linotype" pitchFamily="34" charset="-120"/>
              </a:rPr>
              <a:t>Răspunsul sprijinit de dovezi: B. Poate ajuta la greață, ca adaos; nu tratează boala.</a:t>
            </a:r>
            <a:endParaRPr lang="en-US" sz="1900" dirty="0"/>
          </a:p>
        </p:txBody>
      </p:sp>
      <p:sp>
        <p:nvSpPr>
          <p:cNvPr id="17" name="Text 15"/>
          <p:cNvSpPr/>
          <p:nvPr/>
        </p:nvSpPr>
        <p:spPr>
          <a:xfrm>
            <a:off x="594360" y="4709160"/>
            <a:ext cx="10972800" cy="45720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La a treia situație, două cuvinte contează: „raportată de pacient”.</a:t>
            </a:r>
            <a:endParaRPr lang="en-US" sz="1700" dirty="0"/>
          </a:p>
        </p:txBody>
      </p:sp>
      <p:sp>
        <p:nvSpPr>
          <p:cNvPr id="18" name="Text 16"/>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National Academies of Sciences, Engineering, and Medicine, 2017.</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AL DOILEA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Rezultatul raportat de pacient</a:t>
            </a:r>
            <a:endParaRPr lang="en-US" sz="3400" dirty="0"/>
          </a:p>
        </p:txBody>
      </p:sp>
      <p:sp>
        <p:nvSpPr>
          <p:cNvPr id="4" name="Shape 2"/>
          <p:cNvSpPr/>
          <p:nvPr/>
        </p:nvSpPr>
        <p:spPr>
          <a:xfrm>
            <a:off x="594360" y="1600200"/>
            <a:ext cx="5349240" cy="2377440"/>
          </a:xfrm>
          <a:prstGeom prst="roundRect">
            <a:avLst>
              <a:gd name="adj" fmla="val 3462"/>
            </a:avLst>
          </a:prstGeom>
          <a:solidFill>
            <a:srgbClr val="1D1F2B"/>
          </a:solidFill>
          <a:ln w="12700">
            <a:solidFill>
              <a:srgbClr val="1D1F2B"/>
            </a:solidFill>
            <a:prstDash val="solid"/>
          </a:ln>
        </p:spPr>
        <p:txBody>
          <a:bodyPr/>
          <a:p/>
        </p:txBody>
      </p:sp>
      <p:sp>
        <p:nvSpPr>
          <p:cNvPr id="5" name="Shape 3"/>
          <p:cNvSpPr/>
          <p:nvPr/>
        </p:nvSpPr>
        <p:spPr>
          <a:xfrm>
            <a:off x="6217920" y="1600200"/>
            <a:ext cx="5349240" cy="2377440"/>
          </a:xfrm>
          <a:prstGeom prst="roundRect">
            <a:avLst>
              <a:gd name="adj" fmla="val 3462"/>
            </a:avLst>
          </a:prstGeom>
          <a:solidFill>
            <a:srgbClr val="1D1F2B"/>
          </a:solidFill>
          <a:ln w="12700">
            <a:solidFill>
              <a:srgbClr val="1D1F2B"/>
            </a:solidFill>
            <a:prstDash val="solid"/>
          </a:ln>
        </p:spPr>
        <p:txBody>
          <a:bodyPr/>
          <a:p/>
        </p:txBody>
      </p:sp>
      <p:sp>
        <p:nvSpPr>
          <p:cNvPr id="6" name="Text 4"/>
          <p:cNvSpPr/>
          <p:nvPr/>
        </p:nvSpPr>
        <p:spPr>
          <a:xfrm>
            <a:off x="868680" y="1783080"/>
            <a:ext cx="4846320" cy="365760"/>
          </a:xfrm>
          <a:prstGeom prst="rect">
            <a:avLst/>
          </a:prstGeom>
          <a:noFill/>
          <a:ln/>
        </p:spPr>
        <p:txBody>
          <a:bodyPr wrap="square" lIns="0" tIns="0" rIns="0" bIns="0" rtlCol="0" anchor="t"/>
          <a:lstStyle/>
          <a:p>
            <a:pPr indent="0" marL="0">
              <a:buNone/>
            </a:pPr>
            <a:r>
              <a:rPr lang="en-US" sz="1400" b="1" spc="200" kern="0" dirty="0">
                <a:solidFill>
                  <a:srgbClr val="27D3BE"/>
                </a:solidFill>
                <a:latin typeface="Palatino Linotype" pitchFamily="34" charset="0"/>
                <a:ea typeface="Palatino Linotype" pitchFamily="34" charset="-122"/>
                <a:cs typeface="Palatino Linotype" pitchFamily="34" charset="-120"/>
              </a:rPr>
              <a:t>CE SIMTE PACIENTUL</a:t>
            </a:r>
            <a:endParaRPr lang="en-US" sz="1400" dirty="0"/>
          </a:p>
        </p:txBody>
      </p:sp>
      <p:sp>
        <p:nvSpPr>
          <p:cNvPr id="7" name="Text 5"/>
          <p:cNvSpPr/>
          <p:nvPr/>
        </p:nvSpPr>
        <p:spPr>
          <a:xfrm>
            <a:off x="868680" y="2240280"/>
            <a:ext cx="4846320" cy="155448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Îl spune pacientul însuși, de obicei printr-un chestionar: „cât de rigid vă simțiți piciorul?”</a:t>
            </a:r>
            <a:endParaRPr lang="en-US" sz="1800" dirty="0"/>
          </a:p>
        </p:txBody>
      </p:sp>
      <p:sp>
        <p:nvSpPr>
          <p:cNvPr id="8" name="Text 6"/>
          <p:cNvSpPr/>
          <p:nvPr/>
        </p:nvSpPr>
        <p:spPr>
          <a:xfrm>
            <a:off x="6492240" y="1783080"/>
            <a:ext cx="4846320" cy="365760"/>
          </a:xfrm>
          <a:prstGeom prst="rect">
            <a:avLst/>
          </a:prstGeom>
          <a:noFill/>
          <a:ln/>
        </p:spPr>
        <p:txBody>
          <a:bodyPr wrap="square" lIns="0" tIns="0" rIns="0" bIns="0" rtlCol="0" anchor="t"/>
          <a:lstStyle/>
          <a:p>
            <a:pPr indent="0" marL="0">
              <a:buNone/>
            </a:pPr>
            <a:r>
              <a:rPr lang="en-US" sz="1400" b="1" spc="200" kern="0" dirty="0">
                <a:solidFill>
                  <a:srgbClr val="FFC24B"/>
                </a:solidFill>
                <a:latin typeface="Palatino Linotype" pitchFamily="34" charset="0"/>
                <a:ea typeface="Palatino Linotype" pitchFamily="34" charset="-122"/>
                <a:cs typeface="Palatino Linotype" pitchFamily="34" charset="-120"/>
              </a:rPr>
              <a:t>CE GĂSEȘTE MEDICUL</a:t>
            </a:r>
            <a:endParaRPr lang="en-US" sz="1400" dirty="0"/>
          </a:p>
        </p:txBody>
      </p:sp>
      <p:sp>
        <p:nvSpPr>
          <p:cNvPr id="9" name="Text 7"/>
          <p:cNvSpPr/>
          <p:nvPr/>
        </p:nvSpPr>
        <p:spPr>
          <a:xfrm>
            <a:off x="6492240" y="2240280"/>
            <a:ext cx="4846320" cy="1554480"/>
          </a:xfrm>
          <a:prstGeom prst="rect">
            <a:avLst/>
          </a:prstGeom>
          <a:noFill/>
          <a:ln/>
        </p:spPr>
        <p:txBody>
          <a:bodyPr wrap="square" lIns="0" tIns="0" rIns="0" bIns="0" rtlCol="0" anchor="t"/>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Îl măsoară un examinator, cu o scală sau cu un instrument.</a:t>
            </a:r>
            <a:endParaRPr lang="en-US" sz="1800" dirty="0"/>
          </a:p>
        </p:txBody>
      </p:sp>
      <p:sp>
        <p:nvSpPr>
          <p:cNvPr id="10" name="Text 8"/>
          <p:cNvSpPr/>
          <p:nvPr/>
        </p:nvSpPr>
        <p:spPr>
          <a:xfrm>
            <a:off x="594360" y="4297680"/>
            <a:ext cx="10972800" cy="548640"/>
          </a:xfrm>
          <a:prstGeom prst="rect">
            <a:avLst/>
          </a:prstGeom>
          <a:noFill/>
          <a:ln/>
        </p:spPr>
        <p:txBody>
          <a:bodyPr wrap="square" lIns="0" tIns="0" rIns="0" bIns="0" rtlCol="0" anchor="t"/>
          <a:lstStyle/>
          <a:p>
            <a:pPr indent="0" marL="0">
              <a:buNone/>
            </a:pPr>
            <a:r>
              <a:rPr lang="en-US" sz="2000" b="1" dirty="0">
                <a:solidFill>
                  <a:srgbClr val="FFC24B"/>
                </a:solidFill>
                <a:latin typeface="Palatino Linotype" pitchFamily="34" charset="0"/>
                <a:ea typeface="Palatino Linotype" pitchFamily="34" charset="-122"/>
                <a:cs typeface="Palatino Linotype" pitchFamily="34" charset="-120"/>
              </a:rPr>
              <a:t>Amândouă sunt rezultate reale. Nu sunt același lucru.</a:t>
            </a:r>
            <a:endParaRPr lang="en-US" sz="2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GHIDUL ASCO 2024 · META-ANALIZA DIN 2018</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Ghidul din 2024 și scleroza multiplă</a:t>
            </a:r>
            <a:endParaRPr lang="en-US" sz="3000" dirty="0"/>
          </a:p>
        </p:txBody>
      </p:sp>
      <p:sp>
        <p:nvSpPr>
          <p:cNvPr id="4" name="Shape 2"/>
          <p:cNvSpPr/>
          <p:nvPr/>
        </p:nvSpPr>
        <p:spPr>
          <a:xfrm>
            <a:off x="594360" y="1508760"/>
            <a:ext cx="5349240" cy="4160520"/>
          </a:xfrm>
          <a:prstGeom prst="roundRect">
            <a:avLst>
              <a:gd name="adj" fmla="val 1978"/>
            </a:avLst>
          </a:prstGeom>
          <a:solidFill>
            <a:srgbClr val="ECEAE4"/>
          </a:solidFill>
          <a:ln w="12700">
            <a:solidFill>
              <a:srgbClr val="ECEAE4"/>
            </a:solidFill>
            <a:prstDash val="solid"/>
          </a:ln>
        </p:spPr>
        <p:txBody>
          <a:bodyPr/>
          <a:p/>
        </p:txBody>
      </p:sp>
      <p:sp>
        <p:nvSpPr>
          <p:cNvPr id="5" name="Text 3"/>
          <p:cNvSpPr/>
          <p:nvPr/>
        </p:nvSpPr>
        <p:spPr>
          <a:xfrm>
            <a:off x="868680" y="1645920"/>
            <a:ext cx="4846320" cy="411480"/>
          </a:xfrm>
          <a:prstGeom prst="rect">
            <a:avLst/>
          </a:prstGeom>
          <a:noFill/>
          <a:ln/>
        </p:spPr>
        <p:txBody>
          <a:bodyPr wrap="square" lIns="0" tIns="0" rIns="0" bIns="0" rtlCol="0" anchor="t"/>
          <a:lstStyle/>
          <a:p>
            <a:pPr indent="0" marL="0">
              <a:buNone/>
            </a:pPr>
            <a:r>
              <a:rPr lang="en-US" sz="1800" b="1" dirty="0">
                <a:solidFill>
                  <a:srgbClr val="B02532"/>
                </a:solidFill>
                <a:latin typeface="Palatino Linotype" pitchFamily="34" charset="0"/>
                <a:ea typeface="Palatino Linotype" pitchFamily="34" charset="-122"/>
                <a:cs typeface="Palatino Linotype" pitchFamily="34" charset="-120"/>
              </a:rPr>
              <a:t>Greața de la chimioterapie</a:t>
            </a:r>
            <a:endParaRPr lang="en-US" sz="1800" dirty="0"/>
          </a:p>
        </p:txBody>
      </p:sp>
      <p:sp>
        <p:nvSpPr>
          <p:cNvPr id="6" name="Text 4"/>
          <p:cNvSpPr/>
          <p:nvPr/>
        </p:nvSpPr>
        <p:spPr>
          <a:xfrm>
            <a:off x="868680" y="2103120"/>
            <a:ext cx="4846320" cy="201168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Un adaos, nu un înlocuitor: numai când greața continuă cu profilaxia recomandată. Recomandare slabă; calitate moderată a dovezilor, scăzută pentru THC:CBD.</a:t>
            </a:r>
            <a:endParaRPr lang="en-US" sz="1550" dirty="0"/>
          </a:p>
        </p:txBody>
      </p:sp>
      <p:sp>
        <p:nvSpPr>
          <p:cNvPr id="7" name="Text 5"/>
          <p:cNvSpPr/>
          <p:nvPr/>
        </p:nvSpPr>
        <p:spPr>
          <a:xfrm>
            <a:off x="868680" y="4434840"/>
            <a:ext cx="4846320" cy="822960"/>
          </a:xfrm>
          <a:prstGeom prst="rect">
            <a:avLst/>
          </a:prstGeom>
          <a:noFill/>
          <a:ln/>
        </p:spPr>
        <p:txBody>
          <a:bodyPr wrap="square" lIns="0" tIns="0" rIns="0" bIns="0" rtlCol="0" anchor="t"/>
          <a:lstStyle/>
          <a:p>
            <a:pPr indent="0" marL="0">
              <a:buNone/>
            </a:pPr>
            <a:r>
              <a:rPr lang="en-US" sz="1700" b="1" dirty="0">
                <a:solidFill>
                  <a:srgbClr val="B02532"/>
                </a:solidFill>
                <a:latin typeface="Palatino Linotype" pitchFamily="34" charset="0"/>
                <a:ea typeface="Palatino Linotype" pitchFamily="34" charset="-122"/>
                <a:cs typeface="Palatino Linotype" pitchFamily="34" charset="-120"/>
              </a:rPr>
              <a:t>Pentru cancer: numai în studii clinice.</a:t>
            </a:r>
            <a:endParaRPr lang="en-US" sz="1700" dirty="0"/>
          </a:p>
        </p:txBody>
      </p:sp>
      <p:sp>
        <p:nvSpPr>
          <p:cNvPr id="8" name="Shape 6"/>
          <p:cNvSpPr/>
          <p:nvPr/>
        </p:nvSpPr>
        <p:spPr>
          <a:xfrm>
            <a:off x="6217920" y="1508760"/>
            <a:ext cx="5349240" cy="4160520"/>
          </a:xfrm>
          <a:prstGeom prst="roundRect">
            <a:avLst>
              <a:gd name="adj" fmla="val 1978"/>
            </a:avLst>
          </a:prstGeom>
          <a:solidFill>
            <a:srgbClr val="E8E2F4"/>
          </a:solidFill>
          <a:ln w="12700">
            <a:solidFill>
              <a:srgbClr val="E8E2F4"/>
            </a:solidFill>
            <a:prstDash val="solid"/>
          </a:ln>
        </p:spPr>
        <p:txBody>
          <a:bodyPr/>
          <a:p/>
        </p:txBody>
      </p:sp>
      <p:sp>
        <p:nvSpPr>
          <p:cNvPr id="9" name="Text 7"/>
          <p:cNvSpPr/>
          <p:nvPr/>
        </p:nvSpPr>
        <p:spPr>
          <a:xfrm>
            <a:off x="6492240" y="1645920"/>
            <a:ext cx="4846320" cy="411480"/>
          </a:xfrm>
          <a:prstGeom prst="rect">
            <a:avLst/>
          </a:prstGeom>
          <a:noFill/>
          <a:ln/>
        </p:spPr>
        <p:txBody>
          <a:bodyPr wrap="square" lIns="0" tIns="0" rIns="0" bIns="0" rtlCol="0" anchor="t"/>
          <a:lstStyle/>
          <a:p>
            <a:pPr indent="0" marL="0">
              <a:buNone/>
            </a:pPr>
            <a:r>
              <a:rPr lang="en-US" sz="1800" b="1" dirty="0">
                <a:solidFill>
                  <a:srgbClr val="4A2D8C"/>
                </a:solidFill>
                <a:latin typeface="Palatino Linotype" pitchFamily="34" charset="0"/>
                <a:ea typeface="Palatino Linotype" pitchFamily="34" charset="-122"/>
                <a:cs typeface="Palatino Linotype" pitchFamily="34" charset="-120"/>
              </a:rPr>
              <a:t>Scleroza multiplă</a:t>
            </a:r>
            <a:endParaRPr lang="en-US" sz="1800" dirty="0"/>
          </a:p>
        </p:txBody>
      </p:sp>
      <p:sp>
        <p:nvSpPr>
          <p:cNvPr id="10" name="Text 8"/>
          <p:cNvSpPr/>
          <p:nvPr/>
        </p:nvSpPr>
        <p:spPr>
          <a:xfrm>
            <a:off x="6492240" y="2103120"/>
            <a:ext cx="4846320" cy="4572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17 studii clinice, 3 161 de pacienți.</a:t>
            </a:r>
            <a:endParaRPr lang="en-US" sz="1600" dirty="0"/>
          </a:p>
        </p:txBody>
      </p:sp>
      <p:sp>
        <p:nvSpPr>
          <p:cNvPr id="11" name="Text 9"/>
          <p:cNvSpPr/>
          <p:nvPr/>
        </p:nvSpPr>
        <p:spPr>
          <a:xfrm>
            <a:off x="6492240" y="2743200"/>
            <a:ext cx="4846320" cy="411480"/>
          </a:xfrm>
          <a:prstGeom prst="rect">
            <a:avLst/>
          </a:prstGeom>
          <a:noFill/>
          <a:ln/>
        </p:spPr>
        <p:txBody>
          <a:bodyPr wrap="square" lIns="0" tIns="0" rIns="0" bIns="0" rtlCol="0" anchor="t"/>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Pacientul raportează</a:t>
            </a:r>
            <a:endParaRPr lang="en-US" sz="1550" dirty="0"/>
          </a:p>
        </p:txBody>
      </p:sp>
      <p:sp>
        <p:nvSpPr>
          <p:cNvPr id="12" name="Text 10"/>
          <p:cNvSpPr/>
          <p:nvPr/>
        </p:nvSpPr>
        <p:spPr>
          <a:xfrm>
            <a:off x="6492240" y="3154680"/>
            <a:ext cx="4846320" cy="640080"/>
          </a:xfrm>
          <a:prstGeom prst="rect">
            <a:avLst/>
          </a:prstGeom>
          <a:noFill/>
          <a:ln/>
        </p:spPr>
        <p:txBody>
          <a:bodyPr wrap="square" lIns="0" tIns="0" rIns="0" bIns="0" rtlCol="0" anchor="t"/>
          <a:lstStyle/>
          <a:p>
            <a:pPr indent="0" marL="0">
              <a:buNone/>
            </a:pPr>
            <a:r>
              <a:rPr lang="en-US" sz="2600" b="1" dirty="0">
                <a:solidFill>
                  <a:srgbClr val="0E7C6B"/>
                </a:solidFill>
                <a:latin typeface="Palatino Linotype" pitchFamily="34" charset="0"/>
                <a:ea typeface="Palatino Linotype" pitchFamily="34" charset="-122"/>
                <a:cs typeface="Palatino Linotype" pitchFamily="34" charset="-120"/>
              </a:rPr>
              <a:t>ameliorare</a:t>
            </a:r>
            <a:endParaRPr lang="en-US" sz="2600" dirty="0"/>
          </a:p>
        </p:txBody>
      </p:sp>
      <p:sp>
        <p:nvSpPr>
          <p:cNvPr id="13" name="Text 11"/>
          <p:cNvSpPr/>
          <p:nvPr/>
        </p:nvSpPr>
        <p:spPr>
          <a:xfrm>
            <a:off x="6492240" y="4023360"/>
            <a:ext cx="4846320" cy="411480"/>
          </a:xfrm>
          <a:prstGeom prst="rect">
            <a:avLst/>
          </a:prstGeom>
          <a:noFill/>
          <a:ln/>
        </p:spPr>
        <p:txBody>
          <a:bodyPr wrap="square" lIns="0" tIns="0" rIns="0" bIns="0" rtlCol="0" anchor="t"/>
          <a:lstStyle/>
          <a:p>
            <a:pPr indent="0" marL="0">
              <a:buNone/>
            </a:pPr>
            <a:r>
              <a:rPr lang="en-US" sz="1550" dirty="0">
                <a:solidFill>
                  <a:srgbClr val="3A3C44"/>
                </a:solidFill>
                <a:latin typeface="Palatino Linotype" pitchFamily="34" charset="0"/>
                <a:ea typeface="Palatino Linotype" pitchFamily="34" charset="-122"/>
                <a:cs typeface="Palatino Linotype" pitchFamily="34" charset="-120"/>
              </a:rPr>
              <a:t>Scala Ashworth (examinatorul)</a:t>
            </a:r>
            <a:endParaRPr lang="en-US" sz="1550" dirty="0"/>
          </a:p>
        </p:txBody>
      </p:sp>
      <p:sp>
        <p:nvSpPr>
          <p:cNvPr id="14" name="Text 12"/>
          <p:cNvSpPr/>
          <p:nvPr/>
        </p:nvSpPr>
        <p:spPr>
          <a:xfrm>
            <a:off x="6492240" y="4434840"/>
            <a:ext cx="4846320" cy="640080"/>
          </a:xfrm>
          <a:prstGeom prst="rect">
            <a:avLst/>
          </a:prstGeom>
          <a:noFill/>
          <a:ln/>
        </p:spPr>
        <p:txBody>
          <a:bodyPr wrap="square" lIns="0" tIns="0" rIns="0" bIns="0" rtlCol="0" anchor="t"/>
          <a:lstStyle/>
          <a:p>
            <a:pPr indent="0" marL="0">
              <a:buNone/>
            </a:pPr>
            <a:r>
              <a:rPr lang="en-US" sz="2600" b="1" dirty="0">
                <a:solidFill>
                  <a:srgbClr val="B02532"/>
                </a:solidFill>
                <a:latin typeface="Palatino Linotype" pitchFamily="34" charset="0"/>
                <a:ea typeface="Palatino Linotype" pitchFamily="34" charset="-122"/>
                <a:cs typeface="Palatino Linotype" pitchFamily="34" charset="-120"/>
              </a:rPr>
              <a:t>niciun efect</a:t>
            </a:r>
            <a:endParaRPr lang="en-US" sz="2600" dirty="0"/>
          </a:p>
        </p:txBody>
      </p:sp>
      <p:sp>
        <p:nvSpPr>
          <p:cNvPr id="15" name="Text 13"/>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Surse: ghidul ASCO, 2024; Torres-Moreno și colab., JAMA Network Open, 2018.</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2 MINUTE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LUCRAȚI CU COLEGUL DE BANCĂ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Pacientul spune „mai bine”, examinatorul nu vede nimic</a:t>
            </a:r>
            <a:endParaRPr lang="en-US" sz="3000" dirty="0"/>
          </a:p>
        </p:txBody>
      </p:sp>
      <p:sp>
        <p:nvSpPr>
          <p:cNvPr id="6" name="Shape 4"/>
          <p:cNvSpPr/>
          <p:nvPr/>
        </p:nvSpPr>
        <p:spPr>
          <a:xfrm>
            <a:off x="594360" y="2011680"/>
            <a:ext cx="5349240" cy="1463040"/>
          </a:xfrm>
          <a:prstGeom prst="wedgeRoundRectCallout">
            <a:avLst/>
          </a:prstGeom>
          <a:solidFill>
            <a:srgbClr val="272A38"/>
          </a:solidFill>
          <a:ln w="19050">
            <a:solidFill>
              <a:srgbClr val="27D3BE"/>
            </a:solidFill>
            <a:prstDash val="solid"/>
          </a:ln>
        </p:spPr>
        <p:txBody>
          <a:bodyPr/>
          <a:p/>
        </p:txBody>
      </p:sp>
      <p:sp>
        <p:nvSpPr>
          <p:cNvPr id="7" name="Text 5"/>
          <p:cNvSpPr/>
          <p:nvPr/>
        </p:nvSpPr>
        <p:spPr>
          <a:xfrm>
            <a:off x="914400" y="2103120"/>
            <a:ext cx="4754880" cy="365760"/>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PACIENTUL</a:t>
            </a:r>
            <a:endParaRPr lang="en-US" sz="1300" dirty="0"/>
          </a:p>
        </p:txBody>
      </p:sp>
      <p:sp>
        <p:nvSpPr>
          <p:cNvPr id="8" name="Text 6"/>
          <p:cNvSpPr/>
          <p:nvPr/>
        </p:nvSpPr>
        <p:spPr>
          <a:xfrm>
            <a:off x="914400" y="2514600"/>
            <a:ext cx="4754880" cy="731520"/>
          </a:xfrm>
          <a:prstGeom prst="rect">
            <a:avLst/>
          </a:prstGeom>
          <a:noFill/>
          <a:ln/>
        </p:spPr>
        <p:txBody>
          <a:bodyPr wrap="square" lIns="0" tIns="0" rIns="0" bIns="0" rtlCol="0" anchor="t"/>
          <a:lstStyle/>
          <a:p>
            <a:pPr indent="0" marL="0">
              <a:buNone/>
            </a:pPr>
            <a:r>
              <a:rPr lang="en-US" sz="2400" b="1" i="1" dirty="0">
                <a:solidFill>
                  <a:srgbClr val="FFFFFF"/>
                </a:solidFill>
                <a:latin typeface="Palatino Linotype" pitchFamily="34" charset="0"/>
                <a:ea typeface="Palatino Linotype" pitchFamily="34" charset="-122"/>
                <a:cs typeface="Palatino Linotype" pitchFamily="34" charset="-120"/>
              </a:rPr>
              <a:t>„Îmi e mai bine.”</a:t>
            </a:r>
            <a:endParaRPr lang="en-US" sz="2400" dirty="0"/>
          </a:p>
        </p:txBody>
      </p:sp>
      <p:sp>
        <p:nvSpPr>
          <p:cNvPr id="9" name="Shape 7"/>
          <p:cNvSpPr/>
          <p:nvPr/>
        </p:nvSpPr>
        <p:spPr>
          <a:xfrm>
            <a:off x="6217920" y="2011680"/>
            <a:ext cx="5349240" cy="1463040"/>
          </a:xfrm>
          <a:prstGeom prst="wedgeRoundRectCallout">
            <a:avLst/>
          </a:prstGeom>
          <a:solidFill>
            <a:srgbClr val="272A38"/>
          </a:solidFill>
          <a:ln w="19050">
            <a:solidFill>
              <a:srgbClr val="FFC24B"/>
            </a:solidFill>
            <a:prstDash val="solid"/>
          </a:ln>
        </p:spPr>
        <p:txBody>
          <a:bodyPr/>
          <a:p/>
        </p:txBody>
      </p:sp>
      <p:sp>
        <p:nvSpPr>
          <p:cNvPr id="10" name="Text 8"/>
          <p:cNvSpPr/>
          <p:nvPr/>
        </p:nvSpPr>
        <p:spPr>
          <a:xfrm>
            <a:off x="6537960" y="2103120"/>
            <a:ext cx="4754880" cy="365760"/>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EXAMINATORUL</a:t>
            </a:r>
            <a:endParaRPr lang="en-US" sz="1300" dirty="0"/>
          </a:p>
        </p:txBody>
      </p:sp>
      <p:sp>
        <p:nvSpPr>
          <p:cNvPr id="11" name="Text 9"/>
          <p:cNvSpPr/>
          <p:nvPr/>
        </p:nvSpPr>
        <p:spPr>
          <a:xfrm>
            <a:off x="6537960" y="2514600"/>
            <a:ext cx="4754880" cy="731520"/>
          </a:xfrm>
          <a:prstGeom prst="rect">
            <a:avLst/>
          </a:prstGeom>
          <a:noFill/>
          <a:ln/>
        </p:spPr>
        <p:txBody>
          <a:bodyPr wrap="square" lIns="0" tIns="0" rIns="0" bIns="0" rtlCol="0" anchor="t"/>
          <a:lstStyle/>
          <a:p>
            <a:pPr indent="0" marL="0">
              <a:buNone/>
            </a:pPr>
            <a:r>
              <a:rPr lang="en-US" sz="2400" b="1" i="1" dirty="0">
                <a:solidFill>
                  <a:srgbClr val="FFFFFF"/>
                </a:solidFill>
                <a:latin typeface="Palatino Linotype" pitchFamily="34" charset="0"/>
                <a:ea typeface="Palatino Linotype" pitchFamily="34" charset="-122"/>
                <a:cs typeface="Palatino Linotype" pitchFamily="34" charset="-120"/>
              </a:rPr>
              <a:t>„Nicio schimbare.”</a:t>
            </a:r>
            <a:endParaRPr lang="en-US" sz="2400" dirty="0"/>
          </a:p>
        </p:txBody>
      </p:sp>
      <p:sp>
        <p:nvSpPr>
          <p:cNvPr id="12" name="Text 10"/>
          <p:cNvSpPr/>
          <p:nvPr/>
        </p:nvSpPr>
        <p:spPr>
          <a:xfrm>
            <a:off x="594360" y="4023360"/>
            <a:ext cx="10972800" cy="640080"/>
          </a:xfrm>
          <a:prstGeom prst="rect">
            <a:avLst/>
          </a:prstGeom>
          <a:noFill/>
          <a:ln/>
        </p:spPr>
        <p:txBody>
          <a:bodyPr wrap="square" lIns="0" tIns="0" rIns="0" bIns="0" rtlCol="0" anchor="t"/>
          <a:lstStyle/>
          <a:p>
            <a:pPr indent="0" marL="0">
              <a:buNone/>
            </a:pPr>
            <a:r>
              <a:rPr lang="en-US" sz="2400" b="1" dirty="0">
                <a:solidFill>
                  <a:srgbClr val="FFC24B"/>
                </a:solidFill>
                <a:latin typeface="Palatino Linotype" pitchFamily="34" charset="0"/>
                <a:ea typeface="Palatino Linotype" pitchFamily="34" charset="-122"/>
                <a:cs typeface="Palatino Linotype" pitchFamily="34" charset="-120"/>
              </a:rPr>
              <a:t>Cine are dreptate? Notați două explicații posibile.</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TREI EXPLICAȚII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Trei explicații legitime</a:t>
            </a:r>
            <a:endParaRPr lang="en-US" sz="3200" dirty="0"/>
          </a:p>
        </p:txBody>
      </p:sp>
      <p:sp>
        <p:nvSpPr>
          <p:cNvPr id="4" name="Shape 2"/>
          <p:cNvSpPr/>
          <p:nvPr/>
        </p:nvSpPr>
        <p:spPr>
          <a:xfrm>
            <a:off x="594360" y="1463040"/>
            <a:ext cx="10972800" cy="685800"/>
          </a:xfrm>
          <a:prstGeom prst="roundRect">
            <a:avLst>
              <a:gd name="adj" fmla="val 12000"/>
            </a:avLst>
          </a:prstGeom>
          <a:solidFill>
            <a:srgbClr val="ECEAE4"/>
          </a:solidFill>
          <a:ln w="12700">
            <a:solidFill>
              <a:srgbClr val="ECEAE4"/>
            </a:solidFill>
            <a:prstDash val="solid"/>
          </a:ln>
        </p:spPr>
        <p:txBody>
          <a:bodyPr/>
          <a:p/>
        </p:txBody>
      </p:sp>
      <p:sp>
        <p:nvSpPr>
          <p:cNvPr id="5" name="Shape 3"/>
          <p:cNvSpPr/>
          <p:nvPr/>
        </p:nvSpPr>
        <p:spPr>
          <a:xfrm>
            <a:off x="914400" y="1595628"/>
            <a:ext cx="420624" cy="420624"/>
          </a:xfrm>
          <a:prstGeom prst="ellipse">
            <a:avLst/>
          </a:prstGeom>
          <a:solidFill>
            <a:srgbClr val="B02532"/>
          </a:solidFill>
          <a:ln/>
        </p:spPr>
        <p:txBody>
          <a:bodyPr/>
          <a:p/>
        </p:txBody>
      </p:sp>
      <p:sp>
        <p:nvSpPr>
          <p:cNvPr id="6" name="Text 4"/>
          <p:cNvSpPr/>
          <p:nvPr/>
        </p:nvSpPr>
        <p:spPr>
          <a:xfrm>
            <a:off x="914400" y="1595628"/>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1463040"/>
            <a:ext cx="9692640" cy="685800"/>
          </a:xfrm>
          <a:prstGeom prst="rect">
            <a:avLst/>
          </a:prstGeom>
          <a:noFill/>
          <a:ln/>
        </p:spPr>
        <p:txBody>
          <a:bodyPr wrap="square" lIns="0" tIns="0" rIns="0" bIns="0" rtlCol="0" anchor="ctr"/>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Scala examinatorului nu prinde ce contează pentru pacient.</a:t>
            </a:r>
            <a:endParaRPr lang="en-US" sz="1650" dirty="0"/>
          </a:p>
        </p:txBody>
      </p:sp>
      <p:sp>
        <p:nvSpPr>
          <p:cNvPr id="8" name="Shape 6"/>
          <p:cNvSpPr/>
          <p:nvPr/>
        </p:nvSpPr>
        <p:spPr>
          <a:xfrm>
            <a:off x="594360" y="2267712"/>
            <a:ext cx="10972800" cy="685800"/>
          </a:xfrm>
          <a:prstGeom prst="roundRect">
            <a:avLst>
              <a:gd name="adj" fmla="val 12000"/>
            </a:avLst>
          </a:prstGeom>
          <a:solidFill>
            <a:srgbClr val="ECEAE4"/>
          </a:solidFill>
          <a:ln w="12700">
            <a:solidFill>
              <a:srgbClr val="ECEAE4"/>
            </a:solidFill>
            <a:prstDash val="solid"/>
          </a:ln>
        </p:spPr>
        <p:txBody>
          <a:bodyPr/>
          <a:p/>
        </p:txBody>
      </p:sp>
      <p:sp>
        <p:nvSpPr>
          <p:cNvPr id="9" name="Shape 7"/>
          <p:cNvSpPr/>
          <p:nvPr/>
        </p:nvSpPr>
        <p:spPr>
          <a:xfrm>
            <a:off x="914400" y="2400300"/>
            <a:ext cx="420624" cy="420624"/>
          </a:xfrm>
          <a:prstGeom prst="ellipse">
            <a:avLst/>
          </a:prstGeom>
          <a:solidFill>
            <a:srgbClr val="B02532"/>
          </a:solidFill>
          <a:ln/>
        </p:spPr>
        <p:txBody>
          <a:bodyPr/>
          <a:p/>
        </p:txBody>
      </p:sp>
      <p:sp>
        <p:nvSpPr>
          <p:cNvPr id="10" name="Text 8"/>
          <p:cNvSpPr/>
          <p:nvPr/>
        </p:nvSpPr>
        <p:spPr>
          <a:xfrm>
            <a:off x="914400" y="2400300"/>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2</a:t>
            </a:r>
            <a:endParaRPr lang="en-US" sz="1400" dirty="0"/>
          </a:p>
        </p:txBody>
      </p:sp>
      <p:sp>
        <p:nvSpPr>
          <p:cNvPr id="11" name="Text 9"/>
          <p:cNvSpPr/>
          <p:nvPr/>
        </p:nvSpPr>
        <p:spPr>
          <a:xfrm>
            <a:off x="1600200" y="2267712"/>
            <a:ext cx="9692640" cy="685800"/>
          </a:xfrm>
          <a:prstGeom prst="rect">
            <a:avLst/>
          </a:prstGeom>
          <a:noFill/>
          <a:ln/>
        </p:spPr>
        <p:txBody>
          <a:bodyPr wrap="square" lIns="0" tIns="0" rIns="0" bIns="0" rtlCol="0" anchor="ctr"/>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O parte e placebo: efectele psihoactive îi fac pe pacienți să ghicească ce au primit.</a:t>
            </a:r>
            <a:endParaRPr lang="en-US" sz="1650" dirty="0"/>
          </a:p>
        </p:txBody>
      </p:sp>
      <p:sp>
        <p:nvSpPr>
          <p:cNvPr id="12" name="Shape 10"/>
          <p:cNvSpPr/>
          <p:nvPr/>
        </p:nvSpPr>
        <p:spPr>
          <a:xfrm>
            <a:off x="594360" y="3072384"/>
            <a:ext cx="10972800" cy="685800"/>
          </a:xfrm>
          <a:prstGeom prst="roundRect">
            <a:avLst>
              <a:gd name="adj" fmla="val 12000"/>
            </a:avLst>
          </a:prstGeom>
          <a:solidFill>
            <a:srgbClr val="ECEAE4"/>
          </a:solidFill>
          <a:ln w="12700">
            <a:solidFill>
              <a:srgbClr val="ECEAE4"/>
            </a:solidFill>
            <a:prstDash val="solid"/>
          </a:ln>
        </p:spPr>
        <p:txBody>
          <a:bodyPr/>
          <a:p/>
        </p:txBody>
      </p:sp>
      <p:sp>
        <p:nvSpPr>
          <p:cNvPr id="13" name="Shape 11"/>
          <p:cNvSpPr/>
          <p:nvPr/>
        </p:nvSpPr>
        <p:spPr>
          <a:xfrm>
            <a:off x="914400" y="3204972"/>
            <a:ext cx="420624" cy="420624"/>
          </a:xfrm>
          <a:prstGeom prst="ellipse">
            <a:avLst/>
          </a:prstGeom>
          <a:solidFill>
            <a:srgbClr val="B02532"/>
          </a:solidFill>
          <a:ln/>
        </p:spPr>
        <p:txBody>
          <a:bodyPr/>
          <a:p/>
        </p:txBody>
      </p:sp>
      <p:sp>
        <p:nvSpPr>
          <p:cNvPr id="14" name="Text 12"/>
          <p:cNvSpPr/>
          <p:nvPr/>
        </p:nvSpPr>
        <p:spPr>
          <a:xfrm>
            <a:off x="914400" y="3204972"/>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Palatino Linotype" pitchFamily="34" charset="0"/>
                <a:ea typeface="Palatino Linotype" pitchFamily="34" charset="-122"/>
                <a:cs typeface="Palatino Linotype" pitchFamily="34" charset="-120"/>
              </a:rPr>
              <a:t>3</a:t>
            </a:r>
            <a:endParaRPr lang="en-US" sz="1400" dirty="0"/>
          </a:p>
        </p:txBody>
      </p:sp>
      <p:sp>
        <p:nvSpPr>
          <p:cNvPr id="15" name="Text 13"/>
          <p:cNvSpPr/>
          <p:nvPr/>
        </p:nvSpPr>
        <p:spPr>
          <a:xfrm>
            <a:off x="1600200" y="3072384"/>
            <a:ext cx="9692640" cy="685800"/>
          </a:xfrm>
          <a:prstGeom prst="rect">
            <a:avLst/>
          </a:prstGeom>
          <a:noFill/>
          <a:ln/>
        </p:spPr>
        <p:txBody>
          <a:bodyPr wrap="square" lIns="0" tIns="0" rIns="0" bIns="0" rtlCol="0" anchor="ctr"/>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Amândouă. Datele nu decid între ele.</a:t>
            </a:r>
            <a:endParaRPr lang="en-US" sz="1650" dirty="0"/>
          </a:p>
        </p:txBody>
      </p:sp>
      <p:sp>
        <p:nvSpPr>
          <p:cNvPr id="16" name="Text 14"/>
          <p:cNvSpPr/>
          <p:nvPr/>
        </p:nvSpPr>
        <p:spPr>
          <a:xfrm>
            <a:off x="594360" y="3977640"/>
            <a:ext cx="10972800" cy="731520"/>
          </a:xfrm>
          <a:prstGeom prst="rect">
            <a:avLst/>
          </a:prstGeom>
          <a:noFill/>
          <a:ln/>
        </p:spPr>
        <p:txBody>
          <a:bodyPr wrap="square" lIns="0" tIns="0" rIns="0" bIns="0" rtlCol="0" anchor="t"/>
          <a:lstStyle/>
          <a:p>
            <a:pPr indent="0" marL="0">
              <a:buNone/>
            </a:pPr>
            <a:r>
              <a:rPr lang="en-US" sz="1650" b="1" dirty="0">
                <a:solidFill>
                  <a:srgbClr val="B02532"/>
                </a:solidFill>
                <a:latin typeface="Palatino Linotype" pitchFamily="34" charset="0"/>
                <a:ea typeface="Palatino Linotype" pitchFamily="34" charset="-122"/>
                <a:cs typeface="Palatino Linotype" pitchFamily="34" charset="-120"/>
              </a:rPr>
              <a:t>Două cuvinte șterse la citare, „raportat de pacient”, transformă ce simte pacientul într-o afirmație despre boală.</a:t>
            </a:r>
            <a:endParaRPr lang="en-US" sz="1650" dirty="0"/>
          </a:p>
        </p:txBody>
      </p:sp>
      <p:sp>
        <p:nvSpPr>
          <p:cNvPr id="17" name="Text 15"/>
          <p:cNvSpPr/>
          <p:nvPr/>
        </p:nvSpPr>
        <p:spPr>
          <a:xfrm>
            <a:off x="594360" y="4846320"/>
            <a:ext cx="10972800" cy="731520"/>
          </a:xfrm>
          <a:prstGeom prst="rect">
            <a:avLst/>
          </a:prstGeom>
          <a:noFill/>
          <a:ln/>
        </p:spPr>
        <p:txBody>
          <a:bodyPr wrap="square" lIns="0" tIns="0" rIns="0" bIns="0" rtlCol="0" anchor="t"/>
          <a:lstStyle/>
          <a:p>
            <a:pPr indent="0" marL="0">
              <a:buNone/>
            </a:pPr>
            <a:r>
              <a:rPr lang="en-US" sz="1650" dirty="0">
                <a:solidFill>
                  <a:srgbClr val="11121A"/>
                </a:solidFill>
                <a:latin typeface="Palatino Linotype" pitchFamily="34" charset="0"/>
                <a:ea typeface="Palatino Linotype" pitchFamily="34" charset="-122"/>
                <a:cs typeface="Palatino Linotype" pitchFamily="34" charset="-120"/>
              </a:rPr>
              <a:t>Durerea cronică: prima situație din lista NASEM. Întrebați cât de mare e efectul și la ce fel de durere.</a:t>
            </a:r>
            <a:endParaRPr lang="en-US" sz="1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CANNABISUL ȘI PSIHOZA</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FFFFFF"/>
                </a:solidFill>
                <a:latin typeface="Palatino Linotype" pitchFamily="34" charset="0"/>
                <a:ea typeface="Palatino Linotype" pitchFamily="34" charset="-122"/>
                <a:cs typeface="Palatino Linotype" pitchFamily="34" charset="-120"/>
              </a:rPr>
              <a:t>Colegul de apartament</a:t>
            </a:r>
            <a:endParaRPr lang="en-US" sz="3200" dirty="0"/>
          </a:p>
        </p:txBody>
      </p:sp>
      <p:sp>
        <p:nvSpPr>
          <p:cNvPr id="4" name="Shape 2"/>
          <p:cNvSpPr/>
          <p:nvPr/>
        </p:nvSpPr>
        <p:spPr>
          <a:xfrm>
            <a:off x="594360" y="1463040"/>
            <a:ext cx="5394960" cy="457200"/>
          </a:xfrm>
          <a:prstGeom prst="roundRect">
            <a:avLst>
              <a:gd name="adj" fmla="val 18000"/>
            </a:avLst>
          </a:prstGeom>
          <a:solidFill>
            <a:srgbClr val="2B3048"/>
          </a:solidFill>
          <a:ln w="12700">
            <a:solidFill>
              <a:srgbClr val="2B3048"/>
            </a:solidFill>
            <a:prstDash val="solid"/>
          </a:ln>
        </p:spPr>
        <p:txBody>
          <a:bodyPr/>
          <a:p/>
        </p:txBody>
      </p:sp>
      <p:sp>
        <p:nvSpPr>
          <p:cNvPr id="5" name="Text 3"/>
          <p:cNvSpPr/>
          <p:nvPr/>
        </p:nvSpPr>
        <p:spPr>
          <a:xfrm>
            <a:off x="822960" y="1463040"/>
            <a:ext cx="4937760" cy="457200"/>
          </a:xfrm>
          <a:prstGeom prst="rect">
            <a:avLst/>
          </a:prstGeom>
          <a:noFill/>
          <a:ln/>
        </p:spPr>
        <p:txBody>
          <a:bodyPr wrap="square" lIns="0" tIns="0" rIns="0" bIns="0" rtlCol="0" anchor="ctr"/>
          <a:lstStyle/>
          <a:p>
            <a:pPr indent="0" marL="0">
              <a:buNone/>
            </a:pPr>
            <a:r>
              <a:rPr lang="en-US" sz="1300" b="1" dirty="0">
                <a:solidFill>
                  <a:srgbClr val="FFFFFF"/>
                </a:solidFill>
                <a:latin typeface="Palatino Linotype" pitchFamily="34" charset="0"/>
                <a:ea typeface="Palatino Linotype" pitchFamily="34" charset="-122"/>
                <a:cs typeface="Palatino Linotype" pitchFamily="34" charset="-120"/>
              </a:rPr>
              <a:t>Mesaje private</a:t>
            </a:r>
            <a:endParaRPr lang="en-US" sz="1300" dirty="0"/>
          </a:p>
        </p:txBody>
      </p:sp>
      <p:sp>
        <p:nvSpPr>
          <p:cNvPr id="6" name="Shape 4"/>
          <p:cNvSpPr/>
          <p:nvPr/>
        </p:nvSpPr>
        <p:spPr>
          <a:xfrm>
            <a:off x="594360" y="2103120"/>
            <a:ext cx="4423867" cy="777240"/>
          </a:xfrm>
          <a:prstGeom prst="roundRect">
            <a:avLst>
              <a:gd name="adj" fmla="val 10588"/>
            </a:avLst>
          </a:prstGeom>
          <a:solidFill>
            <a:srgbClr val="272A38"/>
          </a:solidFill>
          <a:ln w="12700">
            <a:solidFill>
              <a:srgbClr val="272A38"/>
            </a:solidFill>
            <a:prstDash val="solid"/>
          </a:ln>
        </p:spPr>
        <p:txBody>
          <a:bodyPr/>
          <a:p/>
        </p:txBody>
      </p:sp>
      <p:sp>
        <p:nvSpPr>
          <p:cNvPr id="7" name="Text 5"/>
          <p:cNvSpPr/>
          <p:nvPr/>
        </p:nvSpPr>
        <p:spPr>
          <a:xfrm>
            <a:off x="777240" y="2176272"/>
            <a:ext cx="4058107" cy="237744"/>
          </a:xfrm>
          <a:prstGeom prst="rect">
            <a:avLst/>
          </a:prstGeom>
          <a:noFill/>
          <a:ln/>
        </p:spPr>
        <p:txBody>
          <a:bodyPr wrap="square" lIns="0" tIns="0" rIns="0" bIns="0" rtlCol="0" anchor="t"/>
          <a:lstStyle/>
          <a:p>
            <a:pPr indent="0" marL="0">
              <a:buNone/>
            </a:pPr>
            <a:r>
              <a:rPr lang="en-US" sz="1100" b="1" dirty="0">
                <a:solidFill>
                  <a:srgbClr val="FFC24B"/>
                </a:solidFill>
                <a:latin typeface="Palatino Linotype" pitchFamily="34" charset="0"/>
                <a:ea typeface="Palatino Linotype" pitchFamily="34" charset="-122"/>
                <a:cs typeface="Palatino Linotype" pitchFamily="34" charset="-120"/>
              </a:rPr>
              <a:t>Radu, anul II</a:t>
            </a:r>
            <a:endParaRPr lang="en-US" sz="1100" dirty="0"/>
          </a:p>
        </p:txBody>
      </p:sp>
      <p:sp>
        <p:nvSpPr>
          <p:cNvPr id="8" name="Text 6"/>
          <p:cNvSpPr/>
          <p:nvPr/>
        </p:nvSpPr>
        <p:spPr>
          <a:xfrm>
            <a:off x="777240" y="2414016"/>
            <a:ext cx="4058107" cy="41148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Cineva mă urmărește prin telefon. Pe bune.</a:t>
            </a:r>
            <a:endParaRPr lang="en-US" sz="1500" dirty="0"/>
          </a:p>
        </p:txBody>
      </p:sp>
      <p:sp>
        <p:nvSpPr>
          <p:cNvPr id="9" name="Shape 7"/>
          <p:cNvSpPr/>
          <p:nvPr/>
        </p:nvSpPr>
        <p:spPr>
          <a:xfrm>
            <a:off x="594360" y="3044952"/>
            <a:ext cx="4423867" cy="777240"/>
          </a:xfrm>
          <a:prstGeom prst="roundRect">
            <a:avLst>
              <a:gd name="adj" fmla="val 10588"/>
            </a:avLst>
          </a:prstGeom>
          <a:solidFill>
            <a:srgbClr val="272A38"/>
          </a:solidFill>
          <a:ln w="12700">
            <a:solidFill>
              <a:srgbClr val="272A38"/>
            </a:solidFill>
            <a:prstDash val="solid"/>
          </a:ln>
        </p:spPr>
        <p:txBody>
          <a:bodyPr/>
          <a:p/>
        </p:txBody>
      </p:sp>
      <p:sp>
        <p:nvSpPr>
          <p:cNvPr id="10" name="Text 8"/>
          <p:cNvSpPr/>
          <p:nvPr/>
        </p:nvSpPr>
        <p:spPr>
          <a:xfrm>
            <a:off x="777240" y="3118104"/>
            <a:ext cx="4058107" cy="237744"/>
          </a:xfrm>
          <a:prstGeom prst="rect">
            <a:avLst/>
          </a:prstGeom>
          <a:noFill/>
          <a:ln/>
        </p:spPr>
        <p:txBody>
          <a:bodyPr wrap="square" lIns="0" tIns="0" rIns="0" bIns="0" rtlCol="0" anchor="t"/>
          <a:lstStyle/>
          <a:p>
            <a:pPr indent="0" marL="0">
              <a:buNone/>
            </a:pPr>
            <a:r>
              <a:rPr lang="en-US" sz="1100" b="1" dirty="0">
                <a:solidFill>
                  <a:srgbClr val="FFC24B"/>
                </a:solidFill>
                <a:latin typeface="Palatino Linotype" pitchFamily="34" charset="0"/>
                <a:ea typeface="Palatino Linotype" pitchFamily="34" charset="-122"/>
                <a:cs typeface="Palatino Linotype" pitchFamily="34" charset="-120"/>
              </a:rPr>
              <a:t>Radu, a doua zi</a:t>
            </a:r>
            <a:endParaRPr lang="en-US" sz="1100" dirty="0"/>
          </a:p>
        </p:txBody>
      </p:sp>
      <p:sp>
        <p:nvSpPr>
          <p:cNvPr id="11" name="Text 9"/>
          <p:cNvSpPr/>
          <p:nvPr/>
        </p:nvSpPr>
        <p:spPr>
          <a:xfrm>
            <a:off x="777240" y="3355848"/>
            <a:ext cx="4058107" cy="411480"/>
          </a:xfrm>
          <a:prstGeom prst="rect">
            <a:avLst/>
          </a:prstGeom>
          <a:noFill/>
          <a:ln/>
        </p:spPr>
        <p:txBody>
          <a:bodyPr wrap="square" lIns="0" tIns="0" rIns="0" bIns="0" rtlCol="0" anchor="t"/>
          <a:lstStyle/>
          <a:p>
            <a:pPr indent="0" marL="0">
              <a:buNone/>
            </a:pPr>
            <a:r>
              <a:rPr lang="en-US" sz="1500" dirty="0">
                <a:solidFill>
                  <a:srgbClr val="FFFFFF"/>
                </a:solidFill>
                <a:latin typeface="Palatino Linotype" pitchFamily="34" charset="0"/>
                <a:ea typeface="Palatino Linotype" pitchFamily="34" charset="-122"/>
                <a:cs typeface="Palatino Linotype" pitchFamily="34" charset="-120"/>
              </a:rPr>
              <a:t>Am glumit aseară, lasă. Sunt ok.</a:t>
            </a:r>
            <a:endParaRPr lang="en-US" sz="1500" dirty="0"/>
          </a:p>
        </p:txBody>
      </p:sp>
      <p:sp>
        <p:nvSpPr>
          <p:cNvPr id="12" name="Text 10"/>
          <p:cNvSpPr/>
          <p:nvPr/>
        </p:nvSpPr>
        <p:spPr>
          <a:xfrm>
            <a:off x="594360" y="4251960"/>
            <a:ext cx="5394960" cy="822960"/>
          </a:xfrm>
          <a:prstGeom prst="rect">
            <a:avLst/>
          </a:prstGeom>
          <a:noFill/>
          <a:ln/>
        </p:spPr>
        <p:txBody>
          <a:bodyPr wrap="square" lIns="0" tIns="0" rIns="0" bIns="0" rtlCol="0" anchor="t"/>
          <a:lstStyle/>
          <a:p>
            <a:pPr indent="0" marL="0">
              <a:buNone/>
            </a:pPr>
            <a:r>
              <a:rPr lang="en-US" sz="1500" i="1" dirty="0">
                <a:solidFill>
                  <a:srgbClr val="959BB0"/>
                </a:solidFill>
                <a:latin typeface="Palatino Linotype" pitchFamily="34" charset="0"/>
                <a:ea typeface="Palatino Linotype" pitchFamily="34" charset="-122"/>
                <a:cs typeface="Palatino Linotype" pitchFamily="34" charset="-120"/>
              </a:rPr>
              <a:t>Fumează aproape în fiecare seară, „ca să se relaxeze după învățat”.</a:t>
            </a:r>
            <a:endParaRPr lang="en-US" sz="1500" dirty="0"/>
          </a:p>
        </p:txBody>
      </p:sp>
      <p:sp>
        <p:nvSpPr>
          <p:cNvPr id="13" name="Text 11"/>
          <p:cNvSpPr/>
          <p:nvPr/>
        </p:nvSpPr>
        <p:spPr>
          <a:xfrm>
            <a:off x="6400800" y="1463040"/>
            <a:ext cx="5120640" cy="41148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Ce se știe sigur</a:t>
            </a:r>
            <a:endParaRPr lang="en-US" sz="1700" dirty="0"/>
          </a:p>
        </p:txBody>
      </p:sp>
      <p:sp>
        <p:nvSpPr>
          <p:cNvPr id="14" name="Text 12"/>
          <p:cNvSpPr/>
          <p:nvPr/>
        </p:nvSpPr>
        <p:spPr>
          <a:xfrm>
            <a:off x="6400800" y="1965960"/>
            <a:ext cx="5120640" cy="45720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de aproape patru ori</a:t>
            </a:r>
            <a:endParaRPr lang="en-US" sz="2200" dirty="0"/>
          </a:p>
        </p:txBody>
      </p:sp>
      <p:sp>
        <p:nvSpPr>
          <p:cNvPr id="15" name="Text 13"/>
          <p:cNvSpPr/>
          <p:nvPr/>
        </p:nvSpPr>
        <p:spPr>
          <a:xfrm>
            <a:off x="6400800" y="2423160"/>
            <a:ext cx="5120640" cy="54864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șansele de psihoză la consumatorii cei mai intensivi</a:t>
            </a:r>
            <a:endParaRPr lang="en-US" sz="1450" dirty="0"/>
          </a:p>
        </p:txBody>
      </p:sp>
      <p:sp>
        <p:nvSpPr>
          <p:cNvPr id="16" name="Text 14"/>
          <p:cNvSpPr/>
          <p:nvPr/>
        </p:nvSpPr>
        <p:spPr>
          <a:xfrm>
            <a:off x="6400800" y="3108960"/>
            <a:ext cx="5120640" cy="45720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de aproximativ trei ori</a:t>
            </a:r>
            <a:endParaRPr lang="en-US" sz="2200" dirty="0"/>
          </a:p>
        </p:txBody>
      </p:sp>
      <p:sp>
        <p:nvSpPr>
          <p:cNvPr id="17" name="Text 15"/>
          <p:cNvSpPr/>
          <p:nvPr/>
        </p:nvSpPr>
        <p:spPr>
          <a:xfrm>
            <a:off x="6400800" y="3566160"/>
            <a:ext cx="5120640" cy="54864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consumul zilnic, într-un studiu din 2019</a:t>
            </a:r>
            <a:endParaRPr lang="en-US" sz="1450" dirty="0"/>
          </a:p>
        </p:txBody>
      </p:sp>
      <p:sp>
        <p:nvSpPr>
          <p:cNvPr id="18" name="Text 16"/>
          <p:cNvSpPr/>
          <p:nvPr/>
        </p:nvSpPr>
        <p:spPr>
          <a:xfrm>
            <a:off x="6400800" y="4251960"/>
            <a:ext cx="5120640" cy="457200"/>
          </a:xfrm>
          <a:prstGeom prst="rect">
            <a:avLst/>
          </a:prstGeom>
          <a:noFill/>
          <a:ln/>
        </p:spPr>
        <p:txBody>
          <a:bodyPr wrap="square" lIns="0" tIns="0" rIns="0" bIns="0" rtlCol="0" anchor="t"/>
          <a:lstStyle/>
          <a:p>
            <a:pPr indent="0" marL="0">
              <a:buNone/>
            </a:pPr>
            <a:r>
              <a:rPr lang="en-US" sz="2200" b="1" dirty="0">
                <a:solidFill>
                  <a:srgbClr val="FFC24B"/>
                </a:solidFill>
                <a:latin typeface="Palatino Linotype" pitchFamily="34" charset="0"/>
                <a:ea typeface="Palatino Linotype" pitchFamily="34" charset="-122"/>
                <a:cs typeface="Palatino Linotype" pitchFamily="34" charset="-120"/>
              </a:rPr>
              <a:t>de aproape cinci ori</a:t>
            </a:r>
            <a:endParaRPr lang="en-US" sz="2200" dirty="0"/>
          </a:p>
        </p:txBody>
      </p:sp>
      <p:sp>
        <p:nvSpPr>
          <p:cNvPr id="19" name="Text 17"/>
          <p:cNvSpPr/>
          <p:nvPr/>
        </p:nvSpPr>
        <p:spPr>
          <a:xfrm>
            <a:off x="6400800" y="4709160"/>
            <a:ext cx="5120640" cy="548640"/>
          </a:xfrm>
          <a:prstGeom prst="rect">
            <a:avLst/>
          </a:prstGeom>
          <a:noFill/>
          <a:ln/>
        </p:spPr>
        <p:txBody>
          <a:bodyPr wrap="square" lIns="0" tIns="0" rIns="0" bIns="0" rtlCol="0" anchor="t"/>
          <a:lstStyle/>
          <a:p>
            <a:pPr indent="0" marL="0">
              <a:buNone/>
            </a:pPr>
            <a:r>
              <a:rPr lang="en-US" sz="1450" dirty="0">
                <a:solidFill>
                  <a:srgbClr val="FFFFFF"/>
                </a:solidFill>
                <a:latin typeface="Palatino Linotype" pitchFamily="34" charset="0"/>
                <a:ea typeface="Palatino Linotype" pitchFamily="34" charset="-122"/>
                <a:cs typeface="Palatino Linotype" pitchFamily="34" charset="-120"/>
              </a:rPr>
              <a:t>consumul zilnic de cannabis puternic, THC de cel puțin 10%</a:t>
            </a:r>
            <a:endParaRPr lang="en-US" sz="1450" dirty="0"/>
          </a:p>
        </p:txBody>
      </p:sp>
      <p:sp>
        <p:nvSpPr>
          <p:cNvPr id="20" name="Text 18"/>
          <p:cNvSpPr/>
          <p:nvPr/>
        </p:nvSpPr>
        <p:spPr>
          <a:xfrm>
            <a:off x="6400800" y="5440680"/>
            <a:ext cx="5120640" cy="731520"/>
          </a:xfrm>
          <a:prstGeom prst="rect">
            <a:avLst/>
          </a:prstGeom>
          <a:noFill/>
          <a:ln/>
        </p:spPr>
        <p:txBody>
          <a:bodyPr wrap="square" lIns="0" tIns="0" rIns="0" bIns="0" rtlCol="0" anchor="t"/>
          <a:lstStyle/>
          <a:p>
            <a:pPr indent="0" marL="0">
              <a:buNone/>
            </a:pPr>
            <a:r>
              <a:rPr lang="en-US" sz="1400" i="1" dirty="0">
                <a:solidFill>
                  <a:srgbClr val="959BB0"/>
                </a:solidFill>
                <a:latin typeface="Palatino Linotype" pitchFamily="34" charset="0"/>
                <a:ea typeface="Palatino Linotype" pitchFamily="34" charset="-122"/>
                <a:cs typeface="Palatino Linotype" pitchFamily="34" charset="-120"/>
              </a:rPr>
              <a:t>O asociere dovedită. Cauzalitatea nu poate fi stabilită fără echivoc din aceste date.</a:t>
            </a:r>
            <a:endParaRPr lang="en-US" sz="1400" dirty="0"/>
          </a:p>
        </p:txBody>
      </p:sp>
      <p:sp>
        <p:nvSpPr>
          <p:cNvPr id="21" name="Text 19"/>
          <p:cNvSpPr/>
          <p:nvPr/>
        </p:nvSpPr>
        <p:spPr>
          <a:xfrm>
            <a:off x="594360" y="6309360"/>
            <a:ext cx="5486400" cy="256032"/>
          </a:xfrm>
          <a:prstGeom prst="rect">
            <a:avLst/>
          </a:prstGeom>
          <a:noFill/>
          <a:ln/>
        </p:spPr>
        <p:txBody>
          <a:bodyPr wrap="square" lIns="0" tIns="0" rIns="0" bIns="0" rtlCol="0" anchor="t"/>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Scenă reconstituită.</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1121A"/>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DIN 100 DE CAZURI NOI DE PSIHOZĂ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Cifra care presupune ce ar trebui să demonstreze</a:t>
            </a:r>
            <a:endParaRPr lang="en-US" sz="3000" dirty="0"/>
          </a:p>
        </p:txBody>
      </p:sp>
      <p:sp>
        <p:nvSpPr>
          <p:cNvPr id="4" name="Text 2"/>
          <p:cNvSpPr/>
          <p:nvPr/>
        </p:nvSpPr>
        <p:spPr>
          <a:xfrm>
            <a:off x="594360" y="1463040"/>
            <a:ext cx="3520440" cy="1371600"/>
          </a:xfrm>
          <a:prstGeom prst="rect">
            <a:avLst/>
          </a:prstGeom>
          <a:noFill/>
          <a:ln/>
        </p:spPr>
        <p:txBody>
          <a:bodyPr wrap="square" lIns="0" tIns="0" rIns="0" bIns="0" rtlCol="0" anchor="t"/>
          <a:lstStyle/>
          <a:p>
            <a:pPr indent="0" marL="0">
              <a:buNone/>
            </a:pPr>
            <a:r>
              <a:rPr lang="en-US" sz="8800" b="1" dirty="0">
                <a:solidFill>
                  <a:srgbClr val="FF4757"/>
                </a:solidFill>
                <a:latin typeface="Palatino Linotype" pitchFamily="34" charset="0"/>
                <a:ea typeface="Palatino Linotype" pitchFamily="34" charset="-122"/>
                <a:cs typeface="Palatino Linotype" pitchFamily="34" charset="-120"/>
              </a:rPr>
              <a:t>50</a:t>
            </a:r>
            <a:endParaRPr lang="en-US" sz="8800" dirty="0"/>
          </a:p>
        </p:txBody>
      </p:sp>
      <p:sp>
        <p:nvSpPr>
          <p:cNvPr id="5" name="Text 3"/>
          <p:cNvSpPr/>
          <p:nvPr/>
        </p:nvSpPr>
        <p:spPr>
          <a:xfrm>
            <a:off x="594360" y="2834640"/>
            <a:ext cx="3520440" cy="41148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din 100 · Amsterdam</a:t>
            </a:r>
            <a:endParaRPr lang="en-US" sz="1600" dirty="0"/>
          </a:p>
        </p:txBody>
      </p:sp>
      <p:sp>
        <p:nvSpPr>
          <p:cNvPr id="6" name="Text 4"/>
          <p:cNvSpPr/>
          <p:nvPr/>
        </p:nvSpPr>
        <p:spPr>
          <a:xfrm>
            <a:off x="4366260" y="1463040"/>
            <a:ext cx="3520440" cy="1371600"/>
          </a:xfrm>
          <a:prstGeom prst="rect">
            <a:avLst/>
          </a:prstGeom>
          <a:noFill/>
          <a:ln/>
        </p:spPr>
        <p:txBody>
          <a:bodyPr wrap="square" lIns="0" tIns="0" rIns="0" bIns="0" rtlCol="0" anchor="t"/>
          <a:lstStyle/>
          <a:p>
            <a:pPr indent="0" marL="0">
              <a:buNone/>
            </a:pPr>
            <a:r>
              <a:rPr lang="en-US" sz="8800" b="1" dirty="0">
                <a:solidFill>
                  <a:srgbClr val="FFC24B"/>
                </a:solidFill>
                <a:latin typeface="Palatino Linotype" pitchFamily="34" charset="0"/>
                <a:ea typeface="Palatino Linotype" pitchFamily="34" charset="-122"/>
                <a:cs typeface="Palatino Linotype" pitchFamily="34" charset="-120"/>
              </a:rPr>
              <a:t>30</a:t>
            </a:r>
            <a:endParaRPr lang="en-US" sz="8800" dirty="0"/>
          </a:p>
        </p:txBody>
      </p:sp>
      <p:sp>
        <p:nvSpPr>
          <p:cNvPr id="7" name="Text 5"/>
          <p:cNvSpPr/>
          <p:nvPr/>
        </p:nvSpPr>
        <p:spPr>
          <a:xfrm>
            <a:off x="4366260" y="2834640"/>
            <a:ext cx="3520440" cy="41148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din 100 · Londra</a:t>
            </a:r>
            <a:endParaRPr lang="en-US" sz="1600" dirty="0"/>
          </a:p>
        </p:txBody>
      </p:sp>
      <p:sp>
        <p:nvSpPr>
          <p:cNvPr id="8" name="Text 6"/>
          <p:cNvSpPr/>
          <p:nvPr/>
        </p:nvSpPr>
        <p:spPr>
          <a:xfrm>
            <a:off x="8138160" y="1463040"/>
            <a:ext cx="3520440" cy="1371600"/>
          </a:xfrm>
          <a:prstGeom prst="rect">
            <a:avLst/>
          </a:prstGeom>
          <a:noFill/>
          <a:ln/>
        </p:spPr>
        <p:txBody>
          <a:bodyPr wrap="square" lIns="0" tIns="0" rIns="0" bIns="0" rtlCol="0" anchor="t"/>
          <a:lstStyle/>
          <a:p>
            <a:pPr indent="0" marL="0">
              <a:buNone/>
            </a:pPr>
            <a:r>
              <a:rPr lang="en-US" sz="8800" b="1" dirty="0">
                <a:solidFill>
                  <a:srgbClr val="27D3BE"/>
                </a:solidFill>
                <a:latin typeface="Palatino Linotype" pitchFamily="34" charset="0"/>
                <a:ea typeface="Palatino Linotype" pitchFamily="34" charset="-122"/>
                <a:cs typeface="Palatino Linotype" pitchFamily="34" charset="-120"/>
              </a:rPr>
              <a:t>12</a:t>
            </a:r>
            <a:endParaRPr lang="en-US" sz="8800" dirty="0"/>
          </a:p>
        </p:txBody>
      </p:sp>
      <p:sp>
        <p:nvSpPr>
          <p:cNvPr id="9" name="Text 7"/>
          <p:cNvSpPr/>
          <p:nvPr/>
        </p:nvSpPr>
        <p:spPr>
          <a:xfrm>
            <a:off x="8138160" y="2834640"/>
            <a:ext cx="3520440" cy="411480"/>
          </a:xfrm>
          <a:prstGeom prst="rect">
            <a:avLst/>
          </a:prstGeom>
          <a:noFill/>
          <a:ln/>
        </p:spPr>
        <p:txBody>
          <a:bodyPr wrap="square" lIns="0" tIns="0" rIns="0" bIns="0" rtlCol="0" anchor="t"/>
          <a:lstStyle/>
          <a:p>
            <a:pPr indent="0" marL="0">
              <a:buNone/>
            </a:pPr>
            <a:r>
              <a:rPr lang="en-US" sz="1600" dirty="0">
                <a:solidFill>
                  <a:srgbClr val="FFFFFF"/>
                </a:solidFill>
                <a:latin typeface="Palatino Linotype" pitchFamily="34" charset="0"/>
                <a:ea typeface="Palatino Linotype" pitchFamily="34" charset="-122"/>
                <a:cs typeface="Palatino Linotype" pitchFamily="34" charset="-120"/>
              </a:rPr>
              <a:t>din 100 · toate cele 11 locuri</a:t>
            </a:r>
            <a:endParaRPr lang="en-US" sz="1600" dirty="0"/>
          </a:p>
        </p:txBody>
      </p:sp>
      <p:sp>
        <p:nvSpPr>
          <p:cNvPr id="10" name="Text 8"/>
          <p:cNvSpPr/>
          <p:nvPr/>
        </p:nvSpPr>
        <p:spPr>
          <a:xfrm>
            <a:off x="594360" y="3520440"/>
            <a:ext cx="10972800" cy="502920"/>
          </a:xfrm>
          <a:prstGeom prst="rect">
            <a:avLst/>
          </a:prstGeom>
          <a:noFill/>
          <a:ln/>
        </p:spPr>
        <p:txBody>
          <a:bodyPr wrap="square" lIns="0" tIns="0" rIns="0" bIns="0" rtlCol="0" anchor="t"/>
          <a:lstStyle/>
          <a:p>
            <a:pPr indent="0" marL="0">
              <a:buNone/>
            </a:pPr>
            <a:r>
              <a:rPr lang="en-US" sz="1900" b="1" dirty="0">
                <a:solidFill>
                  <a:srgbClr val="FFC24B"/>
                </a:solidFill>
                <a:latin typeface="Palatino Linotype" pitchFamily="34" charset="0"/>
                <a:ea typeface="Palatino Linotype" pitchFamily="34" charset="-122"/>
                <a:cs typeface="Palatino Linotype" pitchFamily="34" charset="-120"/>
              </a:rPr>
              <a:t>„s-ar evita fără cannabisul puternic”: calculat presupunând cauzalitatea.</a:t>
            </a:r>
            <a:endParaRPr lang="en-US" sz="1900" dirty="0"/>
          </a:p>
        </p:txBody>
      </p:sp>
      <p:sp>
        <p:nvSpPr>
          <p:cNvPr id="11" name="Text 9"/>
          <p:cNvSpPr/>
          <p:nvPr/>
        </p:nvSpPr>
        <p:spPr>
          <a:xfrm>
            <a:off x="594360" y="4206240"/>
            <a:ext cx="10972800" cy="128016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Un studiu care compară bolnavi cu sănătoși nu poate exclude că primele semne au venit înaintea consumului. Asocierea rămâne după ajustarea pentru vârsta la primul consum, dar ajustarea nu arată ce a apărut mai întâi.</a:t>
            </a:r>
            <a:endParaRPr lang="en-US" sz="1600" dirty="0"/>
          </a:p>
        </p:txBody>
      </p:sp>
      <p:sp>
        <p:nvSpPr>
          <p:cNvPr id="12" name="Text 10"/>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8E94A8"/>
                </a:solidFill>
                <a:latin typeface="Palatino Linotype" pitchFamily="34" charset="0"/>
                <a:ea typeface="Palatino Linotype" pitchFamily="34" charset="-122"/>
                <a:cs typeface="Palatino Linotype" pitchFamily="34" charset="-120"/>
              </a:rPr>
              <a:t>Sursa: Di Forti și colab., The Lancet Psychiatry, 2019.</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ANONIM</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AȚI CREDE ACEST TITLU?</a:t>
            </a:r>
            <a:endParaRPr lang="en-US" sz="1300" dirty="0"/>
          </a:p>
        </p:txBody>
      </p:sp>
      <p:sp>
        <p:nvSpPr>
          <p:cNvPr id="5" name="Shape 3"/>
          <p:cNvSpPr/>
          <p:nvPr/>
        </p:nvSpPr>
        <p:spPr>
          <a:xfrm>
            <a:off x="822960" y="1005840"/>
            <a:ext cx="10515600" cy="2514600"/>
          </a:xfrm>
          <a:prstGeom prst="rect">
            <a:avLst/>
          </a:prstGeom>
          <a:solidFill>
            <a:srgbClr val="FBF8F1"/>
          </a:solidFill>
          <a:ln w="9525">
            <a:solidFill>
              <a:srgbClr val="D6D2C8"/>
            </a:solidFill>
            <a:prstDash val="solid"/>
          </a:ln>
          <a:effectLst>
            <a:outerShdw sx="100000" sy="100000" kx="0" ky="0" algn="bl" rotWithShape="0" blurRad="127000" dist="63500" dir="3600000">
              <a:srgbClr val="000000">
                <a:alpha val="45000"/>
              </a:srgbClr>
            </a:outerShdw>
          </a:effectLst>
        </p:spPr>
        <p:txBody>
          <a:bodyPr/>
          <a:p/>
        </p:txBody>
      </p:sp>
      <p:sp>
        <p:nvSpPr>
          <p:cNvPr id="6" name="Shape 4"/>
          <p:cNvSpPr/>
          <p:nvPr/>
        </p:nvSpPr>
        <p:spPr>
          <a:xfrm>
            <a:off x="1234440" y="1417320"/>
            <a:ext cx="9692640" cy="27432"/>
          </a:xfrm>
          <a:prstGeom prst="rect">
            <a:avLst/>
          </a:prstGeom>
          <a:solidFill>
            <a:srgbClr val="11121A"/>
          </a:solidFill>
          <a:ln w="12700">
            <a:solidFill>
              <a:srgbClr val="11121A"/>
            </a:solidFill>
            <a:prstDash val="solid"/>
          </a:ln>
        </p:spPr>
        <p:txBody>
          <a:bodyPr/>
          <a:p/>
        </p:txBody>
      </p:sp>
      <p:sp>
        <p:nvSpPr>
          <p:cNvPr id="7" name="Text 5"/>
          <p:cNvSpPr/>
          <p:nvPr/>
        </p:nvSpPr>
        <p:spPr>
          <a:xfrm>
            <a:off x="1234440" y="1536192"/>
            <a:ext cx="9692640" cy="274320"/>
          </a:xfrm>
          <a:prstGeom prst="rect">
            <a:avLst/>
          </a:prstGeom>
          <a:noFill/>
          <a:ln/>
        </p:spPr>
        <p:txBody>
          <a:bodyPr wrap="square" lIns="0" tIns="0" rIns="0" bIns="0" rtlCol="0" anchor="t"/>
          <a:lstStyle/>
          <a:p>
            <a:pPr indent="0" marL="0">
              <a:buNone/>
            </a:pPr>
            <a:r>
              <a:rPr lang="en-US" sz="1100" b="1" spc="300" kern="0" dirty="0">
                <a:solidFill>
                  <a:srgbClr val="B02532"/>
                </a:solidFill>
                <a:latin typeface="Palatino Linotype" pitchFamily="34" charset="0"/>
                <a:ea typeface="Palatino Linotype" pitchFamily="34" charset="-122"/>
                <a:cs typeface="Palatino Linotype" pitchFamily="34" charset="-120"/>
              </a:rPr>
              <a:t>BBC NEWS · 20 MARTIE 2019</a:t>
            </a:r>
            <a:endParaRPr lang="en-US" sz="1100" dirty="0"/>
          </a:p>
        </p:txBody>
      </p:sp>
      <p:sp>
        <p:nvSpPr>
          <p:cNvPr id="8" name="Text 6"/>
          <p:cNvSpPr/>
          <p:nvPr/>
        </p:nvSpPr>
        <p:spPr>
          <a:xfrm>
            <a:off x="1234440" y="1920240"/>
            <a:ext cx="9692640" cy="14173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Potent cannabis increases risk of serious mental illness, says study</a:t>
            </a:r>
            <a:endParaRPr lang="en-US" sz="3000" dirty="0"/>
          </a:p>
        </p:txBody>
      </p:sp>
      <p:sp>
        <p:nvSpPr>
          <p:cNvPr id="9" name="Text 7"/>
          <p:cNvSpPr/>
          <p:nvPr/>
        </p:nvSpPr>
        <p:spPr>
          <a:xfrm>
            <a:off x="822960" y="3657600"/>
            <a:ext cx="10515600" cy="548640"/>
          </a:xfrm>
          <a:prstGeom prst="rect">
            <a:avLst/>
          </a:prstGeom>
          <a:noFill/>
          <a:ln/>
        </p:spPr>
        <p:txBody>
          <a:bodyPr wrap="square" lIns="0" tIns="0" rIns="0" bIns="0" rtlCol="0" anchor="t"/>
          <a:lstStyle/>
          <a:p>
            <a:pPr indent="0" marL="0">
              <a:buNone/>
            </a:pPr>
            <a:r>
              <a:rPr lang="en-US" sz="1800" i="1" dirty="0">
                <a:solidFill>
                  <a:srgbClr val="959BB0"/>
                </a:solidFill>
                <a:latin typeface="Palatino Linotype" pitchFamily="34" charset="0"/>
                <a:ea typeface="Palatino Linotype" pitchFamily="34" charset="-122"/>
                <a:cs typeface="Palatino Linotype" pitchFamily="34" charset="-120"/>
              </a:rPr>
              <a:t>„Cannabisul puternic crește riscul de boală psihică gravă, spune un studiu.”</a:t>
            </a:r>
            <a:endParaRPr lang="en-US" sz="1800" dirty="0"/>
          </a:p>
        </p:txBody>
      </p:sp>
      <p:sp>
        <p:nvSpPr>
          <p:cNvPr id="10" name="Shape 8"/>
          <p:cNvSpPr/>
          <p:nvPr/>
        </p:nvSpPr>
        <p:spPr>
          <a:xfrm>
            <a:off x="822960" y="443484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1" name="Text 9"/>
          <p:cNvSpPr/>
          <p:nvPr/>
        </p:nvSpPr>
        <p:spPr>
          <a:xfrm>
            <a:off x="822960" y="443484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Da</a:t>
            </a:r>
            <a:endParaRPr lang="en-US" sz="1500" dirty="0"/>
          </a:p>
        </p:txBody>
      </p:sp>
      <p:sp>
        <p:nvSpPr>
          <p:cNvPr id="12" name="Shape 10"/>
          <p:cNvSpPr/>
          <p:nvPr/>
        </p:nvSpPr>
        <p:spPr>
          <a:xfrm>
            <a:off x="3200400" y="4434840"/>
            <a:ext cx="2148840" cy="329184"/>
          </a:xfrm>
          <a:prstGeom prst="roundRect">
            <a:avLst>
              <a:gd name="adj" fmla="val 50000"/>
            </a:avLst>
          </a:prstGeom>
          <a:solidFill>
            <a:srgbClr val="272A38"/>
          </a:solidFill>
          <a:ln w="12700">
            <a:solidFill>
              <a:srgbClr val="272A38"/>
            </a:solidFill>
            <a:prstDash val="solid"/>
          </a:ln>
        </p:spPr>
        <p:txBody>
          <a:bodyPr/>
          <a:p/>
        </p:txBody>
      </p:sp>
      <p:sp>
        <p:nvSpPr>
          <p:cNvPr id="13" name="Text 11"/>
          <p:cNvSpPr/>
          <p:nvPr/>
        </p:nvSpPr>
        <p:spPr>
          <a:xfrm>
            <a:off x="3200400" y="4434840"/>
            <a:ext cx="214884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Nu</a:t>
            </a:r>
            <a:endParaRPr lang="en-US" sz="1500" dirty="0"/>
          </a:p>
        </p:txBody>
      </p:sp>
      <p:sp>
        <p:nvSpPr>
          <p:cNvPr id="14" name="Shape 12"/>
          <p:cNvSpPr/>
          <p:nvPr/>
        </p:nvSpPr>
        <p:spPr>
          <a:xfrm>
            <a:off x="5577840" y="4434840"/>
            <a:ext cx="3840480" cy="329184"/>
          </a:xfrm>
          <a:prstGeom prst="roundRect">
            <a:avLst>
              <a:gd name="adj" fmla="val 50000"/>
            </a:avLst>
          </a:prstGeom>
          <a:solidFill>
            <a:srgbClr val="272A38"/>
          </a:solidFill>
          <a:ln w="12700">
            <a:solidFill>
              <a:srgbClr val="272A38"/>
            </a:solidFill>
            <a:prstDash val="solid"/>
          </a:ln>
        </p:spPr>
        <p:txBody>
          <a:bodyPr/>
          <a:p/>
        </p:txBody>
      </p:sp>
      <p:sp>
        <p:nvSpPr>
          <p:cNvPr id="15" name="Text 13"/>
          <p:cNvSpPr/>
          <p:nvPr/>
        </p:nvSpPr>
        <p:spPr>
          <a:xfrm>
            <a:off x="5577840" y="4434840"/>
            <a:ext cx="3840480"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Palatino Linotype" pitchFamily="34" charset="0"/>
                <a:ea typeface="Palatino Linotype" pitchFamily="34" charset="-122"/>
                <a:cs typeface="Palatino Linotype" pitchFamily="34" charset="-120"/>
              </a:rPr>
              <a:t>Depinde ce a măsurat studiul</a:t>
            </a:r>
            <a:endParaRPr lang="en-US" sz="1500" dirty="0"/>
          </a:p>
        </p:txBody>
      </p:sp>
      <p:sp>
        <p:nvSpPr>
          <p:cNvPr id="16" name="Text 14"/>
          <p:cNvSpPr/>
          <p:nvPr/>
        </p:nvSpPr>
        <p:spPr>
          <a:xfrm>
            <a:off x="594360" y="5120640"/>
            <a:ext cx="10972800" cy="457200"/>
          </a:xfrm>
          <a:prstGeom prst="rect">
            <a:avLst/>
          </a:prstGeom>
          <a:noFill/>
          <a:ln/>
        </p:spPr>
        <p:txBody>
          <a:bodyPr wrap="square" lIns="0" tIns="0" rIns="0" bIns="0" rtlCol="0" anchor="t"/>
          <a:lstStyle/>
          <a:p>
            <a:pPr indent="0" marL="0">
              <a:buNone/>
            </a:pPr>
            <a:r>
              <a:rPr lang="en-US" sz="1500" dirty="0">
                <a:solidFill>
                  <a:srgbClr val="959BB0"/>
                </a:solidFill>
                <a:latin typeface="Palatino Linotype" pitchFamily="34" charset="0"/>
                <a:ea typeface="Palatino Linotype" pitchFamily="34" charset="-122"/>
                <a:cs typeface="Palatino Linotype" pitchFamily="34" charset="-120"/>
              </a:rPr>
              <a:t>Titlu real, despre studiul de pe diapozitivul anterior.</a:t>
            </a:r>
            <a:endParaRPr lang="en-US" sz="1500" dirty="0"/>
          </a:p>
        </p:txBody>
      </p:sp>
      <p:sp>
        <p:nvSpPr>
          <p:cNvPr id="17" name="Shape 15"/>
          <p:cNvSpPr/>
          <p:nvPr/>
        </p:nvSpPr>
        <p:spPr>
          <a:xfrm>
            <a:off x="9738360" y="4937760"/>
            <a:ext cx="1828800" cy="1645920"/>
          </a:xfrm>
          <a:prstGeom prst="roundRect">
            <a:avLst>
              <a:gd name="adj" fmla="val 5000"/>
            </a:avLst>
          </a:prstGeom>
          <a:solidFill>
            <a:srgbClr val="FFFFFF"/>
          </a:solidFill>
          <a:ln w="12700">
            <a:solidFill>
              <a:srgbClr val="FFFFFF"/>
            </a:solidFill>
            <a:prstDash val="solid"/>
          </a:ln>
        </p:spPr>
        <p:txBody>
          <a:bodyPr/>
          <a:p/>
        </p:txBody>
      </p:sp>
      <p:pic>
        <p:nvPicPr>
          <p:cNvPr id="18" name="Picture 17" descr="Mentimeter_OPT_DROGURI_C03.png"/>
          <p:cNvPicPr>
            <a:picLocks noChangeAspect="1"/>
          </p:cNvPicPr>
          <p:nvPr/>
        </p:nvPicPr>
        <p:blipFill>
          <a:blip r:embed="rId3"/>
          <a:stretch>
            <a:fillRect/>
          </a:stretch>
        </p:blipFill>
        <p:spPr>
          <a:xfrm>
            <a:off x="10046969" y="4937760"/>
            <a:ext cx="1211581" cy="1211581"/>
          </a:xfrm>
          <a:prstGeom prst="rect">
            <a:avLst/>
          </a:prstGeom>
        </p:spPr>
      </p:pic>
      <p:sp>
        <p:nvSpPr>
          <p:cNvPr id="19" name="TextBox 18"/>
          <p:cNvSpPr txBox="1"/>
          <p:nvPr/>
        </p:nvSpPr>
        <p:spPr>
          <a:xfrm>
            <a:off x="9738360" y="6187441"/>
            <a:ext cx="18288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CE A MĂSURAT STUDIUL</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11121A"/>
                </a:solidFill>
                <a:latin typeface="Palatino Linotype" pitchFamily="34" charset="0"/>
                <a:ea typeface="Palatino Linotype" pitchFamily="34" charset="-122"/>
                <a:cs typeface="Palatino Linotype" pitchFamily="34" charset="-120"/>
              </a:rPr>
              <a:t>Ce arată un studiu care poate testa direcția</a:t>
            </a:r>
            <a:endParaRPr lang="en-US" sz="3000" dirty="0"/>
          </a:p>
        </p:txBody>
      </p:sp>
      <p:sp>
        <p:nvSpPr>
          <p:cNvPr id="4" name="Text 2"/>
          <p:cNvSpPr/>
          <p:nvPr/>
        </p:nvSpPr>
        <p:spPr>
          <a:xfrm>
            <a:off x="594360" y="1463040"/>
            <a:ext cx="10972800" cy="914400"/>
          </a:xfrm>
          <a:prstGeom prst="rect">
            <a:avLst/>
          </a:prstGeom>
          <a:noFill/>
          <a:ln/>
        </p:spPr>
        <p:txBody>
          <a:bodyPr wrap="square" lIns="0" tIns="0" rIns="0" bIns="0" rtlCol="0" anchor="t"/>
          <a:lstStyle/>
          <a:p>
            <a:pPr indent="0" marL="0">
              <a:buNone/>
            </a:pPr>
            <a:r>
              <a:rPr lang="en-US" sz="1750" b="1" dirty="0">
                <a:solidFill>
                  <a:srgbClr val="B02532"/>
                </a:solidFill>
                <a:latin typeface="Palatino Linotype" pitchFamily="34" charset="0"/>
                <a:ea typeface="Palatino Linotype" pitchFamily="34" charset="-122"/>
                <a:cs typeface="Palatino Linotype" pitchFamily="34" charset="-120"/>
              </a:rPr>
              <a:t>„crește” </a:t>
            </a:r>
            <a:pPr indent="0" marL="0">
              <a:buNone/>
            </a:pPr>
            <a:r>
              <a:rPr lang="en-US" sz="1750" dirty="0">
                <a:solidFill>
                  <a:srgbClr val="11121A"/>
                </a:solidFill>
                <a:latin typeface="Palatino Linotype" pitchFamily="34" charset="0"/>
                <a:ea typeface="Palatino Linotype" pitchFamily="34" charset="-122"/>
                <a:cs typeface="Palatino Linotype" pitchFamily="34" charset="-120"/>
              </a:rPr>
              <a:t>spune că o cauză produce un efect; studiul a măsurat o asociere. Articolul însuși notează mai jos că studiul nu e o dovadă definitivă.</a:t>
            </a:r>
            <a:endParaRPr lang="en-US" sz="1750" dirty="0"/>
          </a:p>
        </p:txBody>
      </p:sp>
      <p:sp>
        <p:nvSpPr>
          <p:cNvPr id="5" name="Shape 3"/>
          <p:cNvSpPr/>
          <p:nvPr/>
        </p:nvSpPr>
        <p:spPr>
          <a:xfrm>
            <a:off x="594360" y="2606040"/>
            <a:ext cx="10972800" cy="1920240"/>
          </a:xfrm>
          <a:prstGeom prst="roundRect">
            <a:avLst>
              <a:gd name="adj" fmla="val 4286"/>
            </a:avLst>
          </a:prstGeom>
          <a:solidFill>
            <a:srgbClr val="E1F0EC"/>
          </a:solidFill>
          <a:ln w="12700">
            <a:solidFill>
              <a:srgbClr val="E1F0EC"/>
            </a:solidFill>
            <a:prstDash val="solid"/>
          </a:ln>
        </p:spPr>
        <p:txBody>
          <a:bodyPr/>
          <a:p/>
        </p:txBody>
      </p:sp>
      <p:sp>
        <p:nvSpPr>
          <p:cNvPr id="6" name="Text 4"/>
          <p:cNvSpPr/>
          <p:nvPr/>
        </p:nvSpPr>
        <p:spPr>
          <a:xfrm>
            <a:off x="868680" y="2743200"/>
            <a:ext cx="10424160" cy="320040"/>
          </a:xfrm>
          <a:prstGeom prst="rect">
            <a:avLst/>
          </a:prstGeom>
          <a:noFill/>
          <a:ln/>
        </p:spPr>
        <p:txBody>
          <a:bodyPr wrap="square" lIns="0" tIns="0" rIns="0" bIns="0" rtlCol="0" anchor="t"/>
          <a:lstStyle/>
          <a:p>
            <a:pPr indent="0" marL="0">
              <a:buNone/>
            </a:pPr>
            <a:r>
              <a:rPr lang="en-US" sz="1300" b="1" spc="200" kern="0" dirty="0">
                <a:solidFill>
                  <a:srgbClr val="0E7C6B"/>
                </a:solidFill>
                <a:latin typeface="Palatino Linotype" pitchFamily="34" charset="0"/>
                <a:ea typeface="Palatino Linotype" pitchFamily="34" charset="-122"/>
                <a:cs typeface="Palatino Linotype" pitchFamily="34" charset="-120"/>
              </a:rPr>
              <a:t>UN STUDIU GENETIC, 2018</a:t>
            </a:r>
            <a:endParaRPr lang="en-US" sz="1300" dirty="0"/>
          </a:p>
        </p:txBody>
      </p:sp>
      <p:sp>
        <p:nvSpPr>
          <p:cNvPr id="7" name="Text 5"/>
          <p:cNvSpPr/>
          <p:nvPr/>
        </p:nvSpPr>
        <p:spPr>
          <a:xfrm>
            <a:off x="868680" y="3108960"/>
            <a:ext cx="10424160" cy="1371600"/>
          </a:xfrm>
          <a:prstGeom prst="rect">
            <a:avLst/>
          </a:prstGeom>
          <a:noFill/>
          <a:ln/>
        </p:spPr>
        <p:txBody>
          <a:bodyPr wrap="square" lIns="0" tIns="0" rIns="0" bIns="0" rtlCol="0" anchor="t"/>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Folosește variantele genetice moștenite la întâmplare ca pe o tragere la sorți naturală. Rezultat: la cei care consumă, șansele de schizofrenie sunt cu aproximativ o treime mai mari; datele obișnuite de observație dau o estimare foarte apropiată.</a:t>
            </a:r>
            <a:endParaRPr lang="en-US" sz="1600" dirty="0"/>
          </a:p>
        </p:txBody>
      </p:sp>
      <p:sp>
        <p:nvSpPr>
          <p:cNvPr id="8" name="Text 6"/>
          <p:cNvSpPr/>
          <p:nvPr/>
        </p:nvSpPr>
        <p:spPr>
          <a:xfrm>
            <a:off x="594360" y="4754880"/>
            <a:ext cx="10972800" cy="822960"/>
          </a:xfrm>
          <a:prstGeom prst="rect">
            <a:avLst/>
          </a:prstGeom>
          <a:noFill/>
          <a:ln/>
        </p:spPr>
        <p:txBody>
          <a:bodyPr wrap="square" lIns="0" tIns="0" rIns="0" bIns="0" rtlCol="0" anchor="t"/>
          <a:lstStyle/>
          <a:p>
            <a:pPr indent="0" marL="0">
              <a:buNone/>
            </a:pPr>
            <a:r>
              <a:rPr lang="en-US" sz="1700" b="1" dirty="0">
                <a:solidFill>
                  <a:srgbClr val="0E7C6B"/>
                </a:solidFill>
                <a:latin typeface="Palatino Linotype" pitchFamily="34" charset="0"/>
                <a:ea typeface="Palatino Linotype" pitchFamily="34" charset="-122"/>
                <a:cs typeface="Palatino Linotype" pitchFamily="34" charset="-120"/>
              </a:rPr>
              <a:t>Ce rămâne solid: consumul frecvent se asociază cu psihoza, iar studiul genetic sprijină un efect real, fără să închidă discuția.</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30 DE SECUNDE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A TREIA · ÎNCHEIERE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spuneți mâine unui coleg</a:t>
            </a:r>
            <a:endParaRPr lang="en-US" sz="3400" dirty="0"/>
          </a:p>
        </p:txBody>
      </p:sp>
      <p:sp>
        <p:nvSpPr>
          <p:cNvPr id="6" name="Shape 4"/>
          <p:cNvSpPr/>
          <p:nvPr/>
        </p:nvSpPr>
        <p:spPr>
          <a:xfrm>
            <a:off x="594360" y="1828800"/>
            <a:ext cx="73152" cy="3291840"/>
          </a:xfrm>
          <a:prstGeom prst="rect">
            <a:avLst/>
          </a:prstGeom>
          <a:solidFill>
            <a:srgbClr val="27D3BE"/>
          </a:solidFill>
          <a:ln w="12700">
            <a:solidFill>
              <a:srgbClr val="27D3BE"/>
            </a:solidFill>
            <a:prstDash val="solid"/>
          </a:ln>
        </p:spPr>
        <p:txBody>
          <a:bodyPr/>
          <a:p/>
        </p:txBody>
      </p:sp>
      <p:sp>
        <p:nvSpPr>
          <p:cNvPr id="7" name="Text 5"/>
          <p:cNvSpPr/>
          <p:nvPr/>
        </p:nvSpPr>
        <p:spPr>
          <a:xfrm>
            <a:off x="960120" y="1828800"/>
            <a:ext cx="10515600" cy="3291840"/>
          </a:xfrm>
          <a:prstGeom prst="rect">
            <a:avLst/>
          </a:prstGeom>
          <a:noFill/>
          <a:ln/>
        </p:spPr>
        <p:txBody>
          <a:bodyPr wrap="square" lIns="0" tIns="0" rIns="0" bIns="0" rtlCol="0" anchor="ctr"/>
          <a:lstStyle/>
          <a:p>
            <a:pPr indent="0" marL="0">
              <a:buNone/>
            </a:pPr>
            <a:r>
              <a:rPr lang="en-US" sz="2300" i="1" dirty="0">
                <a:solidFill>
                  <a:srgbClr val="FFFFFF"/>
                </a:solidFill>
                <a:latin typeface="Palatino Linotype" pitchFamily="34" charset="0"/>
                <a:ea typeface="Palatino Linotype" pitchFamily="34" charset="-122"/>
                <a:cs typeface="Palatino Linotype" pitchFamily="34" charset="-120"/>
              </a:rPr>
              <a:t>„Există trei situații în care un medicament din cannabis are dovezi solide, iar la una dintre ele beneficiul îl simte pacientul, nu îl măsoară medicul. Cannabisul fumat zilnic, mai ales cel puternic, se leagă de psihoză; cât de mult, nu se știe exact.”</a:t>
            </a:r>
            <a:endParaRPr lang="en-US" sz="2300" dirty="0"/>
          </a:p>
        </p:txBody>
      </p:sp>
      <p:sp>
        <p:nvSpPr>
          <p:cNvPr id="8" name="Text 6"/>
          <p:cNvSpPr/>
          <p:nvPr/>
        </p:nvSpPr>
        <p:spPr>
          <a:xfrm>
            <a:off x="594360" y="5486400"/>
            <a:ext cx="1097280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Spuneți-o, cu cuvintele voastre, colegului de bancă.</a:t>
            </a:r>
            <a:endParaRPr lang="en-US" sz="16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PARTEA A PATRA · AL TREILEA TERMEN NOU</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Legalizarea reglementată</a:t>
            </a:r>
            <a:endParaRPr lang="en-US" sz="3200" dirty="0"/>
          </a:p>
        </p:txBody>
      </p:sp>
      <p:sp>
        <p:nvSpPr>
          <p:cNvPr id="4" name="Text 2"/>
          <p:cNvSpPr/>
          <p:nvPr/>
        </p:nvSpPr>
        <p:spPr>
          <a:xfrm>
            <a:off x="594360" y="1417320"/>
            <a:ext cx="6675120" cy="1097280"/>
          </a:xfrm>
          <a:prstGeom prst="rect">
            <a:avLst/>
          </a:prstGeom>
          <a:noFill/>
          <a:ln/>
        </p:spPr>
        <p:txBody>
          <a:bodyPr wrap="square" lIns="0" tIns="0" rIns="0" bIns="0" rtlCol="0" anchor="t"/>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Consumul, producția și vânzarea devin permise, cu reguli ale statului: licențe, vârstă minimă, controlul concentrației, taxe.</a:t>
            </a:r>
            <a:endParaRPr lang="en-US" sz="1700" dirty="0"/>
          </a:p>
        </p:txBody>
      </p:sp>
      <p:sp>
        <p:nvSpPr>
          <p:cNvPr id="5" name="Text 3"/>
          <p:cNvSpPr/>
          <p:nvPr/>
        </p:nvSpPr>
        <p:spPr>
          <a:xfrm>
            <a:off x="594360" y="2560320"/>
            <a:ext cx="6675120" cy="502920"/>
          </a:xfrm>
          <a:prstGeom prst="rect">
            <a:avLst/>
          </a:prstGeom>
          <a:noFill/>
          <a:ln/>
        </p:spPr>
        <p:txBody>
          <a:bodyPr wrap="square" lIns="0" tIns="0" rIns="0" bIns="0" rtlCol="0" anchor="t"/>
          <a:lstStyle/>
          <a:p>
            <a:pPr indent="0" marL="0">
              <a:buNone/>
            </a:pPr>
            <a:r>
              <a:rPr lang="en-US" sz="1900" b="1" i="1" dirty="0">
                <a:solidFill>
                  <a:srgbClr val="B02532"/>
                </a:solidFill>
                <a:latin typeface="Palatino Linotype" pitchFamily="34" charset="0"/>
                <a:ea typeface="Palatino Linotype" pitchFamily="34" charset="-122"/>
                <a:cs typeface="Palatino Linotype" pitchFamily="34" charset="-120"/>
              </a:rPr>
              <a:t>„Se vinde legal, ca alcoolul, dar cu reguli.”</a:t>
            </a:r>
            <a:endParaRPr lang="en-US" sz="1900" dirty="0"/>
          </a:p>
        </p:txBody>
      </p:sp>
      <p:sp>
        <p:nvSpPr>
          <p:cNvPr id="6" name="Shape 4"/>
          <p:cNvSpPr/>
          <p:nvPr/>
        </p:nvSpPr>
        <p:spPr>
          <a:xfrm>
            <a:off x="7589520" y="1417320"/>
            <a:ext cx="3977640" cy="1691640"/>
          </a:xfrm>
          <a:prstGeom prst="roundRect">
            <a:avLst>
              <a:gd name="adj" fmla="val 4865"/>
            </a:avLst>
          </a:prstGeom>
          <a:solidFill>
            <a:srgbClr val="ECEAE4"/>
          </a:solidFill>
          <a:ln w="12700">
            <a:solidFill>
              <a:srgbClr val="ECEAE4"/>
            </a:solidFill>
            <a:prstDash val="solid"/>
          </a:ln>
        </p:spPr>
        <p:txBody>
          <a:bodyPr/>
          <a:p/>
        </p:txBody>
      </p:sp>
      <p:sp>
        <p:nvSpPr>
          <p:cNvPr id="7" name="Text 5"/>
          <p:cNvSpPr/>
          <p:nvPr/>
        </p:nvSpPr>
        <p:spPr>
          <a:xfrm>
            <a:off x="7818120" y="1508760"/>
            <a:ext cx="3566160" cy="1508760"/>
          </a:xfrm>
          <a:prstGeom prst="rect">
            <a:avLst/>
          </a:prstGeom>
          <a:noFill/>
          <a:ln/>
        </p:spPr>
        <p:txBody>
          <a:bodyPr wrap="square" lIns="0" tIns="0" rIns="0" bIns="0" rtlCol="0" anchor="ctr"/>
          <a:lstStyle/>
          <a:p>
            <a:pPr indent="0" marL="0">
              <a:buNone/>
            </a:pPr>
            <a:r>
              <a:rPr lang="en-US" sz="1600" dirty="0">
                <a:solidFill>
                  <a:srgbClr val="11121A"/>
                </a:solidFill>
                <a:latin typeface="Palatino Linotype" pitchFamily="34" charset="0"/>
                <a:ea typeface="Palatino Linotype" pitchFamily="34" charset="-122"/>
                <a:cs typeface="Palatino Linotype" pitchFamily="34" charset="-120"/>
              </a:rPr>
              <a:t>Canada, Uruguay, 12 state americane (situația din 2021). Portugalia, nu.</a:t>
            </a:r>
            <a:endParaRPr lang="en-US" sz="1600" dirty="0"/>
          </a:p>
        </p:txBody>
      </p:sp>
      <p:sp>
        <p:nvSpPr>
          <p:cNvPr id="8" name="Text 6"/>
          <p:cNvSpPr/>
          <p:nvPr/>
        </p:nvSpPr>
        <p:spPr>
          <a:xfrm>
            <a:off x="594360" y="3429000"/>
            <a:ext cx="10972800" cy="411480"/>
          </a:xfrm>
          <a:prstGeom prst="rect">
            <a:avLst/>
          </a:prstGeom>
          <a:noFill/>
          <a:ln/>
        </p:spPr>
        <p:txBody>
          <a:bodyPr wrap="square" lIns="0" tIns="0" rIns="0" bIns="0" rtlCol="0" anchor="t"/>
          <a:lstStyle/>
          <a:p>
            <a:pPr indent="0" marL="0">
              <a:buNone/>
            </a:pPr>
            <a:r>
              <a:rPr lang="en-US" sz="1800" b="1" dirty="0">
                <a:solidFill>
                  <a:srgbClr val="0E7C6B"/>
                </a:solidFill>
                <a:latin typeface="Palatino Linotype" pitchFamily="34" charset="0"/>
                <a:ea typeface="Palatino Linotype" pitchFamily="34" charset="-122"/>
                <a:cs typeface="Palatino Linotype" pitchFamily="34" charset="-120"/>
              </a:rPr>
              <a:t>Tinerii</a:t>
            </a:r>
            <a:endParaRPr lang="en-US" sz="1800" dirty="0"/>
          </a:p>
        </p:txBody>
      </p:sp>
      <p:sp>
        <p:nvSpPr>
          <p:cNvPr id="9" name="Shape 7"/>
          <p:cNvSpPr/>
          <p:nvPr/>
        </p:nvSpPr>
        <p:spPr>
          <a:xfrm>
            <a:off x="594360" y="3931920"/>
            <a:ext cx="3520440" cy="1600200"/>
          </a:xfrm>
          <a:prstGeom prst="roundRect">
            <a:avLst>
              <a:gd name="adj" fmla="val 5143"/>
            </a:avLst>
          </a:prstGeom>
          <a:solidFill>
            <a:srgbClr val="E1F0EC"/>
          </a:solidFill>
          <a:ln w="12700">
            <a:solidFill>
              <a:srgbClr val="E1F0EC"/>
            </a:solidFill>
            <a:prstDash val="solid"/>
          </a:ln>
        </p:spPr>
        <p:txBody>
          <a:bodyPr/>
          <a:p/>
        </p:txBody>
      </p:sp>
      <p:sp>
        <p:nvSpPr>
          <p:cNvPr id="10" name="Text 8"/>
          <p:cNvSpPr/>
          <p:nvPr/>
        </p:nvSpPr>
        <p:spPr>
          <a:xfrm>
            <a:off x="822960" y="4041648"/>
            <a:ext cx="3108960" cy="411480"/>
          </a:xfrm>
          <a:prstGeom prst="rect">
            <a:avLst/>
          </a:prstGeom>
          <a:noFill/>
          <a:ln/>
        </p:spPr>
        <p:txBody>
          <a:bodyPr wrap="square" lIns="0" tIns="0" rIns="0" bIns="0" rtlCol="0" anchor="t"/>
          <a:lstStyle/>
          <a:p>
            <a:pPr indent="0" marL="0">
              <a:buNone/>
            </a:pPr>
            <a:r>
              <a:rPr lang="en-US" sz="1550" b="1" dirty="0">
                <a:solidFill>
                  <a:srgbClr val="0E7C6B"/>
                </a:solidFill>
                <a:latin typeface="Palatino Linotype" pitchFamily="34" charset="0"/>
                <a:ea typeface="Palatino Linotype" pitchFamily="34" charset="-122"/>
                <a:cs typeface="Palatino Linotype" pitchFamily="34" charset="-120"/>
              </a:rPr>
              <a:t>Consumul în general</a:t>
            </a:r>
            <a:endParaRPr lang="en-US" sz="1550" dirty="0"/>
          </a:p>
        </p:txBody>
      </p:sp>
      <p:sp>
        <p:nvSpPr>
          <p:cNvPr id="11" name="Text 9"/>
          <p:cNvSpPr/>
          <p:nvPr/>
        </p:nvSpPr>
        <p:spPr>
          <a:xfrm>
            <a:off x="822960" y="4480560"/>
            <a:ext cx="3108960" cy="96012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nu a crescut cât se temea lumea</a:t>
            </a:r>
            <a:endParaRPr lang="en-US" sz="1550" dirty="0"/>
          </a:p>
        </p:txBody>
      </p:sp>
      <p:sp>
        <p:nvSpPr>
          <p:cNvPr id="12" name="Shape 10"/>
          <p:cNvSpPr/>
          <p:nvPr/>
        </p:nvSpPr>
        <p:spPr>
          <a:xfrm>
            <a:off x="4366260" y="3931920"/>
            <a:ext cx="3520440" cy="1600200"/>
          </a:xfrm>
          <a:prstGeom prst="roundRect">
            <a:avLst>
              <a:gd name="adj" fmla="val 5143"/>
            </a:avLst>
          </a:prstGeom>
          <a:solidFill>
            <a:srgbClr val="E1F0EC"/>
          </a:solidFill>
          <a:ln w="12700">
            <a:solidFill>
              <a:srgbClr val="E1F0EC"/>
            </a:solidFill>
            <a:prstDash val="solid"/>
          </a:ln>
        </p:spPr>
        <p:txBody>
          <a:bodyPr/>
          <a:p/>
        </p:txBody>
      </p:sp>
      <p:sp>
        <p:nvSpPr>
          <p:cNvPr id="13" name="Text 11"/>
          <p:cNvSpPr/>
          <p:nvPr/>
        </p:nvSpPr>
        <p:spPr>
          <a:xfrm>
            <a:off x="4594860" y="4041648"/>
            <a:ext cx="3108960" cy="411480"/>
          </a:xfrm>
          <a:prstGeom prst="rect">
            <a:avLst/>
          </a:prstGeom>
          <a:noFill/>
          <a:ln/>
        </p:spPr>
        <p:txBody>
          <a:bodyPr wrap="square" lIns="0" tIns="0" rIns="0" bIns="0" rtlCol="0" anchor="t"/>
          <a:lstStyle/>
          <a:p>
            <a:pPr indent="0" marL="0">
              <a:buNone/>
            </a:pPr>
            <a:r>
              <a:rPr lang="en-US" sz="1550" b="1" dirty="0">
                <a:solidFill>
                  <a:srgbClr val="0E7C6B"/>
                </a:solidFill>
                <a:latin typeface="Palatino Linotype" pitchFamily="34" charset="0"/>
                <a:ea typeface="Palatino Linotype" pitchFamily="34" charset="-122"/>
                <a:cs typeface="Palatino Linotype" pitchFamily="34" charset="-120"/>
              </a:rPr>
              <a:t>Felul consumului</a:t>
            </a:r>
            <a:endParaRPr lang="en-US" sz="1550" dirty="0"/>
          </a:p>
        </p:txBody>
      </p:sp>
      <p:sp>
        <p:nvSpPr>
          <p:cNvPr id="14" name="Text 12"/>
          <p:cNvSpPr/>
          <p:nvPr/>
        </p:nvSpPr>
        <p:spPr>
          <a:xfrm>
            <a:off x="4594860" y="4480560"/>
            <a:ext cx="3108960" cy="96012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mai mult zilnic și mai mult vaporizat</a:t>
            </a:r>
            <a:endParaRPr lang="en-US" sz="1550" dirty="0"/>
          </a:p>
        </p:txBody>
      </p:sp>
      <p:sp>
        <p:nvSpPr>
          <p:cNvPr id="15" name="Shape 13"/>
          <p:cNvSpPr/>
          <p:nvPr/>
        </p:nvSpPr>
        <p:spPr>
          <a:xfrm>
            <a:off x="8138160" y="3931920"/>
            <a:ext cx="3520440" cy="1600200"/>
          </a:xfrm>
          <a:prstGeom prst="roundRect">
            <a:avLst>
              <a:gd name="adj" fmla="val 5143"/>
            </a:avLst>
          </a:prstGeom>
          <a:solidFill>
            <a:srgbClr val="E1F0EC"/>
          </a:solidFill>
          <a:ln w="12700">
            <a:solidFill>
              <a:srgbClr val="E1F0EC"/>
            </a:solidFill>
            <a:prstDash val="solid"/>
          </a:ln>
        </p:spPr>
        <p:txBody>
          <a:bodyPr/>
          <a:p/>
        </p:txBody>
      </p:sp>
      <p:sp>
        <p:nvSpPr>
          <p:cNvPr id="16" name="Text 14"/>
          <p:cNvSpPr/>
          <p:nvPr/>
        </p:nvSpPr>
        <p:spPr>
          <a:xfrm>
            <a:off x="8366760" y="4041648"/>
            <a:ext cx="3108960" cy="411480"/>
          </a:xfrm>
          <a:prstGeom prst="rect">
            <a:avLst/>
          </a:prstGeom>
          <a:noFill/>
          <a:ln/>
        </p:spPr>
        <p:txBody>
          <a:bodyPr wrap="square" lIns="0" tIns="0" rIns="0" bIns="0" rtlCol="0" anchor="t"/>
          <a:lstStyle/>
          <a:p>
            <a:pPr indent="0" marL="0">
              <a:buNone/>
            </a:pPr>
            <a:r>
              <a:rPr lang="en-US" sz="1550" b="1" dirty="0">
                <a:solidFill>
                  <a:srgbClr val="0E7C6B"/>
                </a:solidFill>
                <a:latin typeface="Palatino Linotype" pitchFamily="34" charset="0"/>
                <a:ea typeface="Palatino Linotype" pitchFamily="34" charset="-122"/>
                <a:cs typeface="Palatino Linotype" pitchFamily="34" charset="-120"/>
              </a:rPr>
              <a:t>Produsele</a:t>
            </a:r>
            <a:endParaRPr lang="en-US" sz="1550" dirty="0"/>
          </a:p>
        </p:txBody>
      </p:sp>
      <p:sp>
        <p:nvSpPr>
          <p:cNvPr id="17" name="Text 15"/>
          <p:cNvSpPr/>
          <p:nvPr/>
        </p:nvSpPr>
        <p:spPr>
          <a:xfrm>
            <a:off x="8366760" y="4480560"/>
            <a:ext cx="3108960" cy="960120"/>
          </a:xfrm>
          <a:prstGeom prst="rect">
            <a:avLst/>
          </a:prstGeom>
          <a:noFill/>
          <a:ln/>
        </p:spPr>
        <p:txBody>
          <a:bodyPr wrap="square" lIns="0" tIns="0" rIns="0" bIns="0" rtlCol="0" anchor="t"/>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mai ieftine; mai multe cu peste 70% THC</a:t>
            </a:r>
            <a:endParaRPr lang="en-US" sz="15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ONTARIO · COPIII DE 0–9 ANI · VIZITE LA URGENȚE</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Copiii mici: de la aproximativ 2 la 18</a:t>
            </a:r>
            <a:endParaRPr lang="en-US" sz="3200" dirty="0"/>
          </a:p>
        </p:txBody>
      </p:sp>
      <p:sp>
        <p:nvSpPr>
          <p:cNvPr id="4" name="Shape 2"/>
          <p:cNvSpPr/>
          <p:nvPr/>
        </p:nvSpPr>
        <p:spPr>
          <a:xfrm>
            <a:off x="822960" y="4780117"/>
            <a:ext cx="1554480" cy="340523"/>
          </a:xfrm>
          <a:prstGeom prst="rect">
            <a:avLst/>
          </a:prstGeom>
          <a:solidFill>
            <a:srgbClr val="8A8F9E"/>
          </a:solidFill>
          <a:ln w="12700">
            <a:solidFill>
              <a:srgbClr val="8A8F9E"/>
            </a:solidFill>
            <a:prstDash val="solid"/>
          </a:ln>
        </p:spPr>
        <p:txBody>
          <a:bodyPr/>
          <a:p/>
        </p:txBody>
      </p:sp>
      <p:sp>
        <p:nvSpPr>
          <p:cNvPr id="5" name="Text 3"/>
          <p:cNvSpPr/>
          <p:nvPr/>
        </p:nvSpPr>
        <p:spPr>
          <a:xfrm>
            <a:off x="640080" y="4231477"/>
            <a:ext cx="1920240" cy="502920"/>
          </a:xfrm>
          <a:prstGeom prst="rect">
            <a:avLst/>
          </a:prstGeom>
          <a:noFill/>
          <a:ln/>
        </p:spPr>
        <p:txBody>
          <a:bodyPr wrap="square" lIns="0" tIns="0" rIns="0" bIns="0" rtlCol="0" anchor="b"/>
          <a:lstStyle/>
          <a:p>
            <a:pPr algn="ctr" indent="0" marL="0">
              <a:buNone/>
            </a:pPr>
            <a:r>
              <a:rPr lang="en-US" sz="2400" b="1" dirty="0">
                <a:solidFill>
                  <a:srgbClr val="8A8F9E"/>
                </a:solidFill>
                <a:latin typeface="Palatino Linotype" pitchFamily="34" charset="0"/>
                <a:ea typeface="Palatino Linotype" pitchFamily="34" charset="-122"/>
                <a:cs typeface="Palatino Linotype" pitchFamily="34" charset="-120"/>
              </a:rPr>
              <a:t>1,96</a:t>
            </a:r>
            <a:endParaRPr lang="en-US" sz="2400" dirty="0"/>
          </a:p>
        </p:txBody>
      </p:sp>
      <p:sp>
        <p:nvSpPr>
          <p:cNvPr id="6" name="Text 4"/>
          <p:cNvSpPr/>
          <p:nvPr/>
        </p:nvSpPr>
        <p:spPr>
          <a:xfrm>
            <a:off x="594360" y="5212080"/>
            <a:ext cx="2011680" cy="502920"/>
          </a:xfrm>
          <a:prstGeom prst="rect">
            <a:avLst/>
          </a:prstGeom>
          <a:noFill/>
          <a:ln/>
        </p:spPr>
        <p:txBody>
          <a:bodyPr wrap="square" lIns="0" tIns="0" rIns="0" bIns="0" rtlCol="0" anchor="t"/>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Înainte de legalizare</a:t>
            </a:r>
            <a:endParaRPr lang="en-US" sz="1250" dirty="0"/>
          </a:p>
        </p:txBody>
      </p:sp>
      <p:sp>
        <p:nvSpPr>
          <p:cNvPr id="7" name="Text 5"/>
          <p:cNvSpPr/>
          <p:nvPr/>
        </p:nvSpPr>
        <p:spPr>
          <a:xfrm>
            <a:off x="594360" y="5687568"/>
            <a:ext cx="2011680" cy="274320"/>
          </a:xfrm>
          <a:prstGeom prst="rect">
            <a:avLst/>
          </a:prstGeom>
          <a:noFill/>
          <a:ln/>
        </p:spPr>
        <p:txBody>
          <a:bodyPr wrap="square" lIns="0" tIns="0" rIns="0" bIns="0" rtlCol="0" anchor="t"/>
          <a:lstStyle/>
          <a:p>
            <a:pPr algn="ctr" indent="0" marL="0">
              <a:buNone/>
            </a:pPr>
            <a:r>
              <a:rPr lang="en-US" sz="1050" dirty="0">
                <a:solidFill>
                  <a:srgbClr val="585A64"/>
                </a:solidFill>
                <a:latin typeface="Palatino Linotype" pitchFamily="34" charset="0"/>
                <a:ea typeface="Palatino Linotype" pitchFamily="34" charset="-122"/>
                <a:cs typeface="Palatino Linotype" pitchFamily="34" charset="-120"/>
              </a:rPr>
              <a:t>ian. 2016 – sept. 2018</a:t>
            </a:r>
            <a:endParaRPr lang="en-US" sz="1050" dirty="0"/>
          </a:p>
        </p:txBody>
      </p:sp>
      <p:sp>
        <p:nvSpPr>
          <p:cNvPr id="8" name="Shape 6"/>
          <p:cNvSpPr/>
          <p:nvPr/>
        </p:nvSpPr>
        <p:spPr>
          <a:xfrm>
            <a:off x="2971800" y="4053901"/>
            <a:ext cx="1554480" cy="1066739"/>
          </a:xfrm>
          <a:prstGeom prst="rect">
            <a:avLst/>
          </a:prstGeom>
          <a:solidFill>
            <a:srgbClr val="8A6100"/>
          </a:solidFill>
          <a:ln w="12700">
            <a:solidFill>
              <a:srgbClr val="8A6100"/>
            </a:solidFill>
            <a:prstDash val="solid"/>
          </a:ln>
        </p:spPr>
        <p:txBody>
          <a:bodyPr/>
          <a:p/>
        </p:txBody>
      </p:sp>
      <p:sp>
        <p:nvSpPr>
          <p:cNvPr id="9" name="Text 7"/>
          <p:cNvSpPr/>
          <p:nvPr/>
        </p:nvSpPr>
        <p:spPr>
          <a:xfrm>
            <a:off x="2788920" y="3505261"/>
            <a:ext cx="1920240" cy="502920"/>
          </a:xfrm>
          <a:prstGeom prst="rect">
            <a:avLst/>
          </a:prstGeom>
          <a:noFill/>
          <a:ln/>
        </p:spPr>
        <p:txBody>
          <a:bodyPr wrap="square" lIns="0" tIns="0" rIns="0" bIns="0" rtlCol="0" anchor="b"/>
          <a:lstStyle/>
          <a:p>
            <a:pPr algn="ctr" indent="0" marL="0">
              <a:buNone/>
            </a:pPr>
            <a:r>
              <a:rPr lang="en-US" sz="2400" b="1" dirty="0">
                <a:solidFill>
                  <a:srgbClr val="8A6100"/>
                </a:solidFill>
                <a:latin typeface="Palatino Linotype" pitchFamily="34" charset="0"/>
                <a:ea typeface="Palatino Linotype" pitchFamily="34" charset="-122"/>
                <a:cs typeface="Palatino Linotype" pitchFamily="34" charset="-120"/>
              </a:rPr>
              <a:t>6,14</a:t>
            </a:r>
            <a:endParaRPr lang="en-US" sz="2400" dirty="0"/>
          </a:p>
        </p:txBody>
      </p:sp>
      <p:sp>
        <p:nvSpPr>
          <p:cNvPr id="10" name="Text 8"/>
          <p:cNvSpPr/>
          <p:nvPr/>
        </p:nvSpPr>
        <p:spPr>
          <a:xfrm>
            <a:off x="2743200" y="5212080"/>
            <a:ext cx="2011680" cy="502920"/>
          </a:xfrm>
          <a:prstGeom prst="rect">
            <a:avLst/>
          </a:prstGeom>
          <a:noFill/>
          <a:ln/>
        </p:spPr>
        <p:txBody>
          <a:bodyPr wrap="square" lIns="0" tIns="0" rIns="0" bIns="0" rtlCol="0" anchor="t"/>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După legalizarea florilor</a:t>
            </a:r>
            <a:endParaRPr lang="en-US" sz="1250" dirty="0"/>
          </a:p>
        </p:txBody>
      </p:sp>
      <p:sp>
        <p:nvSpPr>
          <p:cNvPr id="11" name="Text 9"/>
          <p:cNvSpPr/>
          <p:nvPr/>
        </p:nvSpPr>
        <p:spPr>
          <a:xfrm>
            <a:off x="2743200" y="5687568"/>
            <a:ext cx="2011680" cy="274320"/>
          </a:xfrm>
          <a:prstGeom prst="rect">
            <a:avLst/>
          </a:prstGeom>
          <a:noFill/>
          <a:ln/>
        </p:spPr>
        <p:txBody>
          <a:bodyPr wrap="square" lIns="0" tIns="0" rIns="0" bIns="0" rtlCol="0" anchor="t"/>
          <a:lstStyle/>
          <a:p>
            <a:pPr algn="ctr" indent="0" marL="0">
              <a:buNone/>
            </a:pPr>
            <a:r>
              <a:rPr lang="en-US" sz="1050" dirty="0">
                <a:solidFill>
                  <a:srgbClr val="585A64"/>
                </a:solidFill>
                <a:latin typeface="Palatino Linotype" pitchFamily="34" charset="0"/>
                <a:ea typeface="Palatino Linotype" pitchFamily="34" charset="-122"/>
                <a:cs typeface="Palatino Linotype" pitchFamily="34" charset="-120"/>
              </a:rPr>
              <a:t>oct. 2018 – ian. 2020</a:t>
            </a:r>
            <a:endParaRPr lang="en-US" sz="1050" dirty="0"/>
          </a:p>
        </p:txBody>
      </p:sp>
      <p:sp>
        <p:nvSpPr>
          <p:cNvPr id="12" name="Shape 10"/>
          <p:cNvSpPr/>
          <p:nvPr/>
        </p:nvSpPr>
        <p:spPr>
          <a:xfrm>
            <a:off x="5120640" y="2036826"/>
            <a:ext cx="1554480" cy="3083814"/>
          </a:xfrm>
          <a:prstGeom prst="rect">
            <a:avLst/>
          </a:prstGeom>
          <a:solidFill>
            <a:srgbClr val="B02532"/>
          </a:solidFill>
          <a:ln w="12700">
            <a:solidFill>
              <a:srgbClr val="B02532"/>
            </a:solidFill>
            <a:prstDash val="solid"/>
          </a:ln>
        </p:spPr>
        <p:txBody>
          <a:bodyPr/>
          <a:p/>
        </p:txBody>
      </p:sp>
      <p:sp>
        <p:nvSpPr>
          <p:cNvPr id="13" name="Text 11"/>
          <p:cNvSpPr/>
          <p:nvPr/>
        </p:nvSpPr>
        <p:spPr>
          <a:xfrm>
            <a:off x="4937760" y="1488186"/>
            <a:ext cx="1920240" cy="502920"/>
          </a:xfrm>
          <a:prstGeom prst="rect">
            <a:avLst/>
          </a:prstGeom>
          <a:noFill/>
          <a:ln/>
        </p:spPr>
        <p:txBody>
          <a:bodyPr wrap="square" lIns="0" tIns="0" rIns="0" bIns="0" rtlCol="0" anchor="b"/>
          <a:lstStyle/>
          <a:p>
            <a:pPr algn="ctr" indent="0" marL="0">
              <a:buNone/>
            </a:pPr>
            <a:r>
              <a:rPr lang="en-US" sz="2400" b="1" dirty="0">
                <a:solidFill>
                  <a:srgbClr val="B02532"/>
                </a:solidFill>
                <a:latin typeface="Palatino Linotype" pitchFamily="34" charset="0"/>
                <a:ea typeface="Palatino Linotype" pitchFamily="34" charset="-122"/>
                <a:cs typeface="Palatino Linotype" pitchFamily="34" charset="-120"/>
              </a:rPr>
              <a:t>17,75</a:t>
            </a:r>
            <a:endParaRPr lang="en-US" sz="2400" dirty="0"/>
          </a:p>
        </p:txBody>
      </p:sp>
      <p:sp>
        <p:nvSpPr>
          <p:cNvPr id="14" name="Text 12"/>
          <p:cNvSpPr/>
          <p:nvPr/>
        </p:nvSpPr>
        <p:spPr>
          <a:xfrm>
            <a:off x="4892040" y="5212080"/>
            <a:ext cx="2011680" cy="502920"/>
          </a:xfrm>
          <a:prstGeom prst="rect">
            <a:avLst/>
          </a:prstGeom>
          <a:noFill/>
          <a:ln/>
        </p:spPr>
        <p:txBody>
          <a:bodyPr wrap="square" lIns="0" tIns="0" rIns="0" bIns="0" rtlCol="0" anchor="t"/>
          <a:lstStyle/>
          <a:p>
            <a:pPr algn="ctr" indent="0" marL="0">
              <a:buNone/>
            </a:pPr>
            <a:r>
              <a:rPr lang="en-US" sz="1250" b="1" dirty="0">
                <a:solidFill>
                  <a:srgbClr val="11121A"/>
                </a:solidFill>
                <a:latin typeface="Palatino Linotype" pitchFamily="34" charset="0"/>
                <a:ea typeface="Palatino Linotype" pitchFamily="34" charset="-122"/>
                <a:cs typeface="Palatino Linotype" pitchFamily="34" charset="-120"/>
              </a:rPr>
              <a:t>După apariția comestibilelor</a:t>
            </a:r>
            <a:endParaRPr lang="en-US" sz="1250" dirty="0"/>
          </a:p>
        </p:txBody>
      </p:sp>
      <p:sp>
        <p:nvSpPr>
          <p:cNvPr id="15" name="Text 13"/>
          <p:cNvSpPr/>
          <p:nvPr/>
        </p:nvSpPr>
        <p:spPr>
          <a:xfrm>
            <a:off x="4892040" y="5687568"/>
            <a:ext cx="2011680" cy="274320"/>
          </a:xfrm>
          <a:prstGeom prst="rect">
            <a:avLst/>
          </a:prstGeom>
          <a:noFill/>
          <a:ln/>
        </p:spPr>
        <p:txBody>
          <a:bodyPr wrap="square" lIns="0" tIns="0" rIns="0" bIns="0" rtlCol="0" anchor="t"/>
          <a:lstStyle/>
          <a:p>
            <a:pPr algn="ctr" indent="0" marL="0">
              <a:buNone/>
            </a:pPr>
            <a:r>
              <a:rPr lang="en-US" sz="1050" dirty="0">
                <a:solidFill>
                  <a:srgbClr val="585A64"/>
                </a:solidFill>
                <a:latin typeface="Palatino Linotype" pitchFamily="34" charset="0"/>
                <a:ea typeface="Palatino Linotype" pitchFamily="34" charset="-122"/>
                <a:cs typeface="Palatino Linotype" pitchFamily="34" charset="-120"/>
              </a:rPr>
              <a:t>feb. 2020 – mart. 2021</a:t>
            </a:r>
            <a:endParaRPr lang="en-US" sz="1050" dirty="0"/>
          </a:p>
        </p:txBody>
      </p:sp>
      <p:sp>
        <p:nvSpPr>
          <p:cNvPr id="16" name="Shape 14"/>
          <p:cNvSpPr/>
          <p:nvPr/>
        </p:nvSpPr>
        <p:spPr>
          <a:xfrm>
            <a:off x="640080" y="5120640"/>
            <a:ext cx="6492240" cy="27432"/>
          </a:xfrm>
          <a:prstGeom prst="rect">
            <a:avLst/>
          </a:prstGeom>
          <a:solidFill>
            <a:srgbClr val="11121A"/>
          </a:solidFill>
          <a:ln w="12700">
            <a:solidFill>
              <a:srgbClr val="11121A"/>
            </a:solidFill>
            <a:prstDash val="solid"/>
          </a:ln>
        </p:spPr>
        <p:txBody>
          <a:bodyPr/>
          <a:p/>
        </p:txBody>
      </p:sp>
      <p:sp>
        <p:nvSpPr>
          <p:cNvPr id="17" name="Text 15"/>
          <p:cNvSpPr/>
          <p:nvPr/>
        </p:nvSpPr>
        <p:spPr>
          <a:xfrm>
            <a:off x="594360" y="1463040"/>
            <a:ext cx="6400800" cy="365760"/>
          </a:xfrm>
          <a:prstGeom prst="rect">
            <a:avLst/>
          </a:prstGeom>
          <a:noFill/>
          <a:ln/>
        </p:spPr>
        <p:txBody>
          <a:bodyPr wrap="square" lIns="0" tIns="0" rIns="0" bIns="0" rtlCol="0" anchor="t"/>
          <a:lstStyle/>
          <a:p>
            <a:pPr indent="0" marL="0">
              <a:buNone/>
            </a:pPr>
            <a:r>
              <a:rPr lang="en-US" sz="1400" i="1" dirty="0">
                <a:solidFill>
                  <a:srgbClr val="3A3C44"/>
                </a:solidFill>
                <a:latin typeface="Palatino Linotype" pitchFamily="34" charset="0"/>
                <a:ea typeface="Palatino Linotype" pitchFamily="34" charset="-122"/>
                <a:cs typeface="Palatino Linotype" pitchFamily="34" charset="-120"/>
              </a:rPr>
              <a:t>vizite pe an, la 100 000 de copii</a:t>
            </a:r>
            <a:endParaRPr lang="en-US" sz="1400" dirty="0"/>
          </a:p>
        </p:txBody>
      </p:sp>
      <p:sp>
        <p:nvSpPr>
          <p:cNvPr id="18" name="Text 16"/>
          <p:cNvSpPr/>
          <p:nvPr/>
        </p:nvSpPr>
        <p:spPr>
          <a:xfrm>
            <a:off x="7589520" y="1737360"/>
            <a:ext cx="3977640" cy="1463040"/>
          </a:xfrm>
          <a:prstGeom prst="rect">
            <a:avLst/>
          </a:prstGeom>
          <a:noFill/>
          <a:ln/>
        </p:spPr>
        <p:txBody>
          <a:bodyPr wrap="square" lIns="0" tIns="0" rIns="0" bIns="0" rtlCol="0" anchor="t"/>
          <a:lstStyle/>
          <a:p>
            <a:pPr indent="0" marL="0">
              <a:buNone/>
            </a:pPr>
            <a:r>
              <a:rPr lang="en-US" sz="1700" b="1" dirty="0">
                <a:solidFill>
                  <a:srgbClr val="11121A"/>
                </a:solidFill>
                <a:latin typeface="Palatino Linotype" pitchFamily="34" charset="0"/>
                <a:ea typeface="Palatino Linotype" pitchFamily="34" charset="-122"/>
                <a:cs typeface="Palatino Linotype" pitchFamily="34" charset="-120"/>
              </a:rPr>
              <a:t>Mai grave: internările au urcat de la aproximativ un sfert la aproape 4 din 10 vizite.</a:t>
            </a:r>
            <a:endParaRPr lang="en-US" sz="1700" dirty="0"/>
          </a:p>
        </p:txBody>
      </p:sp>
      <p:sp>
        <p:nvSpPr>
          <p:cNvPr id="19" name="Text 17"/>
          <p:cNvSpPr/>
          <p:nvPr/>
        </p:nvSpPr>
        <p:spPr>
          <a:xfrm>
            <a:off x="7589520" y="3291840"/>
            <a:ext cx="3977640" cy="822960"/>
          </a:xfrm>
          <a:prstGeom prst="rect">
            <a:avLst/>
          </a:prstGeom>
          <a:noFill/>
          <a:ln/>
        </p:spPr>
        <p:txBody>
          <a:bodyPr wrap="square" lIns="0" tIns="0" rIns="0" bIns="0" rtlCol="0" anchor="t"/>
          <a:lstStyle/>
          <a:p>
            <a:pPr indent="0" marL="0">
              <a:buNone/>
            </a:pPr>
            <a:r>
              <a:rPr lang="en-US" sz="1600" dirty="0">
                <a:solidFill>
                  <a:srgbClr val="3A3C44"/>
                </a:solidFill>
                <a:latin typeface="Palatino Linotype" pitchFamily="34" charset="0"/>
                <a:ea typeface="Palatino Linotype" pitchFamily="34" charset="-122"/>
                <a:cs typeface="Palatino Linotype" pitchFamily="34" charset="-120"/>
              </a:rPr>
              <a:t>Autorii: comestibilele comerciale par un factor-cheie.</a:t>
            </a:r>
            <a:endParaRPr lang="en-US" sz="1600" dirty="0"/>
          </a:p>
        </p:txBody>
      </p:sp>
      <p:sp>
        <p:nvSpPr>
          <p:cNvPr id="20" name="Text 18"/>
          <p:cNvSpPr/>
          <p:nvPr/>
        </p:nvSpPr>
        <p:spPr>
          <a:xfrm>
            <a:off x="7589520" y="4251960"/>
            <a:ext cx="3977640" cy="822960"/>
          </a:xfrm>
          <a:prstGeom prst="rect">
            <a:avLst/>
          </a:prstGeom>
          <a:noFill/>
          <a:ln/>
        </p:spPr>
        <p:txBody>
          <a:bodyPr wrap="square" lIns="0" tIns="0" rIns="0" bIns="0" rtlCol="0" anchor="t"/>
          <a:lstStyle/>
          <a:p>
            <a:pPr indent="0" marL="0">
              <a:buNone/>
            </a:pPr>
            <a:r>
              <a:rPr lang="en-US" sz="2000" b="1" i="1" dirty="0">
                <a:solidFill>
                  <a:srgbClr val="B02532"/>
                </a:solidFill>
                <a:latin typeface="Palatino Linotype" pitchFamily="34" charset="0"/>
                <a:ea typeface="Palatino Linotype" pitchFamily="34" charset="-122"/>
                <a:cs typeface="Palatino Linotype" pitchFamily="34" charset="-120"/>
              </a:rPr>
              <a:t>O bomboană arată ca o bomboană.</a:t>
            </a:r>
            <a:endParaRPr lang="en-US" sz="2000" dirty="0"/>
          </a:p>
        </p:txBody>
      </p:sp>
      <p:sp>
        <p:nvSpPr>
          <p:cNvPr id="21" name="Text 19"/>
          <p:cNvSpPr/>
          <p:nvPr/>
        </p:nvSpPr>
        <p:spPr>
          <a:xfrm>
            <a:off x="594360" y="6382512"/>
            <a:ext cx="10972800" cy="274320"/>
          </a:xfrm>
          <a:prstGeom prst="rect">
            <a:avLst/>
          </a:prstGeom>
          <a:noFill/>
          <a:ln/>
        </p:spPr>
        <p:txBody>
          <a:bodyPr wrap="square" lIns="0" tIns="0" rIns="0" bIns="0" rtlCol="0" anchor="ctr"/>
          <a:lstStyle/>
          <a:p>
            <a:pPr indent="0" marL="0">
              <a:buNone/>
            </a:pPr>
            <a:r>
              <a:rPr lang="en-US" sz="1000" i="1" dirty="0">
                <a:solidFill>
                  <a:srgbClr val="585A64"/>
                </a:solidFill>
                <a:latin typeface="Palatino Linotype" pitchFamily="34" charset="0"/>
                <a:ea typeface="Palatino Linotype" pitchFamily="34" charset="-122"/>
                <a:cs typeface="Palatino Linotype" pitchFamily="34" charset="-120"/>
              </a:rPr>
              <a:t>Sursa: Myran și colab., JAMA Network Open, 2022; Ontario, Canada.</a:t>
            </a:r>
            <a:endParaRPr lang="en-US" sz="10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MENTIMETER · OPINIE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4757"/>
                </a:solidFill>
                <a:latin typeface="Palatino Linotype" pitchFamily="34" charset="0"/>
                <a:ea typeface="Palatino Linotype" pitchFamily="34" charset="-122"/>
                <a:cs typeface="Palatino Linotype" pitchFamily="34" charset="-120"/>
              </a:rPr>
              <a:t>O SINGURĂ REGULĂ</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000" b="1" dirty="0">
                <a:solidFill>
                  <a:srgbClr val="FFFFFF"/>
                </a:solidFill>
                <a:latin typeface="Palatino Linotype" pitchFamily="34" charset="0"/>
                <a:ea typeface="Palatino Linotype" pitchFamily="34" charset="-122"/>
                <a:cs typeface="Palatino Linotype" pitchFamily="34" charset="-120"/>
              </a:rPr>
              <a:t>Ce regulă ar proteja cei mai mulți copii mici?</a:t>
            </a:r>
            <a:endParaRPr lang="en-US" sz="3000" dirty="0"/>
          </a:p>
        </p:txBody>
      </p:sp>
      <p:sp>
        <p:nvSpPr>
          <p:cNvPr id="6" name="Shape 4"/>
          <p:cNvSpPr/>
          <p:nvPr/>
        </p:nvSpPr>
        <p:spPr>
          <a:xfrm>
            <a:off x="594360" y="160020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7" name="Shape 5"/>
          <p:cNvSpPr/>
          <p:nvPr/>
        </p:nvSpPr>
        <p:spPr>
          <a:xfrm>
            <a:off x="914400" y="1755648"/>
            <a:ext cx="420624" cy="420624"/>
          </a:xfrm>
          <a:prstGeom prst="ellipse">
            <a:avLst/>
          </a:prstGeom>
          <a:solidFill>
            <a:srgbClr val="FFC24B"/>
          </a:solidFill>
          <a:ln/>
        </p:spPr>
        <p:txBody>
          <a:bodyPr/>
          <a:p/>
        </p:txBody>
      </p:sp>
      <p:sp>
        <p:nvSpPr>
          <p:cNvPr id="8" name="Text 6"/>
          <p:cNvSpPr/>
          <p:nvPr/>
        </p:nvSpPr>
        <p:spPr>
          <a:xfrm>
            <a:off x="914400" y="17556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A</a:t>
            </a:r>
            <a:endParaRPr lang="en-US" sz="1400" dirty="0"/>
          </a:p>
        </p:txBody>
      </p:sp>
      <p:sp>
        <p:nvSpPr>
          <p:cNvPr id="9" name="Text 7"/>
          <p:cNvSpPr/>
          <p:nvPr/>
        </p:nvSpPr>
        <p:spPr>
          <a:xfrm>
            <a:off x="1600200" y="1600200"/>
            <a:ext cx="9692640" cy="73152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Vârsta minimă de cumpărare</a:t>
            </a:r>
            <a:endParaRPr lang="en-US" sz="1800" dirty="0"/>
          </a:p>
        </p:txBody>
      </p:sp>
      <p:sp>
        <p:nvSpPr>
          <p:cNvPr id="10" name="Shape 8"/>
          <p:cNvSpPr/>
          <p:nvPr/>
        </p:nvSpPr>
        <p:spPr>
          <a:xfrm>
            <a:off x="594360" y="246888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1" name="Shape 9"/>
          <p:cNvSpPr/>
          <p:nvPr/>
        </p:nvSpPr>
        <p:spPr>
          <a:xfrm>
            <a:off x="914400" y="2624328"/>
            <a:ext cx="420624" cy="420624"/>
          </a:xfrm>
          <a:prstGeom prst="ellipse">
            <a:avLst/>
          </a:prstGeom>
          <a:solidFill>
            <a:srgbClr val="FFC24B"/>
          </a:solidFill>
          <a:ln/>
        </p:spPr>
        <p:txBody>
          <a:bodyPr/>
          <a:p/>
        </p:txBody>
      </p:sp>
      <p:sp>
        <p:nvSpPr>
          <p:cNvPr id="12" name="Text 10"/>
          <p:cNvSpPr/>
          <p:nvPr/>
        </p:nvSpPr>
        <p:spPr>
          <a:xfrm>
            <a:off x="914400" y="26243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B</a:t>
            </a:r>
            <a:endParaRPr lang="en-US" sz="1400" dirty="0"/>
          </a:p>
        </p:txBody>
      </p:sp>
      <p:sp>
        <p:nvSpPr>
          <p:cNvPr id="13" name="Text 11"/>
          <p:cNvSpPr/>
          <p:nvPr/>
        </p:nvSpPr>
        <p:spPr>
          <a:xfrm>
            <a:off x="1600200" y="2468880"/>
            <a:ext cx="9692640" cy="73152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Ambalaj opac și fără produse în formă de dulciuri</a:t>
            </a:r>
            <a:endParaRPr lang="en-US" sz="1800" dirty="0"/>
          </a:p>
        </p:txBody>
      </p:sp>
      <p:sp>
        <p:nvSpPr>
          <p:cNvPr id="14" name="Shape 12"/>
          <p:cNvSpPr/>
          <p:nvPr/>
        </p:nvSpPr>
        <p:spPr>
          <a:xfrm>
            <a:off x="594360" y="333756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5" name="Shape 13"/>
          <p:cNvSpPr/>
          <p:nvPr/>
        </p:nvSpPr>
        <p:spPr>
          <a:xfrm>
            <a:off x="914400" y="3493008"/>
            <a:ext cx="420624" cy="420624"/>
          </a:xfrm>
          <a:prstGeom prst="ellipse">
            <a:avLst/>
          </a:prstGeom>
          <a:solidFill>
            <a:srgbClr val="FFC24B"/>
          </a:solidFill>
          <a:ln/>
        </p:spPr>
        <p:txBody>
          <a:bodyPr/>
          <a:p/>
        </p:txBody>
      </p:sp>
      <p:sp>
        <p:nvSpPr>
          <p:cNvPr id="16" name="Text 14"/>
          <p:cNvSpPr/>
          <p:nvPr/>
        </p:nvSpPr>
        <p:spPr>
          <a:xfrm>
            <a:off x="914400" y="34930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C</a:t>
            </a:r>
            <a:endParaRPr lang="en-US" sz="1400" dirty="0"/>
          </a:p>
        </p:txBody>
      </p:sp>
      <p:sp>
        <p:nvSpPr>
          <p:cNvPr id="17" name="Text 15"/>
          <p:cNvSpPr/>
          <p:nvPr/>
        </p:nvSpPr>
        <p:spPr>
          <a:xfrm>
            <a:off x="1600200" y="3337560"/>
            <a:ext cx="9692640" cy="73152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Taxe mari</a:t>
            </a:r>
            <a:endParaRPr lang="en-US" sz="1800" dirty="0"/>
          </a:p>
        </p:txBody>
      </p:sp>
      <p:sp>
        <p:nvSpPr>
          <p:cNvPr id="18" name="Shape 16"/>
          <p:cNvSpPr/>
          <p:nvPr/>
        </p:nvSpPr>
        <p:spPr>
          <a:xfrm>
            <a:off x="594360" y="4206240"/>
            <a:ext cx="10972800" cy="731520"/>
          </a:xfrm>
          <a:prstGeom prst="roundRect">
            <a:avLst>
              <a:gd name="adj" fmla="val 11250"/>
            </a:avLst>
          </a:prstGeom>
          <a:solidFill>
            <a:srgbClr val="1D1F2B"/>
          </a:solidFill>
          <a:ln w="12700">
            <a:solidFill>
              <a:srgbClr val="1D1F2B"/>
            </a:solidFill>
            <a:prstDash val="solid"/>
          </a:ln>
        </p:spPr>
        <p:txBody>
          <a:bodyPr/>
          <a:p/>
        </p:txBody>
      </p:sp>
      <p:sp>
        <p:nvSpPr>
          <p:cNvPr id="19" name="Shape 17"/>
          <p:cNvSpPr/>
          <p:nvPr/>
        </p:nvSpPr>
        <p:spPr>
          <a:xfrm>
            <a:off x="914400" y="4361688"/>
            <a:ext cx="420624" cy="420624"/>
          </a:xfrm>
          <a:prstGeom prst="ellipse">
            <a:avLst/>
          </a:prstGeom>
          <a:solidFill>
            <a:srgbClr val="FFC24B"/>
          </a:solidFill>
          <a:ln/>
        </p:spPr>
        <p:txBody>
          <a:bodyPr/>
          <a:p/>
        </p:txBody>
      </p:sp>
      <p:sp>
        <p:nvSpPr>
          <p:cNvPr id="20" name="Text 18"/>
          <p:cNvSpPr/>
          <p:nvPr/>
        </p:nvSpPr>
        <p:spPr>
          <a:xfrm>
            <a:off x="914400" y="436168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D</a:t>
            </a:r>
            <a:endParaRPr lang="en-US" sz="1400" dirty="0"/>
          </a:p>
        </p:txBody>
      </p:sp>
      <p:sp>
        <p:nvSpPr>
          <p:cNvPr id="21" name="Text 19"/>
          <p:cNvSpPr/>
          <p:nvPr/>
        </p:nvSpPr>
        <p:spPr>
          <a:xfrm>
            <a:off x="1600200" y="4206240"/>
            <a:ext cx="9692640" cy="731520"/>
          </a:xfrm>
          <a:prstGeom prst="rect">
            <a:avLst/>
          </a:prstGeom>
          <a:noFill/>
          <a:ln/>
        </p:spPr>
        <p:txBody>
          <a:bodyPr wrap="square" lIns="0" tIns="0" rIns="0" bIns="0" rtlCol="0" anchor="ctr"/>
          <a:lstStyle/>
          <a:p>
            <a:pPr indent="0" marL="0">
              <a:buNone/>
            </a:pPr>
            <a:r>
              <a:rPr lang="en-US" sz="1800" dirty="0">
                <a:solidFill>
                  <a:srgbClr val="FFFFFF"/>
                </a:solidFill>
                <a:latin typeface="Palatino Linotype" pitchFamily="34" charset="0"/>
                <a:ea typeface="Palatino Linotype" pitchFamily="34" charset="-122"/>
                <a:cs typeface="Palatino Linotype" pitchFamily="34" charset="-120"/>
              </a:rPr>
              <a:t>Interdicția publicității</a:t>
            </a:r>
            <a:endParaRPr lang="en-US" sz="1800" dirty="0"/>
          </a:p>
        </p:txBody>
      </p:sp>
      <p:sp>
        <p:nvSpPr>
          <p:cNvPr id="22" name="Text 20"/>
          <p:cNvSpPr/>
          <p:nvPr/>
        </p:nvSpPr>
        <p:spPr>
          <a:xfrm>
            <a:off x="594360" y="5212080"/>
            <a:ext cx="10972800" cy="731520"/>
          </a:xfrm>
          <a:prstGeom prst="rect">
            <a:avLst/>
          </a:prstGeom>
          <a:noFill/>
          <a:ln/>
        </p:spPr>
        <p:txBody>
          <a:bodyPr wrap="square" lIns="0" tIns="0" rIns="0" bIns="0" rtlCol="0" anchor="t"/>
          <a:lstStyle/>
          <a:p>
            <a:pPr indent="0" marL="0">
              <a:buNone/>
            </a:pPr>
            <a:r>
              <a:rPr lang="en-US" sz="1600" i="1" dirty="0">
                <a:solidFill>
                  <a:srgbClr val="959BB0"/>
                </a:solidFill>
                <a:latin typeface="Palatino Linotype" pitchFamily="34" charset="0"/>
                <a:ea typeface="Palatino Linotype" pitchFamily="34" charset="-122"/>
                <a:cs typeface="Palatino Linotype" pitchFamily="34" charset="-120"/>
              </a:rPr>
              <a:t>Vot de opinie, fără răspuns corect unic. Datele spun ce s-a întâmplat; regula aleasă e o decizie de politică.</a:t>
            </a:r>
            <a:endParaRPr lang="en-US" sz="1600" dirty="0"/>
          </a:p>
        </p:txBody>
      </p:sp>
      <p:sp>
        <p:nvSpPr>
          <p:cNvPr id="23" name="Shape 21"/>
          <p:cNvSpPr/>
          <p:nvPr/>
        </p:nvSpPr>
        <p:spPr>
          <a:xfrm>
            <a:off x="9738360" y="5166360"/>
            <a:ext cx="1828800" cy="1508760"/>
          </a:xfrm>
          <a:prstGeom prst="roundRect">
            <a:avLst>
              <a:gd name="adj" fmla="val 5455"/>
            </a:avLst>
          </a:prstGeom>
          <a:solidFill>
            <a:srgbClr val="FFFFFF"/>
          </a:solidFill>
          <a:ln w="12700">
            <a:solidFill>
              <a:srgbClr val="FFFFFF"/>
            </a:solidFill>
            <a:prstDash val="solid"/>
          </a:ln>
        </p:spPr>
        <p:txBody>
          <a:bodyPr/>
          <a:p/>
        </p:txBody>
      </p:sp>
      <p:pic>
        <p:nvPicPr>
          <p:cNvPr id="24" name="Picture 23" descr="Mentimeter_OPT_DROGURI_C03.png"/>
          <p:cNvPicPr>
            <a:picLocks noChangeAspect="1"/>
          </p:cNvPicPr>
          <p:nvPr/>
        </p:nvPicPr>
        <p:blipFill>
          <a:blip r:embed="rId3"/>
          <a:stretch>
            <a:fillRect/>
          </a:stretch>
        </p:blipFill>
        <p:spPr>
          <a:xfrm>
            <a:off x="10115549" y="5166360"/>
            <a:ext cx="1074421" cy="1074421"/>
          </a:xfrm>
          <a:prstGeom prst="rect">
            <a:avLst/>
          </a:prstGeom>
        </p:spPr>
      </p:pic>
      <p:sp>
        <p:nvSpPr>
          <p:cNvPr id="25" name="TextBox 24"/>
          <p:cNvSpPr txBox="1"/>
          <p:nvPr/>
        </p:nvSpPr>
        <p:spPr>
          <a:xfrm>
            <a:off x="9738360" y="6278881"/>
            <a:ext cx="1828800" cy="434339"/>
          </a:xfrm>
          <a:prstGeom prst="rect">
            <a:avLst/>
          </a:prstGeom>
          <a:noFill/>
        </p:spPr>
        <p:txBody>
          <a:bodyPr wrap="square" lIns="0" rIns="0" tIns="0" bIns="0" anchor="t">
            <a:spAutoFit/>
          </a:bodyPr>
          <a:lstStyle/>
          <a:p>
            <a:pPr algn="ctr"/>
            <a:r>
              <a:rPr sz="900" b="1">
                <a:solidFill>
                  <a:srgbClr val="B02532"/>
                </a:solidFill>
                <a:latin typeface="Palatino Linotype"/>
              </a:rPr>
              <a:t>menti.com</a:t>
            </a:r>
          </a:p>
          <a:p>
            <a:pPr algn="ctr"/>
            <a:r>
              <a:rPr sz="900" b="1">
                <a:solidFill>
                  <a:srgbClr val="B02532"/>
                </a:solidFill>
                <a:latin typeface="Palatino Linotype"/>
              </a:rPr>
              <a:t>anonim, fără cont</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27D3BE"/>
          </a:solidFill>
          <a:ln w="12700">
            <a:solidFill>
              <a:srgbClr val="27D3BE"/>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PERECHI · 30 DE SECUNDE</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27D3BE"/>
                </a:solidFill>
                <a:latin typeface="Palatino Linotype" pitchFamily="34" charset="0"/>
                <a:ea typeface="Palatino Linotype" pitchFamily="34" charset="-122"/>
                <a:cs typeface="Palatino Linotype" pitchFamily="34" charset="-120"/>
              </a:rPr>
              <a:t>PARTEA A PATRA · ÎNCHEIERE</a:t>
            </a:r>
            <a:endParaRPr lang="en-US" sz="1300" dirty="0"/>
          </a:p>
        </p:txBody>
      </p:sp>
      <p:sp>
        <p:nvSpPr>
          <p:cNvPr id="5" name="Text 3"/>
          <p:cNvSpPr/>
          <p:nvPr/>
        </p:nvSpPr>
        <p:spPr>
          <a:xfrm>
            <a:off x="594360" y="694944"/>
            <a:ext cx="10972800" cy="960120"/>
          </a:xfrm>
          <a:prstGeom prst="rect">
            <a:avLst/>
          </a:prstGeom>
          <a:noFill/>
          <a:ln/>
        </p:spPr>
        <p:txBody>
          <a:bodyPr wrap="square" lIns="0" tIns="0" rIns="0" bIns="0" rtlCol="0" anchor="t"/>
          <a:lstStyle/>
          <a:p>
            <a:pPr indent="0" marL="0">
              <a:buNone/>
            </a:pPr>
            <a:r>
              <a:rPr lang="en-US" sz="3400" b="1" dirty="0">
                <a:solidFill>
                  <a:srgbClr val="FFFFFF"/>
                </a:solidFill>
                <a:latin typeface="Palatino Linotype" pitchFamily="34" charset="0"/>
                <a:ea typeface="Palatino Linotype" pitchFamily="34" charset="-122"/>
                <a:cs typeface="Palatino Linotype" pitchFamily="34" charset="-120"/>
              </a:rPr>
              <a:t>Ce îi spuneți mâine unui coleg</a:t>
            </a:r>
            <a:endParaRPr lang="en-US" sz="3400" dirty="0"/>
          </a:p>
        </p:txBody>
      </p:sp>
      <p:sp>
        <p:nvSpPr>
          <p:cNvPr id="6" name="Shape 4"/>
          <p:cNvSpPr/>
          <p:nvPr/>
        </p:nvSpPr>
        <p:spPr>
          <a:xfrm>
            <a:off x="594360" y="1828800"/>
            <a:ext cx="73152" cy="3291840"/>
          </a:xfrm>
          <a:prstGeom prst="rect">
            <a:avLst/>
          </a:prstGeom>
          <a:solidFill>
            <a:srgbClr val="27D3BE"/>
          </a:solidFill>
          <a:ln w="12700">
            <a:solidFill>
              <a:srgbClr val="27D3BE"/>
            </a:solidFill>
            <a:prstDash val="solid"/>
          </a:ln>
        </p:spPr>
        <p:txBody>
          <a:bodyPr/>
          <a:p/>
        </p:txBody>
      </p:sp>
      <p:sp>
        <p:nvSpPr>
          <p:cNvPr id="7" name="Text 5"/>
          <p:cNvSpPr/>
          <p:nvPr/>
        </p:nvSpPr>
        <p:spPr>
          <a:xfrm>
            <a:off x="960120" y="1828800"/>
            <a:ext cx="10515600" cy="3291840"/>
          </a:xfrm>
          <a:prstGeom prst="rect">
            <a:avLst/>
          </a:prstGeom>
          <a:noFill/>
          <a:ln/>
        </p:spPr>
        <p:txBody>
          <a:bodyPr wrap="square" lIns="0" tIns="0" rIns="0" bIns="0" rtlCol="0" anchor="ctr"/>
          <a:lstStyle/>
          <a:p>
            <a:pPr indent="0" marL="0">
              <a:buNone/>
            </a:pPr>
            <a:r>
              <a:rPr lang="en-US" sz="2300" i="1" dirty="0">
                <a:solidFill>
                  <a:srgbClr val="FFFFFF"/>
                </a:solidFill>
                <a:latin typeface="Palatino Linotype" pitchFamily="34" charset="0"/>
                <a:ea typeface="Palatino Linotype" pitchFamily="34" charset="-122"/>
                <a:cs typeface="Palatino Linotype" pitchFamily="34" charset="-120"/>
              </a:rPr>
              <a:t>„Acolo unde cannabisul s-a legalizat, consumul adolescenților nu a explodat, dar s-a schimbat felul în care se consumă. Iar cei care au plătit cel mai clar au fost copiii mici, din cauza produselor care arată ca dulciurile.”</a:t>
            </a:r>
            <a:endParaRPr lang="en-US" sz="2300" dirty="0"/>
          </a:p>
        </p:txBody>
      </p:sp>
      <p:sp>
        <p:nvSpPr>
          <p:cNvPr id="8" name="Text 6"/>
          <p:cNvSpPr/>
          <p:nvPr/>
        </p:nvSpPr>
        <p:spPr>
          <a:xfrm>
            <a:off x="594360" y="5486400"/>
            <a:ext cx="10972800" cy="411480"/>
          </a:xfrm>
          <a:prstGeom prst="rect">
            <a:avLst/>
          </a:prstGeom>
          <a:noFill/>
          <a:ln/>
        </p:spPr>
        <p:txBody>
          <a:bodyPr wrap="square" lIns="0" tIns="0" rIns="0" bIns="0" rtlCol="0" anchor="t"/>
          <a:lstStyle/>
          <a:p>
            <a:pPr indent="0" marL="0">
              <a:buNone/>
            </a:pPr>
            <a:r>
              <a:rPr lang="en-US" sz="1600" dirty="0">
                <a:solidFill>
                  <a:srgbClr val="959BB0"/>
                </a:solidFill>
                <a:latin typeface="Palatino Linotype" pitchFamily="34" charset="0"/>
                <a:ea typeface="Palatino Linotype" pitchFamily="34" charset="-122"/>
                <a:cs typeface="Palatino Linotype" pitchFamily="34" charset="-120"/>
              </a:rPr>
              <a:t>Spuneți-o, cu cuvintele voastre, colegului de bancă.</a:t>
            </a:r>
            <a:endParaRPr lang="en-US" sz="16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ÎN PRACTICĂ</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faceți diferit de mâine</a:t>
            </a:r>
            <a:endParaRPr lang="en-US" sz="3200" dirty="0"/>
          </a:p>
        </p:txBody>
      </p:sp>
      <p:sp>
        <p:nvSpPr>
          <p:cNvPr id="4" name="Shape 2"/>
          <p:cNvSpPr/>
          <p:nvPr/>
        </p:nvSpPr>
        <p:spPr>
          <a:xfrm>
            <a:off x="685800" y="1517904"/>
            <a:ext cx="420624" cy="420624"/>
          </a:xfrm>
          <a:prstGeom prst="ellipse">
            <a:avLst/>
          </a:prstGeom>
          <a:solidFill>
            <a:srgbClr val="FF4757"/>
          </a:solidFill>
          <a:ln/>
        </p:spPr>
        <p:txBody>
          <a:bodyPr/>
          <a:p/>
        </p:txBody>
      </p:sp>
      <p:sp>
        <p:nvSpPr>
          <p:cNvPr id="5" name="Text 3"/>
          <p:cNvSpPr/>
          <p:nvPr/>
        </p:nvSpPr>
        <p:spPr>
          <a:xfrm>
            <a:off x="685800" y="151790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1</a:t>
            </a:r>
            <a:endParaRPr lang="en-US" sz="1400" dirty="0"/>
          </a:p>
        </p:txBody>
      </p:sp>
      <p:sp>
        <p:nvSpPr>
          <p:cNvPr id="6" name="Text 4"/>
          <p:cNvSpPr/>
          <p:nvPr/>
        </p:nvSpPr>
        <p:spPr>
          <a:xfrm>
            <a:off x="1325880" y="141732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Un titlu despre droguri: ce s-a întâmplat (sursa, anul) și ce ar trebui să facem (valorile).</a:t>
            </a:r>
            <a:endParaRPr lang="en-US" sz="1550" dirty="0"/>
          </a:p>
        </p:txBody>
      </p:sp>
      <p:sp>
        <p:nvSpPr>
          <p:cNvPr id="7" name="Shape 5"/>
          <p:cNvSpPr/>
          <p:nvPr/>
        </p:nvSpPr>
        <p:spPr>
          <a:xfrm>
            <a:off x="685800" y="2249424"/>
            <a:ext cx="420624" cy="420624"/>
          </a:xfrm>
          <a:prstGeom prst="ellipse">
            <a:avLst/>
          </a:prstGeom>
          <a:solidFill>
            <a:srgbClr val="FF4757"/>
          </a:solidFill>
          <a:ln/>
        </p:spPr>
        <p:txBody>
          <a:bodyPr/>
          <a:p/>
        </p:txBody>
      </p:sp>
      <p:sp>
        <p:nvSpPr>
          <p:cNvPr id="8" name="Text 6"/>
          <p:cNvSpPr/>
          <p:nvPr/>
        </p:nvSpPr>
        <p:spPr>
          <a:xfrm>
            <a:off x="685800" y="224942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2</a:t>
            </a:r>
            <a:endParaRPr lang="en-US" sz="1400" dirty="0"/>
          </a:p>
        </p:txBody>
      </p:sp>
      <p:sp>
        <p:nvSpPr>
          <p:cNvPr id="9" name="Text 7"/>
          <p:cNvSpPr/>
          <p:nvPr/>
        </p:nvSpPr>
        <p:spPr>
          <a:xfrm>
            <a:off x="1325880" y="214884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„Portugalia a legalizat drogurile”? Le-a dezincriminat; vânzarea a rămas ilegală.</a:t>
            </a:r>
            <a:endParaRPr lang="en-US" sz="1550" dirty="0"/>
          </a:p>
        </p:txBody>
      </p:sp>
      <p:sp>
        <p:nvSpPr>
          <p:cNvPr id="10" name="Shape 8"/>
          <p:cNvSpPr/>
          <p:nvPr/>
        </p:nvSpPr>
        <p:spPr>
          <a:xfrm>
            <a:off x="685800" y="2980944"/>
            <a:ext cx="420624" cy="420624"/>
          </a:xfrm>
          <a:prstGeom prst="ellipse">
            <a:avLst/>
          </a:prstGeom>
          <a:solidFill>
            <a:srgbClr val="FF4757"/>
          </a:solidFill>
          <a:ln/>
        </p:spPr>
        <p:txBody>
          <a:bodyPr/>
          <a:p/>
        </p:txBody>
      </p:sp>
      <p:sp>
        <p:nvSpPr>
          <p:cNvPr id="11" name="Text 9"/>
          <p:cNvSpPr/>
          <p:nvPr/>
        </p:nvSpPr>
        <p:spPr>
          <a:xfrm>
            <a:off x="685800" y="298094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3</a:t>
            </a:r>
            <a:endParaRPr lang="en-US" sz="1400" dirty="0"/>
          </a:p>
        </p:txBody>
      </p:sp>
      <p:sp>
        <p:nvSpPr>
          <p:cNvPr id="12" name="Text 10"/>
          <p:cNvSpPr/>
          <p:nvPr/>
        </p:nvSpPr>
        <p:spPr>
          <a:xfrm>
            <a:off x="1325880" y="288036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Cannabis pentru greața de la chimioterapie: un adaos, cu oncologul; pentru cancer, numai în studii clinice.</a:t>
            </a:r>
            <a:endParaRPr lang="en-US" sz="1550" dirty="0"/>
          </a:p>
        </p:txBody>
      </p:sp>
      <p:sp>
        <p:nvSpPr>
          <p:cNvPr id="13" name="Shape 11"/>
          <p:cNvSpPr/>
          <p:nvPr/>
        </p:nvSpPr>
        <p:spPr>
          <a:xfrm>
            <a:off x="685800" y="3712464"/>
            <a:ext cx="420624" cy="420624"/>
          </a:xfrm>
          <a:prstGeom prst="ellipse">
            <a:avLst/>
          </a:prstGeom>
          <a:solidFill>
            <a:srgbClr val="FF4757"/>
          </a:solidFill>
          <a:ln/>
        </p:spPr>
        <p:txBody>
          <a:bodyPr/>
          <a:p/>
        </p:txBody>
      </p:sp>
      <p:sp>
        <p:nvSpPr>
          <p:cNvPr id="14" name="Text 12"/>
          <p:cNvSpPr/>
          <p:nvPr/>
        </p:nvSpPr>
        <p:spPr>
          <a:xfrm>
            <a:off x="685800" y="371246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4</a:t>
            </a:r>
            <a:endParaRPr lang="en-US" sz="1400" dirty="0"/>
          </a:p>
        </p:txBody>
      </p:sp>
      <p:sp>
        <p:nvSpPr>
          <p:cNvPr id="15" name="Text 13"/>
          <p:cNvSpPr/>
          <p:nvPr/>
        </p:nvSpPr>
        <p:spPr>
          <a:xfrm>
            <a:off x="1325880" y="361188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„Cannabisul ameliorează spasticitatea”: căutați „raportat de pacient”.</a:t>
            </a:r>
            <a:endParaRPr lang="en-US" sz="1550" dirty="0"/>
          </a:p>
        </p:txBody>
      </p:sp>
      <p:sp>
        <p:nvSpPr>
          <p:cNvPr id="16" name="Shape 14"/>
          <p:cNvSpPr/>
          <p:nvPr/>
        </p:nvSpPr>
        <p:spPr>
          <a:xfrm>
            <a:off x="685800" y="4443984"/>
            <a:ext cx="420624" cy="420624"/>
          </a:xfrm>
          <a:prstGeom prst="ellipse">
            <a:avLst/>
          </a:prstGeom>
          <a:solidFill>
            <a:srgbClr val="FF4757"/>
          </a:solidFill>
          <a:ln/>
        </p:spPr>
        <p:txBody>
          <a:bodyPr/>
          <a:p/>
        </p:txBody>
      </p:sp>
      <p:sp>
        <p:nvSpPr>
          <p:cNvPr id="17" name="Text 15"/>
          <p:cNvSpPr/>
          <p:nvPr/>
        </p:nvSpPr>
        <p:spPr>
          <a:xfrm>
            <a:off x="685800" y="444398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5</a:t>
            </a:r>
            <a:endParaRPr lang="en-US" sz="1400" dirty="0"/>
          </a:p>
        </p:txBody>
      </p:sp>
      <p:sp>
        <p:nvSpPr>
          <p:cNvPr id="18" name="Text 16"/>
          <p:cNvSpPr/>
          <p:nvPr/>
        </p:nvSpPr>
        <p:spPr>
          <a:xfrm>
            <a:off x="1325880" y="434340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„Jumătate din cazuri s-ar evita”: ce a presupus calculul?</a:t>
            </a:r>
            <a:endParaRPr lang="en-US" sz="1550" dirty="0"/>
          </a:p>
        </p:txBody>
      </p:sp>
      <p:sp>
        <p:nvSpPr>
          <p:cNvPr id="19" name="Shape 17"/>
          <p:cNvSpPr/>
          <p:nvPr/>
        </p:nvSpPr>
        <p:spPr>
          <a:xfrm>
            <a:off x="685800" y="5175504"/>
            <a:ext cx="420624" cy="420624"/>
          </a:xfrm>
          <a:prstGeom prst="ellipse">
            <a:avLst/>
          </a:prstGeom>
          <a:solidFill>
            <a:srgbClr val="FF4757"/>
          </a:solidFill>
          <a:ln/>
        </p:spPr>
        <p:txBody>
          <a:bodyPr/>
          <a:p/>
        </p:txBody>
      </p:sp>
      <p:sp>
        <p:nvSpPr>
          <p:cNvPr id="20" name="Text 18"/>
          <p:cNvSpPr/>
          <p:nvPr/>
        </p:nvSpPr>
        <p:spPr>
          <a:xfrm>
            <a:off x="685800" y="5175504"/>
            <a:ext cx="420624" cy="420624"/>
          </a:xfrm>
          <a:prstGeom prst="rect">
            <a:avLst/>
          </a:prstGeom>
          <a:noFill/>
          <a:ln/>
        </p:spPr>
        <p:txBody>
          <a:bodyPr wrap="square" lIns="0" tIns="0" rIns="0" bIns="0" rtlCol="0" anchor="ctr"/>
          <a:lstStyle/>
          <a:p>
            <a:pPr algn="ctr" indent="0" marL="0">
              <a:buNone/>
            </a:pPr>
            <a:r>
              <a:rPr lang="en-US" sz="1400" b="1" dirty="0">
                <a:solidFill>
                  <a:srgbClr val="2E060B"/>
                </a:solidFill>
                <a:latin typeface="Palatino Linotype" pitchFamily="34" charset="0"/>
                <a:ea typeface="Palatino Linotype" pitchFamily="34" charset="-122"/>
                <a:cs typeface="Palatino Linotype" pitchFamily="34" charset="-120"/>
              </a:rPr>
              <a:t>6</a:t>
            </a:r>
            <a:endParaRPr lang="en-US" sz="1400" dirty="0"/>
          </a:p>
        </p:txBody>
      </p:sp>
      <p:sp>
        <p:nvSpPr>
          <p:cNvPr id="21" name="Text 19"/>
          <p:cNvSpPr/>
          <p:nvPr/>
        </p:nvSpPr>
        <p:spPr>
          <a:xfrm>
            <a:off x="1325880" y="5074920"/>
            <a:ext cx="10241280" cy="640080"/>
          </a:xfrm>
          <a:prstGeom prst="rect">
            <a:avLst/>
          </a:prstGeom>
          <a:noFill/>
          <a:ln/>
        </p:spPr>
        <p:txBody>
          <a:bodyPr wrap="square" lIns="0" tIns="0" rIns="0" bIns="0" rtlCol="0" anchor="ctr"/>
          <a:lstStyle/>
          <a:p>
            <a:pPr indent="0" marL="0">
              <a:buNone/>
            </a:pPr>
            <a:r>
              <a:rPr lang="en-US" sz="1550" dirty="0">
                <a:solidFill>
                  <a:srgbClr val="11121A"/>
                </a:solidFill>
                <a:latin typeface="Palatino Linotype" pitchFamily="34" charset="0"/>
                <a:ea typeface="Palatino Linotype" pitchFamily="34" charset="-122"/>
                <a:cs typeface="Palatino Linotype" pitchFamily="34" charset="-120"/>
              </a:rPr>
              <a:t>Un coleg consumă zilnic și are episoade ciudate: nu glumiți; îl îndemnați să vorbească cu un medic.</a:t>
            </a:r>
            <a:endParaRPr lang="en-US" sz="15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8549640" y="292608"/>
            <a:ext cx="3017520" cy="420624"/>
          </a:xfrm>
          <a:prstGeom prst="roundRect">
            <a:avLst>
              <a:gd name="adj" fmla="val 50000"/>
            </a:avLst>
          </a:prstGeom>
          <a:solidFill>
            <a:srgbClr val="FFC24B"/>
          </a:solidFill>
          <a:ln w="12700">
            <a:solidFill>
              <a:srgbClr val="FFC24B"/>
            </a:solidFill>
            <a:prstDash val="solid"/>
          </a:ln>
        </p:spPr>
        <p:txBody>
          <a:bodyPr/>
          <a:p/>
        </p:txBody>
      </p:sp>
      <p:sp>
        <p:nvSpPr>
          <p:cNvPr id="3" name="Text 1"/>
          <p:cNvSpPr/>
          <p:nvPr/>
        </p:nvSpPr>
        <p:spPr>
          <a:xfrm>
            <a:off x="8549640" y="292608"/>
            <a:ext cx="3017520" cy="420624"/>
          </a:xfrm>
          <a:prstGeom prst="rect">
            <a:avLst/>
          </a:prstGeom>
          <a:noFill/>
          <a:ln/>
        </p:spPr>
        <p:txBody>
          <a:bodyPr wrap="square" lIns="0" tIns="0" rIns="0" bIns="0" rtlCol="0" anchor="ctr"/>
          <a:lstStyle/>
          <a:p>
            <a:pPr algn="ctr" indent="0" marL="0">
              <a:buNone/>
            </a:pPr>
            <a:r>
              <a:rPr lang="en-US" sz="1300" b="1" dirty="0">
                <a:solidFill>
                  <a:srgbClr val="11121A"/>
                </a:solidFill>
                <a:latin typeface="Palatino Linotype" pitchFamily="34" charset="0"/>
                <a:ea typeface="Palatino Linotype" pitchFamily="34" charset="-122"/>
                <a:cs typeface="Palatino Linotype" pitchFamily="34" charset="-120"/>
              </a:rPr>
              <a:t>KAHOOT</a:t>
            </a:r>
            <a:endParaRPr lang="en-US" sz="1300" dirty="0"/>
          </a:p>
        </p:txBody>
      </p:sp>
      <p:sp>
        <p:nvSpPr>
          <p:cNvPr id="4" name="Text 2"/>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FFC24B"/>
                </a:solidFill>
                <a:latin typeface="Palatino Linotype" pitchFamily="34" charset="0"/>
                <a:ea typeface="Palatino Linotype" pitchFamily="34" charset="-122"/>
                <a:cs typeface="Palatino Linotype" pitchFamily="34" charset="-120"/>
              </a:rPr>
              <a:t>RECAPITULARE</a:t>
            </a:r>
            <a:endParaRPr lang="en-US" sz="1300" dirty="0"/>
          </a:p>
        </p:txBody>
      </p:sp>
      <p:sp>
        <p:nvSpPr>
          <p:cNvPr id="5" name="Text 3"/>
          <p:cNvSpPr/>
          <p:nvPr/>
        </p:nvSpPr>
        <p:spPr>
          <a:xfrm>
            <a:off x="594360" y="1280160"/>
            <a:ext cx="10972800" cy="914400"/>
          </a:xfrm>
          <a:prstGeom prst="rect">
            <a:avLst/>
          </a:prstGeom>
          <a:noFill/>
          <a:ln/>
        </p:spPr>
        <p:txBody>
          <a:bodyPr wrap="square" lIns="0" tIns="0" rIns="0" bIns="0" rtlCol="0" anchor="t"/>
          <a:lstStyle/>
          <a:p>
            <a:pPr indent="0" marL="0">
              <a:buNone/>
            </a:pPr>
            <a:r>
              <a:rPr lang="en-US" sz="3800" b="1" dirty="0">
                <a:solidFill>
                  <a:srgbClr val="FFFFFF"/>
                </a:solidFill>
                <a:latin typeface="Palatino Linotype" pitchFamily="34" charset="0"/>
                <a:ea typeface="Palatino Linotype" pitchFamily="34" charset="-122"/>
                <a:cs typeface="Palatino Linotype" pitchFamily="34" charset="-120"/>
              </a:rPr>
              <a:t>Lisabona, taberele, farmacia, Ontario</a:t>
            </a:r>
            <a:endParaRPr lang="en-US" sz="3800" dirty="0"/>
          </a:p>
        </p:txBody>
      </p:sp>
      <p:sp>
        <p:nvSpPr>
          <p:cNvPr id="6" name="Text 4"/>
          <p:cNvSpPr/>
          <p:nvPr/>
        </p:nvSpPr>
        <p:spPr>
          <a:xfrm>
            <a:off x="594360" y="2331720"/>
            <a:ext cx="10972800" cy="548640"/>
          </a:xfrm>
          <a:prstGeom prst="rect">
            <a:avLst/>
          </a:prstGeom>
          <a:noFill/>
          <a:ln/>
        </p:spPr>
        <p:txBody>
          <a:bodyPr wrap="square" lIns="0" tIns="0" rIns="0" bIns="0" rtlCol="0" anchor="t"/>
          <a:lstStyle/>
          <a:p>
            <a:pPr indent="0" marL="0">
              <a:buNone/>
            </a:pPr>
            <a:r>
              <a:rPr lang="en-US" sz="2200" dirty="0">
                <a:solidFill>
                  <a:srgbClr val="959BB0"/>
                </a:solidFill>
                <a:latin typeface="Palatino Linotype" pitchFamily="34" charset="0"/>
                <a:ea typeface="Palatino Linotype" pitchFamily="34" charset="-122"/>
                <a:cs typeface="Palatino Linotype" pitchFamily="34" charset="-120"/>
              </a:rPr>
              <a:t>Accesați kahoot.it și introduceți codul jocului.</a:t>
            </a:r>
            <a:endParaRPr lang="en-US" sz="2200" dirty="0"/>
          </a:p>
        </p:txBody>
      </p:sp>
      <p:sp>
        <p:nvSpPr>
          <p:cNvPr id="7" name="Text 5"/>
          <p:cNvSpPr/>
          <p:nvPr/>
        </p:nvSpPr>
        <p:spPr>
          <a:xfrm>
            <a:off x="594360" y="3200400"/>
            <a:ext cx="10972800" cy="1097280"/>
          </a:xfrm>
          <a:prstGeom prst="rect">
            <a:avLst/>
          </a:prstGeom>
          <a:noFill/>
          <a:ln/>
        </p:spPr>
        <p:txBody>
          <a:bodyPr wrap="square" lIns="0" tIns="0" rIns="0" bIns="0" rtlCol="0" anchor="ctr"/>
          <a:lstStyle/>
          <a:p>
            <a:pPr indent="0" marL="0">
              <a:buNone/>
            </a:pPr>
            <a:r>
              <a:rPr lang="en-US" sz="2200" i="1" dirty="0">
                <a:solidFill>
                  <a:srgbClr val="FFFFFF"/>
                </a:solidFill>
                <a:latin typeface="Palatino Linotype" pitchFamily="34" charset="0"/>
                <a:ea typeface="Palatino Linotype" pitchFamily="34" charset="-122"/>
                <a:cs typeface="Palatino Linotype" pitchFamily="34" charset="-120"/>
              </a:rPr>
              <a:t>Zece întrebări. Rezultatul nu se notează. După fiecare întrebare: varianta corectă și sursa ei.</a:t>
            </a:r>
            <a:endParaRPr lang="en-US" sz="22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6F5F2"/>
        </a:solidFill>
      </p:bgPr>
    </p:bg>
    <p:spTree>
      <p:nvGrpSpPr>
        <p:cNvPr id="1" name=""/>
        <p:cNvGrpSpPr/>
        <p:nvPr/>
      </p:nvGrpSpPr>
      <p:grpSpPr>
        <a:xfrm>
          <a:off x="0" y="0"/>
          <a:ext cx="0" cy="0"/>
          <a:chOff x="0" y="0"/>
          <a:chExt cx="0" cy="0"/>
        </a:xfrm>
      </p:grpSpPr>
      <p:sp>
        <p:nvSpPr>
          <p:cNvPr id="2" name="Text 0"/>
          <p:cNvSpPr/>
          <p:nvPr/>
        </p:nvSpPr>
        <p:spPr>
          <a:xfrm>
            <a:off x="594360" y="347472"/>
            <a:ext cx="7772400" cy="329184"/>
          </a:xfrm>
          <a:prstGeom prst="rect">
            <a:avLst/>
          </a:prstGeom>
          <a:noFill/>
          <a:ln/>
        </p:spPr>
        <p:txBody>
          <a:bodyPr wrap="square" lIns="0" tIns="0" rIns="0" bIns="0" rtlCol="0" anchor="t"/>
          <a:lstStyle/>
          <a:p>
            <a:pPr indent="0" marL="0">
              <a:buNone/>
            </a:pPr>
            <a:r>
              <a:rPr lang="en-US" sz="1300" b="1" spc="200" kern="0" dirty="0">
                <a:solidFill>
                  <a:srgbClr val="B02532"/>
                </a:solidFill>
                <a:latin typeface="Palatino Linotype" pitchFamily="34" charset="0"/>
                <a:ea typeface="Palatino Linotype" pitchFamily="34" charset="-122"/>
                <a:cs typeface="Palatino Linotype" pitchFamily="34" charset="-120"/>
              </a:rPr>
              <a:t>LIMITELE DE AZI</a:t>
            </a:r>
            <a:endParaRPr lang="en-US" sz="1300" dirty="0"/>
          </a:p>
        </p:txBody>
      </p:sp>
      <p:sp>
        <p:nvSpPr>
          <p:cNvPr id="3" name="Text 1"/>
          <p:cNvSpPr/>
          <p:nvPr/>
        </p:nvSpPr>
        <p:spPr>
          <a:xfrm>
            <a:off x="594360" y="694944"/>
            <a:ext cx="10972800" cy="960120"/>
          </a:xfrm>
          <a:prstGeom prst="rect">
            <a:avLst/>
          </a:prstGeom>
          <a:noFill/>
          <a:ln/>
        </p:spPr>
        <p:txBody>
          <a:bodyPr wrap="square" lIns="0" tIns="0" rIns="0" bIns="0" rtlCol="0" anchor="t"/>
          <a:lstStyle/>
          <a:p>
            <a:pPr indent="0" marL="0">
              <a:buNone/>
            </a:pPr>
            <a:r>
              <a:rPr lang="en-US" sz="3200" b="1" dirty="0">
                <a:solidFill>
                  <a:srgbClr val="11121A"/>
                </a:solidFill>
                <a:latin typeface="Palatino Linotype" pitchFamily="34" charset="0"/>
                <a:ea typeface="Palatino Linotype" pitchFamily="34" charset="-122"/>
                <a:cs typeface="Palatino Linotype" pitchFamily="34" charset="-120"/>
              </a:rPr>
              <a:t>Ce nu putem afirma</a:t>
            </a:r>
            <a:endParaRPr lang="en-US" sz="3200" dirty="0"/>
          </a:p>
        </p:txBody>
      </p:sp>
      <p:sp>
        <p:nvSpPr>
          <p:cNvPr id="4" name="Shape 2"/>
          <p:cNvSpPr/>
          <p:nvPr/>
        </p:nvSpPr>
        <p:spPr>
          <a:xfrm>
            <a:off x="594360" y="1554480"/>
            <a:ext cx="64008" cy="548640"/>
          </a:xfrm>
          <a:prstGeom prst="rect">
            <a:avLst/>
          </a:prstGeom>
          <a:solidFill>
            <a:srgbClr val="B02532"/>
          </a:solidFill>
          <a:ln w="12700">
            <a:solidFill>
              <a:srgbClr val="B02532"/>
            </a:solidFill>
            <a:prstDash val="solid"/>
          </a:ln>
        </p:spPr>
        <p:txBody>
          <a:bodyPr/>
          <a:p/>
        </p:txBody>
      </p:sp>
      <p:sp>
        <p:nvSpPr>
          <p:cNvPr id="5" name="Text 3"/>
          <p:cNvSpPr/>
          <p:nvPr/>
        </p:nvSpPr>
        <p:spPr>
          <a:xfrm>
            <a:off x="868680" y="1463040"/>
            <a:ext cx="1069848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Forma în vigoare azi a legii portugheze; am citit forma inițială.</a:t>
            </a:r>
            <a:endParaRPr lang="en-US" sz="1700" dirty="0"/>
          </a:p>
        </p:txBody>
      </p:sp>
      <p:sp>
        <p:nvSpPr>
          <p:cNvPr id="6" name="Shape 4"/>
          <p:cNvSpPr/>
          <p:nvPr/>
        </p:nvSpPr>
        <p:spPr>
          <a:xfrm>
            <a:off x="594360" y="2423160"/>
            <a:ext cx="64008" cy="548640"/>
          </a:xfrm>
          <a:prstGeom prst="rect">
            <a:avLst/>
          </a:prstGeom>
          <a:solidFill>
            <a:srgbClr val="B02532"/>
          </a:solidFill>
          <a:ln w="12700">
            <a:solidFill>
              <a:srgbClr val="B02532"/>
            </a:solidFill>
            <a:prstDash val="solid"/>
          </a:ln>
        </p:spPr>
        <p:txBody>
          <a:bodyPr/>
          <a:p/>
        </p:txBody>
      </p:sp>
      <p:sp>
        <p:nvSpPr>
          <p:cNvPr id="7" name="Text 5"/>
          <p:cNvSpPr/>
          <p:nvPr/>
        </p:nvSpPr>
        <p:spPr>
          <a:xfrm>
            <a:off x="868680" y="2331720"/>
            <a:ext cx="1069848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Cifrele exacte ale rezultatelor portugheze care circulă și decesele din ultimii ani.</a:t>
            </a:r>
            <a:endParaRPr lang="en-US" sz="1700" dirty="0"/>
          </a:p>
        </p:txBody>
      </p:sp>
      <p:sp>
        <p:nvSpPr>
          <p:cNvPr id="8" name="Shape 6"/>
          <p:cNvSpPr/>
          <p:nvPr/>
        </p:nvSpPr>
        <p:spPr>
          <a:xfrm>
            <a:off x="594360" y="3291840"/>
            <a:ext cx="64008" cy="548640"/>
          </a:xfrm>
          <a:prstGeom prst="rect">
            <a:avLst/>
          </a:prstGeom>
          <a:solidFill>
            <a:srgbClr val="B02532"/>
          </a:solidFill>
          <a:ln w="12700">
            <a:solidFill>
              <a:srgbClr val="B02532"/>
            </a:solidFill>
            <a:prstDash val="solid"/>
          </a:ln>
        </p:spPr>
        <p:txBody>
          <a:bodyPr/>
          <a:p/>
        </p:txBody>
      </p:sp>
      <p:sp>
        <p:nvSpPr>
          <p:cNvPr id="9" name="Text 7"/>
          <p:cNvSpPr/>
          <p:nvPr/>
        </p:nvSpPr>
        <p:spPr>
          <a:xfrm>
            <a:off x="868680" y="3200400"/>
            <a:ext cx="1069848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Cât din scăderea infecțiilor și a deceselor se datorează legii și cât serviciilor.</a:t>
            </a:r>
            <a:endParaRPr lang="en-US" sz="1700" dirty="0"/>
          </a:p>
        </p:txBody>
      </p:sp>
      <p:sp>
        <p:nvSpPr>
          <p:cNvPr id="10" name="Shape 8"/>
          <p:cNvSpPr/>
          <p:nvPr/>
        </p:nvSpPr>
        <p:spPr>
          <a:xfrm>
            <a:off x="594360" y="4160520"/>
            <a:ext cx="64008" cy="548640"/>
          </a:xfrm>
          <a:prstGeom prst="rect">
            <a:avLst/>
          </a:prstGeom>
          <a:solidFill>
            <a:srgbClr val="B02532"/>
          </a:solidFill>
          <a:ln w="12700">
            <a:solidFill>
              <a:srgbClr val="B02532"/>
            </a:solidFill>
            <a:prstDash val="solid"/>
          </a:ln>
        </p:spPr>
        <p:txBody>
          <a:bodyPr/>
          <a:p/>
        </p:txBody>
      </p:sp>
      <p:sp>
        <p:nvSpPr>
          <p:cNvPr id="11" name="Text 9"/>
          <p:cNvSpPr/>
          <p:nvPr/>
        </p:nvSpPr>
        <p:spPr>
          <a:xfrm>
            <a:off x="868680" y="4069080"/>
            <a:ext cx="10698480" cy="731520"/>
          </a:xfrm>
          <a:prstGeom prst="rect">
            <a:avLst/>
          </a:prstGeom>
          <a:noFill/>
          <a:ln/>
        </p:spPr>
        <p:txBody>
          <a:bodyPr wrap="square" lIns="0" tIns="0" rIns="0" bIns="0" rtlCol="0" anchor="ctr"/>
          <a:lstStyle/>
          <a:p>
            <a:pPr indent="0" marL="0">
              <a:buNone/>
            </a:pPr>
            <a:r>
              <a:rPr lang="en-US" sz="1700" dirty="0">
                <a:solidFill>
                  <a:srgbClr val="11121A"/>
                </a:solidFill>
                <a:latin typeface="Palatino Linotype" pitchFamily="34" charset="0"/>
                <a:ea typeface="Palatino Linotype" pitchFamily="34" charset="-122"/>
                <a:cs typeface="Palatino Linotype" pitchFamily="34" charset="-120"/>
              </a:rPr>
              <a:t>Cât de mare este, exact, efectul cannabisului asupra riscului de psihoză.</a:t>
            </a:r>
            <a:endParaRPr lang="en-US" sz="1700" dirty="0"/>
          </a:p>
        </p:txBody>
      </p:sp>
      <p:sp>
        <p:nvSpPr>
          <p:cNvPr id="12" name="Text 10"/>
          <p:cNvSpPr/>
          <p:nvPr/>
        </p:nvSpPr>
        <p:spPr>
          <a:xfrm>
            <a:off x="594360" y="5120640"/>
            <a:ext cx="10972800" cy="411480"/>
          </a:xfrm>
          <a:prstGeom prst="rect">
            <a:avLst/>
          </a:prstGeom>
          <a:noFill/>
          <a:ln/>
        </p:spPr>
        <p:txBody>
          <a:bodyPr wrap="square" lIns="0" tIns="0" rIns="0" bIns="0" rtlCol="0" anchor="t"/>
          <a:lstStyle/>
          <a:p>
            <a:pPr indent="0" marL="0">
              <a:buNone/>
            </a:pPr>
            <a:r>
              <a:rPr lang="en-US" sz="1500" i="1" dirty="0">
                <a:solidFill>
                  <a:srgbClr val="3A3C44"/>
                </a:solidFill>
                <a:latin typeface="Palatino Linotype" pitchFamily="34" charset="0"/>
                <a:ea typeface="Palatino Linotype" pitchFamily="34" charset="-122"/>
                <a:cs typeface="Palatino Linotype" pitchFamily="34" charset="-120"/>
              </a:rPr>
              <a:t>Lista completă, în note.</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11121A"/>
        </a:solidFill>
      </p:bgPr>
    </p:bg>
    <p:spTree>
      <p:nvGrpSpPr>
        <p:cNvPr id="1" name=""/>
        <p:cNvGrpSpPr/>
        <p:nvPr/>
      </p:nvGrpSpPr>
      <p:grpSpPr>
        <a:xfrm>
          <a:off x="0" y="0"/>
          <a:ext cx="0" cy="0"/>
          <a:chOff x="0" y="0"/>
          <a:chExt cx="0" cy="0"/>
        </a:xfrm>
      </p:grpSpPr>
      <p:sp>
        <p:nvSpPr>
          <p:cNvPr id="2" name="Shape 0"/>
          <p:cNvSpPr/>
          <p:nvPr/>
        </p:nvSpPr>
        <p:spPr>
          <a:xfrm>
            <a:off x="685800" y="822960"/>
            <a:ext cx="3840480" cy="329184"/>
          </a:xfrm>
          <a:prstGeom prst="roundRect">
            <a:avLst>
              <a:gd name="adj" fmla="val 50000"/>
            </a:avLst>
          </a:prstGeom>
          <a:solidFill>
            <a:srgbClr val="FF4757"/>
          </a:solidFill>
          <a:ln w="12700">
            <a:solidFill>
              <a:srgbClr val="FF4757"/>
            </a:solidFill>
            <a:prstDash val="solid"/>
          </a:ln>
        </p:spPr>
        <p:txBody>
          <a:bodyPr/>
          <a:p/>
        </p:txBody>
      </p:sp>
      <p:sp>
        <p:nvSpPr>
          <p:cNvPr id="3" name="Text 1"/>
          <p:cNvSpPr/>
          <p:nvPr/>
        </p:nvSpPr>
        <p:spPr>
          <a:xfrm>
            <a:off x="685800" y="822960"/>
            <a:ext cx="3840480" cy="329184"/>
          </a:xfrm>
          <a:prstGeom prst="rect">
            <a:avLst/>
          </a:prstGeom>
          <a:noFill/>
          <a:ln/>
        </p:spPr>
        <p:txBody>
          <a:bodyPr wrap="square" lIns="0" tIns="0" rIns="0" bIns="0" rtlCol="0" anchor="ctr"/>
          <a:lstStyle/>
          <a:p>
            <a:pPr algn="ctr" indent="0" marL="0">
              <a:buNone/>
            </a:pPr>
            <a:r>
              <a:rPr lang="en-US" sz="1300" b="1" dirty="0">
                <a:solidFill>
                  <a:srgbClr val="2E060B"/>
                </a:solidFill>
                <a:latin typeface="Palatino Linotype" pitchFamily="34" charset="0"/>
                <a:ea typeface="Palatino Linotype" pitchFamily="34" charset="-122"/>
                <a:cs typeface="Palatino Linotype" pitchFamily="34" charset="-120"/>
              </a:rPr>
              <a:t>ULTIMELE CINCI MINUTE · ANONIM</a:t>
            </a:r>
            <a:endParaRPr lang="en-US" sz="1300" dirty="0"/>
          </a:p>
        </p:txBody>
      </p:sp>
      <p:sp>
        <p:nvSpPr>
          <p:cNvPr id="4" name="Text 2"/>
          <p:cNvSpPr/>
          <p:nvPr/>
        </p:nvSpPr>
        <p:spPr>
          <a:xfrm>
            <a:off x="685800" y="1371600"/>
            <a:ext cx="10058400" cy="822960"/>
          </a:xfrm>
          <a:prstGeom prst="rect">
            <a:avLst/>
          </a:prstGeom>
          <a:noFill/>
          <a:ln/>
        </p:spPr>
        <p:txBody>
          <a:bodyPr wrap="square" lIns="0" tIns="0" rIns="0" bIns="0" rtlCol="0" anchor="t"/>
          <a:lstStyle/>
          <a:p>
            <a:pPr indent="0" marL="0">
              <a:buNone/>
            </a:pPr>
            <a:r>
              <a:rPr lang="en-US" sz="4000" b="1" dirty="0">
                <a:solidFill>
                  <a:srgbClr val="FFFFFF"/>
                </a:solidFill>
                <a:latin typeface="Palatino Linotype" pitchFamily="34" charset="0"/>
                <a:ea typeface="Palatino Linotype" pitchFamily="34" charset="-122"/>
                <a:cs typeface="Palatino Linotype" pitchFamily="34" charset="-120"/>
              </a:rPr>
              <a:t>Trei întrebări pentru titular</a:t>
            </a:r>
            <a:endParaRPr lang="en-US" sz="4000" dirty="0"/>
          </a:p>
        </p:txBody>
      </p:sp>
      <p:sp>
        <p:nvSpPr>
          <p:cNvPr id="5" name="Shape 3"/>
          <p:cNvSpPr/>
          <p:nvPr/>
        </p:nvSpPr>
        <p:spPr>
          <a:xfrm>
            <a:off x="914400" y="2670048"/>
            <a:ext cx="420624" cy="420624"/>
          </a:xfrm>
          <a:prstGeom prst="ellipse">
            <a:avLst/>
          </a:prstGeom>
          <a:solidFill>
            <a:srgbClr val="FFC24B"/>
          </a:solidFill>
          <a:ln/>
        </p:spPr>
        <p:txBody>
          <a:bodyPr/>
          <a:p/>
        </p:txBody>
      </p:sp>
      <p:sp>
        <p:nvSpPr>
          <p:cNvPr id="6" name="Text 4"/>
          <p:cNvSpPr/>
          <p:nvPr/>
        </p:nvSpPr>
        <p:spPr>
          <a:xfrm>
            <a:off x="914400" y="267004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1</a:t>
            </a:r>
            <a:endParaRPr lang="en-US" sz="1400" dirty="0"/>
          </a:p>
        </p:txBody>
      </p:sp>
      <p:sp>
        <p:nvSpPr>
          <p:cNvPr id="7" name="Text 5"/>
          <p:cNvSpPr/>
          <p:nvPr/>
        </p:nvSpPr>
        <p:spPr>
          <a:xfrm>
            <a:off x="1600200" y="251460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 fost util?</a:t>
            </a:r>
            <a:endParaRPr lang="en-US" sz="2000" dirty="0"/>
          </a:p>
        </p:txBody>
      </p:sp>
      <p:sp>
        <p:nvSpPr>
          <p:cNvPr id="8" name="Shape 6"/>
          <p:cNvSpPr/>
          <p:nvPr/>
        </p:nvSpPr>
        <p:spPr>
          <a:xfrm>
            <a:off x="914400" y="3538728"/>
            <a:ext cx="420624" cy="420624"/>
          </a:xfrm>
          <a:prstGeom prst="ellipse">
            <a:avLst/>
          </a:prstGeom>
          <a:solidFill>
            <a:srgbClr val="FFC24B"/>
          </a:solidFill>
          <a:ln/>
        </p:spPr>
        <p:txBody>
          <a:bodyPr/>
          <a:p/>
        </p:txBody>
      </p:sp>
      <p:sp>
        <p:nvSpPr>
          <p:cNvPr id="9" name="Text 7"/>
          <p:cNvSpPr/>
          <p:nvPr/>
        </p:nvSpPr>
        <p:spPr>
          <a:xfrm>
            <a:off x="914400" y="353872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2</a:t>
            </a:r>
            <a:endParaRPr lang="en-US" sz="1400" dirty="0"/>
          </a:p>
        </p:txBody>
      </p:sp>
      <p:sp>
        <p:nvSpPr>
          <p:cNvPr id="10" name="Text 8"/>
          <p:cNvSpPr/>
          <p:nvPr/>
        </p:nvSpPr>
        <p:spPr>
          <a:xfrm>
            <a:off x="1600200" y="338328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Unde te-am pierdut?</a:t>
            </a:r>
            <a:endParaRPr lang="en-US" sz="2000" dirty="0"/>
          </a:p>
        </p:txBody>
      </p:sp>
      <p:sp>
        <p:nvSpPr>
          <p:cNvPr id="11" name="Shape 9"/>
          <p:cNvSpPr/>
          <p:nvPr/>
        </p:nvSpPr>
        <p:spPr>
          <a:xfrm>
            <a:off x="914400" y="4407408"/>
            <a:ext cx="420624" cy="420624"/>
          </a:xfrm>
          <a:prstGeom prst="ellipse">
            <a:avLst/>
          </a:prstGeom>
          <a:solidFill>
            <a:srgbClr val="FFC24B"/>
          </a:solidFill>
          <a:ln/>
        </p:spPr>
        <p:txBody>
          <a:bodyPr/>
          <a:p/>
        </p:txBody>
      </p:sp>
      <p:sp>
        <p:nvSpPr>
          <p:cNvPr id="12" name="Text 10"/>
          <p:cNvSpPr/>
          <p:nvPr/>
        </p:nvSpPr>
        <p:spPr>
          <a:xfrm>
            <a:off x="914400" y="4407408"/>
            <a:ext cx="420624" cy="420624"/>
          </a:xfrm>
          <a:prstGeom prst="rect">
            <a:avLst/>
          </a:prstGeom>
          <a:noFill/>
          <a:ln/>
        </p:spPr>
        <p:txBody>
          <a:bodyPr wrap="square" lIns="0" tIns="0" rIns="0" bIns="0" rtlCol="0" anchor="ctr"/>
          <a:lstStyle/>
          <a:p>
            <a:pPr algn="ctr" indent="0" marL="0">
              <a:buNone/>
            </a:pPr>
            <a:r>
              <a:rPr lang="en-US" sz="1400" b="1" dirty="0">
                <a:solidFill>
                  <a:srgbClr val="11121A"/>
                </a:solidFill>
                <a:latin typeface="Palatino Linotype" pitchFamily="34" charset="0"/>
                <a:ea typeface="Palatino Linotype" pitchFamily="34" charset="-122"/>
                <a:cs typeface="Palatino Linotype" pitchFamily="34" charset="-120"/>
              </a:rPr>
              <a:t>3</a:t>
            </a:r>
            <a:endParaRPr lang="en-US" sz="1400" dirty="0"/>
          </a:p>
        </p:txBody>
      </p:sp>
      <p:sp>
        <p:nvSpPr>
          <p:cNvPr id="13" name="Text 11"/>
          <p:cNvSpPr/>
          <p:nvPr/>
        </p:nvSpPr>
        <p:spPr>
          <a:xfrm>
            <a:off x="1600200" y="4251960"/>
            <a:ext cx="6309360" cy="731520"/>
          </a:xfrm>
          <a:prstGeom prst="rect">
            <a:avLst/>
          </a:prstGeom>
          <a:noFill/>
          <a:ln/>
        </p:spPr>
        <p:txBody>
          <a:bodyPr wrap="square" lIns="0" tIns="0" rIns="0" bIns="0" rtlCol="0" anchor="ctr"/>
          <a:lstStyle/>
          <a:p>
            <a:pPr indent="0" marL="0">
              <a:buNone/>
            </a:pPr>
            <a:r>
              <a:rPr lang="en-US" sz="2000" dirty="0">
                <a:solidFill>
                  <a:srgbClr val="FFFFFF"/>
                </a:solidFill>
                <a:latin typeface="Palatino Linotype" pitchFamily="34" charset="0"/>
                <a:ea typeface="Palatino Linotype" pitchFamily="34" charset="-122"/>
                <a:cs typeface="Palatino Linotype" pitchFamily="34" charset="-120"/>
              </a:rPr>
              <a:t>Ce ai putea folosi mâine?</a:t>
            </a:r>
            <a:endParaRPr lang="en-US" sz="2000" dirty="0"/>
          </a:p>
        </p:txBody>
      </p:sp>
      <p:sp>
        <p:nvSpPr>
          <p:cNvPr id="14" name="Shape 12"/>
          <p:cNvSpPr/>
          <p:nvPr/>
        </p:nvSpPr>
        <p:spPr>
          <a:xfrm>
            <a:off x="8549640" y="2514600"/>
            <a:ext cx="3017520" cy="2468880"/>
          </a:xfrm>
          <a:prstGeom prst="roundRect">
            <a:avLst>
              <a:gd name="adj" fmla="val 3333"/>
            </a:avLst>
          </a:prstGeom>
          <a:solidFill>
            <a:srgbClr val="FFFFFF"/>
          </a:solidFill>
          <a:ln w="12700">
            <a:solidFill>
              <a:srgbClr val="FFFFFF"/>
            </a:solidFill>
            <a:prstDash val="solid"/>
          </a:ln>
        </p:spPr>
        <p:txBody>
          <a:bodyPr/>
          <a:p/>
        </p:txBody>
      </p:sp>
      <p:sp>
        <p:nvSpPr>
          <p:cNvPr id="16" name="Text 14"/>
          <p:cNvSpPr/>
          <p:nvPr/>
        </p:nvSpPr>
        <p:spPr>
          <a:xfrm>
            <a:off x="594360" y="5349240"/>
            <a:ext cx="10972800" cy="548640"/>
          </a:xfrm>
          <a:prstGeom prst="rect">
            <a:avLst/>
          </a:prstGeom>
          <a:noFill/>
          <a:ln/>
        </p:spPr>
        <p:txBody>
          <a:bodyPr wrap="square" lIns="0" tIns="0" rIns="0" bIns="0" rtlCol="0" anchor="t"/>
          <a:lstStyle/>
          <a:p>
            <a:pPr indent="0" marL="0">
              <a:buNone/>
            </a:pPr>
            <a:r>
              <a:rPr lang="en-US" sz="1700" b="1" dirty="0">
                <a:solidFill>
                  <a:srgbClr val="27D3BE"/>
                </a:solidFill>
                <a:latin typeface="Palatino Linotype" pitchFamily="34" charset="0"/>
                <a:ea typeface="Palatino Linotype" pitchFamily="34" charset="-122"/>
                <a:cs typeface="Palatino Linotype" pitchFamily="34" charset="-120"/>
              </a:rPr>
              <a:t>Luni, pe pagina disciplinei, veți găsi două lucruri schimbate după răspunsuri.</a:t>
            </a:r>
            <a:endParaRPr lang="en-US" sz="1700" dirty="0"/>
          </a:p>
        </p:txBody>
      </p:sp>
      <p:pic>
        <p:nvPicPr>
          <p:cNvPr id="17" name="Picture 16" descr="Mentimeter_OPT_DROGURI_C03.png"/>
          <p:cNvPicPr>
            <a:picLocks noChangeAspect="1"/>
          </p:cNvPicPr>
          <p:nvPr/>
        </p:nvPicPr>
        <p:blipFill>
          <a:blip r:embed="rId3"/>
          <a:stretch>
            <a:fillRect/>
          </a:stretch>
        </p:blipFill>
        <p:spPr>
          <a:xfrm>
            <a:off x="9137650" y="2514600"/>
            <a:ext cx="1841500" cy="1841500"/>
          </a:xfrm>
          <a:prstGeom prst="rect">
            <a:avLst/>
          </a:prstGeom>
        </p:spPr>
      </p:pic>
      <p:sp>
        <p:nvSpPr>
          <p:cNvPr id="18" name="TextBox 17"/>
          <p:cNvSpPr txBox="1"/>
          <p:nvPr/>
        </p:nvSpPr>
        <p:spPr>
          <a:xfrm>
            <a:off x="8549640" y="4394200"/>
            <a:ext cx="3017520" cy="627380"/>
          </a:xfrm>
          <a:prstGeom prst="rect">
            <a:avLst/>
          </a:prstGeom>
          <a:noFill/>
        </p:spPr>
        <p:txBody>
          <a:bodyPr wrap="square" lIns="0" rIns="0" tIns="0" bIns="0" anchor="t">
            <a:spAutoFit/>
          </a:bodyPr>
          <a:lstStyle/>
          <a:p>
            <a:pPr algn="ctr"/>
            <a:r>
              <a:rPr sz="1300" b="1">
                <a:solidFill>
                  <a:srgbClr val="B02532"/>
                </a:solidFill>
                <a:latin typeface="Palatino Linotype"/>
              </a:rPr>
              <a:t>menti.com</a:t>
            </a:r>
          </a:p>
          <a:p>
            <a:pPr algn="ctr"/>
            <a:r>
              <a:rPr sz="1300" b="1">
                <a:solidFill>
                  <a:srgbClr val="B02532"/>
                </a:solidFill>
                <a:latin typeface="Palatino Linotype"/>
              </a:rPr>
              <a:t>anonim, fără cont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Ședința 3 - Portugalia 2001 și cannabisul: cum separi politica de știință</dc:title>
  <dc:subject>PptxGenJS Presentation</dc:subject>
  <dc:creator>Conf. Univ. Dr. Adrian Pana</dc:creator>
  <cp:lastModifiedBy>Conf. Univ. Dr. Adrian Pana</cp:lastModifiedBy>
  <cp:revision>1</cp:revision>
  <dcterms:created xsi:type="dcterms:W3CDTF">2026-10-11T09:58:08Z</dcterms:created>
  <dcterms:modified xsi:type="dcterms:W3CDTF">2026-10-11T09:58:08Z</dcterms:modified>
  <cp:keywords>sursa_amprenta=a76d1b60eb69c751; proiectie</cp:keywords>
</cp:coreProperties>
</file>