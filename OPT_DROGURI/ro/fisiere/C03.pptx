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2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Bine ați venit la a treia ședință, de data aceasta pe Teams. Azi vorbim despre Portugalia și despre cannabis, dar întrebarea din titlu este mai largă: cum despărțim, într-o discuție despre droguri, ce s-a întâmplat de ce ar trebui să facem. Deschideți Mentimeter de acum: scanați codul de pe ecran sau folosiți linkul din chat. Votăm în primele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 citit biletele de ieșire de data trecută. Două lucruri se schimbă de azi: cifrele vin ca frecvențe, din 100 de oameni, cu un singur grafic, și ritmul este mai alert. Fiecare parte se încheie cu o frază pe care o puteți spune mâine unui coleg; azi o scrieți mai întâi în chat.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pornim de la o seară obișnuită pe grupul anului. Apar două linkuri, la zece minute distanță. Primul spune că Portugalia a dezincriminat toate drogurile și a scăpat de ele. Al doilea arată o stradă din Porto cu seringi pe trotuar și concluzionează că modelul portughez a eșuat. Cineva întreabă care e adevărat, altcineva spune că depinde de ce partid votezi. Al doilea coleg are, fără să știe, jumătate de dreptate. Titlurile se contrazic pentru că amestecă două feluri de întrebări, nu pentru că unul ar minți. Prima, ce s-a întâmplat, se verifică într-o sursă: este o întrebare de știință. A doua, ce ar trebui să facem, se discută cu valori: este o întrebare de politică. Răspunsul provizoriu la titlul ședinței: despre fiecare propoziție, întrebați „aș putea verifica asta într-o sursă?”.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Votați acum pe Mentimeter, înainte de orice cifră: codul e pe ecran, iar linkul e și în chat. Moțiunea: România ar trebui să adopte modelul portughez de dezincriminare a consumului personal de droguri. Nu există variantă greșită; contează prima impresie. La finalul părții a doua votăm din nou pe aceeași moțiune.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Multe discuții despre modelul portughez se poartă fără textul legii. Iată-l, în forma publicată în 2000. Legea portugheză nr. 30/2000 prevedea că consumul, achiziția și deținerea pentru consum propriu sunt contravenții, nu infracțiuni. Achiziția și deținerea nu puteau depăși cantitatea necesară pentru consumul mediu individual pe zece zile. Legea a intrat în vigoare la 1 iulie 2001. Din text rețineți trei prevederi. Legea privea toate drogurile, nu numai cannabisul. Vânzarea a rămas tratată ca faptă penală: consumatorul e privit ca o persoană care are nevoie de îngrijire, vânzătorul ca infractor. Iar cine cerea singur ajutor unui serviciu de sănătate nu intra sub lege, iar personalul medical care îl trata păstra secretul profesional. Este forma inițială a legii; forma în vigoare azi nu a putut fi verificată.</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Instituția pe care România nu o are: comisia pentru descurajarea toxicodependenței. În forma din 2000 a legii, ea avea trei membri: un jurist, desemnat de ministrul justiției, iar ceilalți aleși dintre medici, psihologi, sociologi, asistenți sociali sau alți specialiști în domeniu. O analiză ulterioară arată că, la data ei, comisiile funcționau în răspunderea Ministerului Sănătății. O regulă contează mult pentru viața unui tânăr. Dacă persoana nu mai avusese un dosar de acest fel și era considerată consumator fără dependență, comisia suspenda provizoriu procedura. Dacă avea o dependență, nu avea un dosar anterior și accepta tratamentul, procedura se suspenda de asemenea. În locul amenzii, comisia putea aplica o simplă admonestare.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noi, deținerea de droguri pentru consum propriu este infracțiune. Pentru drogurile de risc, legea prevede închisoare de la 3 luni la 2 ani sau amendă; pentru drogurile de mare risc, închisoare de la 6 luni la 3 ani. Legea română are și ea o cale spre sănătate: procurorul poate dispune evaluarea persoanei, în vederea includerii într-un program de asistență, iar dacă persoana respectă programul, instanța poate renunța la aplicarea pedepsei sau o poate amâna. Există, așadar, și la noi o cale spre tratament. Diferența față de Portugalia este că, la noi, această cale trece prin dosarul penal. Țineți minte diferența: o folosiți imediat, în exercițiul următor.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Același student, aceeași cantitate mică de cannabis, aceeași zi, două orașe: Lisabona și Cluj. Ce i se întâmplă în fiecare oraș în luna următoare? Scrieți în chat două rânduri: unul care începe cu „Lisabona:”, celălalt cu „Cluj:”. Folosiți ce ați văzut pe ultimele trei diapozitive. Apoi citim împreună câteva dintre răspunsurile voastre.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singur vot pe Mentimeter, înainte de date: ce credeți că s-a întâmplat cu consumul de droguri în Portugalia după 2001? A crescut mult, a rămas aproximativ la fel sau a scăzut? Votați după ce știți acum; codul e pe ecran, linkul e și în chat. Discutăm imediat după, pe baza unei surse.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Comisia internațională pentru sănătate publică și politica drogurilor, publicată în 2016 de revista The Lancet, rezumă așa: Portugalia a dezincriminat faptele minore legate de droguri, cu economii, mai puține încarcerări, beneficii pentru sănătatea publică și fără o creștere semnificativă a consumului. Comisia nu spune „a scăzut”. Spune „fără o creștere semnificativă”. Citiți apoi a doua frază încă o dată. La HIV, comisia nu scrie că dezincriminarea a oprit epidemia, ci că dezincriminarea, împreună cu extinderea serviciilor de prevenire, a permis controlul ei. Comisia are o poziție declarată: recomandă dezincriminarea, iar unul dintre autori era afiliat Ministerului Sănătății portughez. Poziția nu îi invalidează datele, dar se spune odată cu citarea.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Primul termen nou: problema atribuirii. Este situația în care două sau mai multe schimbări au avut loc în același timp, iar datele nu permit să spuneți cât din rezultat se datorează fiecăreia. Pe scurt: știm că s-a îmbunătățit, nu știm cui îi dăm meritul. În Portugalia, oamenii au încetat să primească dosar penal pentru consum și, în aceeași perioadă, au primit mai ușor acces la prevenire și tratament. Datele nu le pot separa retrospectiv. O analiză portugheză din 2021 ajunge la o concluzie apropiată: scăderea infecțiilor și a încarcerărilor nu poate fi legată liniar de lege. Exemplul spitalului are valori ipotetice: directorul și sindicatul citesc aceeași cifră. Ca să împărțiți meritul, v-ar trebui un spital care a făcut doar una dintre schimbări.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titlu construit după cele care circulă: „Portugalia a învins drogurile prin lege.” L-ați crede? Votați pe Mentimeter: da, nu sau depinde. După vot, scrieți în chat, pe scurt, ce cuvânt din titlu spune mai mult decât datele. Citim apoi trei dintre răspunsurile voastre.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Cuvântul care depășește datele este „prin lege”. Rezultatul a venit cu legea și cu serviciile, nu numai prin lege: este chiar problema atribuirii. Iar „a învins” este o judecată pe care nicio sursă citată aici nu o face, nu un rezultat. Ce putem spune solid este mai modest: după dezincriminare nu a urmat explozia de consum de care se temeau criticii. Este o afirmație despre ceva ce nu s-a întâmplat, iar ca să o răsturnați ar trebui să găsiți o creștere pe care datele nu o conțin. Afirmația „legea a scăzut decesele și infecțiile” este mai puternică și nu poate fi separată de serviciile introduse în aceeași perioadă.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Legea nu a rămas neschimbată în practică. În 2008, o hotărâre a Curții Supreme portugheze a restabilit calificarea de infracțiune pentru consum atunci când cantitatea depășește pe cea necesară pentru zece zile. O analiză din 2021 descrie un paradox: o țară care a dezincriminat consumul a devenit, în ultimul deceniu, mai severă cu consumatorii, inclusiv prin pedepse cu închisoare. Și rețineți diferența: Portugalia a dezincriminat, nu a legalizat. Consumatorul nu mai e infractor, dar cine vinde rămâne în afara legii, iar statul nu controlează ce se vinde: nici puritatea, nici concentrația. Despre cifrele recente din presă, decese, seringi, bugete, regula e aceeași în ambele direcții: care indicator, în ce an, din ce sursă.</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parte se încheie cu o frază pe care o puteți spune mâine unui coleg. Portugalia nu a legalizat drogurile: a scos consumul din codul penal și a trimis oamenii la o comisie, iar în același timp a extins tratamentul. Consumul nu a explodat. Cât din rest se datorează legii, nu știe nimeni. Scrieți-o acum în chat, cu cuvintele voastre.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Aceeași moțiune ca la început. Ne împărțim în două tabere după luna nașterii: cei născuți între ianuarie și iunie susțin moțiunea, cei născuți între iulie și decembrie i se opun, indiferent ce ați votat. Strângeți argumentele în chat, cu numele taberei în față: „PENTRU:” sau „ÎMPOTRIVĂ:”. Scopul nu este să câștige cineva: urmăriți, în propriile argumente, unde se termină faptul și unde începe valoarea. Dezbaterea nu se notează.</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rundă: doi voluntari din fiecare tabără, câte un minut. Cine vrea să vorbească folosește reacția „mână ridicată” din Teams și își pornește microfonul când este numit. Ceilalți scriu în chat afirmațiile din argument care s-ar putea verifica într-o sursă. La final vom vedea câte dintre ele sunt fapte și câte sunt alegeri de valori.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Fiecare tabără primește dovada care îi contrazice poziția. Tabăra „pentru” primește problema atribuirii: rezultatele bune au venit împreună cu extinderea serviciilor și nu pot fi atribuite numai legii. Tabăra „împotrivă” primește concluzia comisiei din 2016: fără creștere semnificativă a consumului și cu mai puține încarcerări. Regula: includeți dovada în argument, nu o ocoliți. Câte un voluntar pe tabără, un minut, tot cu reacția „mână ridicată”. Un argument care rezistă dovezii contrare este mai puternic decât unul care nu o cunoaște.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Cinci propoziții auzite în dezbaterile despre droguri, cinci voturi rapide pe Mentimeter. Pentru fiecare, decideți: este un fapt verificabil, o alegere de valori sau o predicție despre ce s-ar întâmpla? Folosiți întrebarea de la începutul ședinței: aș putea verifica asta într-o sursă?</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luăm propozițiile pe rând. Prima, despre consumul de după 2001, este un fapt, cu sursă. A doua, despre cazier, este o alegere de valori: nicio sursă nu o poate dovedi sau infirma. A treia, despre mesajul ferm, este tot o valoare, deși sună ca un fapt. A patra este o afirmație de fapt, iar datele portugheze nu o susțin; o afirmație falsă tot de fapt rămâne și se verifică. Ultima ne duce la al treilea tip: predicția despre ce s-ar întâmpla la noi. Pare științifică, dar depinde de lucruri pe care Portugalia nu le poate spune despre România: câți medici și psihologi ar avea comisiile, cât de repede s-ar înființa serviciile, cum ar aplica poliția legea.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Votați din nou pe Mentimeter, pe aceeași moțiune și cu aceleași cinci variante. Primul și al doilea vot apar unul lângă altul. Nu contează în ce direcție v-ați mișcat, ci dacă știți de ce. Dacă vreți, scrieți în chat ce argument sau ce dovadă v-a schimbat votul.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 doua se încheie, ca prima, cu o frază pentru mâine. Când auziți un argument despre droguri, întrebați-vă: pot verifica asta într-o sursă? Dacă da, căutați sursa. Dacă nu, discutați despre ce vreți, nu despre ce s-a întâmplat. Scrieți-o în chat, cu cuvintele voastre.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vedem în zece minute; puteți lăsa Teams deschis. Reluăm cu partea despre cannabis ca medicament: uleiul bunicii, colegul de apartament și copiii mici din Ontario. Când reveniți, țineți Mentimeter la îndemână: urmează un vot chiar la început.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 treia începe cu un mesaj pe care mulți dintre voi îl veți primi. Bunica unei colege face chimioterapie și îi este rău după fiecare cură, deși ia medicamentele împotriva vărsăturilor. O vecină i-a adus un ulei „de cannabis, natural, care vindecă și cancerul”. Colega vă scrie duminică seara: „Tu ești la medicină. Merge?” Mesajul amestecă două întrebări: dacă un medicament din cannabis ajută la greață și dacă un ulei tratează cancerul. Ca la Portugalia, le despărțim și căutăm, pentru fiecare, ce spun sursele. Gândiți-vă ce i-ați răspunde, înainte de vot.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Patru răspunsuri posibile la mesajul colegei. Alegeți pe Mentimeter varianta pe care ați trimite-o cu adevărat, nu pe cea care vi se pare că ar trebui aleasă. Codul e pe ecran, linkul e și în chat. Imediat după vot vedem ce spun dovezile despre fiecare variantă.</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Varianta sprijinită de dovezi e B, iar motivul arată de ce trebuie despărțite cannabisul ca medicament și cannabisul recreațional. În 2017, Academiile Naționale de Științe, Inginerie și Medicină ale Statelor Unite au clasificat dovezile despre efectele cannabisului pe niveluri. La nivelul cel mai înalt, dovezi concludente sau substanțiale, raportul găsește trei situații, nu douăzeci: durerea cronică la adulți, greața și vărsăturile produse de chimioterapie, pentru canabinoizii administrați oral, și spasticitatea din scleroza multiplă. Iar la a treia situație raportul a pus în formulare două cuvinte care contează: raportată de pacient. Ele ne duc la al doilea termen nou.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doilea termen nou: rezultatul raportat de pacient. Este un rezultat al tratamentului pe care îl spune pacientul însuși, de obicei printr-un chestionar, de exemplu „cât de rigid vă simțiți piciorul?”. Se deosebește de un rezultat măsurat de un examinator, cu o scală sau cu un instrument. În cuvinte obișnuite: ce simte pacientul, față de ce găsește medicul. Amândouă sunt rezultate reale, dar nu sunt același lucru și nu se citează la fel. Când un rezultat raportat de pacient e citat fără aceste cuvinte, el devine, pe nesimțite, o afirmație despre boală.</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Ghidul Societății Americane de Oncologie Clinică (ASCO) din 2024 precizează ce înseamnă asta pentru bunica colegei. La adulții care primesc chimioterapie cu potențial emetogen moderat sau mare, cu profilaxia recomandată, și care au în continuare greață sau vărsături, tratamentul poate fi completat cu un canabinoid. Recomandarea este slabă, iar calitatea dovezilor este moderată, scăzută pentru extractul THC:CBD. Canabinoizii pot fi deci un adaos, nu un înlocuitor, și numai când tratamentul standard nu a ajuns. Pentru tratamentul cancerului, ghidul spune să nu fie folosiți în afara studiilor clinice. La scleroza multiplă, o meta-analiză din 2018 a reunit 17 studii clinice, cu 3 161 de pacienți: pacienții au raportat ameliorare, iar scala Ashworth, aplicată de examinator, nu a arătat niciun efect.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Pacientul spune că îi este mai bine, examinatorul nu găsește nicio schimbare. Cine are dreptate? Scrieți în chat două explicații posibile, câte o frază fiecare. Nu căutați o singură variantă bună: căutați explicații care se potrivesc ambelor observații. Le citim apoi pe câteva și le comparăm cu explicațiile din surse.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Există cel puțin trei explicații, și toate sunt legitime. Prima: scala aplicată de examinator nu prinde ce contează pentru pacient, iar rigiditatea trăită și cea măsurată nu sunt același lucru. A doua: o parte din ameliorare poate fi efect placebo, iar efectele psihoactive ale cannabisului îi pot face pe pacienți să ghicească dacă au primit substanța activă. A treia: amândouă. Datele de aici nu decid între ele. Ce puteți face e să urmăriți formularea exactă: când cuvintele „raportat de pacient” dispar la citare, o afirmație despre ce simte pacientul devine una despre boală. Iar la durere, prima situație din lista raportului din 2017, două întrebări: cât de mare este efectul și la ce fel de durere.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alt mesaj, de data aceasta despre colegul de apartament. Fumează cannabis aproape în fiecare seară, ca să se relaxeze după învățat. Într-o seară vă scrie că cineva îl urmărește prin telefon; a doua zi spune că a glumit. Ce se știe sigur: consumul de cannabis are o asociere dovedită cu schizofrenia și cu alte psihoze, iar riscul cel mai mare e la cei care consumă cel mai des. O meta-analiză a găsit, la consumatorii cei mai intensivi, șanse de aproape patru ori mai mari. Un studiu din 2019 a găsit șanse de aproximativ trei ori mai mari pentru consumul zilnic și de aproape cinci ori pentru consumul zilnic de cannabis cu cel puțin 10% THC. Autorii meta-analizei precizează însă că o legătură cauzală nu poate fi stabilită fără echivoc din aceste date.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Același studiu din 2019 a calculat ce parte din cazurile noi de psihoză ar dispărea dacă ar dispărea cannabisul de mare concentrație. Cifra a circulat mult: la Amsterdam, aproximativ 50 din 100 de cazuri noi; la Londra, aproximativ 30 din 100; în toate cele 11 locuri luate împreună, aproximativ 12 din 100. Citiți însă cum își descriu autorii calculul: l-au făcut presupunând cauzalitatea. Este o cifră care se calculează după ce ați acceptat că cannabisul produce psihoza, nu una care o dovedește. Un studiu care compară bolnavi cu oameni sănătoși nu poate exclude singur că primele semne ale bolii au venit înaintea consumului. Asocierea a rămas după ajustarea pentru vârsta la primul consum, dar ajustarea nu spune ce a apărut mai întâi.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titlu real, publicat de BBC News la 20 martie 2019, despre studiul pe care tocmai l-am văzut: cannabisul puternic crește riscul de boală psihică gravă, spune un studiu. L-ați crede? Votați pe Mentimeter: da, nu sau depinde ce a măsurat studiul. Înainte de vot, recitiți verbul din titlu.</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Cuvântul de urmărit este „crește”: el spune că o cauză produce un efect, iar studiul a măsurat o asociere. Articolul însuși, citând specialiști, notează mai jos în text că studiul nu este o dovadă definitivă. Există însă o metodă care se apropie de întrebarea despre direcție fără să dea nimănui cannabis: un studiu genetic care folosește variantele genetice moștenite la întâmplare ca pe o tragere la sorți naturală. Un studiu din 2018 a estimat astfel că, la cei care consumă, șansele de schizofrenie sunt mai mari cu aproximativ o treime, iar datele obișnuite de observație au dat o estimare foarte apropiată. Ce rămâne solid: consumul frecvent se asociază cu psihoza, iar studiul genetic sprijină ideea unui efect real, fără să închidă discuția. Ce nu e solid: mărimea exactă a efectului.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 treia se încheie tot cu o frază pentru mâine. Trei situații au dovezi solide pentru un medicament din cannabis, iar la una dintre ele beneficiul îl simte pacientul, nu îl măsoară medicul. Cannabisul fumat zilnic, mai ales cel puternic, se leagă de psihoză; cât de mult, nu se știe exact. Scrieți-o în chat, cu cuvintele voastre.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treilea termen nou: legalizarea reglementată. Consumul, producția și vânzarea unui drog interzis anterior devin permise, cu reguli stabilite de stat: licențe, vârstă minimă, controlul concentrației, taxe. În cuvinte obișnuite: se vinde legal, ca alcoolul, dar cu reguli. Este altceva decât ce a făcut Portugalia, unde consumul nu mai este penal, dar vânzarea a rămas interzisă. Potrivit unei sinteze din 2021, Canada, Uruguay și 12 state americane legalizaseră consumul recreațional la adulți. La tineri, rezultatul seamănă cu cel portughez: consumul în general nu a crescut cât se temea lumea, dar s-a schimbat felul consumului, mai mult zilnic și mai mult vaporizat. Iar produsele au devenit mai ieftine, cu mai multe produse de peste 70% THC.</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Singurul grafic al ședinței. Cea mai clară schimbare nu privește adolescenții, ci copiii mici. Un studiu din provincia canadiană Ontario a urmărit vizitele copiilor între 0 și 9 ani în unitățile de primiri urgențe (UPU) pentru expunerea la cannabis, în trei perioade. La 100 000 de copii, vizitele anuale au crescut de la aproximativ 2 înainte de legalizare la aproximativ 6 după legalizarea florilor uscate și la aproximativ 18 după apariția în comerț a produselor comestibile, precum bomboanele și prăjiturile cu cannabis. Cazurile au devenit și mai grave: vizitele terminate cu internare au urcat de la aproximativ un sfert la aproape 4 din 10. Autorii interpretează creșterea ca sugerând că produsele comestibile comerciale au fost un factor-cheie. Mecanismul e banal: o bomboană arată ca o bomboană.</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Dacă ar trebui să scrieți o singură regulă, care ar proteja cei mai mulți copii mici? Votați pe Mentimeter. Este un vot de opinie, fără o variantă corectă unică. Datele din Ontario vorbesc mai direct de una dintre variante, dar nu au comparat regulile între ele. Alegerea este o decizie de politică: exact separarea despre care vorbim azi.</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 patra se încheie cu ultima frază pentru mâine. Acolo unde cannabisul s-a legalizat, consumul adolescenților nu a explodat, dar s-a schimbat felul în care se consumă. Iar cei care au plătit cel mai clar au fost copiii mici, din cauza produselor care arată ca dulciurile. Scrieți-o în chat, cu cuvintele voastre.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Șase lucruri pe care le puteți face de mâine, ca studenți și ca viitori medici. Când citiți un titlu despre droguri, despărțiți-l în două: ce s-a întâmplat, cu sursa și anul, și ce ar trebui să facem, cu valorile. Când cineva spune că Portugalia a legalizat drogurile, îl corectați: le-a dezincriminat, iar vânzarea a rămas ilegală. La cannabisul pentru greața de la chimioterapie: un adaos la tratamentul standard, când acesta nu a ajuns, cu oncologul; pentru tratamentul cancerului, numai în studii clinice. La spasticitate, căutați în sursă cuvintele „raportat de pacient”. La „jumătate din cazuri s-ar evita”, întrebați ce a presupus calculul. Iar când un coleg consumă zilnic și are episoade ciudate, nu glumiți: îl îndemnați să vorbească cu un medic.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Zece întrebări despre ce am discutat azi: Lisabona, taberele, farmacia și Ontario. Intrați pe kahoot.it cu codul de pe ecran sau folosiți linkul din chat. Rezultatul nu se notează. După fiecare întrebare apar varianta corectă și sursa ei.</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Înainte de final, ce nu poate fi afirmat pe baza surselor de azi. Nu cunoaștem forma în vigoare azi a legii portugheze: am citit forma inițială. Nu am putut verifica, într-o sursă primară, cifrele exacte ale rezultatelor portugheze care circulă și nici evoluția deceselor din ultimii ani. Nu putem spune cât din scăderea infecțiilor și a deceselor se datorează legii și cât serviciilor. Și nu știm cât de mare este, exact, efectul cannabisului asupra riscului de psihoză. Lista completă e în note.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Ultimele minute sunt pentru voi: trei întrebări anonime pe Mentimeter. Ce a fost util, unde v-am pierdut și ce ați putea folosi mâine. Scanați codul de pe ecran sau folosiți linkul din chat. Luni, pe pagina disciplinei, veți găsi două lucruri schimbate după răspunsurile voastre. Mulțumesc.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DROGURI/active/img/lisabona_tramvai_commons.jpg">    </p:cNvPr>
          <p:cNvPicPr>
            <a:picLocks noChangeAspect="1"/>
          </p:cNvPicPr>
          <p:nvPr/>
        </p:nvPicPr>
        <p:blipFill>
          <a:blip r:embed="rId1"/>
          <a:stretch>
            <a:fillRect/>
          </a:stretch>
        </p:blipFill>
        <p:spPr>
          <a:xfrm>
            <a:off x="4846320" y="0"/>
            <a:ext cx="7345375" cy="6858000"/>
          </a:xfrm>
          <a:prstGeom prst="rect">
            <a:avLst/>
          </a:prstGeom>
        </p:spPr>
      </p:pic>
      <p:sp>
        <p:nvSpPr>
          <p:cNvPr id="3" name="Shape 0"/>
          <p:cNvSpPr/>
          <p:nvPr/>
        </p:nvSpPr>
        <p:spPr>
          <a:xfrm>
            <a:off x="640080" y="777240"/>
            <a:ext cx="237744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7724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TREIA</a:t>
            </a:r>
            <a:endParaRPr lang="en-US" sz="1300" dirty="0"/>
          </a:p>
        </p:txBody>
      </p:sp>
      <p:sp>
        <p:nvSpPr>
          <p:cNvPr id="5" name="Text 2"/>
          <p:cNvSpPr/>
          <p:nvPr/>
        </p:nvSpPr>
        <p:spPr>
          <a:xfrm>
            <a:off x="640080" y="1371600"/>
            <a:ext cx="4023360" cy="12344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Portugalia 2001 și cannabisul</a:t>
            </a:r>
            <a:endParaRPr lang="en-US" sz="3200" dirty="0"/>
          </a:p>
        </p:txBody>
      </p:sp>
      <p:sp>
        <p:nvSpPr>
          <p:cNvPr id="6" name="Text 3"/>
          <p:cNvSpPr/>
          <p:nvPr/>
        </p:nvSpPr>
        <p:spPr>
          <a:xfrm>
            <a:off x="640080" y="2651760"/>
            <a:ext cx="4023360" cy="91440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cum separi politica de știință</a:t>
            </a:r>
            <a:endParaRPr lang="en-US" sz="2600" dirty="0"/>
          </a:p>
        </p:txBody>
      </p:sp>
      <p:sp>
        <p:nvSpPr>
          <p:cNvPr id="7" name="Shape 4"/>
          <p:cNvSpPr/>
          <p:nvPr/>
        </p:nvSpPr>
        <p:spPr>
          <a:xfrm>
            <a:off x="667512" y="3749040"/>
            <a:ext cx="1280160" cy="27432"/>
          </a:xfrm>
          <a:prstGeom prst="rect">
            <a:avLst/>
          </a:prstGeom>
          <a:solidFill>
            <a:srgbClr val="FF4757"/>
          </a:solidFill>
          <a:ln/>
        </p:spPr>
        <p:txBody>
          <a:bodyPr/>
          <a:p/>
        </p:txBody>
      </p:sp>
      <p:sp>
        <p:nvSpPr>
          <p:cNvPr id="8" name="Text 5"/>
          <p:cNvSpPr/>
          <p:nvPr/>
        </p:nvSpPr>
        <p:spPr>
          <a:xfrm>
            <a:off x="640080" y="3931920"/>
            <a:ext cx="4023360" cy="109728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Creierul tău pe droguri: neuroștiința adicției și politicile drogurilor</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
        <p:nvSpPr>
          <p:cNvPr id="9" name="Shape 6"/>
          <p:cNvSpPr/>
          <p:nvPr/>
        </p:nvSpPr>
        <p:spPr>
          <a:xfrm>
            <a:off x="640080" y="5166360"/>
            <a:ext cx="1417320" cy="1097280"/>
          </a:xfrm>
          <a:prstGeom prst="roundRect">
            <a:avLst>
              <a:gd name="adj" fmla="val 7500"/>
            </a:avLst>
          </a:prstGeom>
          <a:solidFill>
            <a:srgbClr val="FFFFFF"/>
          </a:solidFill>
          <a:ln w="12700">
            <a:solidFill>
              <a:srgbClr val="FFFFFF"/>
            </a:solidFill>
            <a:prstDash val="solid"/>
          </a:ln>
        </p:spPr>
        <p:txBody>
          <a:bodyPr/>
          <a:p/>
        </p:txBody>
      </p:sp>
      <p:sp>
        <p:nvSpPr>
          <p:cNvPr id="11" name="Text 8"/>
          <p:cNvSpPr/>
          <p:nvPr/>
        </p:nvSpPr>
        <p:spPr>
          <a:xfrm>
            <a:off x="2240280" y="5212080"/>
            <a:ext cx="2468880" cy="1005840"/>
          </a:xfrm>
          <a:prstGeom prst="rect">
            <a:avLst/>
          </a:prstGeom>
          <a:noFill/>
          <a:ln/>
        </p:spPr>
        <p:txBody>
          <a:bodyPr wrap="square" lIns="0" tIns="0" rIns="0" bIns="0" rtlCol="0" anchor="ctr"/>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Linkul Mentimeter e și în chat: votăm în primele minute.</a:t>
            </a:r>
            <a:endParaRPr lang="en-US" sz="1300" dirty="0"/>
          </a:p>
        </p:txBody>
      </p:sp>
      <p:sp>
        <p:nvSpPr>
          <p:cNvPr id="12" name="Shape 9"/>
          <p:cNvSpPr/>
          <p:nvPr/>
        </p:nvSpPr>
        <p:spPr>
          <a:xfrm>
            <a:off x="4846320" y="6355080"/>
            <a:ext cx="7345375" cy="502920"/>
          </a:xfrm>
          <a:prstGeom prst="rect">
            <a:avLst/>
          </a:prstGeom>
          <a:solidFill>
            <a:srgbClr val="11121A">
              <a:alpha val="70000"/>
            </a:srgbClr>
          </a:solidFill>
          <a:ln w="12700">
            <a:solidFill>
              <a:srgbClr val="11121A"/>
            </a:solidFill>
            <a:prstDash val="solid"/>
          </a:ln>
        </p:spPr>
        <p:txBody>
          <a:bodyPr/>
          <a:p/>
        </p:txBody>
      </p:sp>
      <p:sp>
        <p:nvSpPr>
          <p:cNvPr id="13" name="Text 10"/>
          <p:cNvSpPr/>
          <p:nvPr/>
        </p:nvSpPr>
        <p:spPr>
          <a:xfrm>
            <a:off x="5029200" y="6373368"/>
            <a:ext cx="6949440" cy="256032"/>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Lisabona, cartierul Alfama</a:t>
            </a:r>
            <a:endParaRPr lang="en-US" sz="1100" dirty="0"/>
          </a:p>
        </p:txBody>
      </p:sp>
      <p:sp>
        <p:nvSpPr>
          <p:cNvPr id="14" name="Text 11"/>
          <p:cNvSpPr/>
          <p:nvPr/>
        </p:nvSpPr>
        <p:spPr>
          <a:xfrm>
            <a:off x="5029200" y="6601968"/>
            <a:ext cx="694944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Sharon Hahn Darlin · CC BY 2.0 · Wikimedia Commons</a:t>
            </a:r>
            <a:endParaRPr lang="en-US" sz="850" dirty="0"/>
          </a:p>
        </p:txBody>
      </p:sp>
      <p:pic>
        <p:nvPicPr>
          <p:cNvPr id="15" name="Picture 14" descr="Mentimeter_OPT_DROGURI_C03.png"/>
          <p:cNvPicPr>
            <a:picLocks noChangeAspect="1"/>
          </p:cNvPicPr>
          <p:nvPr/>
        </p:nvPicPr>
        <p:blipFill>
          <a:blip r:embed="rId4"/>
          <a:stretch>
            <a:fillRect/>
          </a:stretch>
        </p:blipFill>
        <p:spPr>
          <a:xfrm>
            <a:off x="1017269" y="5166360"/>
            <a:ext cx="662941" cy="662941"/>
          </a:xfrm>
          <a:prstGeom prst="rect">
            <a:avLst/>
          </a:prstGeom>
        </p:spPr>
      </p:pic>
      <p:sp>
        <p:nvSpPr>
          <p:cNvPr id="16" name="TextBox 15"/>
          <p:cNvSpPr txBox="1"/>
          <p:nvPr/>
        </p:nvSpPr>
        <p:spPr>
          <a:xfrm>
            <a:off x="640080" y="5867401"/>
            <a:ext cx="141732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BILETELE DE IEȘIRE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am schimbat după răspunsurile voastre</a:t>
            </a:r>
            <a:endParaRPr lang="en-US" sz="3200" dirty="0"/>
          </a:p>
        </p:txBody>
      </p:sp>
      <p:sp>
        <p:nvSpPr>
          <p:cNvPr id="4" name="Text 2"/>
          <p:cNvSpPr/>
          <p:nvPr/>
        </p:nvSpPr>
        <p:spPr>
          <a:xfrm>
            <a:off x="594360" y="1463040"/>
            <a:ext cx="10972800" cy="457200"/>
          </a:xfrm>
          <a:prstGeom prst="rect">
            <a:avLst/>
          </a:prstGeom>
          <a:noFill/>
          <a:ln/>
        </p:spPr>
        <p:txBody>
          <a:bodyPr wrap="square" lIns="0" tIns="0" rIns="0" bIns="0" rtlCol="0" anchor="t"/>
          <a:lstStyle/>
          <a:p>
            <a:pPr indent="0" marL="0">
              <a:buNone/>
            </a:pPr>
            <a:r>
              <a:rPr lang="en-US" sz="1700" i="1" dirty="0">
                <a:solidFill>
                  <a:srgbClr val="3A3C44"/>
                </a:solidFill>
                <a:latin typeface="Palatino Linotype" pitchFamily="34" charset="0"/>
                <a:ea typeface="Palatino Linotype" pitchFamily="34" charset="-122"/>
                <a:cs typeface="Palatino Linotype" pitchFamily="34" charset="-120"/>
              </a:rPr>
              <a:t>Am citit răspunsurile de la biletul de ieșire al ședinței a doua.</a:t>
            </a:r>
            <a:endParaRPr lang="en-US" sz="1700" dirty="0"/>
          </a:p>
        </p:txBody>
      </p:sp>
      <p:sp>
        <p:nvSpPr>
          <p:cNvPr id="5" name="Shape 3"/>
          <p:cNvSpPr/>
          <p:nvPr/>
        </p:nvSpPr>
        <p:spPr>
          <a:xfrm>
            <a:off x="594360" y="219456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6" name="Shape 4"/>
          <p:cNvSpPr/>
          <p:nvPr/>
        </p:nvSpPr>
        <p:spPr>
          <a:xfrm>
            <a:off x="914400" y="2651760"/>
            <a:ext cx="420624" cy="420624"/>
          </a:xfrm>
          <a:prstGeom prst="ellipse">
            <a:avLst/>
          </a:prstGeom>
          <a:solidFill>
            <a:srgbClr val="B02532"/>
          </a:solidFill>
          <a:ln/>
        </p:spPr>
        <p:txBody>
          <a:bodyPr/>
          <a:p/>
        </p:txBody>
      </p:sp>
      <p:sp>
        <p:nvSpPr>
          <p:cNvPr id="7" name="Text 5"/>
          <p:cNvSpPr/>
          <p:nvPr/>
        </p:nvSpPr>
        <p:spPr>
          <a:xfrm>
            <a:off x="914400" y="26517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2194560"/>
            <a:ext cx="9692640" cy="137160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Procentele devin frecvențe („din 100 de tineri, cam…”), cu un singur grafic pe temă: estimările voastre au mers de la 12 la 135.</a:t>
            </a:r>
            <a:endParaRPr lang="en-US" sz="2000" dirty="0"/>
          </a:p>
        </p:txBody>
      </p:sp>
      <p:sp>
        <p:nvSpPr>
          <p:cNvPr id="9" name="Shape 7"/>
          <p:cNvSpPr/>
          <p:nvPr/>
        </p:nvSpPr>
        <p:spPr>
          <a:xfrm>
            <a:off x="594360" y="3794760"/>
            <a:ext cx="10972800" cy="1371600"/>
          </a:xfrm>
          <a:prstGeom prst="roundRect">
            <a:avLst>
              <a:gd name="adj" fmla="val 6000"/>
            </a:avLst>
          </a:prstGeom>
          <a:solidFill>
            <a:srgbClr val="F9F8F5"/>
          </a:solidFill>
          <a:ln w="12700">
            <a:solidFill>
              <a:srgbClr val="F9F8F5"/>
            </a:solidFill>
            <a:prstDash val="solid"/>
          </a:ln>
        </p:spPr>
        <p:txBody>
          <a:bodyPr/>
          <a:p/>
        </p:txBody>
      </p:sp>
      <p:sp>
        <p:nvSpPr>
          <p:cNvPr id="10" name="Shape 8"/>
          <p:cNvSpPr/>
          <p:nvPr/>
        </p:nvSpPr>
        <p:spPr>
          <a:xfrm>
            <a:off x="914400" y="4251960"/>
            <a:ext cx="420624" cy="420624"/>
          </a:xfrm>
          <a:prstGeom prst="ellipse">
            <a:avLst/>
          </a:prstGeom>
          <a:solidFill>
            <a:srgbClr val="B02532"/>
          </a:solidFill>
          <a:ln/>
        </p:spPr>
        <p:txBody>
          <a:bodyPr/>
          <a:p/>
        </p:txBody>
      </p:sp>
      <p:sp>
        <p:nvSpPr>
          <p:cNvPr id="11" name="Text 9"/>
          <p:cNvSpPr/>
          <p:nvPr/>
        </p:nvSpPr>
        <p:spPr>
          <a:xfrm>
            <a:off x="914400" y="4251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3794760"/>
            <a:ext cx="9692640" cy="137160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Ritm mai alert, cu pauze mai scurte între diapozitive; fiecare parte se încheie cu „ce îi spuneți mâine unui coleg”.</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MARȚI SEARA, PE GRUPUL ANULUI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Două titluri în aceeași seară</a:t>
            </a:r>
            <a:endParaRPr lang="en-US" sz="3200" dirty="0"/>
          </a:p>
        </p:txBody>
      </p:sp>
      <p:sp>
        <p:nvSpPr>
          <p:cNvPr id="4" name="Shape 2"/>
          <p:cNvSpPr/>
          <p:nvPr/>
        </p:nvSpPr>
        <p:spPr>
          <a:xfrm>
            <a:off x="594360" y="1554480"/>
            <a:ext cx="6035040" cy="457200"/>
          </a:xfrm>
          <a:prstGeom prst="roundRect">
            <a:avLst>
              <a:gd name="adj" fmla="val 18000"/>
            </a:avLst>
          </a:prstGeom>
          <a:solidFill>
            <a:srgbClr val="2B3048"/>
          </a:solidFill>
          <a:ln w="12700">
            <a:solidFill>
              <a:srgbClr val="2B3048"/>
            </a:solidFill>
            <a:prstDash val="solid"/>
          </a:ln>
        </p:spPr>
        <p:txBody>
          <a:bodyPr/>
          <a:p/>
        </p:txBody>
      </p:sp>
      <p:sp>
        <p:nvSpPr>
          <p:cNvPr id="5" name="Text 3"/>
          <p:cNvSpPr/>
          <p:nvPr/>
        </p:nvSpPr>
        <p:spPr>
          <a:xfrm>
            <a:off x="822960" y="1554480"/>
            <a:ext cx="5577840" cy="457200"/>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Anul II · grup</a:t>
            </a:r>
            <a:endParaRPr lang="en-US" sz="1300" dirty="0"/>
          </a:p>
        </p:txBody>
      </p:sp>
      <p:sp>
        <p:nvSpPr>
          <p:cNvPr id="6" name="Shape 4"/>
          <p:cNvSpPr/>
          <p:nvPr/>
        </p:nvSpPr>
        <p:spPr>
          <a:xfrm>
            <a:off x="594360" y="2194560"/>
            <a:ext cx="4948733" cy="868680"/>
          </a:xfrm>
          <a:prstGeom prst="roundRect">
            <a:avLst>
              <a:gd name="adj" fmla="val 9474"/>
            </a:avLst>
          </a:prstGeom>
          <a:solidFill>
            <a:srgbClr val="272A38"/>
          </a:solidFill>
          <a:ln w="12700">
            <a:solidFill>
              <a:srgbClr val="272A38"/>
            </a:solidFill>
            <a:prstDash val="solid"/>
          </a:ln>
        </p:spPr>
        <p:txBody>
          <a:bodyPr/>
          <a:p/>
        </p:txBody>
      </p:sp>
      <p:sp>
        <p:nvSpPr>
          <p:cNvPr id="7" name="Text 5"/>
          <p:cNvSpPr/>
          <p:nvPr/>
        </p:nvSpPr>
        <p:spPr>
          <a:xfrm>
            <a:off x="777240" y="2267712"/>
            <a:ext cx="4582973"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Andrei</a:t>
            </a:r>
            <a:endParaRPr lang="en-US" sz="1100" dirty="0"/>
          </a:p>
        </p:txBody>
      </p:sp>
      <p:sp>
        <p:nvSpPr>
          <p:cNvPr id="8" name="Text 6"/>
          <p:cNvSpPr/>
          <p:nvPr/>
        </p:nvSpPr>
        <p:spPr>
          <a:xfrm>
            <a:off x="777240" y="2505456"/>
            <a:ext cx="4582973" cy="5029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Portugalia a dezincriminat toate drogurile și a scăpat de ele.</a:t>
            </a:r>
            <a:endParaRPr lang="en-US" sz="1500" dirty="0"/>
          </a:p>
        </p:txBody>
      </p:sp>
      <p:sp>
        <p:nvSpPr>
          <p:cNvPr id="9" name="Shape 7"/>
          <p:cNvSpPr/>
          <p:nvPr/>
        </p:nvSpPr>
        <p:spPr>
          <a:xfrm>
            <a:off x="594360" y="3227832"/>
            <a:ext cx="4948733" cy="868680"/>
          </a:xfrm>
          <a:prstGeom prst="roundRect">
            <a:avLst>
              <a:gd name="adj" fmla="val 9474"/>
            </a:avLst>
          </a:prstGeom>
          <a:solidFill>
            <a:srgbClr val="272A38"/>
          </a:solidFill>
          <a:ln w="12700">
            <a:solidFill>
              <a:srgbClr val="272A38"/>
            </a:solidFill>
            <a:prstDash val="solid"/>
          </a:ln>
        </p:spPr>
        <p:txBody>
          <a:bodyPr/>
          <a:p/>
        </p:txBody>
      </p:sp>
      <p:sp>
        <p:nvSpPr>
          <p:cNvPr id="10" name="Text 8"/>
          <p:cNvSpPr/>
          <p:nvPr/>
        </p:nvSpPr>
        <p:spPr>
          <a:xfrm>
            <a:off x="777240" y="3300984"/>
            <a:ext cx="4582973"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Ioana</a:t>
            </a:r>
            <a:endParaRPr lang="en-US" sz="1100" dirty="0"/>
          </a:p>
        </p:txBody>
      </p:sp>
      <p:sp>
        <p:nvSpPr>
          <p:cNvPr id="11" name="Text 9"/>
          <p:cNvSpPr/>
          <p:nvPr/>
        </p:nvSpPr>
        <p:spPr>
          <a:xfrm>
            <a:off x="777240" y="3538728"/>
            <a:ext cx="4582973" cy="5029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O stradă din Porto, cu seringi pe trotuar: „modelul portughez a eșuat”.</a:t>
            </a:r>
            <a:endParaRPr lang="en-US" sz="1500" dirty="0"/>
          </a:p>
        </p:txBody>
      </p:sp>
      <p:sp>
        <p:nvSpPr>
          <p:cNvPr id="12" name="Shape 10"/>
          <p:cNvSpPr/>
          <p:nvPr/>
        </p:nvSpPr>
        <p:spPr>
          <a:xfrm>
            <a:off x="1680667" y="4261104"/>
            <a:ext cx="4948733" cy="640080"/>
          </a:xfrm>
          <a:prstGeom prst="roundRect">
            <a:avLst>
              <a:gd name="adj" fmla="val 12857"/>
            </a:avLst>
          </a:prstGeom>
          <a:solidFill>
            <a:srgbClr val="1F5C52"/>
          </a:solidFill>
          <a:ln w="12700">
            <a:solidFill>
              <a:srgbClr val="1F5C52"/>
            </a:solidFill>
            <a:prstDash val="solid"/>
          </a:ln>
        </p:spPr>
        <p:txBody>
          <a:bodyPr/>
          <a:p/>
        </p:txBody>
      </p:sp>
      <p:sp>
        <p:nvSpPr>
          <p:cNvPr id="13" name="Text 11"/>
          <p:cNvSpPr/>
          <p:nvPr/>
        </p:nvSpPr>
        <p:spPr>
          <a:xfrm>
            <a:off x="1863547" y="4334256"/>
            <a:ext cx="4582973" cy="237744"/>
          </a:xfrm>
          <a:prstGeom prst="rect">
            <a:avLst/>
          </a:prstGeom>
          <a:noFill/>
          <a:ln/>
        </p:spPr>
        <p:txBody>
          <a:bodyPr wrap="square" lIns="0" tIns="0" rIns="0" bIns="0" rtlCol="0" anchor="t"/>
          <a:lstStyle/>
          <a:p>
            <a:pPr indent="0" marL="0">
              <a:buNone/>
            </a:pPr>
            <a:r>
              <a:rPr lang="en-US" sz="1100" b="1" dirty="0">
                <a:solidFill>
                  <a:srgbClr val="9FE8DC"/>
                </a:solidFill>
                <a:latin typeface="Palatino Linotype" pitchFamily="34" charset="0"/>
                <a:ea typeface="Palatino Linotype" pitchFamily="34" charset="-122"/>
                <a:cs typeface="Palatino Linotype" pitchFamily="34" charset="-120"/>
              </a:rPr>
              <a:t>Mihai</a:t>
            </a:r>
            <a:endParaRPr lang="en-US" sz="1100" dirty="0"/>
          </a:p>
        </p:txBody>
      </p:sp>
      <p:sp>
        <p:nvSpPr>
          <p:cNvPr id="14" name="Text 12"/>
          <p:cNvSpPr/>
          <p:nvPr/>
        </p:nvSpPr>
        <p:spPr>
          <a:xfrm>
            <a:off x="1863547" y="4572000"/>
            <a:ext cx="4582973" cy="2743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Care e adevărat?</a:t>
            </a:r>
            <a:endParaRPr lang="en-US" sz="1500" dirty="0"/>
          </a:p>
        </p:txBody>
      </p:sp>
      <p:sp>
        <p:nvSpPr>
          <p:cNvPr id="15" name="Shape 13"/>
          <p:cNvSpPr/>
          <p:nvPr/>
        </p:nvSpPr>
        <p:spPr>
          <a:xfrm>
            <a:off x="594360" y="5065776"/>
            <a:ext cx="4948733" cy="640080"/>
          </a:xfrm>
          <a:prstGeom prst="roundRect">
            <a:avLst>
              <a:gd name="adj" fmla="val 12857"/>
            </a:avLst>
          </a:prstGeom>
          <a:solidFill>
            <a:srgbClr val="272A38"/>
          </a:solidFill>
          <a:ln w="12700">
            <a:solidFill>
              <a:srgbClr val="272A38"/>
            </a:solidFill>
            <a:prstDash val="solid"/>
          </a:ln>
        </p:spPr>
        <p:txBody>
          <a:bodyPr/>
          <a:p/>
        </p:txBody>
      </p:sp>
      <p:sp>
        <p:nvSpPr>
          <p:cNvPr id="16" name="Text 14"/>
          <p:cNvSpPr/>
          <p:nvPr/>
        </p:nvSpPr>
        <p:spPr>
          <a:xfrm>
            <a:off x="777240" y="5138928"/>
            <a:ext cx="4582973"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Ana</a:t>
            </a:r>
            <a:endParaRPr lang="en-US" sz="1100" dirty="0"/>
          </a:p>
        </p:txBody>
      </p:sp>
      <p:sp>
        <p:nvSpPr>
          <p:cNvPr id="17" name="Text 15"/>
          <p:cNvSpPr/>
          <p:nvPr/>
        </p:nvSpPr>
        <p:spPr>
          <a:xfrm>
            <a:off x="777240" y="5376672"/>
            <a:ext cx="4582973" cy="2743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Depinde de ce partid votezi.</a:t>
            </a:r>
            <a:endParaRPr lang="en-US" sz="1500" dirty="0"/>
          </a:p>
        </p:txBody>
      </p:sp>
      <p:sp>
        <p:nvSpPr>
          <p:cNvPr id="18" name="Text 16"/>
          <p:cNvSpPr/>
          <p:nvPr/>
        </p:nvSpPr>
        <p:spPr>
          <a:xfrm>
            <a:off x="7086600" y="1645920"/>
            <a:ext cx="448056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Două întrebări amestecate:</a:t>
            </a:r>
            <a:endParaRPr lang="en-US" sz="1600" dirty="0"/>
          </a:p>
        </p:txBody>
      </p:sp>
      <p:sp>
        <p:nvSpPr>
          <p:cNvPr id="19" name="Shape 17"/>
          <p:cNvSpPr/>
          <p:nvPr/>
        </p:nvSpPr>
        <p:spPr>
          <a:xfrm>
            <a:off x="7086600" y="2194560"/>
            <a:ext cx="4480560" cy="1463040"/>
          </a:xfrm>
          <a:prstGeom prst="roundRect">
            <a:avLst>
              <a:gd name="adj" fmla="val 5625"/>
            </a:avLst>
          </a:prstGeom>
          <a:solidFill>
            <a:srgbClr val="1D1F2B"/>
          </a:solidFill>
          <a:ln w="12700">
            <a:solidFill>
              <a:srgbClr val="1D1F2B"/>
            </a:solidFill>
            <a:prstDash val="solid"/>
          </a:ln>
        </p:spPr>
        <p:txBody>
          <a:bodyPr/>
          <a:p/>
        </p:txBody>
      </p:sp>
      <p:sp>
        <p:nvSpPr>
          <p:cNvPr id="20" name="Shape 18"/>
          <p:cNvSpPr/>
          <p:nvPr/>
        </p:nvSpPr>
        <p:spPr>
          <a:xfrm>
            <a:off x="7086600" y="2194560"/>
            <a:ext cx="73152" cy="1463040"/>
          </a:xfrm>
          <a:prstGeom prst="rect">
            <a:avLst/>
          </a:prstGeom>
          <a:solidFill>
            <a:srgbClr val="27D3BE"/>
          </a:solidFill>
          <a:ln w="12700">
            <a:solidFill>
              <a:srgbClr val="27D3BE"/>
            </a:solidFill>
            <a:prstDash val="solid"/>
          </a:ln>
        </p:spPr>
        <p:txBody>
          <a:bodyPr/>
          <a:p/>
        </p:txBody>
      </p:sp>
      <p:sp>
        <p:nvSpPr>
          <p:cNvPr id="21" name="Text 19"/>
          <p:cNvSpPr/>
          <p:nvPr/>
        </p:nvSpPr>
        <p:spPr>
          <a:xfrm>
            <a:off x="7406640" y="2377440"/>
            <a:ext cx="4023360" cy="54864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Ce s-a întâmplat?</a:t>
            </a:r>
            <a:endParaRPr lang="en-US" sz="2200" dirty="0"/>
          </a:p>
        </p:txBody>
      </p:sp>
      <p:sp>
        <p:nvSpPr>
          <p:cNvPr id="22" name="Text 20"/>
          <p:cNvSpPr/>
          <p:nvPr/>
        </p:nvSpPr>
        <p:spPr>
          <a:xfrm>
            <a:off x="7406640" y="2971800"/>
            <a:ext cx="4023360" cy="5486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se verifică într-o sursă: știință</a:t>
            </a:r>
            <a:endParaRPr lang="en-US" sz="1600" dirty="0"/>
          </a:p>
        </p:txBody>
      </p:sp>
      <p:sp>
        <p:nvSpPr>
          <p:cNvPr id="23" name="Shape 21"/>
          <p:cNvSpPr/>
          <p:nvPr/>
        </p:nvSpPr>
        <p:spPr>
          <a:xfrm>
            <a:off x="7086600" y="3886200"/>
            <a:ext cx="4480560" cy="1463040"/>
          </a:xfrm>
          <a:prstGeom prst="roundRect">
            <a:avLst>
              <a:gd name="adj" fmla="val 5625"/>
            </a:avLst>
          </a:prstGeom>
          <a:solidFill>
            <a:srgbClr val="1D1F2B"/>
          </a:solidFill>
          <a:ln w="12700">
            <a:solidFill>
              <a:srgbClr val="1D1F2B"/>
            </a:solidFill>
            <a:prstDash val="solid"/>
          </a:ln>
        </p:spPr>
        <p:txBody>
          <a:bodyPr/>
          <a:p/>
        </p:txBody>
      </p:sp>
      <p:sp>
        <p:nvSpPr>
          <p:cNvPr id="24" name="Shape 22"/>
          <p:cNvSpPr/>
          <p:nvPr/>
        </p:nvSpPr>
        <p:spPr>
          <a:xfrm>
            <a:off x="7086600" y="3886200"/>
            <a:ext cx="73152" cy="1463040"/>
          </a:xfrm>
          <a:prstGeom prst="rect">
            <a:avLst/>
          </a:prstGeom>
          <a:solidFill>
            <a:srgbClr val="FF4757"/>
          </a:solidFill>
          <a:ln w="12700">
            <a:solidFill>
              <a:srgbClr val="FF4757"/>
            </a:solidFill>
            <a:prstDash val="solid"/>
          </a:ln>
        </p:spPr>
        <p:txBody>
          <a:bodyPr/>
          <a:p/>
        </p:txBody>
      </p:sp>
      <p:sp>
        <p:nvSpPr>
          <p:cNvPr id="25" name="Text 23"/>
          <p:cNvSpPr/>
          <p:nvPr/>
        </p:nvSpPr>
        <p:spPr>
          <a:xfrm>
            <a:off x="7406640" y="4069080"/>
            <a:ext cx="4023360" cy="548640"/>
          </a:xfrm>
          <a:prstGeom prst="rect">
            <a:avLst/>
          </a:prstGeom>
          <a:noFill/>
          <a:ln/>
        </p:spPr>
        <p:txBody>
          <a:bodyPr wrap="square" lIns="0" tIns="0" rIns="0" bIns="0" rtlCol="0" anchor="t"/>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Ce ar trebui să facem?</a:t>
            </a:r>
            <a:endParaRPr lang="en-US" sz="2200" dirty="0"/>
          </a:p>
        </p:txBody>
      </p:sp>
      <p:sp>
        <p:nvSpPr>
          <p:cNvPr id="26" name="Text 24"/>
          <p:cNvSpPr/>
          <p:nvPr/>
        </p:nvSpPr>
        <p:spPr>
          <a:xfrm>
            <a:off x="7406640" y="4663440"/>
            <a:ext cx="4023360" cy="5486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se discută cu valori: politică</a:t>
            </a:r>
            <a:endParaRPr lang="en-US" sz="1600" dirty="0"/>
          </a:p>
        </p:txBody>
      </p:sp>
      <p:sp>
        <p:nvSpPr>
          <p:cNvPr id="27" name="Text 25"/>
          <p:cNvSpPr/>
          <p:nvPr/>
        </p:nvSpPr>
        <p:spPr>
          <a:xfrm>
            <a:off x="594360" y="6309360"/>
            <a:ext cx="54864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ÎNAINTE DE ORICE CIFRĂ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„România ar trebui să adopte modelul portughez de dezincriminare a consumului personal de droguri.”</a:t>
            </a:r>
            <a:endParaRPr lang="en-US" sz="2600" dirty="0"/>
          </a:p>
        </p:txBody>
      </p:sp>
      <p:sp>
        <p:nvSpPr>
          <p:cNvPr id="6" name="Shape 4"/>
          <p:cNvSpPr/>
          <p:nvPr/>
        </p:nvSpPr>
        <p:spPr>
          <a:xfrm>
            <a:off x="594360" y="251460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7" name="Text 5"/>
          <p:cNvSpPr/>
          <p:nvPr/>
        </p:nvSpPr>
        <p:spPr>
          <a:xfrm>
            <a:off x="594360" y="251460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Total de acord</a:t>
            </a:r>
            <a:endParaRPr lang="en-US" sz="1500" dirty="0"/>
          </a:p>
        </p:txBody>
      </p:sp>
      <p:sp>
        <p:nvSpPr>
          <p:cNvPr id="8" name="Shape 6"/>
          <p:cNvSpPr/>
          <p:nvPr/>
        </p:nvSpPr>
        <p:spPr>
          <a:xfrm>
            <a:off x="2834640" y="251460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9" name="Text 7"/>
          <p:cNvSpPr/>
          <p:nvPr/>
        </p:nvSpPr>
        <p:spPr>
          <a:xfrm>
            <a:off x="2834640" y="251460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De acord</a:t>
            </a:r>
            <a:endParaRPr lang="en-US" sz="1500" dirty="0"/>
          </a:p>
        </p:txBody>
      </p:sp>
      <p:sp>
        <p:nvSpPr>
          <p:cNvPr id="10" name="Shape 8"/>
          <p:cNvSpPr/>
          <p:nvPr/>
        </p:nvSpPr>
        <p:spPr>
          <a:xfrm>
            <a:off x="5074920" y="251460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5074920" y="251460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 știu</a:t>
            </a:r>
            <a:endParaRPr lang="en-US" sz="1500" dirty="0"/>
          </a:p>
        </p:txBody>
      </p:sp>
      <p:sp>
        <p:nvSpPr>
          <p:cNvPr id="12" name="Shape 10"/>
          <p:cNvSpPr/>
          <p:nvPr/>
        </p:nvSpPr>
        <p:spPr>
          <a:xfrm>
            <a:off x="7315200" y="251460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7315200" y="251460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Împotrivă</a:t>
            </a:r>
            <a:endParaRPr lang="en-US" sz="1500" dirty="0"/>
          </a:p>
        </p:txBody>
      </p:sp>
      <p:sp>
        <p:nvSpPr>
          <p:cNvPr id="14" name="Shape 12"/>
          <p:cNvSpPr/>
          <p:nvPr/>
        </p:nvSpPr>
        <p:spPr>
          <a:xfrm>
            <a:off x="9555480" y="251460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9555480" y="251460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Total împotrivă</a:t>
            </a:r>
            <a:endParaRPr lang="en-US" sz="1500" dirty="0"/>
          </a:p>
        </p:txBody>
      </p:sp>
      <p:sp>
        <p:nvSpPr>
          <p:cNvPr id="16" name="Text 14"/>
          <p:cNvSpPr/>
          <p:nvPr/>
        </p:nvSpPr>
        <p:spPr>
          <a:xfrm>
            <a:off x="594360" y="3291840"/>
            <a:ext cx="10972800" cy="82296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Votați după prima impresie. Votăm din nou pe aceeași moțiune, la finalul părții a doua.</a:t>
            </a:r>
            <a:endParaRPr lang="en-US" sz="1800" dirty="0"/>
          </a:p>
        </p:txBody>
      </p:sp>
      <p:sp>
        <p:nvSpPr>
          <p:cNvPr id="17" name="Shape 15"/>
          <p:cNvSpPr/>
          <p:nvPr/>
        </p:nvSpPr>
        <p:spPr>
          <a:xfrm>
            <a:off x="9509760" y="4206240"/>
            <a:ext cx="2057400" cy="1737360"/>
          </a:xfrm>
          <a:prstGeom prst="roundRect">
            <a:avLst>
              <a:gd name="adj" fmla="val 4737"/>
            </a:avLst>
          </a:prstGeom>
          <a:solidFill>
            <a:srgbClr val="FFFFFF"/>
          </a:solidFill>
          <a:ln w="12700">
            <a:solidFill>
              <a:srgbClr val="FFFFFF"/>
            </a:solidFill>
            <a:prstDash val="solid"/>
          </a:ln>
        </p:spPr>
        <p:txBody>
          <a:bodyPr/>
          <a:p/>
        </p:txBody>
      </p:sp>
      <p:pic>
        <p:nvPicPr>
          <p:cNvPr id="18" name="Picture 17" descr="Mentimeter_OPT_DROGURI_C03.png"/>
          <p:cNvPicPr>
            <a:picLocks noChangeAspect="1"/>
          </p:cNvPicPr>
          <p:nvPr/>
        </p:nvPicPr>
        <p:blipFill>
          <a:blip r:embed="rId3"/>
          <a:stretch>
            <a:fillRect/>
          </a:stretch>
        </p:blipFill>
        <p:spPr>
          <a:xfrm>
            <a:off x="9886949" y="4206240"/>
            <a:ext cx="1303021" cy="1303021"/>
          </a:xfrm>
          <a:prstGeom prst="rect">
            <a:avLst/>
          </a:prstGeom>
        </p:spPr>
      </p:pic>
      <p:sp>
        <p:nvSpPr>
          <p:cNvPr id="19" name="TextBox 18"/>
          <p:cNvSpPr txBox="1"/>
          <p:nvPr/>
        </p:nvSpPr>
        <p:spPr>
          <a:xfrm>
            <a:off x="9509760" y="55473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PARTEA ÎNTÂI · LISABONA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prevedea, exact, legea din 2000</a:t>
            </a:r>
            <a:endParaRPr lang="en-US" sz="3200" dirty="0"/>
          </a:p>
        </p:txBody>
      </p:sp>
      <p:sp>
        <p:nvSpPr>
          <p:cNvPr id="4" name="Shape 2"/>
          <p:cNvSpPr/>
          <p:nvPr/>
        </p:nvSpPr>
        <p:spPr>
          <a:xfrm>
            <a:off x="594360" y="1508760"/>
            <a:ext cx="6035040" cy="3246120"/>
          </a:xfrm>
          <a:prstGeom prst="rect">
            <a:avLst/>
          </a:prstGeom>
          <a:solidFill>
            <a:srgbClr val="FBF8F1"/>
          </a:solidFill>
          <a:ln w="9525">
            <a:solidFill>
              <a:srgbClr val="D6D2C8"/>
            </a:solidFill>
            <a:prstDash val="solid"/>
          </a:ln>
        </p:spPr>
        <p:txBody>
          <a:bodyPr/>
          <a:p/>
        </p:txBody>
      </p:sp>
      <p:sp>
        <p:nvSpPr>
          <p:cNvPr id="5" name="Text 3"/>
          <p:cNvSpPr/>
          <p:nvPr/>
        </p:nvSpPr>
        <p:spPr>
          <a:xfrm>
            <a:off x="868680" y="1645920"/>
            <a:ext cx="5486400" cy="274320"/>
          </a:xfrm>
          <a:prstGeom prst="rect">
            <a:avLst/>
          </a:prstGeom>
          <a:noFill/>
          <a:ln/>
        </p:spPr>
        <p:txBody>
          <a:bodyPr wrap="square" lIns="0" tIns="0" rIns="0" bIns="0" rtlCol="0" anchor="t"/>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LEI N.º 30/2000 · ART. 2</a:t>
            </a:r>
            <a:endParaRPr lang="en-US" sz="1100" dirty="0"/>
          </a:p>
        </p:txBody>
      </p:sp>
      <p:sp>
        <p:nvSpPr>
          <p:cNvPr id="6" name="Text 4"/>
          <p:cNvSpPr/>
          <p:nvPr/>
        </p:nvSpPr>
        <p:spPr>
          <a:xfrm>
            <a:off x="868680" y="2011680"/>
            <a:ext cx="5486400" cy="1097280"/>
          </a:xfrm>
          <a:prstGeom prst="rect">
            <a:avLst/>
          </a:prstGeom>
          <a:noFill/>
          <a:ln/>
        </p:spPr>
        <p:txBody>
          <a:bodyPr wrap="square" lIns="0" tIns="0" rIns="0" bIns="0" rtlCol="0" anchor="t"/>
          <a:lstStyle/>
          <a:p>
            <a:pPr indent="0" marL="0">
              <a:buNone/>
            </a:pPr>
            <a:r>
              <a:rPr lang="en-US" sz="1800" i="1" dirty="0">
                <a:solidFill>
                  <a:srgbClr val="11121A"/>
                </a:solidFill>
                <a:latin typeface="Palatino Linotype" pitchFamily="34" charset="0"/>
                <a:ea typeface="Palatino Linotype" pitchFamily="34" charset="-122"/>
                <a:cs typeface="Palatino Linotype" pitchFamily="34" charset="-120"/>
              </a:rPr>
              <a:t>„o consumo, a aquisição e a detenção para consumo próprio […] constituem contra-ordenação”</a:t>
            </a:r>
            <a:endParaRPr lang="en-US" sz="1800" dirty="0"/>
          </a:p>
        </p:txBody>
      </p:sp>
      <p:sp>
        <p:nvSpPr>
          <p:cNvPr id="7" name="Text 5"/>
          <p:cNvSpPr/>
          <p:nvPr/>
        </p:nvSpPr>
        <p:spPr>
          <a:xfrm>
            <a:off x="868680" y="3154680"/>
            <a:ext cx="5486400" cy="14630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Consumul, achiziția și deținerea pentru consum propriu sunt contravenții, nu infracțiuni: cel mult cantitatea pentru 10 zile. În vigoare de la 1 iulie 2001.</a:t>
            </a:r>
            <a:endParaRPr lang="en-US" sz="1550" dirty="0"/>
          </a:p>
        </p:txBody>
      </p:sp>
      <p:sp>
        <p:nvSpPr>
          <p:cNvPr id="8" name="Text 6"/>
          <p:cNvSpPr/>
          <p:nvPr/>
        </p:nvSpPr>
        <p:spPr>
          <a:xfrm>
            <a:off x="6949440" y="1508760"/>
            <a:ext cx="4572000" cy="4114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Trei prevederi</a:t>
            </a:r>
            <a:endParaRPr lang="en-US" sz="1700" dirty="0"/>
          </a:p>
        </p:txBody>
      </p:sp>
      <p:sp>
        <p:nvSpPr>
          <p:cNvPr id="9" name="Shape 7"/>
          <p:cNvSpPr/>
          <p:nvPr/>
        </p:nvSpPr>
        <p:spPr>
          <a:xfrm>
            <a:off x="6949440" y="2121408"/>
            <a:ext cx="420624" cy="420624"/>
          </a:xfrm>
          <a:prstGeom prst="ellipse">
            <a:avLst/>
          </a:prstGeom>
          <a:solidFill>
            <a:srgbClr val="B02532"/>
          </a:solidFill>
          <a:ln/>
        </p:spPr>
        <p:txBody>
          <a:bodyPr/>
          <a:p/>
        </p:txBody>
      </p:sp>
      <p:sp>
        <p:nvSpPr>
          <p:cNvPr id="10" name="Text 8"/>
          <p:cNvSpPr/>
          <p:nvPr/>
        </p:nvSpPr>
        <p:spPr>
          <a:xfrm>
            <a:off x="6949440" y="2121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7543800" y="2011680"/>
            <a:ext cx="4023360" cy="6858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Toate drogurile, nu numai cannabisul.</a:t>
            </a:r>
            <a:endParaRPr lang="en-US" sz="1600" dirty="0"/>
          </a:p>
        </p:txBody>
      </p:sp>
      <p:sp>
        <p:nvSpPr>
          <p:cNvPr id="12" name="Shape 10"/>
          <p:cNvSpPr/>
          <p:nvPr/>
        </p:nvSpPr>
        <p:spPr>
          <a:xfrm>
            <a:off x="6949440" y="3035808"/>
            <a:ext cx="420624" cy="420624"/>
          </a:xfrm>
          <a:prstGeom prst="ellipse">
            <a:avLst/>
          </a:prstGeom>
          <a:solidFill>
            <a:srgbClr val="B02532"/>
          </a:solidFill>
          <a:ln/>
        </p:spPr>
        <p:txBody>
          <a:bodyPr/>
          <a:p/>
        </p:txBody>
      </p:sp>
      <p:sp>
        <p:nvSpPr>
          <p:cNvPr id="13" name="Text 11"/>
          <p:cNvSpPr/>
          <p:nvPr/>
        </p:nvSpPr>
        <p:spPr>
          <a:xfrm>
            <a:off x="6949440" y="30358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7543800" y="2926080"/>
            <a:ext cx="4023360" cy="6858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Vânzarea rămâne faptă penală.</a:t>
            </a:r>
            <a:endParaRPr lang="en-US" sz="1600" dirty="0"/>
          </a:p>
        </p:txBody>
      </p:sp>
      <p:sp>
        <p:nvSpPr>
          <p:cNvPr id="15" name="Shape 13"/>
          <p:cNvSpPr/>
          <p:nvPr/>
        </p:nvSpPr>
        <p:spPr>
          <a:xfrm>
            <a:off x="6949440" y="3950208"/>
            <a:ext cx="420624" cy="420624"/>
          </a:xfrm>
          <a:prstGeom prst="ellipse">
            <a:avLst/>
          </a:prstGeom>
          <a:solidFill>
            <a:srgbClr val="B02532"/>
          </a:solidFill>
          <a:ln/>
        </p:spPr>
        <p:txBody>
          <a:bodyPr/>
          <a:p/>
        </p:txBody>
      </p:sp>
      <p:sp>
        <p:nvSpPr>
          <p:cNvPr id="16" name="Text 14"/>
          <p:cNvSpPr/>
          <p:nvPr/>
        </p:nvSpPr>
        <p:spPr>
          <a:xfrm>
            <a:off x="6949440" y="3950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7543800" y="3840480"/>
            <a:ext cx="4023360" cy="6858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Cine cerea singur ajutor nu intra sub lege.</a:t>
            </a:r>
            <a:endParaRPr lang="en-US" sz="1600" dirty="0"/>
          </a:p>
        </p:txBody>
      </p:sp>
      <p:sp>
        <p:nvSpPr>
          <p:cNvPr id="18" name="Text 16"/>
          <p:cNvSpPr/>
          <p:nvPr/>
        </p:nvSpPr>
        <p:spPr>
          <a:xfrm>
            <a:off x="594360" y="4983480"/>
            <a:ext cx="10972800" cy="41148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Forma inițială a legii; forma în vigoare azi nu a putut fi verificată.</a:t>
            </a:r>
            <a:endParaRPr lang="en-US" sz="15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portugheză nr. 30/2000, art. 2, forma publicată în 2000.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PARTEA ÎNTÂI · LISABONA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Comisia, nu procurorul</a:t>
            </a:r>
            <a:endParaRPr lang="en-US" sz="3400" dirty="0"/>
          </a:p>
        </p:txBody>
      </p:sp>
      <p:sp>
        <p:nvSpPr>
          <p:cNvPr id="4" name="Shape 2"/>
          <p:cNvSpPr/>
          <p:nvPr/>
        </p:nvSpPr>
        <p:spPr>
          <a:xfrm>
            <a:off x="594360" y="1600200"/>
            <a:ext cx="2743200" cy="1691640"/>
          </a:xfrm>
          <a:prstGeom prst="roundRect">
            <a:avLst>
              <a:gd name="adj" fmla="val 4865"/>
            </a:avLst>
          </a:prstGeom>
          <a:solidFill>
            <a:srgbClr val="1D1F2B"/>
          </a:solidFill>
          <a:ln w="12700">
            <a:solidFill>
              <a:srgbClr val="1D1F2B"/>
            </a:solidFill>
            <a:prstDash val="solid"/>
          </a:ln>
        </p:spPr>
        <p:txBody>
          <a:bodyPr/>
          <a:p/>
        </p:txBody>
      </p:sp>
      <p:sp>
        <p:nvSpPr>
          <p:cNvPr id="5" name="Text 3"/>
          <p:cNvSpPr/>
          <p:nvPr/>
        </p:nvSpPr>
        <p:spPr>
          <a:xfrm>
            <a:off x="822960" y="1737360"/>
            <a:ext cx="22860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un jurist</a:t>
            </a:r>
            <a:endParaRPr lang="en-US" sz="2100" dirty="0"/>
          </a:p>
        </p:txBody>
      </p:sp>
      <p:sp>
        <p:nvSpPr>
          <p:cNvPr id="6" name="Text 4"/>
          <p:cNvSpPr/>
          <p:nvPr/>
        </p:nvSpPr>
        <p:spPr>
          <a:xfrm>
            <a:off x="822960" y="2240280"/>
            <a:ext cx="2286000" cy="91440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desemnat de ministrul justiției</a:t>
            </a:r>
            <a:endParaRPr lang="en-US" sz="1450" dirty="0"/>
          </a:p>
        </p:txBody>
      </p:sp>
      <p:sp>
        <p:nvSpPr>
          <p:cNvPr id="7" name="Shape 5"/>
          <p:cNvSpPr/>
          <p:nvPr/>
        </p:nvSpPr>
        <p:spPr>
          <a:xfrm>
            <a:off x="3520440" y="1600200"/>
            <a:ext cx="2743200" cy="1691640"/>
          </a:xfrm>
          <a:prstGeom prst="roundRect">
            <a:avLst>
              <a:gd name="adj" fmla="val 4865"/>
            </a:avLst>
          </a:prstGeom>
          <a:solidFill>
            <a:srgbClr val="1D1F2B"/>
          </a:solidFill>
          <a:ln w="12700">
            <a:solidFill>
              <a:srgbClr val="1D1F2B"/>
            </a:solidFill>
            <a:prstDash val="solid"/>
          </a:ln>
        </p:spPr>
        <p:txBody>
          <a:bodyPr/>
          <a:p/>
        </p:txBody>
      </p:sp>
      <p:sp>
        <p:nvSpPr>
          <p:cNvPr id="8" name="Text 6"/>
          <p:cNvSpPr/>
          <p:nvPr/>
        </p:nvSpPr>
        <p:spPr>
          <a:xfrm>
            <a:off x="3749040" y="1737360"/>
            <a:ext cx="228600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doi specialiști</a:t>
            </a:r>
            <a:endParaRPr lang="en-US" sz="2100" dirty="0"/>
          </a:p>
        </p:txBody>
      </p:sp>
      <p:sp>
        <p:nvSpPr>
          <p:cNvPr id="9" name="Text 7"/>
          <p:cNvSpPr/>
          <p:nvPr/>
        </p:nvSpPr>
        <p:spPr>
          <a:xfrm>
            <a:off x="3749040" y="2240280"/>
            <a:ext cx="2286000" cy="91440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medici, psihologi, sociologi, asistenți sociali</a:t>
            </a:r>
            <a:endParaRPr lang="en-US" sz="1450" dirty="0"/>
          </a:p>
        </p:txBody>
      </p:sp>
      <p:sp>
        <p:nvSpPr>
          <p:cNvPr id="10" name="Text 8"/>
          <p:cNvSpPr/>
          <p:nvPr/>
        </p:nvSpPr>
        <p:spPr>
          <a:xfrm>
            <a:off x="594360" y="3520440"/>
            <a:ext cx="5669280" cy="100584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Trei membri. O analiză ulterioară: la data ei, comisiile funcționau în răspunderea Ministerului Sănătății.</a:t>
            </a:r>
            <a:endParaRPr lang="en-US" sz="1550" dirty="0"/>
          </a:p>
        </p:txBody>
      </p:sp>
      <p:sp>
        <p:nvSpPr>
          <p:cNvPr id="11" name="Text 9"/>
          <p:cNvSpPr/>
          <p:nvPr/>
        </p:nvSpPr>
        <p:spPr>
          <a:xfrm>
            <a:off x="6720840" y="1600200"/>
            <a:ext cx="484632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Forma din 2000</a:t>
            </a:r>
            <a:endParaRPr lang="en-US" sz="1700" dirty="0"/>
          </a:p>
        </p:txBody>
      </p:sp>
      <p:sp>
        <p:nvSpPr>
          <p:cNvPr id="12" name="Shape 10"/>
          <p:cNvSpPr/>
          <p:nvPr/>
        </p:nvSpPr>
        <p:spPr>
          <a:xfrm>
            <a:off x="6720840" y="2103120"/>
            <a:ext cx="64008" cy="868680"/>
          </a:xfrm>
          <a:prstGeom prst="rect">
            <a:avLst/>
          </a:prstGeom>
          <a:solidFill>
            <a:srgbClr val="27D3BE"/>
          </a:solidFill>
          <a:ln w="12700">
            <a:solidFill>
              <a:srgbClr val="27D3BE"/>
            </a:solidFill>
            <a:prstDash val="solid"/>
          </a:ln>
        </p:spPr>
        <p:txBody>
          <a:bodyPr/>
          <a:p/>
        </p:txBody>
      </p:sp>
      <p:sp>
        <p:nvSpPr>
          <p:cNvPr id="13" name="Text 11"/>
          <p:cNvSpPr/>
          <p:nvPr/>
        </p:nvSpPr>
        <p:spPr>
          <a:xfrm>
            <a:off x="6949440" y="2103120"/>
            <a:ext cx="4663440" cy="384048"/>
          </a:xfrm>
          <a:prstGeom prst="rect">
            <a:avLst/>
          </a:prstGeom>
          <a:noFill/>
          <a:ln/>
        </p:spPr>
        <p:txBody>
          <a:bodyPr wrap="square" lIns="0" tIns="0" rIns="0" bIns="0" rtlCol="0" anchor="t"/>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Fără dosar anterior, fără dependență</a:t>
            </a:r>
            <a:endParaRPr lang="en-US" sz="1550" dirty="0"/>
          </a:p>
        </p:txBody>
      </p:sp>
      <p:sp>
        <p:nvSpPr>
          <p:cNvPr id="14" name="Text 12"/>
          <p:cNvSpPr/>
          <p:nvPr/>
        </p:nvSpPr>
        <p:spPr>
          <a:xfrm>
            <a:off x="6949440" y="2514600"/>
            <a:ext cx="4663440" cy="4114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suspendare provizorie a procedurii</a:t>
            </a:r>
            <a:endParaRPr lang="en-US" sz="1500" dirty="0"/>
          </a:p>
        </p:txBody>
      </p:sp>
      <p:sp>
        <p:nvSpPr>
          <p:cNvPr id="15" name="Shape 13"/>
          <p:cNvSpPr/>
          <p:nvPr/>
        </p:nvSpPr>
        <p:spPr>
          <a:xfrm>
            <a:off x="6720840" y="3154680"/>
            <a:ext cx="64008" cy="868680"/>
          </a:xfrm>
          <a:prstGeom prst="rect">
            <a:avLst/>
          </a:prstGeom>
          <a:solidFill>
            <a:srgbClr val="27D3BE"/>
          </a:solidFill>
          <a:ln w="12700">
            <a:solidFill>
              <a:srgbClr val="27D3BE"/>
            </a:solidFill>
            <a:prstDash val="solid"/>
          </a:ln>
        </p:spPr>
        <p:txBody>
          <a:bodyPr/>
          <a:p/>
        </p:txBody>
      </p:sp>
      <p:sp>
        <p:nvSpPr>
          <p:cNvPr id="16" name="Text 14"/>
          <p:cNvSpPr/>
          <p:nvPr/>
        </p:nvSpPr>
        <p:spPr>
          <a:xfrm>
            <a:off x="6949440" y="3154680"/>
            <a:ext cx="4663440" cy="384048"/>
          </a:xfrm>
          <a:prstGeom prst="rect">
            <a:avLst/>
          </a:prstGeom>
          <a:noFill/>
          <a:ln/>
        </p:spPr>
        <p:txBody>
          <a:bodyPr wrap="square" lIns="0" tIns="0" rIns="0" bIns="0" rtlCol="0" anchor="t"/>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Cu dependență, acceptă tratamentul</a:t>
            </a:r>
            <a:endParaRPr lang="en-US" sz="1550" dirty="0"/>
          </a:p>
        </p:txBody>
      </p:sp>
      <p:sp>
        <p:nvSpPr>
          <p:cNvPr id="17" name="Text 15"/>
          <p:cNvSpPr/>
          <p:nvPr/>
        </p:nvSpPr>
        <p:spPr>
          <a:xfrm>
            <a:off x="6949440" y="3566160"/>
            <a:ext cx="4663440" cy="4114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procedura se suspendă de asemenea</a:t>
            </a:r>
            <a:endParaRPr lang="en-US" sz="1500" dirty="0"/>
          </a:p>
        </p:txBody>
      </p:sp>
      <p:sp>
        <p:nvSpPr>
          <p:cNvPr id="18" name="Shape 16"/>
          <p:cNvSpPr/>
          <p:nvPr/>
        </p:nvSpPr>
        <p:spPr>
          <a:xfrm>
            <a:off x="6720840" y="4206240"/>
            <a:ext cx="64008" cy="868680"/>
          </a:xfrm>
          <a:prstGeom prst="rect">
            <a:avLst/>
          </a:prstGeom>
          <a:solidFill>
            <a:srgbClr val="27D3BE"/>
          </a:solidFill>
          <a:ln w="12700">
            <a:solidFill>
              <a:srgbClr val="27D3BE"/>
            </a:solidFill>
            <a:prstDash val="solid"/>
          </a:ln>
        </p:spPr>
        <p:txBody>
          <a:bodyPr/>
          <a:p/>
        </p:txBody>
      </p:sp>
      <p:sp>
        <p:nvSpPr>
          <p:cNvPr id="19" name="Text 17"/>
          <p:cNvSpPr/>
          <p:nvPr/>
        </p:nvSpPr>
        <p:spPr>
          <a:xfrm>
            <a:off x="6949440" y="4206240"/>
            <a:ext cx="4663440" cy="384048"/>
          </a:xfrm>
          <a:prstGeom prst="rect">
            <a:avLst/>
          </a:prstGeom>
          <a:noFill/>
          <a:ln/>
        </p:spPr>
        <p:txBody>
          <a:bodyPr wrap="square" lIns="0" tIns="0" rIns="0" bIns="0" rtlCol="0" anchor="t"/>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În locul amenzii</a:t>
            </a:r>
            <a:endParaRPr lang="en-US" sz="1550" dirty="0"/>
          </a:p>
        </p:txBody>
      </p:sp>
      <p:sp>
        <p:nvSpPr>
          <p:cNvPr id="20" name="Text 18"/>
          <p:cNvSpPr/>
          <p:nvPr/>
        </p:nvSpPr>
        <p:spPr>
          <a:xfrm>
            <a:off x="6949440" y="4617720"/>
            <a:ext cx="4663440" cy="4114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comisia putea aplica o admonestare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Și la noi?</a:t>
            </a:r>
            <a:endParaRPr lang="en-US" sz="3400" dirty="0"/>
          </a:p>
        </p:txBody>
      </p:sp>
      <p:sp>
        <p:nvSpPr>
          <p:cNvPr id="4" name="Shape 2"/>
          <p:cNvSpPr/>
          <p:nvPr/>
        </p:nvSpPr>
        <p:spPr>
          <a:xfrm>
            <a:off x="594360" y="1554480"/>
            <a:ext cx="10972800" cy="1143000"/>
          </a:xfrm>
          <a:prstGeom prst="roundRect">
            <a:avLst>
              <a:gd name="adj" fmla="val 7200"/>
            </a:avLst>
          </a:prstGeom>
          <a:solidFill>
            <a:srgbClr val="F4E0E2"/>
          </a:solidFill>
          <a:ln w="12700">
            <a:solidFill>
              <a:srgbClr val="F4E0E2"/>
            </a:solidFill>
            <a:prstDash val="solid"/>
          </a:ln>
        </p:spPr>
        <p:txBody>
          <a:bodyPr/>
          <a:p/>
        </p:txBody>
      </p:sp>
      <p:sp>
        <p:nvSpPr>
          <p:cNvPr id="5" name="Text 3"/>
          <p:cNvSpPr/>
          <p:nvPr/>
        </p:nvSpPr>
        <p:spPr>
          <a:xfrm>
            <a:off x="868680" y="1554480"/>
            <a:ext cx="10424160" cy="1143000"/>
          </a:xfrm>
          <a:prstGeom prst="rect">
            <a:avLst/>
          </a:prstGeom>
          <a:noFill/>
          <a:ln/>
        </p:spPr>
        <p:txBody>
          <a:bodyPr wrap="square" lIns="0" tIns="0" rIns="0" bIns="0" rtlCol="0" anchor="ctr"/>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Legea nr. 143/2000: deținerea pentru consum propriu este infracțiune.</a:t>
            </a:r>
            <a:endParaRPr lang="en-US" sz="2100" dirty="0"/>
          </a:p>
        </p:txBody>
      </p:sp>
      <p:sp>
        <p:nvSpPr>
          <p:cNvPr id="6" name="Shape 4"/>
          <p:cNvSpPr/>
          <p:nvPr/>
        </p:nvSpPr>
        <p:spPr>
          <a:xfrm>
            <a:off x="594360" y="2880360"/>
            <a:ext cx="5349240" cy="1143000"/>
          </a:xfrm>
          <a:prstGeom prst="roundRect">
            <a:avLst>
              <a:gd name="adj" fmla="val 7200"/>
            </a:avLst>
          </a:prstGeom>
          <a:solidFill>
            <a:srgbClr val="ECEAE4"/>
          </a:solidFill>
          <a:ln w="12700">
            <a:solidFill>
              <a:srgbClr val="ECEAE4"/>
            </a:solidFill>
            <a:prstDash val="solid"/>
          </a:ln>
        </p:spPr>
        <p:txBody>
          <a:bodyPr/>
          <a:p/>
        </p:txBody>
      </p:sp>
      <p:sp>
        <p:nvSpPr>
          <p:cNvPr id="7" name="Text 5"/>
          <p:cNvSpPr/>
          <p:nvPr/>
        </p:nvSpPr>
        <p:spPr>
          <a:xfrm>
            <a:off x="868680" y="2971800"/>
            <a:ext cx="48463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Droguri de risc</a:t>
            </a:r>
            <a:endParaRPr lang="en-US" sz="1700" dirty="0"/>
          </a:p>
        </p:txBody>
      </p:sp>
      <p:sp>
        <p:nvSpPr>
          <p:cNvPr id="8" name="Text 6"/>
          <p:cNvSpPr/>
          <p:nvPr/>
        </p:nvSpPr>
        <p:spPr>
          <a:xfrm>
            <a:off x="868680" y="3401568"/>
            <a:ext cx="4846320" cy="54864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închisoare de la 3 luni la 2 ani sau amendă</a:t>
            </a:r>
            <a:endParaRPr lang="en-US" sz="1550" dirty="0"/>
          </a:p>
        </p:txBody>
      </p:sp>
      <p:sp>
        <p:nvSpPr>
          <p:cNvPr id="9" name="Shape 7"/>
          <p:cNvSpPr/>
          <p:nvPr/>
        </p:nvSpPr>
        <p:spPr>
          <a:xfrm>
            <a:off x="6217920" y="2880360"/>
            <a:ext cx="5349240" cy="1143000"/>
          </a:xfrm>
          <a:prstGeom prst="roundRect">
            <a:avLst>
              <a:gd name="adj" fmla="val 7200"/>
            </a:avLst>
          </a:prstGeom>
          <a:solidFill>
            <a:srgbClr val="ECEAE4"/>
          </a:solidFill>
          <a:ln w="12700">
            <a:solidFill>
              <a:srgbClr val="ECEAE4"/>
            </a:solidFill>
            <a:prstDash val="solid"/>
          </a:ln>
        </p:spPr>
        <p:txBody>
          <a:bodyPr/>
          <a:p/>
        </p:txBody>
      </p:sp>
      <p:sp>
        <p:nvSpPr>
          <p:cNvPr id="10" name="Text 8"/>
          <p:cNvSpPr/>
          <p:nvPr/>
        </p:nvSpPr>
        <p:spPr>
          <a:xfrm>
            <a:off x="6492240" y="2971800"/>
            <a:ext cx="48463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Droguri de mare risc</a:t>
            </a:r>
            <a:endParaRPr lang="en-US" sz="1700" dirty="0"/>
          </a:p>
        </p:txBody>
      </p:sp>
      <p:sp>
        <p:nvSpPr>
          <p:cNvPr id="11" name="Text 9"/>
          <p:cNvSpPr/>
          <p:nvPr/>
        </p:nvSpPr>
        <p:spPr>
          <a:xfrm>
            <a:off x="6492240" y="3401568"/>
            <a:ext cx="4846320" cy="54864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închisoare de la 6 luni la 3 ani</a:t>
            </a:r>
            <a:endParaRPr lang="en-US" sz="1550" dirty="0"/>
          </a:p>
        </p:txBody>
      </p:sp>
      <p:sp>
        <p:nvSpPr>
          <p:cNvPr id="12" name="Text 10"/>
          <p:cNvSpPr/>
          <p:nvPr/>
        </p:nvSpPr>
        <p:spPr>
          <a:xfrm>
            <a:off x="594360" y="4251960"/>
            <a:ext cx="10972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Procurorul poate dispune evaluarea, spre un program de asistență; dacă programul e respectat, instanța poate renunța la pedeapsă sau o poate amâna.</a:t>
            </a:r>
            <a:endParaRPr lang="en-US" sz="1600" dirty="0"/>
          </a:p>
        </p:txBody>
      </p:sp>
      <p:sp>
        <p:nvSpPr>
          <p:cNvPr id="13" name="Text 11"/>
          <p:cNvSpPr/>
          <p:nvPr/>
        </p:nvSpPr>
        <p:spPr>
          <a:xfrm>
            <a:off x="594360" y="5257800"/>
            <a:ext cx="1097280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Calea spre tratament există și la noi, dar trece prin dosarul penal.</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143/2000, forma în vigoare.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CHAT · 2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SCRIEȚI ÎN CHATUL TEAMS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Lisabona și Cluj, aceeași zi</a:t>
            </a:r>
            <a:endParaRPr lang="en-US" sz="3400" dirty="0"/>
          </a:p>
        </p:txBody>
      </p:sp>
      <p:sp>
        <p:nvSpPr>
          <p:cNvPr id="6" name="Text 4"/>
          <p:cNvSpPr/>
          <p:nvPr/>
        </p:nvSpPr>
        <p:spPr>
          <a:xfrm>
            <a:off x="594360" y="1463040"/>
            <a:ext cx="10972800" cy="86868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Un student de douăzeci de ani este prins, în ambele orașe, cu aceeași cantitate mică de cannabis. Ce i se întâmplă în următoarea lună?</a:t>
            </a:r>
            <a:endParaRPr lang="en-US" sz="1800" dirty="0"/>
          </a:p>
        </p:txBody>
      </p:sp>
      <p:sp>
        <p:nvSpPr>
          <p:cNvPr id="7" name="Shape 5"/>
          <p:cNvSpPr/>
          <p:nvPr/>
        </p:nvSpPr>
        <p:spPr>
          <a:xfrm>
            <a:off x="594360" y="2514600"/>
            <a:ext cx="5349240" cy="2926080"/>
          </a:xfrm>
          <a:prstGeom prst="roundRect">
            <a:avLst>
              <a:gd name="adj" fmla="val 2813"/>
            </a:avLst>
          </a:prstGeom>
          <a:solidFill>
            <a:srgbClr val="1D1F2B"/>
          </a:solidFill>
          <a:ln w="12700">
            <a:solidFill>
              <a:srgbClr val="1D1F2B"/>
            </a:solidFill>
            <a:prstDash val="solid"/>
          </a:ln>
        </p:spPr>
        <p:txBody>
          <a:bodyPr/>
          <a:p/>
        </p:txBody>
      </p:sp>
      <p:sp>
        <p:nvSpPr>
          <p:cNvPr id="8" name="Text 6"/>
          <p:cNvSpPr/>
          <p:nvPr/>
        </p:nvSpPr>
        <p:spPr>
          <a:xfrm>
            <a:off x="868680" y="2651760"/>
            <a:ext cx="4754880" cy="457200"/>
          </a:xfrm>
          <a:prstGeom prst="rect">
            <a:avLst/>
          </a:prstGeom>
          <a:noFill/>
          <a:ln/>
        </p:spPr>
        <p:txBody>
          <a:bodyPr wrap="square" lIns="0" tIns="0" rIns="0" bIns="0" rtlCol="0" anchor="t"/>
          <a:lstStyle/>
          <a:p>
            <a:pPr indent="0" marL="0">
              <a:buNone/>
            </a:pPr>
            <a:r>
              <a:rPr lang="en-US" sz="2000" b="1" spc="300" kern="0" dirty="0">
                <a:solidFill>
                  <a:srgbClr val="27D3BE"/>
                </a:solidFill>
                <a:latin typeface="Palatino Linotype" pitchFamily="34" charset="0"/>
                <a:ea typeface="Palatino Linotype" pitchFamily="34" charset="-122"/>
                <a:cs typeface="Palatino Linotype" pitchFamily="34" charset="-120"/>
              </a:rPr>
              <a:t>LISABONA</a:t>
            </a:r>
            <a:endParaRPr lang="en-US" sz="2000" dirty="0"/>
          </a:p>
        </p:txBody>
      </p:sp>
      <p:sp>
        <p:nvSpPr>
          <p:cNvPr id="9" name="Shape 7"/>
          <p:cNvSpPr/>
          <p:nvPr/>
        </p:nvSpPr>
        <p:spPr>
          <a:xfrm>
            <a:off x="868680" y="3520440"/>
            <a:ext cx="4754880" cy="0"/>
          </a:xfrm>
          <a:prstGeom prst="line">
            <a:avLst/>
          </a:prstGeom>
          <a:noFill/>
          <a:ln w="12700">
            <a:solidFill>
              <a:srgbClr val="3A3E52"/>
            </a:solidFill>
            <a:prstDash val="dash"/>
          </a:ln>
        </p:spPr>
        <p:txBody>
          <a:bodyPr/>
          <a:p/>
        </p:txBody>
      </p:sp>
      <p:sp>
        <p:nvSpPr>
          <p:cNvPr id="10" name="Shape 8"/>
          <p:cNvSpPr/>
          <p:nvPr/>
        </p:nvSpPr>
        <p:spPr>
          <a:xfrm>
            <a:off x="868680" y="4114800"/>
            <a:ext cx="4754880" cy="0"/>
          </a:xfrm>
          <a:prstGeom prst="line">
            <a:avLst/>
          </a:prstGeom>
          <a:noFill/>
          <a:ln w="12700">
            <a:solidFill>
              <a:srgbClr val="3A3E52"/>
            </a:solidFill>
            <a:prstDash val="dash"/>
          </a:ln>
        </p:spPr>
        <p:txBody>
          <a:bodyPr/>
          <a:p/>
        </p:txBody>
      </p:sp>
      <p:sp>
        <p:nvSpPr>
          <p:cNvPr id="11" name="Shape 9"/>
          <p:cNvSpPr/>
          <p:nvPr/>
        </p:nvSpPr>
        <p:spPr>
          <a:xfrm>
            <a:off x="868680" y="4709160"/>
            <a:ext cx="4754880" cy="0"/>
          </a:xfrm>
          <a:prstGeom prst="line">
            <a:avLst/>
          </a:prstGeom>
          <a:noFill/>
          <a:ln w="12700">
            <a:solidFill>
              <a:srgbClr val="3A3E52"/>
            </a:solidFill>
            <a:prstDash val="dash"/>
          </a:ln>
        </p:spPr>
        <p:txBody>
          <a:bodyPr/>
          <a:p/>
        </p:txBody>
      </p:sp>
      <p:sp>
        <p:nvSpPr>
          <p:cNvPr id="12" name="Shape 10"/>
          <p:cNvSpPr/>
          <p:nvPr/>
        </p:nvSpPr>
        <p:spPr>
          <a:xfrm>
            <a:off x="6217920" y="2514600"/>
            <a:ext cx="5349240" cy="2926080"/>
          </a:xfrm>
          <a:prstGeom prst="roundRect">
            <a:avLst>
              <a:gd name="adj" fmla="val 2813"/>
            </a:avLst>
          </a:prstGeom>
          <a:solidFill>
            <a:srgbClr val="1D1F2B"/>
          </a:solidFill>
          <a:ln w="12700">
            <a:solidFill>
              <a:srgbClr val="1D1F2B"/>
            </a:solidFill>
            <a:prstDash val="solid"/>
          </a:ln>
        </p:spPr>
        <p:txBody>
          <a:bodyPr/>
          <a:p/>
        </p:txBody>
      </p:sp>
      <p:sp>
        <p:nvSpPr>
          <p:cNvPr id="13" name="Text 11"/>
          <p:cNvSpPr/>
          <p:nvPr/>
        </p:nvSpPr>
        <p:spPr>
          <a:xfrm>
            <a:off x="6492240" y="2651760"/>
            <a:ext cx="4754880" cy="457200"/>
          </a:xfrm>
          <a:prstGeom prst="rect">
            <a:avLst/>
          </a:prstGeom>
          <a:noFill/>
          <a:ln/>
        </p:spPr>
        <p:txBody>
          <a:bodyPr wrap="square" lIns="0" tIns="0" rIns="0" bIns="0" rtlCol="0" anchor="t"/>
          <a:lstStyle/>
          <a:p>
            <a:pPr indent="0" marL="0">
              <a:buNone/>
            </a:pPr>
            <a:r>
              <a:rPr lang="en-US" sz="2000" b="1" spc="300" kern="0" dirty="0">
                <a:solidFill>
                  <a:srgbClr val="FF4757"/>
                </a:solidFill>
                <a:latin typeface="Palatino Linotype" pitchFamily="34" charset="0"/>
                <a:ea typeface="Palatino Linotype" pitchFamily="34" charset="-122"/>
                <a:cs typeface="Palatino Linotype" pitchFamily="34" charset="-120"/>
              </a:rPr>
              <a:t>CLUJ</a:t>
            </a:r>
            <a:endParaRPr lang="en-US" sz="2000" dirty="0"/>
          </a:p>
        </p:txBody>
      </p:sp>
      <p:sp>
        <p:nvSpPr>
          <p:cNvPr id="14" name="Shape 12"/>
          <p:cNvSpPr/>
          <p:nvPr/>
        </p:nvSpPr>
        <p:spPr>
          <a:xfrm>
            <a:off x="6492240" y="3520440"/>
            <a:ext cx="4754880" cy="0"/>
          </a:xfrm>
          <a:prstGeom prst="line">
            <a:avLst/>
          </a:prstGeom>
          <a:noFill/>
          <a:ln w="12700">
            <a:solidFill>
              <a:srgbClr val="3A3E52"/>
            </a:solidFill>
            <a:prstDash val="dash"/>
          </a:ln>
        </p:spPr>
        <p:txBody>
          <a:bodyPr/>
          <a:p/>
        </p:txBody>
      </p:sp>
      <p:sp>
        <p:nvSpPr>
          <p:cNvPr id="15" name="Shape 13"/>
          <p:cNvSpPr/>
          <p:nvPr/>
        </p:nvSpPr>
        <p:spPr>
          <a:xfrm>
            <a:off x="6492240" y="4114800"/>
            <a:ext cx="4754880" cy="0"/>
          </a:xfrm>
          <a:prstGeom prst="line">
            <a:avLst/>
          </a:prstGeom>
          <a:noFill/>
          <a:ln w="12700">
            <a:solidFill>
              <a:srgbClr val="3A3E52"/>
            </a:solidFill>
            <a:prstDash val="dash"/>
          </a:ln>
        </p:spPr>
        <p:txBody>
          <a:bodyPr/>
          <a:p/>
        </p:txBody>
      </p:sp>
      <p:sp>
        <p:nvSpPr>
          <p:cNvPr id="16" name="Shape 14"/>
          <p:cNvSpPr/>
          <p:nvPr/>
        </p:nvSpPr>
        <p:spPr>
          <a:xfrm>
            <a:off x="6492240" y="4709160"/>
            <a:ext cx="4754880" cy="0"/>
          </a:xfrm>
          <a:prstGeom prst="line">
            <a:avLst/>
          </a:prstGeom>
          <a:noFill/>
          <a:ln w="12700">
            <a:solidFill>
              <a:srgbClr val="3A3E52"/>
            </a:solidFill>
            <a:prstDash val="dash"/>
          </a:ln>
        </p:spPr>
        <p:txBody>
          <a:bodyPr/>
          <a:p/>
        </p:txBody>
      </p:sp>
      <p:sp>
        <p:nvSpPr>
          <p:cNvPr id="17" name="Text 15"/>
          <p:cNvSpPr/>
          <p:nvPr/>
        </p:nvSpPr>
        <p:spPr>
          <a:xfrm>
            <a:off x="594360" y="5623560"/>
            <a:ext cx="1097280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Scrieți în chat: „Lisabona: …; Cluj: …”. Apoi citim câteva răspunsuri.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CE S-A ÎNTÂMPLAT DUPĂ 2001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După decriminalizare, consumul de droguri în Portugalia…</a:t>
            </a:r>
            <a:endParaRPr lang="en-US" sz="3000" dirty="0"/>
          </a:p>
        </p:txBody>
      </p:sp>
      <p:sp>
        <p:nvSpPr>
          <p:cNvPr id="6" name="Shape 4"/>
          <p:cNvSpPr/>
          <p:nvPr/>
        </p:nvSpPr>
        <p:spPr>
          <a:xfrm>
            <a:off x="594360" y="192024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7" name="Shape 5"/>
          <p:cNvSpPr/>
          <p:nvPr/>
        </p:nvSpPr>
        <p:spPr>
          <a:xfrm>
            <a:off x="914400" y="2098548"/>
            <a:ext cx="420624" cy="420624"/>
          </a:xfrm>
          <a:prstGeom prst="ellipse">
            <a:avLst/>
          </a:prstGeom>
          <a:solidFill>
            <a:srgbClr val="FFC24B"/>
          </a:solidFill>
          <a:ln/>
        </p:spPr>
        <p:txBody>
          <a:bodyPr/>
          <a:p/>
        </p:txBody>
      </p:sp>
      <p:sp>
        <p:nvSpPr>
          <p:cNvPr id="8" name="Text 6"/>
          <p:cNvSpPr/>
          <p:nvPr/>
        </p:nvSpPr>
        <p:spPr>
          <a:xfrm>
            <a:off x="914400" y="20985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920240"/>
            <a:ext cx="9692640" cy="7772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 crescut mult</a:t>
            </a:r>
            <a:endParaRPr lang="en-US" sz="2000" dirty="0"/>
          </a:p>
        </p:txBody>
      </p:sp>
      <p:sp>
        <p:nvSpPr>
          <p:cNvPr id="10" name="Shape 8"/>
          <p:cNvSpPr/>
          <p:nvPr/>
        </p:nvSpPr>
        <p:spPr>
          <a:xfrm>
            <a:off x="594360" y="288036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914400" y="3058668"/>
            <a:ext cx="420624" cy="420624"/>
          </a:xfrm>
          <a:prstGeom prst="ellipse">
            <a:avLst/>
          </a:prstGeom>
          <a:solidFill>
            <a:srgbClr val="FFC24B"/>
          </a:solidFill>
          <a:ln/>
        </p:spPr>
        <p:txBody>
          <a:bodyPr/>
          <a:p/>
        </p:txBody>
      </p:sp>
      <p:sp>
        <p:nvSpPr>
          <p:cNvPr id="12" name="Text 10"/>
          <p:cNvSpPr/>
          <p:nvPr/>
        </p:nvSpPr>
        <p:spPr>
          <a:xfrm>
            <a:off x="914400" y="30586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880360"/>
            <a:ext cx="9692640" cy="7772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 rămas aproximativ la fel</a:t>
            </a:r>
            <a:endParaRPr lang="en-US" sz="2000" dirty="0"/>
          </a:p>
        </p:txBody>
      </p:sp>
      <p:sp>
        <p:nvSpPr>
          <p:cNvPr id="14" name="Shape 12"/>
          <p:cNvSpPr/>
          <p:nvPr/>
        </p:nvSpPr>
        <p:spPr>
          <a:xfrm>
            <a:off x="594360" y="384048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914400" y="4018788"/>
            <a:ext cx="420624" cy="420624"/>
          </a:xfrm>
          <a:prstGeom prst="ellipse">
            <a:avLst/>
          </a:prstGeom>
          <a:solidFill>
            <a:srgbClr val="FFC24B"/>
          </a:solidFill>
          <a:ln/>
        </p:spPr>
        <p:txBody>
          <a:bodyPr/>
          <a:p/>
        </p:txBody>
      </p:sp>
      <p:sp>
        <p:nvSpPr>
          <p:cNvPr id="16" name="Text 14"/>
          <p:cNvSpPr/>
          <p:nvPr/>
        </p:nvSpPr>
        <p:spPr>
          <a:xfrm>
            <a:off x="914400" y="40187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840480"/>
            <a:ext cx="9692640" cy="77724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 scăzut</a:t>
            </a:r>
            <a:endParaRPr lang="en-US" sz="2000" dirty="0"/>
          </a:p>
        </p:txBody>
      </p:sp>
      <p:sp>
        <p:nvSpPr>
          <p:cNvPr id="18" name="Text 16"/>
          <p:cNvSpPr/>
          <p:nvPr/>
        </p:nvSpPr>
        <p:spPr>
          <a:xfrm>
            <a:off x="594360" y="4983480"/>
            <a:ext cx="8229600" cy="4572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Votați acum; discutăm imediat după.</a:t>
            </a:r>
            <a:endParaRPr lang="en-US" sz="1600" dirty="0"/>
          </a:p>
        </p:txBody>
      </p:sp>
      <p:sp>
        <p:nvSpPr>
          <p:cNvPr id="19" name="Shape 17"/>
          <p:cNvSpPr/>
          <p:nvPr/>
        </p:nvSpPr>
        <p:spPr>
          <a:xfrm>
            <a:off x="9509760" y="4892040"/>
            <a:ext cx="2057400" cy="1691640"/>
          </a:xfrm>
          <a:prstGeom prst="roundRect">
            <a:avLst>
              <a:gd name="adj" fmla="val 4865"/>
            </a:avLst>
          </a:prstGeom>
          <a:solidFill>
            <a:srgbClr val="FFFFFF"/>
          </a:solidFill>
          <a:ln w="12700">
            <a:solidFill>
              <a:srgbClr val="FFFFFF"/>
            </a:solidFill>
            <a:prstDash val="solid"/>
          </a:ln>
        </p:spPr>
        <p:txBody>
          <a:bodyPr/>
          <a:p/>
        </p:txBody>
      </p:sp>
      <p:pic>
        <p:nvPicPr>
          <p:cNvPr id="20" name="Picture 19" descr="Mentimeter_OPT_DROGURI_C03.png"/>
          <p:cNvPicPr>
            <a:picLocks noChangeAspect="1"/>
          </p:cNvPicPr>
          <p:nvPr/>
        </p:nvPicPr>
        <p:blipFill>
          <a:blip r:embed="rId3"/>
          <a:stretch>
            <a:fillRect/>
          </a:stretch>
        </p:blipFill>
        <p:spPr>
          <a:xfrm>
            <a:off x="9909809" y="4892040"/>
            <a:ext cx="1257301" cy="1257301"/>
          </a:xfrm>
          <a:prstGeom prst="rect">
            <a:avLst/>
          </a:prstGeom>
        </p:spPr>
      </p:pic>
      <p:sp>
        <p:nvSpPr>
          <p:cNvPr id="21" name="TextBox 20"/>
          <p:cNvSpPr txBox="1"/>
          <p:nvPr/>
        </p:nvSpPr>
        <p:spPr>
          <a:xfrm>
            <a:off x="9509760" y="618744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COMISIA THE LANCET · 2016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spune comisia The Lancet</a:t>
            </a:r>
            <a:endParaRPr lang="en-US" sz="3200" dirty="0"/>
          </a:p>
        </p:txBody>
      </p:sp>
      <p:sp>
        <p:nvSpPr>
          <p:cNvPr id="4" name="Shape 2"/>
          <p:cNvSpPr/>
          <p:nvPr/>
        </p:nvSpPr>
        <p:spPr>
          <a:xfrm>
            <a:off x="594360" y="150876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5" name="Text 3"/>
          <p:cNvSpPr/>
          <p:nvPr/>
        </p:nvSpPr>
        <p:spPr>
          <a:xfrm>
            <a:off x="868680" y="1508760"/>
            <a:ext cx="10424160" cy="123444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Portugalia: economii, mai puține încarcerări, beneficii pentru sănătatea publică și fără o creștere semnificativă a consumului.</a:t>
            </a:r>
            <a:endParaRPr lang="en-US" sz="1800" dirty="0"/>
          </a:p>
        </p:txBody>
      </p:sp>
      <p:sp>
        <p:nvSpPr>
          <p:cNvPr id="6" name="Shape 4"/>
          <p:cNvSpPr/>
          <p:nvPr/>
        </p:nvSpPr>
        <p:spPr>
          <a:xfrm>
            <a:off x="594360" y="2880360"/>
            <a:ext cx="10972800" cy="1371600"/>
          </a:xfrm>
          <a:prstGeom prst="roundRect">
            <a:avLst>
              <a:gd name="adj" fmla="val 6000"/>
            </a:avLst>
          </a:prstGeom>
          <a:solidFill>
            <a:srgbClr val="E1F0EC"/>
          </a:solidFill>
          <a:ln w="12700">
            <a:solidFill>
              <a:srgbClr val="E1F0EC"/>
            </a:solidFill>
            <a:prstDash val="solid"/>
          </a:ln>
        </p:spPr>
        <p:txBody>
          <a:bodyPr/>
          <a:p/>
        </p:txBody>
      </p:sp>
      <p:sp>
        <p:nvSpPr>
          <p:cNvPr id="7" name="Text 5"/>
          <p:cNvSpPr/>
          <p:nvPr/>
        </p:nvSpPr>
        <p:spPr>
          <a:xfrm>
            <a:off x="868680" y="2880360"/>
            <a:ext cx="10424160" cy="137160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Dezincriminarea, </a:t>
            </a:r>
            <a:pPr indent="0" marL="0">
              <a:buNone/>
            </a:pPr>
            <a:r>
              <a:rPr lang="en-US" sz="1800" b="1" u="sng" dirty="0">
                <a:solidFill>
                  <a:srgbClr val="0E7C6B"/>
                </a:solidFill>
                <a:latin typeface="Palatino Linotype" pitchFamily="34" charset="0"/>
                <a:ea typeface="Palatino Linotype" pitchFamily="34" charset="-122"/>
                <a:cs typeface="Palatino Linotype" pitchFamily="34" charset="-120"/>
              </a:rPr>
              <a:t>împreună cu</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 extinderea serviciilor de prevenire a HIV, a permis controlul unei epidemii explozive de HIV prin injectare.</a:t>
            </a:r>
            <a:endParaRPr lang="en-US" sz="1800" dirty="0"/>
          </a:p>
        </p:txBody>
      </p:sp>
      <p:sp>
        <p:nvSpPr>
          <p:cNvPr id="8" name="Text 6"/>
          <p:cNvSpPr/>
          <p:nvPr/>
        </p:nvSpPr>
        <p:spPr>
          <a:xfrm>
            <a:off x="594360" y="4434840"/>
            <a:ext cx="10972800"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Citiți a doua frază încă o dată. Nu scrie „dezincriminarea a oprit epidemia”.</a:t>
            </a:r>
            <a:endParaRPr lang="en-US" sz="1700" dirty="0"/>
          </a:p>
        </p:txBody>
      </p:sp>
      <p:sp>
        <p:nvSpPr>
          <p:cNvPr id="9" name="Text 7"/>
          <p:cNvSpPr/>
          <p:nvPr/>
        </p:nvSpPr>
        <p:spPr>
          <a:xfrm>
            <a:off x="594360" y="4983480"/>
            <a:ext cx="10972800" cy="73152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Comisia nu e un observator neutru: recomandă dezincriminarea, iar unul dintre autori era afiliat Ministerului Sănătății portughez.</a:t>
            </a:r>
            <a:endParaRPr lang="en-US" sz="15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Csete și colab., The Lancet, 2016.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Problema atribuirii</a:t>
            </a:r>
            <a:endParaRPr lang="en-US" sz="3400" dirty="0"/>
          </a:p>
        </p:txBody>
      </p:sp>
      <p:sp>
        <p:nvSpPr>
          <p:cNvPr id="4" name="Text 2"/>
          <p:cNvSpPr/>
          <p:nvPr/>
        </p:nvSpPr>
        <p:spPr>
          <a:xfrm>
            <a:off x="594360" y="1417320"/>
            <a:ext cx="5577840" cy="10515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Două schimbări în același timp; datele nu spun cât din rezultat se datorează fiecăreia.</a:t>
            </a:r>
            <a:endParaRPr lang="en-US" sz="1800" dirty="0"/>
          </a:p>
        </p:txBody>
      </p:sp>
      <p:sp>
        <p:nvSpPr>
          <p:cNvPr id="5" name="Text 3"/>
          <p:cNvSpPr/>
          <p:nvPr/>
        </p:nvSpPr>
        <p:spPr>
          <a:xfrm>
            <a:off x="594360" y="2560320"/>
            <a:ext cx="5577840" cy="868680"/>
          </a:xfrm>
          <a:prstGeom prst="rect">
            <a:avLst/>
          </a:prstGeom>
          <a:noFill/>
          <a:ln/>
        </p:spPr>
        <p:txBody>
          <a:bodyPr wrap="square" lIns="0" tIns="0" rIns="0" bIns="0" rtlCol="0" anchor="t"/>
          <a:lstStyle/>
          <a:p>
            <a:pPr indent="0" marL="0">
              <a:buNone/>
            </a:pPr>
            <a:r>
              <a:rPr lang="en-US" sz="1900" b="1" i="1" dirty="0">
                <a:solidFill>
                  <a:srgbClr val="FFC24B"/>
                </a:solidFill>
                <a:latin typeface="Palatino Linotype" pitchFamily="34" charset="0"/>
                <a:ea typeface="Palatino Linotype" pitchFamily="34" charset="-122"/>
                <a:cs typeface="Palatino Linotype" pitchFamily="34" charset="-120"/>
              </a:rPr>
              <a:t>„Știm că s-a îmbunătățit, nu știm cui îi dăm meritul.”</a:t>
            </a:r>
            <a:endParaRPr lang="en-US" sz="1900" dirty="0"/>
          </a:p>
        </p:txBody>
      </p:sp>
      <p:sp>
        <p:nvSpPr>
          <p:cNvPr id="6" name="Text 4"/>
          <p:cNvSpPr/>
          <p:nvPr/>
        </p:nvSpPr>
        <p:spPr>
          <a:xfrm>
            <a:off x="594360" y="3657600"/>
            <a:ext cx="5577840" cy="109728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Portugalia: o analiză din 2021 scrie că scăderea infecțiilor și a încarcerărilor nu poate fi legată liniar de lege.</a:t>
            </a:r>
            <a:endParaRPr lang="en-US" sz="1550" dirty="0"/>
          </a:p>
        </p:txBody>
      </p:sp>
      <p:sp>
        <p:nvSpPr>
          <p:cNvPr id="7" name="Shape 5"/>
          <p:cNvSpPr/>
          <p:nvPr/>
        </p:nvSpPr>
        <p:spPr>
          <a:xfrm>
            <a:off x="6492240" y="1463040"/>
            <a:ext cx="5074920" cy="4206240"/>
          </a:xfrm>
          <a:prstGeom prst="roundRect">
            <a:avLst>
              <a:gd name="adj" fmla="val 1957"/>
            </a:avLst>
          </a:prstGeom>
          <a:solidFill>
            <a:srgbClr val="1D1F2B"/>
          </a:solidFill>
          <a:ln w="12700">
            <a:solidFill>
              <a:srgbClr val="1D1F2B"/>
            </a:solidFill>
            <a:prstDash val="solid"/>
          </a:ln>
        </p:spPr>
        <p:txBody>
          <a:bodyPr/>
          <a:p/>
        </p:txBody>
      </p:sp>
      <p:sp>
        <p:nvSpPr>
          <p:cNvPr id="8" name="Text 6"/>
          <p:cNvSpPr/>
          <p:nvPr/>
        </p:nvSpPr>
        <p:spPr>
          <a:xfrm>
            <a:off x="6766560" y="1645920"/>
            <a:ext cx="4572000" cy="274320"/>
          </a:xfrm>
          <a:prstGeom prst="rect">
            <a:avLst/>
          </a:prstGeom>
          <a:noFill/>
          <a:ln/>
        </p:spPr>
        <p:txBody>
          <a:bodyPr wrap="square" lIns="0" tIns="0" rIns="0" bIns="0" rtlCol="0" anchor="t"/>
          <a:lstStyle/>
          <a:p>
            <a:pPr indent="0" marL="0">
              <a:buNone/>
            </a:pPr>
            <a:r>
              <a:rPr lang="en-US" sz="1200" b="1" spc="200" kern="0" dirty="0">
                <a:solidFill>
                  <a:srgbClr val="27D3BE"/>
                </a:solidFill>
                <a:latin typeface="Palatino Linotype" pitchFamily="34" charset="0"/>
                <a:ea typeface="Palatino Linotype" pitchFamily="34" charset="-122"/>
                <a:cs typeface="Palatino Linotype" pitchFamily="34" charset="-120"/>
              </a:rPr>
              <a:t>SPITALUL ȘI NOUL PROTOCOL</a:t>
            </a:r>
            <a:endParaRPr lang="en-US" sz="1200" dirty="0"/>
          </a:p>
        </p:txBody>
      </p:sp>
      <p:sp>
        <p:nvSpPr>
          <p:cNvPr id="9" name="Text 7"/>
          <p:cNvSpPr/>
          <p:nvPr/>
        </p:nvSpPr>
        <p:spPr>
          <a:xfrm>
            <a:off x="6766560" y="2011680"/>
            <a:ext cx="4572000" cy="12801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În aceeași lună: doi medici noi la urgențe și un protocol nou de triaj. Așteptarea scade la jumătate.</a:t>
            </a:r>
            <a:endParaRPr lang="en-US" sz="1600" dirty="0"/>
          </a:p>
        </p:txBody>
      </p:sp>
      <p:sp>
        <p:nvSpPr>
          <p:cNvPr id="10" name="Text 8"/>
          <p:cNvSpPr/>
          <p:nvPr/>
        </p:nvSpPr>
        <p:spPr>
          <a:xfrm>
            <a:off x="6766560" y="3383280"/>
            <a:ext cx="4572000" cy="9144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Directorul: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„protocolul a funcționat”.</a:t>
            </a:r>
            <a:endParaRPr lang="en-US" sz="1600" dirty="0"/>
          </a:p>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Sindicatul: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„angajările au funcționat”.</a:t>
            </a:r>
            <a:endParaRPr lang="en-US" sz="1600" dirty="0"/>
          </a:p>
        </p:txBody>
      </p:sp>
      <p:sp>
        <p:nvSpPr>
          <p:cNvPr id="11" name="Text 9"/>
          <p:cNvSpPr/>
          <p:nvPr/>
        </p:nvSpPr>
        <p:spPr>
          <a:xfrm>
            <a:off x="6766560" y="4434840"/>
            <a:ext cx="4572000" cy="41148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Amândoi citesc aceeași cifră.</a:t>
            </a:r>
            <a:endParaRPr lang="en-US" sz="1600" dirty="0"/>
          </a:p>
        </p:txBody>
      </p:sp>
      <p:sp>
        <p:nvSpPr>
          <p:cNvPr id="12" name="Text 10"/>
          <p:cNvSpPr/>
          <p:nvPr/>
        </p:nvSpPr>
        <p:spPr>
          <a:xfrm>
            <a:off x="6766560" y="5257800"/>
            <a:ext cx="45720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Valori ipotetice.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a:off x="822960" y="1005840"/>
            <a:ext cx="10515600" cy="2377440"/>
          </a:xfrm>
          <a:prstGeom prst="rect">
            <a:avLst/>
          </a:prstGeom>
          <a:solidFill>
            <a:srgbClr val="FBF8F1"/>
          </a:solidFill>
          <a:ln w="9525">
            <a:solidFill>
              <a:srgbClr val="D6D2C8"/>
            </a:solidFill>
            <a:prstDash val="solid"/>
          </a:ln>
          <a:effectLst>
            <a:outerShdw sx="100000" sy="100000" kx="0" ky="0" algn="bl" rotWithShape="0" blurRad="127000" dist="63500" dir="3600000">
              <a:srgbClr val="000000">
                <a:alpha val="45000"/>
              </a:srgbClr>
            </a:outerShdw>
          </a:effectLst>
        </p:spPr>
        <p:txBody>
          <a:bodyPr/>
          <a:p/>
        </p:txBody>
      </p:sp>
      <p:sp>
        <p:nvSpPr>
          <p:cNvPr id="6" name="Shape 4"/>
          <p:cNvSpPr/>
          <p:nvPr/>
        </p:nvSpPr>
        <p:spPr>
          <a:xfrm>
            <a:off x="1234440" y="1417320"/>
            <a:ext cx="9692640" cy="27432"/>
          </a:xfrm>
          <a:prstGeom prst="rect">
            <a:avLst/>
          </a:prstGeom>
          <a:solidFill>
            <a:srgbClr val="11121A"/>
          </a:solidFill>
          <a:ln w="12700">
            <a:solidFill>
              <a:srgbClr val="11121A"/>
            </a:solidFill>
            <a:prstDash val="solid"/>
          </a:ln>
        </p:spPr>
        <p:txBody>
          <a:bodyPr/>
          <a:p/>
        </p:txBody>
      </p:sp>
      <p:sp>
        <p:nvSpPr>
          <p:cNvPr id="7" name="Text 5"/>
          <p:cNvSpPr/>
          <p:nvPr/>
        </p:nvSpPr>
        <p:spPr>
          <a:xfrm>
            <a:off x="1234440" y="1536192"/>
            <a:ext cx="9692640" cy="274320"/>
          </a:xfrm>
          <a:prstGeom prst="rect">
            <a:avLst/>
          </a:prstGeom>
          <a:noFill/>
          <a:ln/>
        </p:spPr>
        <p:txBody>
          <a:bodyPr wrap="square" lIns="0" tIns="0" rIns="0" bIns="0" rtlCol="0" anchor="t"/>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TITLU CONSTRUIT DUPĂ CELE CARE CIRCULĂ</a:t>
            </a:r>
            <a:endParaRPr lang="en-US" sz="1100" dirty="0"/>
          </a:p>
        </p:txBody>
      </p:sp>
      <p:sp>
        <p:nvSpPr>
          <p:cNvPr id="8" name="Text 6"/>
          <p:cNvSpPr/>
          <p:nvPr/>
        </p:nvSpPr>
        <p:spPr>
          <a:xfrm>
            <a:off x="1234440" y="1920240"/>
            <a:ext cx="9692640" cy="128016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Portugalia a învins drogurile prin lege.</a:t>
            </a:r>
            <a:endParaRPr lang="en-US" sz="3600" dirty="0"/>
          </a:p>
        </p:txBody>
      </p:sp>
      <p:sp>
        <p:nvSpPr>
          <p:cNvPr id="9" name="Shape 7"/>
          <p:cNvSpPr/>
          <p:nvPr/>
        </p:nvSpPr>
        <p:spPr>
          <a:xfrm>
            <a:off x="822960" y="374904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0" name="Text 8"/>
          <p:cNvSpPr/>
          <p:nvPr/>
        </p:nvSpPr>
        <p:spPr>
          <a:xfrm>
            <a:off x="822960" y="374904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Da</a:t>
            </a:r>
            <a:endParaRPr lang="en-US" sz="1500" dirty="0"/>
          </a:p>
        </p:txBody>
      </p:sp>
      <p:sp>
        <p:nvSpPr>
          <p:cNvPr id="11" name="Shape 9"/>
          <p:cNvSpPr/>
          <p:nvPr/>
        </p:nvSpPr>
        <p:spPr>
          <a:xfrm>
            <a:off x="3200400" y="374904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2" name="Text 10"/>
          <p:cNvSpPr/>
          <p:nvPr/>
        </p:nvSpPr>
        <p:spPr>
          <a:xfrm>
            <a:off x="3200400" y="374904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a:t>
            </a:r>
            <a:endParaRPr lang="en-US" sz="1500" dirty="0"/>
          </a:p>
        </p:txBody>
      </p:sp>
      <p:sp>
        <p:nvSpPr>
          <p:cNvPr id="13" name="Shape 11"/>
          <p:cNvSpPr/>
          <p:nvPr/>
        </p:nvSpPr>
        <p:spPr>
          <a:xfrm>
            <a:off x="5577840" y="374904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5577840" y="374904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Depinde</a:t>
            </a:r>
            <a:endParaRPr lang="en-US" sz="1500" dirty="0"/>
          </a:p>
        </p:txBody>
      </p:sp>
      <p:sp>
        <p:nvSpPr>
          <p:cNvPr id="15" name="Text 13"/>
          <p:cNvSpPr/>
          <p:nvPr/>
        </p:nvSpPr>
        <p:spPr>
          <a:xfrm>
            <a:off x="594360" y="4434840"/>
            <a:ext cx="10972800" cy="82296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După vot, trei răspunsuri în chat: ce cuvânt din titlu depășește datele?</a:t>
            </a:r>
            <a:endParaRPr lang="en-US" sz="2000" dirty="0"/>
          </a:p>
        </p:txBody>
      </p:sp>
      <p:sp>
        <p:nvSpPr>
          <p:cNvPr id="16" name="Shape 14"/>
          <p:cNvSpPr/>
          <p:nvPr/>
        </p:nvSpPr>
        <p:spPr>
          <a:xfrm>
            <a:off x="9509760" y="4846320"/>
            <a:ext cx="2057400" cy="1737360"/>
          </a:xfrm>
          <a:prstGeom prst="roundRect">
            <a:avLst>
              <a:gd name="adj" fmla="val 4737"/>
            </a:avLst>
          </a:prstGeom>
          <a:solidFill>
            <a:srgbClr val="FFFFFF"/>
          </a:solidFill>
          <a:ln w="12700">
            <a:solidFill>
              <a:srgbClr val="FFFFFF"/>
            </a:solidFill>
            <a:prstDash val="solid"/>
          </a:ln>
        </p:spPr>
        <p:txBody>
          <a:bodyPr/>
          <a:p/>
        </p:txBody>
      </p:sp>
      <p:pic>
        <p:nvPicPr>
          <p:cNvPr id="17" name="Picture 16" descr="Mentimeter_OPT_DROGURI_C03.png"/>
          <p:cNvPicPr>
            <a:picLocks noChangeAspect="1"/>
          </p:cNvPicPr>
          <p:nvPr/>
        </p:nvPicPr>
        <p:blipFill>
          <a:blip r:embed="rId3"/>
          <a:stretch>
            <a:fillRect/>
          </a:stretch>
        </p:blipFill>
        <p:spPr>
          <a:xfrm>
            <a:off x="9886949" y="4846320"/>
            <a:ext cx="1303021" cy="1303021"/>
          </a:xfrm>
          <a:prstGeom prst="rect">
            <a:avLst/>
          </a:prstGeom>
        </p:spPr>
      </p:pic>
      <p:sp>
        <p:nvSpPr>
          <p:cNvPr id="18" name="TextBox 17"/>
          <p:cNvSpPr txBox="1"/>
          <p:nvPr/>
        </p:nvSpPr>
        <p:spPr>
          <a:xfrm>
            <a:off x="9509760" y="618744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CUVÂNTUL CARE DEPĂȘEȘTE DATELE</a:t>
            </a:r>
            <a:endParaRPr lang="en-US" sz="1300" dirty="0"/>
          </a:p>
        </p:txBody>
      </p:sp>
      <p:sp>
        <p:nvSpPr>
          <p:cNvPr id="3" name="Text 1"/>
          <p:cNvSpPr/>
          <p:nvPr/>
        </p:nvSpPr>
        <p:spPr>
          <a:xfrm>
            <a:off x="594360" y="914400"/>
            <a:ext cx="10972800" cy="1188720"/>
          </a:xfrm>
          <a:prstGeom prst="rect">
            <a:avLst/>
          </a:prstGeom>
          <a:noFill/>
          <a:ln/>
        </p:spPr>
        <p:txBody>
          <a:bodyPr wrap="square" lIns="0" tIns="0" rIns="0" bIns="0" rtlCol="0" anchor="t"/>
          <a:lstStyle/>
          <a:p>
            <a:pPr indent="0" marL="0">
              <a:buNone/>
            </a:pPr>
            <a:r>
              <a:rPr lang="en-US" sz="4000" b="1" dirty="0">
                <a:solidFill>
                  <a:srgbClr val="8A8F9E"/>
                </a:solidFill>
                <a:latin typeface="Palatino Linotype" pitchFamily="34" charset="0"/>
                <a:ea typeface="Palatino Linotype" pitchFamily="34" charset="-122"/>
                <a:cs typeface="Palatino Linotype" pitchFamily="34" charset="-120"/>
              </a:rPr>
              <a:t>Portugalia a învins drogurile </a:t>
            </a:r>
            <a:pPr indent="0" marL="0">
              <a:buNone/>
            </a:pPr>
            <a:r>
              <a:rPr lang="en-US" sz="4000" b="1" u="sng" dirty="0">
                <a:solidFill>
                  <a:srgbClr val="B02532"/>
                </a:solidFill>
                <a:latin typeface="Palatino Linotype" pitchFamily="34" charset="0"/>
                <a:ea typeface="Palatino Linotype" pitchFamily="34" charset="-122"/>
                <a:cs typeface="Palatino Linotype" pitchFamily="34" charset="-120"/>
              </a:rPr>
              <a:t>prin lege</a:t>
            </a:r>
            <a:pPr indent="0" marL="0">
              <a:buNone/>
            </a:pPr>
            <a:r>
              <a:rPr lang="en-US" sz="4000" b="1" dirty="0">
                <a:solidFill>
                  <a:srgbClr val="8A8F9E"/>
                </a:solidFill>
                <a:latin typeface="Palatino Linotype" pitchFamily="34" charset="0"/>
                <a:ea typeface="Palatino Linotype" pitchFamily="34" charset="-122"/>
                <a:cs typeface="Palatino Linotype" pitchFamily="34" charset="-120"/>
              </a:rPr>
              <a:t>.</a:t>
            </a:r>
            <a:endParaRPr lang="en-US" sz="4000" dirty="0"/>
          </a:p>
        </p:txBody>
      </p:sp>
      <p:sp>
        <p:nvSpPr>
          <p:cNvPr id="4" name="Text 2"/>
          <p:cNvSpPr/>
          <p:nvPr/>
        </p:nvSpPr>
        <p:spPr>
          <a:xfrm>
            <a:off x="594360" y="2514600"/>
            <a:ext cx="10972800" cy="54864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Rezultatul a venit cu legea și cu serviciile, nu numai prin lege.</a:t>
            </a:r>
            <a:endParaRPr lang="en-US" sz="2200" dirty="0"/>
          </a:p>
        </p:txBody>
      </p:sp>
      <p:sp>
        <p:nvSpPr>
          <p:cNvPr id="5" name="Text 3"/>
          <p:cNvSpPr/>
          <p:nvPr/>
        </p:nvSpPr>
        <p:spPr>
          <a:xfrm>
            <a:off x="594360" y="3246120"/>
            <a:ext cx="10972800" cy="548640"/>
          </a:xfrm>
          <a:prstGeom prst="rect">
            <a:avLst/>
          </a:prstGeom>
          <a:noFill/>
          <a:ln/>
        </p:spPr>
        <p:txBody>
          <a:bodyPr wrap="square" lIns="0" tIns="0" rIns="0" bIns="0" rtlCol="0" anchor="t"/>
          <a:lstStyle/>
          <a:p>
            <a:pPr indent="0" marL="0">
              <a:buNone/>
            </a:pPr>
            <a:r>
              <a:rPr lang="en-US" sz="1900" dirty="0">
                <a:solidFill>
                  <a:srgbClr val="3A3C44"/>
                </a:solidFill>
                <a:latin typeface="Palatino Linotype" pitchFamily="34" charset="0"/>
                <a:ea typeface="Palatino Linotype" pitchFamily="34" charset="-122"/>
                <a:cs typeface="Palatino Linotype" pitchFamily="34" charset="-120"/>
              </a:rPr>
              <a:t>Iar „a învins” este o judecată pe care nicio sursă citată aici nu o face.</a:t>
            </a:r>
            <a:endParaRPr lang="en-US" sz="1900" dirty="0"/>
          </a:p>
        </p:txBody>
      </p:sp>
      <p:sp>
        <p:nvSpPr>
          <p:cNvPr id="6" name="Shape 4"/>
          <p:cNvSpPr/>
          <p:nvPr/>
        </p:nvSpPr>
        <p:spPr>
          <a:xfrm>
            <a:off x="594360" y="4160520"/>
            <a:ext cx="10972800" cy="1188720"/>
          </a:xfrm>
          <a:prstGeom prst="roundRect">
            <a:avLst>
              <a:gd name="adj" fmla="val 6923"/>
            </a:avLst>
          </a:prstGeom>
          <a:solidFill>
            <a:srgbClr val="E1F0EC"/>
          </a:solidFill>
          <a:ln w="12700">
            <a:solidFill>
              <a:srgbClr val="E1F0EC"/>
            </a:solidFill>
            <a:prstDash val="solid"/>
          </a:ln>
        </p:spPr>
        <p:txBody>
          <a:bodyPr/>
          <a:p/>
        </p:txBody>
      </p:sp>
      <p:sp>
        <p:nvSpPr>
          <p:cNvPr id="7" name="Text 5"/>
          <p:cNvSpPr/>
          <p:nvPr/>
        </p:nvSpPr>
        <p:spPr>
          <a:xfrm>
            <a:off x="868680" y="4160520"/>
            <a:ext cx="10424160" cy="11887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Ce putem spune solid: după dezincriminare nu a urmat explozia de consum de care se temeau criticii.</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DUPĂ 2001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Povestea nu s-a oprit în 2001</a:t>
            </a:r>
            <a:endParaRPr lang="en-US" sz="3200" dirty="0"/>
          </a:p>
        </p:txBody>
      </p:sp>
      <p:sp>
        <p:nvSpPr>
          <p:cNvPr id="4" name="Shape 2"/>
          <p:cNvSpPr/>
          <p:nvPr/>
        </p:nvSpPr>
        <p:spPr>
          <a:xfrm>
            <a:off x="822960" y="2148840"/>
            <a:ext cx="5669280" cy="36576"/>
          </a:xfrm>
          <a:prstGeom prst="rect">
            <a:avLst/>
          </a:prstGeom>
          <a:solidFill>
            <a:srgbClr val="3A3E52"/>
          </a:solidFill>
          <a:ln w="12700">
            <a:solidFill>
              <a:srgbClr val="3A3E52"/>
            </a:solidFill>
            <a:prstDash val="solid"/>
          </a:ln>
        </p:spPr>
        <p:txBody>
          <a:bodyPr/>
          <a:p/>
        </p:txBody>
      </p:sp>
      <p:sp>
        <p:nvSpPr>
          <p:cNvPr id="5" name="Shape 3"/>
          <p:cNvSpPr/>
          <p:nvPr/>
        </p:nvSpPr>
        <p:spPr>
          <a:xfrm>
            <a:off x="822960" y="2011680"/>
            <a:ext cx="310896" cy="310896"/>
          </a:xfrm>
          <a:prstGeom prst="ellipse">
            <a:avLst/>
          </a:prstGeom>
          <a:solidFill>
            <a:srgbClr val="27D3BE"/>
          </a:solidFill>
          <a:ln w="25400">
            <a:solidFill>
              <a:srgbClr val="11121A"/>
            </a:solidFill>
            <a:prstDash val="solid"/>
          </a:ln>
        </p:spPr>
        <p:txBody>
          <a:bodyPr/>
          <a:p/>
        </p:txBody>
      </p:sp>
      <p:sp>
        <p:nvSpPr>
          <p:cNvPr id="6" name="Text 4"/>
          <p:cNvSpPr/>
          <p:nvPr/>
        </p:nvSpPr>
        <p:spPr>
          <a:xfrm>
            <a:off x="822960" y="1508760"/>
            <a:ext cx="2286000" cy="41148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2001</a:t>
            </a:r>
            <a:endParaRPr lang="en-US" sz="2000" dirty="0"/>
          </a:p>
        </p:txBody>
      </p:sp>
      <p:sp>
        <p:nvSpPr>
          <p:cNvPr id="7" name="Text 5"/>
          <p:cNvSpPr/>
          <p:nvPr/>
        </p:nvSpPr>
        <p:spPr>
          <a:xfrm>
            <a:off x="822960" y="2514600"/>
            <a:ext cx="2560320" cy="109728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legea intră în vigoare</a:t>
            </a:r>
            <a:endParaRPr lang="en-US" sz="1500" dirty="0"/>
          </a:p>
        </p:txBody>
      </p:sp>
      <p:sp>
        <p:nvSpPr>
          <p:cNvPr id="8" name="Shape 6"/>
          <p:cNvSpPr/>
          <p:nvPr/>
        </p:nvSpPr>
        <p:spPr>
          <a:xfrm>
            <a:off x="3566160" y="2011680"/>
            <a:ext cx="310896" cy="310896"/>
          </a:xfrm>
          <a:prstGeom prst="ellipse">
            <a:avLst/>
          </a:prstGeom>
          <a:solidFill>
            <a:srgbClr val="FF4757"/>
          </a:solidFill>
          <a:ln w="25400">
            <a:solidFill>
              <a:srgbClr val="11121A"/>
            </a:solidFill>
            <a:prstDash val="solid"/>
          </a:ln>
        </p:spPr>
        <p:txBody>
          <a:bodyPr/>
          <a:p/>
        </p:txBody>
      </p:sp>
      <p:sp>
        <p:nvSpPr>
          <p:cNvPr id="9" name="Text 7"/>
          <p:cNvSpPr/>
          <p:nvPr/>
        </p:nvSpPr>
        <p:spPr>
          <a:xfrm>
            <a:off x="3566160" y="1508760"/>
            <a:ext cx="2286000" cy="41148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2008</a:t>
            </a:r>
            <a:endParaRPr lang="en-US" sz="2000" dirty="0"/>
          </a:p>
        </p:txBody>
      </p:sp>
      <p:sp>
        <p:nvSpPr>
          <p:cNvPr id="10" name="Text 8"/>
          <p:cNvSpPr/>
          <p:nvPr/>
        </p:nvSpPr>
        <p:spPr>
          <a:xfrm>
            <a:off x="3566160" y="2514600"/>
            <a:ext cx="2560320" cy="109728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Curtea Supremă a restabilit infracțiunea peste 10 zile</a:t>
            </a:r>
            <a:endParaRPr lang="en-US" sz="1500" dirty="0"/>
          </a:p>
        </p:txBody>
      </p:sp>
      <p:sp>
        <p:nvSpPr>
          <p:cNvPr id="11" name="Text 9"/>
          <p:cNvSpPr/>
          <p:nvPr/>
        </p:nvSpPr>
        <p:spPr>
          <a:xfrm>
            <a:off x="594360" y="3886200"/>
            <a:ext cx="6035040" cy="118872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Paradoxul, după o analiză din 2021: o țară care a dezincriminat a devenit, în ultimul deceniu, mai severă cu consumatorii.</a:t>
            </a:r>
            <a:endParaRPr lang="en-US" sz="1550" dirty="0"/>
          </a:p>
        </p:txBody>
      </p:sp>
      <p:sp>
        <p:nvSpPr>
          <p:cNvPr id="12" name="Shape 10"/>
          <p:cNvSpPr/>
          <p:nvPr/>
        </p:nvSpPr>
        <p:spPr>
          <a:xfrm>
            <a:off x="6903720" y="1508760"/>
            <a:ext cx="4663440" cy="3931920"/>
          </a:xfrm>
          <a:prstGeom prst="roundRect">
            <a:avLst>
              <a:gd name="adj" fmla="val 2093"/>
            </a:avLst>
          </a:prstGeom>
          <a:solidFill>
            <a:srgbClr val="1D1F2B"/>
          </a:solidFill>
          <a:ln w="12700">
            <a:solidFill>
              <a:srgbClr val="1D1F2B"/>
            </a:solidFill>
            <a:prstDash val="solid"/>
          </a:ln>
        </p:spPr>
        <p:txBody>
          <a:bodyPr/>
          <a:p/>
        </p:txBody>
      </p:sp>
      <p:sp>
        <p:nvSpPr>
          <p:cNvPr id="13" name="Text 11"/>
          <p:cNvSpPr/>
          <p:nvPr/>
        </p:nvSpPr>
        <p:spPr>
          <a:xfrm>
            <a:off x="7178040" y="1691640"/>
            <a:ext cx="420624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Dezincriminare ≠ legalizare</a:t>
            </a:r>
            <a:endParaRPr lang="en-US" sz="1900" dirty="0"/>
          </a:p>
        </p:txBody>
      </p:sp>
      <p:sp>
        <p:nvSpPr>
          <p:cNvPr id="14" name="Text 12"/>
          <p:cNvSpPr/>
          <p:nvPr/>
        </p:nvSpPr>
        <p:spPr>
          <a:xfrm>
            <a:off x="7178040" y="2240280"/>
            <a:ext cx="4206240" cy="173736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Consumatorul nu mai e infractor; cine vinde rămâne în afara legii. Statul nu controlează ce se vinde: nici puritatea, nici concentrația.</a:t>
            </a:r>
            <a:endParaRPr lang="en-US" sz="1550" dirty="0"/>
          </a:p>
        </p:txBody>
      </p:sp>
      <p:sp>
        <p:nvSpPr>
          <p:cNvPr id="15" name="Text 13"/>
          <p:cNvSpPr/>
          <p:nvPr/>
        </p:nvSpPr>
        <p:spPr>
          <a:xfrm>
            <a:off x="7178040" y="4069080"/>
            <a:ext cx="4206240" cy="118872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Cifrele recente din presă (decese, seringi, bugete) nu au putut fi verificate în documentul primar.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CHAT · 30 DE SECUNDE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ÎNTÂI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„Portugalia nu a legalizat drogurile: a scos consumul din codul penal și a trimis oamenii la o comisie, iar în același timp a extins tratamentul. Consumul nu a explodat. Cât din rest se datorează legii, nu știe nimeni.”</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 într-o frază.</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3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DOUA · CELE DOUĂ TABERE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Moțiunea și cele două tabere</a:t>
            </a:r>
            <a:endParaRPr lang="en-US" sz="3200" dirty="0"/>
          </a:p>
        </p:txBody>
      </p:sp>
      <p:sp>
        <p:nvSpPr>
          <p:cNvPr id="6" name="Text 4"/>
          <p:cNvSpPr/>
          <p:nvPr/>
        </p:nvSpPr>
        <p:spPr>
          <a:xfrm>
            <a:off x="594360" y="1417320"/>
            <a:ext cx="10972800" cy="868680"/>
          </a:xfrm>
          <a:prstGeom prst="rect">
            <a:avLst/>
          </a:prstGeom>
          <a:noFill/>
          <a:ln/>
        </p:spPr>
        <p:txBody>
          <a:bodyPr wrap="square" lIns="0" tIns="0" rIns="0" bIns="0" rtlCol="0" anchor="t"/>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„România ar trebui să adopte modelul portughez de dezincriminare a consumului personal de droguri.”</a:t>
            </a:r>
            <a:endParaRPr lang="en-US" sz="1900" dirty="0"/>
          </a:p>
        </p:txBody>
      </p:sp>
      <p:sp>
        <p:nvSpPr>
          <p:cNvPr id="7" name="Shape 5"/>
          <p:cNvSpPr/>
          <p:nvPr/>
        </p:nvSpPr>
        <p:spPr>
          <a:xfrm>
            <a:off x="594360" y="2468880"/>
            <a:ext cx="5349240" cy="1737360"/>
          </a:xfrm>
          <a:prstGeom prst="roundRect">
            <a:avLst>
              <a:gd name="adj" fmla="val 4737"/>
            </a:avLst>
          </a:prstGeom>
          <a:solidFill>
            <a:srgbClr val="27D3BE"/>
          </a:solidFill>
          <a:ln w="12700">
            <a:solidFill>
              <a:srgbClr val="27D3BE"/>
            </a:solidFill>
            <a:prstDash val="solid"/>
          </a:ln>
        </p:spPr>
        <p:txBody>
          <a:bodyPr/>
          <a:p/>
        </p:txBody>
      </p:sp>
      <p:sp>
        <p:nvSpPr>
          <p:cNvPr id="8" name="Text 6"/>
          <p:cNvSpPr/>
          <p:nvPr/>
        </p:nvSpPr>
        <p:spPr>
          <a:xfrm>
            <a:off x="868680" y="2651760"/>
            <a:ext cx="4754880" cy="457200"/>
          </a:xfrm>
          <a:prstGeom prst="rect">
            <a:avLst/>
          </a:prstGeom>
          <a:noFill/>
          <a:ln/>
        </p:spPr>
        <p:txBody>
          <a:bodyPr wrap="square" lIns="0" tIns="0" rIns="0" bIns="0" rtlCol="0" anchor="t"/>
          <a:lstStyle/>
          <a:p>
            <a:pPr indent="0" marL="0">
              <a:buNone/>
            </a:pPr>
            <a:r>
              <a:rPr lang="en-US" sz="2200" b="1" spc="200" kern="0" dirty="0">
                <a:solidFill>
                  <a:srgbClr val="073B34"/>
                </a:solidFill>
                <a:latin typeface="Palatino Linotype" pitchFamily="34" charset="0"/>
                <a:ea typeface="Palatino Linotype" pitchFamily="34" charset="-122"/>
                <a:cs typeface="Palatino Linotype" pitchFamily="34" charset="-120"/>
              </a:rPr>
              <a:t>NĂSCUȚI IAN.–IUN.</a:t>
            </a:r>
            <a:endParaRPr lang="en-US" sz="2200" dirty="0"/>
          </a:p>
        </p:txBody>
      </p:sp>
      <p:sp>
        <p:nvSpPr>
          <p:cNvPr id="9" name="Text 7"/>
          <p:cNvSpPr/>
          <p:nvPr/>
        </p:nvSpPr>
        <p:spPr>
          <a:xfrm>
            <a:off x="868680" y="3200400"/>
            <a:ext cx="4754880" cy="548640"/>
          </a:xfrm>
          <a:prstGeom prst="rect">
            <a:avLst/>
          </a:prstGeom>
          <a:noFill/>
          <a:ln/>
        </p:spPr>
        <p:txBody>
          <a:bodyPr wrap="square" lIns="0" tIns="0" rIns="0" bIns="0" rtlCol="0" anchor="t"/>
          <a:lstStyle/>
          <a:p>
            <a:pPr indent="0" marL="0">
              <a:buNone/>
            </a:pPr>
            <a:r>
              <a:rPr lang="en-US" sz="1900" dirty="0">
                <a:solidFill>
                  <a:srgbClr val="073B34"/>
                </a:solidFill>
                <a:latin typeface="Palatino Linotype" pitchFamily="34" charset="0"/>
                <a:ea typeface="Palatino Linotype" pitchFamily="34" charset="-122"/>
                <a:cs typeface="Palatino Linotype" pitchFamily="34" charset="-120"/>
              </a:rPr>
              <a:t>pentru moțiune</a:t>
            </a:r>
            <a:endParaRPr lang="en-US" sz="1900" dirty="0"/>
          </a:p>
        </p:txBody>
      </p:sp>
      <p:sp>
        <p:nvSpPr>
          <p:cNvPr id="10" name="Shape 8"/>
          <p:cNvSpPr/>
          <p:nvPr/>
        </p:nvSpPr>
        <p:spPr>
          <a:xfrm>
            <a:off x="6217920" y="2468880"/>
            <a:ext cx="5349240" cy="1737360"/>
          </a:xfrm>
          <a:prstGeom prst="roundRect">
            <a:avLst>
              <a:gd name="adj" fmla="val 4737"/>
            </a:avLst>
          </a:prstGeom>
          <a:solidFill>
            <a:srgbClr val="FF4757"/>
          </a:solidFill>
          <a:ln w="12700">
            <a:solidFill>
              <a:srgbClr val="FF4757"/>
            </a:solidFill>
            <a:prstDash val="solid"/>
          </a:ln>
        </p:spPr>
        <p:txBody>
          <a:bodyPr/>
          <a:p/>
        </p:txBody>
      </p:sp>
      <p:sp>
        <p:nvSpPr>
          <p:cNvPr id="11" name="Text 9"/>
          <p:cNvSpPr/>
          <p:nvPr/>
        </p:nvSpPr>
        <p:spPr>
          <a:xfrm>
            <a:off x="6492240" y="2651760"/>
            <a:ext cx="4754880" cy="457200"/>
          </a:xfrm>
          <a:prstGeom prst="rect">
            <a:avLst/>
          </a:prstGeom>
          <a:noFill/>
          <a:ln/>
        </p:spPr>
        <p:txBody>
          <a:bodyPr wrap="square" lIns="0" tIns="0" rIns="0" bIns="0" rtlCol="0" anchor="t"/>
          <a:lstStyle/>
          <a:p>
            <a:pPr indent="0" marL="0">
              <a:buNone/>
            </a:pPr>
            <a:r>
              <a:rPr lang="en-US" sz="2200" b="1" spc="200" kern="0" dirty="0">
                <a:solidFill>
                  <a:srgbClr val="2E060B"/>
                </a:solidFill>
                <a:latin typeface="Palatino Linotype" pitchFamily="34" charset="0"/>
                <a:ea typeface="Palatino Linotype" pitchFamily="34" charset="-122"/>
                <a:cs typeface="Palatino Linotype" pitchFamily="34" charset="-120"/>
              </a:rPr>
              <a:t>NĂSCUȚI IUL.–DEC.</a:t>
            </a:r>
            <a:endParaRPr lang="en-US" sz="2200" dirty="0"/>
          </a:p>
        </p:txBody>
      </p:sp>
      <p:sp>
        <p:nvSpPr>
          <p:cNvPr id="12" name="Text 10"/>
          <p:cNvSpPr/>
          <p:nvPr/>
        </p:nvSpPr>
        <p:spPr>
          <a:xfrm>
            <a:off x="6492240" y="3200400"/>
            <a:ext cx="4754880" cy="548640"/>
          </a:xfrm>
          <a:prstGeom prst="rect">
            <a:avLst/>
          </a:prstGeom>
          <a:noFill/>
          <a:ln/>
        </p:spPr>
        <p:txBody>
          <a:bodyPr wrap="square" lIns="0" tIns="0" rIns="0" bIns="0" rtlCol="0" anchor="t"/>
          <a:lstStyle/>
          <a:p>
            <a:pPr indent="0" marL="0">
              <a:buNone/>
            </a:pPr>
            <a:r>
              <a:rPr lang="en-US" sz="1900" dirty="0">
                <a:solidFill>
                  <a:srgbClr val="2E060B"/>
                </a:solidFill>
                <a:latin typeface="Palatino Linotype" pitchFamily="34" charset="0"/>
                <a:ea typeface="Palatino Linotype" pitchFamily="34" charset="-122"/>
                <a:cs typeface="Palatino Linotype" pitchFamily="34" charset="-120"/>
              </a:rPr>
              <a:t>împotriva moțiunii</a:t>
            </a:r>
            <a:endParaRPr lang="en-US" sz="1900" dirty="0"/>
          </a:p>
        </p:txBody>
      </p:sp>
      <p:sp>
        <p:nvSpPr>
          <p:cNvPr id="13" name="Text 11"/>
          <p:cNvSpPr/>
          <p:nvPr/>
        </p:nvSpPr>
        <p:spPr>
          <a:xfrm>
            <a:off x="594360" y="443484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Indiferent de primul vot. În chat, cu „PENTRU” sau „ÎMPOTRIVĂ” în față.</a:t>
            </a:r>
            <a:endParaRPr lang="en-US" sz="1800" dirty="0"/>
          </a:p>
        </p:txBody>
      </p:sp>
      <p:sp>
        <p:nvSpPr>
          <p:cNvPr id="14" name="Text 12"/>
          <p:cNvSpPr/>
          <p:nvPr/>
        </p:nvSpPr>
        <p:spPr>
          <a:xfrm>
            <a:off x="594360" y="5029200"/>
            <a:ext cx="10972800" cy="8229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Scopul nu e să câștige cineva, ci să vedeți unde se termină faptul și unde începe valoarea. Dezbaterea nu se notează.</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5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CELE DOUĂ TABERE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Prima rundă</a:t>
            </a:r>
            <a:endParaRPr lang="en-US" sz="3400" dirty="0"/>
          </a:p>
        </p:txBody>
      </p:sp>
      <p:sp>
        <p:nvSpPr>
          <p:cNvPr id="6" name="Shape 4"/>
          <p:cNvSpPr/>
          <p:nvPr/>
        </p:nvSpPr>
        <p:spPr>
          <a:xfrm>
            <a:off x="594360" y="1645920"/>
            <a:ext cx="5349240" cy="2377440"/>
          </a:xfrm>
          <a:prstGeom prst="roundRect">
            <a:avLst>
              <a:gd name="adj" fmla="val 3462"/>
            </a:avLst>
          </a:prstGeom>
          <a:solidFill>
            <a:srgbClr val="1D1F2B"/>
          </a:solidFill>
          <a:ln w="12700">
            <a:solidFill>
              <a:srgbClr val="1D1F2B"/>
            </a:solidFill>
            <a:prstDash val="solid"/>
          </a:ln>
        </p:spPr>
        <p:txBody>
          <a:bodyPr/>
          <a:p/>
        </p:txBody>
      </p:sp>
      <p:sp>
        <p:nvSpPr>
          <p:cNvPr id="7" name="Text 5"/>
          <p:cNvSpPr/>
          <p:nvPr/>
        </p:nvSpPr>
        <p:spPr>
          <a:xfrm>
            <a:off x="868680" y="1783080"/>
            <a:ext cx="4754880" cy="457200"/>
          </a:xfrm>
          <a:prstGeom prst="rect">
            <a:avLst/>
          </a:prstGeom>
          <a:noFill/>
          <a:ln/>
        </p:spPr>
        <p:txBody>
          <a:bodyPr wrap="square" lIns="0" tIns="0" rIns="0" bIns="0" rtlCol="0" anchor="t"/>
          <a:lstStyle/>
          <a:p>
            <a:pPr indent="0" marL="0">
              <a:buNone/>
            </a:pPr>
            <a:r>
              <a:rPr lang="en-US" sz="2000" b="1" spc="300" kern="0" dirty="0">
                <a:solidFill>
                  <a:srgbClr val="27D3BE"/>
                </a:solidFill>
                <a:latin typeface="Palatino Linotype" pitchFamily="34" charset="0"/>
                <a:ea typeface="Palatino Linotype" pitchFamily="34" charset="-122"/>
                <a:cs typeface="Palatino Linotype" pitchFamily="34" charset="-120"/>
              </a:rPr>
              <a:t>PENTRU</a:t>
            </a:r>
            <a:endParaRPr lang="en-US" sz="2000" dirty="0"/>
          </a:p>
        </p:txBody>
      </p:sp>
      <p:sp>
        <p:nvSpPr>
          <p:cNvPr id="8" name="Shape 6"/>
          <p:cNvSpPr/>
          <p:nvPr/>
        </p:nvSpPr>
        <p:spPr>
          <a:xfrm>
            <a:off x="868680" y="2423160"/>
            <a:ext cx="457200" cy="457200"/>
          </a:xfrm>
          <a:prstGeom prst="ellipse">
            <a:avLst/>
          </a:prstGeom>
          <a:solidFill>
            <a:srgbClr val="27D3BE"/>
          </a:solidFill>
          <a:ln/>
        </p:spPr>
        <p:txBody>
          <a:bodyPr/>
          <a:p/>
        </p:txBody>
      </p:sp>
      <p:sp>
        <p:nvSpPr>
          <p:cNvPr id="9" name="Text 7"/>
          <p:cNvSpPr/>
          <p:nvPr/>
        </p:nvSpPr>
        <p:spPr>
          <a:xfrm>
            <a:off x="868680" y="242316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423160"/>
            <a:ext cx="402336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voluntar · un minut</a:t>
            </a:r>
            <a:endParaRPr lang="en-US" sz="1700" dirty="0"/>
          </a:p>
        </p:txBody>
      </p:sp>
      <p:sp>
        <p:nvSpPr>
          <p:cNvPr id="11" name="Shape 9"/>
          <p:cNvSpPr/>
          <p:nvPr/>
        </p:nvSpPr>
        <p:spPr>
          <a:xfrm>
            <a:off x="868680" y="3154680"/>
            <a:ext cx="457200" cy="457200"/>
          </a:xfrm>
          <a:prstGeom prst="ellipse">
            <a:avLst/>
          </a:prstGeom>
          <a:solidFill>
            <a:srgbClr val="27D3BE"/>
          </a:solidFill>
          <a:ln/>
        </p:spPr>
        <p:txBody>
          <a:bodyPr/>
          <a:p/>
        </p:txBody>
      </p:sp>
      <p:sp>
        <p:nvSpPr>
          <p:cNvPr id="12" name="Text 10"/>
          <p:cNvSpPr/>
          <p:nvPr/>
        </p:nvSpPr>
        <p:spPr>
          <a:xfrm>
            <a:off x="868680" y="3154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3154680"/>
            <a:ext cx="402336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voluntar · un minut</a:t>
            </a:r>
            <a:endParaRPr lang="en-US" sz="1700" dirty="0"/>
          </a:p>
        </p:txBody>
      </p:sp>
      <p:sp>
        <p:nvSpPr>
          <p:cNvPr id="14" name="Shape 12"/>
          <p:cNvSpPr/>
          <p:nvPr/>
        </p:nvSpPr>
        <p:spPr>
          <a:xfrm>
            <a:off x="6217920" y="1645920"/>
            <a:ext cx="5349240" cy="2377440"/>
          </a:xfrm>
          <a:prstGeom prst="roundRect">
            <a:avLst>
              <a:gd name="adj" fmla="val 3462"/>
            </a:avLst>
          </a:prstGeom>
          <a:solidFill>
            <a:srgbClr val="1D1F2B"/>
          </a:solidFill>
          <a:ln w="12700">
            <a:solidFill>
              <a:srgbClr val="1D1F2B"/>
            </a:solidFill>
            <a:prstDash val="solid"/>
          </a:ln>
        </p:spPr>
        <p:txBody>
          <a:bodyPr/>
          <a:p/>
        </p:txBody>
      </p:sp>
      <p:sp>
        <p:nvSpPr>
          <p:cNvPr id="15" name="Text 13"/>
          <p:cNvSpPr/>
          <p:nvPr/>
        </p:nvSpPr>
        <p:spPr>
          <a:xfrm>
            <a:off x="6492240" y="1783080"/>
            <a:ext cx="4754880" cy="457200"/>
          </a:xfrm>
          <a:prstGeom prst="rect">
            <a:avLst/>
          </a:prstGeom>
          <a:noFill/>
          <a:ln/>
        </p:spPr>
        <p:txBody>
          <a:bodyPr wrap="square" lIns="0" tIns="0" rIns="0" bIns="0" rtlCol="0" anchor="t"/>
          <a:lstStyle/>
          <a:p>
            <a:pPr indent="0" marL="0">
              <a:buNone/>
            </a:pPr>
            <a:r>
              <a:rPr lang="en-US" sz="2000" b="1" spc="300" kern="0" dirty="0">
                <a:solidFill>
                  <a:srgbClr val="FF4757"/>
                </a:solidFill>
                <a:latin typeface="Palatino Linotype" pitchFamily="34" charset="0"/>
                <a:ea typeface="Palatino Linotype" pitchFamily="34" charset="-122"/>
                <a:cs typeface="Palatino Linotype" pitchFamily="34" charset="-120"/>
              </a:rPr>
              <a:t>ÎMPOTRIVĂ</a:t>
            </a:r>
            <a:endParaRPr lang="en-US" sz="2000" dirty="0"/>
          </a:p>
        </p:txBody>
      </p:sp>
      <p:sp>
        <p:nvSpPr>
          <p:cNvPr id="16" name="Shape 14"/>
          <p:cNvSpPr/>
          <p:nvPr/>
        </p:nvSpPr>
        <p:spPr>
          <a:xfrm>
            <a:off x="6492240" y="2423160"/>
            <a:ext cx="457200" cy="457200"/>
          </a:xfrm>
          <a:prstGeom prst="ellipse">
            <a:avLst/>
          </a:prstGeom>
          <a:solidFill>
            <a:srgbClr val="FF4757"/>
          </a:solidFill>
          <a:ln/>
        </p:spPr>
        <p:txBody>
          <a:bodyPr/>
          <a:p/>
        </p:txBody>
      </p:sp>
      <p:sp>
        <p:nvSpPr>
          <p:cNvPr id="17" name="Text 15"/>
          <p:cNvSpPr/>
          <p:nvPr/>
        </p:nvSpPr>
        <p:spPr>
          <a:xfrm>
            <a:off x="6492240" y="242316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8" name="Text 16"/>
          <p:cNvSpPr/>
          <p:nvPr/>
        </p:nvSpPr>
        <p:spPr>
          <a:xfrm>
            <a:off x="7132320" y="2423160"/>
            <a:ext cx="402336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voluntar · un minut</a:t>
            </a:r>
            <a:endParaRPr lang="en-US" sz="1700" dirty="0"/>
          </a:p>
        </p:txBody>
      </p:sp>
      <p:sp>
        <p:nvSpPr>
          <p:cNvPr id="19" name="Shape 17"/>
          <p:cNvSpPr/>
          <p:nvPr/>
        </p:nvSpPr>
        <p:spPr>
          <a:xfrm>
            <a:off x="6492240" y="3154680"/>
            <a:ext cx="457200" cy="457200"/>
          </a:xfrm>
          <a:prstGeom prst="ellipse">
            <a:avLst/>
          </a:prstGeom>
          <a:solidFill>
            <a:srgbClr val="FF4757"/>
          </a:solidFill>
          <a:ln/>
        </p:spPr>
        <p:txBody>
          <a:bodyPr/>
          <a:p/>
        </p:txBody>
      </p:sp>
      <p:sp>
        <p:nvSpPr>
          <p:cNvPr id="20" name="Text 18"/>
          <p:cNvSpPr/>
          <p:nvPr/>
        </p:nvSpPr>
        <p:spPr>
          <a:xfrm>
            <a:off x="6492240" y="3154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1" name="Text 19"/>
          <p:cNvSpPr/>
          <p:nvPr/>
        </p:nvSpPr>
        <p:spPr>
          <a:xfrm>
            <a:off x="7132320" y="3154680"/>
            <a:ext cx="402336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voluntar · un minut</a:t>
            </a:r>
            <a:endParaRPr lang="en-US" sz="1700" dirty="0"/>
          </a:p>
        </p:txBody>
      </p:sp>
      <p:sp>
        <p:nvSpPr>
          <p:cNvPr id="22" name="Text 20"/>
          <p:cNvSpPr/>
          <p:nvPr/>
        </p:nvSpPr>
        <p:spPr>
          <a:xfrm>
            <a:off x="594360" y="4343400"/>
            <a:ext cx="10972800" cy="8229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Voluntari: „mână ridicată”. Ceilalți scriu în chat ce afirmație se poate verifica.</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4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 DOUA RUNDĂ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Dovada care vă contrazice</a:t>
            </a:r>
            <a:endParaRPr lang="en-US" sz="3400" dirty="0"/>
          </a:p>
        </p:txBody>
      </p:sp>
      <p:sp>
        <p:nvSpPr>
          <p:cNvPr id="6" name="Shape 4"/>
          <p:cNvSpPr/>
          <p:nvPr/>
        </p:nvSpPr>
        <p:spPr>
          <a:xfrm>
            <a:off x="594360" y="1600200"/>
            <a:ext cx="5349240" cy="2743200"/>
          </a:xfrm>
          <a:prstGeom prst="roundRect">
            <a:avLst>
              <a:gd name="adj" fmla="val 3000"/>
            </a:avLst>
          </a:prstGeom>
          <a:solidFill>
            <a:srgbClr val="1D1F2B"/>
          </a:solidFill>
          <a:ln w="12700">
            <a:solidFill>
              <a:srgbClr val="1D1F2B"/>
            </a:solidFill>
            <a:prstDash val="solid"/>
          </a:ln>
        </p:spPr>
        <p:txBody>
          <a:bodyPr/>
          <a:p/>
        </p:txBody>
      </p:sp>
      <p:sp>
        <p:nvSpPr>
          <p:cNvPr id="7" name="Shape 5"/>
          <p:cNvSpPr/>
          <p:nvPr/>
        </p:nvSpPr>
        <p:spPr>
          <a:xfrm>
            <a:off x="594360" y="1600200"/>
            <a:ext cx="5349240" cy="73152"/>
          </a:xfrm>
          <a:prstGeom prst="rect">
            <a:avLst/>
          </a:prstGeom>
          <a:solidFill>
            <a:srgbClr val="27D3BE"/>
          </a:solidFill>
          <a:ln w="12700">
            <a:solidFill>
              <a:srgbClr val="27D3BE"/>
            </a:solidFill>
            <a:prstDash val="solid"/>
          </a:ln>
        </p:spPr>
        <p:txBody>
          <a:bodyPr/>
          <a:p/>
        </p:txBody>
      </p:sp>
      <p:sp>
        <p:nvSpPr>
          <p:cNvPr id="8" name="Text 6"/>
          <p:cNvSpPr/>
          <p:nvPr/>
        </p:nvSpPr>
        <p:spPr>
          <a:xfrm>
            <a:off x="868680" y="1810512"/>
            <a:ext cx="484632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TABĂRA „PENTRU” PRIMEȘTE</a:t>
            </a:r>
            <a:endParaRPr lang="en-US" sz="1400" dirty="0"/>
          </a:p>
        </p:txBody>
      </p:sp>
      <p:sp>
        <p:nvSpPr>
          <p:cNvPr id="9" name="Text 7"/>
          <p:cNvSpPr/>
          <p:nvPr/>
        </p:nvSpPr>
        <p:spPr>
          <a:xfrm>
            <a:off x="868680" y="2286000"/>
            <a:ext cx="4846320" cy="19202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Problema atribuirii: rezultatele bune au venit împreună cu extinderea serviciilor și nu pot fi atribuite numai legii.</a:t>
            </a:r>
            <a:endParaRPr lang="en-US" sz="1800" dirty="0"/>
          </a:p>
        </p:txBody>
      </p:sp>
      <p:sp>
        <p:nvSpPr>
          <p:cNvPr id="10" name="Shape 8"/>
          <p:cNvSpPr/>
          <p:nvPr/>
        </p:nvSpPr>
        <p:spPr>
          <a:xfrm>
            <a:off x="6217920" y="1600200"/>
            <a:ext cx="5349240" cy="2743200"/>
          </a:xfrm>
          <a:prstGeom prst="roundRect">
            <a:avLst>
              <a:gd name="adj" fmla="val 3000"/>
            </a:avLst>
          </a:prstGeom>
          <a:solidFill>
            <a:srgbClr val="1D1F2B"/>
          </a:solidFill>
          <a:ln w="12700">
            <a:solidFill>
              <a:srgbClr val="1D1F2B"/>
            </a:solidFill>
            <a:prstDash val="solid"/>
          </a:ln>
        </p:spPr>
        <p:txBody>
          <a:bodyPr/>
          <a:p/>
        </p:txBody>
      </p:sp>
      <p:sp>
        <p:nvSpPr>
          <p:cNvPr id="11" name="Shape 9"/>
          <p:cNvSpPr/>
          <p:nvPr/>
        </p:nvSpPr>
        <p:spPr>
          <a:xfrm>
            <a:off x="6217920" y="1600200"/>
            <a:ext cx="5349240" cy="73152"/>
          </a:xfrm>
          <a:prstGeom prst="rect">
            <a:avLst/>
          </a:prstGeom>
          <a:solidFill>
            <a:srgbClr val="FF4757"/>
          </a:solidFill>
          <a:ln w="12700">
            <a:solidFill>
              <a:srgbClr val="FF4757"/>
            </a:solidFill>
            <a:prstDash val="solid"/>
          </a:ln>
        </p:spPr>
        <p:txBody>
          <a:bodyPr/>
          <a:p/>
        </p:txBody>
      </p:sp>
      <p:sp>
        <p:nvSpPr>
          <p:cNvPr id="12" name="Text 10"/>
          <p:cNvSpPr/>
          <p:nvPr/>
        </p:nvSpPr>
        <p:spPr>
          <a:xfrm>
            <a:off x="6492240" y="1810512"/>
            <a:ext cx="4846320" cy="36576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TABĂRA „ÎMPOTRIVĂ” PRIMEȘTE</a:t>
            </a:r>
            <a:endParaRPr lang="en-US" sz="1400" dirty="0"/>
          </a:p>
        </p:txBody>
      </p:sp>
      <p:sp>
        <p:nvSpPr>
          <p:cNvPr id="13" name="Text 11"/>
          <p:cNvSpPr/>
          <p:nvPr/>
        </p:nvSpPr>
        <p:spPr>
          <a:xfrm>
            <a:off x="6492240" y="2286000"/>
            <a:ext cx="4846320" cy="19202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Concluzia comisiei din 2016: fără creștere semnificativă a consumului și cu mai puține încarcerări.</a:t>
            </a:r>
            <a:endParaRPr lang="en-US" sz="1800" dirty="0"/>
          </a:p>
        </p:txBody>
      </p:sp>
      <p:sp>
        <p:nvSpPr>
          <p:cNvPr id="14" name="Text 12"/>
          <p:cNvSpPr/>
          <p:nvPr/>
        </p:nvSpPr>
        <p:spPr>
          <a:xfrm>
            <a:off x="594360" y="4617720"/>
            <a:ext cx="10972800" cy="8229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Includeți dovada în argument; nu o ocoliți. Câte un voluntar pe tabără, un minut.</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5 VOTURI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DEZBATERE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Fapt sau valoare?</a:t>
            </a:r>
            <a:endParaRPr lang="en-US" sz="3400" dirty="0"/>
          </a:p>
        </p:txBody>
      </p:sp>
      <p:sp>
        <p:nvSpPr>
          <p:cNvPr id="6" name="Shape 4"/>
          <p:cNvSpPr/>
          <p:nvPr/>
        </p:nvSpPr>
        <p:spPr>
          <a:xfrm>
            <a:off x="594360" y="146304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7" name="Shape 5"/>
          <p:cNvSpPr/>
          <p:nvPr/>
        </p:nvSpPr>
        <p:spPr>
          <a:xfrm>
            <a:off x="777240" y="1581912"/>
            <a:ext cx="420624" cy="420624"/>
          </a:xfrm>
          <a:prstGeom prst="ellipse">
            <a:avLst/>
          </a:prstGeom>
          <a:solidFill>
            <a:srgbClr val="FFC24B"/>
          </a:solidFill>
          <a:ln/>
        </p:spPr>
        <p:txBody>
          <a:bodyPr/>
          <a:p/>
        </p:txBody>
      </p:sp>
      <p:sp>
        <p:nvSpPr>
          <p:cNvPr id="8" name="Text 6"/>
          <p:cNvSpPr/>
          <p:nvPr/>
        </p:nvSpPr>
        <p:spPr>
          <a:xfrm>
            <a:off x="777240" y="1581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371600" y="1463040"/>
            <a:ext cx="9966960" cy="65836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„Consumul nu a crescut semnificativ după 2001.”</a:t>
            </a:r>
            <a:endParaRPr lang="en-US" sz="1700" dirty="0"/>
          </a:p>
        </p:txBody>
      </p:sp>
      <p:sp>
        <p:nvSpPr>
          <p:cNvPr id="10" name="Shape 8"/>
          <p:cNvSpPr/>
          <p:nvPr/>
        </p:nvSpPr>
        <p:spPr>
          <a:xfrm>
            <a:off x="594360" y="2249424"/>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1" name="Shape 9"/>
          <p:cNvSpPr/>
          <p:nvPr/>
        </p:nvSpPr>
        <p:spPr>
          <a:xfrm>
            <a:off x="777240" y="2368296"/>
            <a:ext cx="420624" cy="420624"/>
          </a:xfrm>
          <a:prstGeom prst="ellipse">
            <a:avLst/>
          </a:prstGeom>
          <a:solidFill>
            <a:srgbClr val="FFC24B"/>
          </a:solidFill>
          <a:ln/>
        </p:spPr>
        <p:txBody>
          <a:bodyPr/>
          <a:p/>
        </p:txBody>
      </p:sp>
      <p:sp>
        <p:nvSpPr>
          <p:cNvPr id="12" name="Text 10"/>
          <p:cNvSpPr/>
          <p:nvPr/>
        </p:nvSpPr>
        <p:spPr>
          <a:xfrm>
            <a:off x="777240" y="2368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371600" y="2249424"/>
            <a:ext cx="9966960" cy="65836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„Un tânăr nu merită cazier pentru o țigară.”</a:t>
            </a:r>
            <a:endParaRPr lang="en-US" sz="1700" dirty="0"/>
          </a:p>
        </p:txBody>
      </p:sp>
      <p:sp>
        <p:nvSpPr>
          <p:cNvPr id="14" name="Shape 12"/>
          <p:cNvSpPr/>
          <p:nvPr/>
        </p:nvSpPr>
        <p:spPr>
          <a:xfrm>
            <a:off x="594360" y="3035808"/>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5" name="Shape 13"/>
          <p:cNvSpPr/>
          <p:nvPr/>
        </p:nvSpPr>
        <p:spPr>
          <a:xfrm>
            <a:off x="777240" y="3154680"/>
            <a:ext cx="420624" cy="420624"/>
          </a:xfrm>
          <a:prstGeom prst="ellipse">
            <a:avLst/>
          </a:prstGeom>
          <a:solidFill>
            <a:srgbClr val="FFC24B"/>
          </a:solidFill>
          <a:ln/>
        </p:spPr>
        <p:txBody>
          <a:bodyPr/>
          <a:p/>
        </p:txBody>
      </p:sp>
      <p:sp>
        <p:nvSpPr>
          <p:cNvPr id="16" name="Text 14"/>
          <p:cNvSpPr/>
          <p:nvPr/>
        </p:nvSpPr>
        <p:spPr>
          <a:xfrm>
            <a:off x="777240" y="3154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371600" y="3035808"/>
            <a:ext cx="9966960" cy="65836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„Statul trebuie să transmită un mesaj ferm.”</a:t>
            </a:r>
            <a:endParaRPr lang="en-US" sz="1700" dirty="0"/>
          </a:p>
        </p:txBody>
      </p:sp>
      <p:sp>
        <p:nvSpPr>
          <p:cNvPr id="18" name="Shape 16"/>
          <p:cNvSpPr/>
          <p:nvPr/>
        </p:nvSpPr>
        <p:spPr>
          <a:xfrm>
            <a:off x="594360" y="3822192"/>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9" name="Shape 17"/>
          <p:cNvSpPr/>
          <p:nvPr/>
        </p:nvSpPr>
        <p:spPr>
          <a:xfrm>
            <a:off x="777240" y="3941064"/>
            <a:ext cx="420624" cy="420624"/>
          </a:xfrm>
          <a:prstGeom prst="ellipse">
            <a:avLst/>
          </a:prstGeom>
          <a:solidFill>
            <a:srgbClr val="FFC24B"/>
          </a:solidFill>
          <a:ln/>
        </p:spPr>
        <p:txBody>
          <a:bodyPr/>
          <a:p/>
        </p:txBody>
      </p:sp>
      <p:sp>
        <p:nvSpPr>
          <p:cNvPr id="20" name="Text 18"/>
          <p:cNvSpPr/>
          <p:nvPr/>
        </p:nvSpPr>
        <p:spPr>
          <a:xfrm>
            <a:off x="777240" y="3941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371600" y="3822192"/>
            <a:ext cx="9966960" cy="65836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„Dezincriminarea crește consumul.”</a:t>
            </a:r>
            <a:endParaRPr lang="en-US" sz="1700" dirty="0"/>
          </a:p>
        </p:txBody>
      </p:sp>
      <p:sp>
        <p:nvSpPr>
          <p:cNvPr id="22" name="Shape 20"/>
          <p:cNvSpPr/>
          <p:nvPr/>
        </p:nvSpPr>
        <p:spPr>
          <a:xfrm>
            <a:off x="594360" y="4608576"/>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23" name="Shape 21"/>
          <p:cNvSpPr/>
          <p:nvPr/>
        </p:nvSpPr>
        <p:spPr>
          <a:xfrm>
            <a:off x="777240" y="4727448"/>
            <a:ext cx="420624" cy="420624"/>
          </a:xfrm>
          <a:prstGeom prst="ellipse">
            <a:avLst/>
          </a:prstGeom>
          <a:solidFill>
            <a:srgbClr val="FFC24B"/>
          </a:solidFill>
          <a:ln/>
        </p:spPr>
        <p:txBody>
          <a:bodyPr/>
          <a:p/>
        </p:txBody>
      </p:sp>
      <p:sp>
        <p:nvSpPr>
          <p:cNvPr id="24" name="Text 22"/>
          <p:cNvSpPr/>
          <p:nvPr/>
        </p:nvSpPr>
        <p:spPr>
          <a:xfrm>
            <a:off x="777240" y="4727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e</a:t>
            </a:r>
            <a:endParaRPr lang="en-US" sz="1400" dirty="0"/>
          </a:p>
        </p:txBody>
      </p:sp>
      <p:sp>
        <p:nvSpPr>
          <p:cNvPr id="25" name="Text 23"/>
          <p:cNvSpPr/>
          <p:nvPr/>
        </p:nvSpPr>
        <p:spPr>
          <a:xfrm>
            <a:off x="1371600" y="4608576"/>
            <a:ext cx="9966960" cy="658368"/>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„Comisiile portugheze ar funcționa la fel în România.”</a:t>
            </a:r>
            <a:endParaRPr lang="en-US" sz="1700" dirty="0"/>
          </a:p>
        </p:txBody>
      </p:sp>
      <p:sp>
        <p:nvSpPr>
          <p:cNvPr id="26" name="Shape 24"/>
          <p:cNvSpPr/>
          <p:nvPr/>
        </p:nvSpPr>
        <p:spPr>
          <a:xfrm>
            <a:off x="594360" y="553212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27" name="Text 25"/>
          <p:cNvSpPr/>
          <p:nvPr/>
        </p:nvSpPr>
        <p:spPr>
          <a:xfrm>
            <a:off x="594360" y="553212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Fapt</a:t>
            </a:r>
            <a:endParaRPr lang="en-US" sz="1500" dirty="0"/>
          </a:p>
        </p:txBody>
      </p:sp>
      <p:sp>
        <p:nvSpPr>
          <p:cNvPr id="28" name="Shape 26"/>
          <p:cNvSpPr/>
          <p:nvPr/>
        </p:nvSpPr>
        <p:spPr>
          <a:xfrm>
            <a:off x="2971800" y="553212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29" name="Text 27"/>
          <p:cNvSpPr/>
          <p:nvPr/>
        </p:nvSpPr>
        <p:spPr>
          <a:xfrm>
            <a:off x="2971800" y="553212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Valoare</a:t>
            </a:r>
            <a:endParaRPr lang="en-US" sz="1500" dirty="0"/>
          </a:p>
        </p:txBody>
      </p:sp>
      <p:sp>
        <p:nvSpPr>
          <p:cNvPr id="30" name="Shape 28"/>
          <p:cNvSpPr/>
          <p:nvPr/>
        </p:nvSpPr>
        <p:spPr>
          <a:xfrm>
            <a:off x="5349240" y="553212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31" name="Text 29"/>
          <p:cNvSpPr/>
          <p:nvPr/>
        </p:nvSpPr>
        <p:spPr>
          <a:xfrm>
            <a:off x="5349240" y="553212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Predicție</a:t>
            </a:r>
            <a:endParaRPr lang="en-US" sz="1500" dirty="0"/>
          </a:p>
        </p:txBody>
      </p:sp>
      <p:sp>
        <p:nvSpPr>
          <p:cNvPr id="32" name="Shape 30"/>
          <p:cNvSpPr/>
          <p:nvPr/>
        </p:nvSpPr>
        <p:spPr>
          <a:xfrm>
            <a:off x="8778240" y="5440680"/>
            <a:ext cx="2788920" cy="1234440"/>
          </a:xfrm>
          <a:prstGeom prst="roundRect">
            <a:avLst>
              <a:gd name="adj" fmla="val 6667"/>
            </a:avLst>
          </a:prstGeom>
          <a:solidFill>
            <a:srgbClr val="FFFFFF"/>
          </a:solidFill>
          <a:ln w="12700">
            <a:solidFill>
              <a:srgbClr val="FFFFFF"/>
            </a:solidFill>
            <a:prstDash val="solid"/>
          </a:ln>
        </p:spPr>
        <p:txBody>
          <a:bodyPr/>
          <a:p/>
        </p:txBody>
      </p:sp>
      <p:pic>
        <p:nvPicPr>
          <p:cNvPr id="33" name="Picture 32" descr="Mentimeter_OPT_DROGURI_C03.png"/>
          <p:cNvPicPr>
            <a:picLocks noChangeAspect="1"/>
          </p:cNvPicPr>
          <p:nvPr/>
        </p:nvPicPr>
        <p:blipFill>
          <a:blip r:embed="rId3"/>
          <a:stretch>
            <a:fillRect/>
          </a:stretch>
        </p:blipFill>
        <p:spPr>
          <a:xfrm>
            <a:off x="9772649" y="5440680"/>
            <a:ext cx="800101" cy="800101"/>
          </a:xfrm>
          <a:prstGeom prst="rect">
            <a:avLst/>
          </a:prstGeom>
        </p:spPr>
      </p:pic>
      <p:sp>
        <p:nvSpPr>
          <p:cNvPr id="34" name="TextBox 33"/>
          <p:cNvSpPr txBox="1"/>
          <p:nvPr/>
        </p:nvSpPr>
        <p:spPr>
          <a:xfrm>
            <a:off x="8778240" y="6278881"/>
            <a:ext cx="278892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FAPT, VALOARE, PREDICȚIE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Al treilea tip: predicția</a:t>
            </a:r>
            <a:endParaRPr lang="en-US" sz="3200" dirty="0"/>
          </a:p>
        </p:txBody>
      </p:sp>
      <p:sp>
        <p:nvSpPr>
          <p:cNvPr id="4" name="Shape 2"/>
          <p:cNvSpPr/>
          <p:nvPr/>
        </p:nvSpPr>
        <p:spPr>
          <a:xfrm>
            <a:off x="685800" y="1508760"/>
            <a:ext cx="420624" cy="420624"/>
          </a:xfrm>
          <a:prstGeom prst="ellipse">
            <a:avLst/>
          </a:prstGeom>
          <a:solidFill>
            <a:srgbClr val="0E7C6B"/>
          </a:solidFill>
          <a:ln/>
        </p:spPr>
        <p:txBody>
          <a:bodyPr/>
          <a:p/>
        </p:txBody>
      </p:sp>
      <p:sp>
        <p:nvSpPr>
          <p:cNvPr id="5" name="Text 3"/>
          <p:cNvSpPr/>
          <p:nvPr/>
        </p:nvSpPr>
        <p:spPr>
          <a:xfrm>
            <a:off x="685800" y="15087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6" name="Text 4"/>
          <p:cNvSpPr/>
          <p:nvPr/>
        </p:nvSpPr>
        <p:spPr>
          <a:xfrm>
            <a:off x="1280160" y="1463040"/>
            <a:ext cx="4937760" cy="512064"/>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Fapt, cu sursă</a:t>
            </a:r>
            <a:endParaRPr lang="en-US" sz="1700" dirty="0"/>
          </a:p>
        </p:txBody>
      </p:sp>
      <p:sp>
        <p:nvSpPr>
          <p:cNvPr id="7" name="Shape 5"/>
          <p:cNvSpPr/>
          <p:nvPr/>
        </p:nvSpPr>
        <p:spPr>
          <a:xfrm>
            <a:off x="685800" y="2112264"/>
            <a:ext cx="420624" cy="420624"/>
          </a:xfrm>
          <a:prstGeom prst="ellipse">
            <a:avLst/>
          </a:prstGeom>
          <a:solidFill>
            <a:srgbClr val="4A2D8C"/>
          </a:solidFill>
          <a:ln/>
        </p:spPr>
        <p:txBody>
          <a:bodyPr/>
          <a:p/>
        </p:txBody>
      </p:sp>
      <p:sp>
        <p:nvSpPr>
          <p:cNvPr id="8" name="Text 6"/>
          <p:cNvSpPr/>
          <p:nvPr/>
        </p:nvSpPr>
        <p:spPr>
          <a:xfrm>
            <a:off x="685800" y="2112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a:t>
            </a:r>
            <a:endParaRPr lang="en-US" sz="1400" dirty="0"/>
          </a:p>
        </p:txBody>
      </p:sp>
      <p:sp>
        <p:nvSpPr>
          <p:cNvPr id="9" name="Text 7"/>
          <p:cNvSpPr/>
          <p:nvPr/>
        </p:nvSpPr>
        <p:spPr>
          <a:xfrm>
            <a:off x="1280160" y="2066544"/>
            <a:ext cx="4937760" cy="512064"/>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Valoare</a:t>
            </a:r>
            <a:endParaRPr lang="en-US" sz="1700" dirty="0"/>
          </a:p>
        </p:txBody>
      </p:sp>
      <p:sp>
        <p:nvSpPr>
          <p:cNvPr id="10" name="Shape 8"/>
          <p:cNvSpPr/>
          <p:nvPr/>
        </p:nvSpPr>
        <p:spPr>
          <a:xfrm>
            <a:off x="685800" y="2715768"/>
            <a:ext cx="420624" cy="420624"/>
          </a:xfrm>
          <a:prstGeom prst="ellipse">
            <a:avLst/>
          </a:prstGeom>
          <a:solidFill>
            <a:srgbClr val="4A2D8C"/>
          </a:solidFill>
          <a:ln/>
        </p:spPr>
        <p:txBody>
          <a:bodyPr/>
          <a:p/>
        </p:txBody>
      </p:sp>
      <p:sp>
        <p:nvSpPr>
          <p:cNvPr id="11" name="Text 9"/>
          <p:cNvSpPr/>
          <p:nvPr/>
        </p:nvSpPr>
        <p:spPr>
          <a:xfrm>
            <a:off x="685800" y="27157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c</a:t>
            </a:r>
            <a:endParaRPr lang="en-US" sz="1400" dirty="0"/>
          </a:p>
        </p:txBody>
      </p:sp>
      <p:sp>
        <p:nvSpPr>
          <p:cNvPr id="12" name="Text 10"/>
          <p:cNvSpPr/>
          <p:nvPr/>
        </p:nvSpPr>
        <p:spPr>
          <a:xfrm>
            <a:off x="1280160" y="2670048"/>
            <a:ext cx="4937760" cy="512064"/>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Valoare, deși sună ca un fapt</a:t>
            </a:r>
            <a:endParaRPr lang="en-US" sz="1700" dirty="0"/>
          </a:p>
        </p:txBody>
      </p:sp>
      <p:sp>
        <p:nvSpPr>
          <p:cNvPr id="13" name="Shape 11"/>
          <p:cNvSpPr/>
          <p:nvPr/>
        </p:nvSpPr>
        <p:spPr>
          <a:xfrm>
            <a:off x="685800" y="3319272"/>
            <a:ext cx="420624" cy="420624"/>
          </a:xfrm>
          <a:prstGeom prst="ellipse">
            <a:avLst/>
          </a:prstGeom>
          <a:solidFill>
            <a:srgbClr val="0E7C6B"/>
          </a:solidFill>
          <a:ln/>
        </p:spPr>
        <p:txBody>
          <a:bodyPr/>
          <a:p/>
        </p:txBody>
      </p:sp>
      <p:sp>
        <p:nvSpPr>
          <p:cNvPr id="14" name="Text 12"/>
          <p:cNvSpPr/>
          <p:nvPr/>
        </p:nvSpPr>
        <p:spPr>
          <a:xfrm>
            <a:off x="685800" y="33192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d</a:t>
            </a:r>
            <a:endParaRPr lang="en-US" sz="1400" dirty="0"/>
          </a:p>
        </p:txBody>
      </p:sp>
      <p:sp>
        <p:nvSpPr>
          <p:cNvPr id="15" name="Text 13"/>
          <p:cNvSpPr/>
          <p:nvPr/>
        </p:nvSpPr>
        <p:spPr>
          <a:xfrm>
            <a:off x="1280160" y="3273552"/>
            <a:ext cx="4937760" cy="512064"/>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Fapt; datele portugheze nu îl susțin</a:t>
            </a:r>
            <a:endParaRPr lang="en-US" sz="1700" dirty="0"/>
          </a:p>
        </p:txBody>
      </p:sp>
      <p:sp>
        <p:nvSpPr>
          <p:cNvPr id="16" name="Shape 14"/>
          <p:cNvSpPr/>
          <p:nvPr/>
        </p:nvSpPr>
        <p:spPr>
          <a:xfrm>
            <a:off x="685800" y="3922776"/>
            <a:ext cx="420624" cy="420624"/>
          </a:xfrm>
          <a:prstGeom prst="ellipse">
            <a:avLst/>
          </a:prstGeom>
          <a:solidFill>
            <a:srgbClr val="B02532"/>
          </a:solidFill>
          <a:ln/>
        </p:spPr>
        <p:txBody>
          <a:bodyPr/>
          <a:p/>
        </p:txBody>
      </p:sp>
      <p:sp>
        <p:nvSpPr>
          <p:cNvPr id="17" name="Text 15"/>
          <p:cNvSpPr/>
          <p:nvPr/>
        </p:nvSpPr>
        <p:spPr>
          <a:xfrm>
            <a:off x="685800" y="3922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e</a:t>
            </a:r>
            <a:endParaRPr lang="en-US" sz="1400" dirty="0"/>
          </a:p>
        </p:txBody>
      </p:sp>
      <p:sp>
        <p:nvSpPr>
          <p:cNvPr id="18" name="Text 16"/>
          <p:cNvSpPr/>
          <p:nvPr/>
        </p:nvSpPr>
        <p:spPr>
          <a:xfrm>
            <a:off x="1280160" y="3877056"/>
            <a:ext cx="4937760" cy="512064"/>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Predicție</a:t>
            </a:r>
            <a:endParaRPr lang="en-US" sz="1700" dirty="0"/>
          </a:p>
        </p:txBody>
      </p:sp>
      <p:sp>
        <p:nvSpPr>
          <p:cNvPr id="19" name="Shape 17"/>
          <p:cNvSpPr/>
          <p:nvPr/>
        </p:nvSpPr>
        <p:spPr>
          <a:xfrm>
            <a:off x="6492240" y="1463040"/>
            <a:ext cx="5074920" cy="2971800"/>
          </a:xfrm>
          <a:prstGeom prst="roundRect">
            <a:avLst>
              <a:gd name="adj" fmla="val 2769"/>
            </a:avLst>
          </a:prstGeom>
          <a:solidFill>
            <a:srgbClr val="F4E0E2"/>
          </a:solidFill>
          <a:ln w="12700">
            <a:solidFill>
              <a:srgbClr val="F4E0E2"/>
            </a:solidFill>
            <a:prstDash val="solid"/>
          </a:ln>
        </p:spPr>
        <p:txBody>
          <a:bodyPr/>
          <a:p/>
        </p:txBody>
      </p:sp>
      <p:sp>
        <p:nvSpPr>
          <p:cNvPr id="20" name="Text 18"/>
          <p:cNvSpPr/>
          <p:nvPr/>
        </p:nvSpPr>
        <p:spPr>
          <a:xfrm>
            <a:off x="6766560" y="1600200"/>
            <a:ext cx="4572000" cy="2743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Predicția pare științifică, dar depinde de ce Portugalia nu poate spune despre România: câți medici și psihologi ar avea comisiile, cât de repede s-ar înființa serviciile, cum ar aplica poliția legea.</a:t>
            </a:r>
            <a:endParaRPr lang="en-US" sz="1600" dirty="0"/>
          </a:p>
        </p:txBody>
      </p:sp>
      <p:sp>
        <p:nvSpPr>
          <p:cNvPr id="21" name="Text 19"/>
          <p:cNvSpPr/>
          <p:nvPr/>
        </p:nvSpPr>
        <p:spPr>
          <a:xfrm>
            <a:off x="594360" y="4800600"/>
            <a:ext cx="10972800" cy="4572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afirmație falsă rămâne tot o afirmație de fapt: se verifică.</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AL DOILEA VOT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Aceeași moțiune, al doilea vot</a:t>
            </a:r>
            <a:endParaRPr lang="en-US" sz="3200" dirty="0"/>
          </a:p>
        </p:txBody>
      </p:sp>
      <p:sp>
        <p:nvSpPr>
          <p:cNvPr id="6" name="Text 4"/>
          <p:cNvSpPr/>
          <p:nvPr/>
        </p:nvSpPr>
        <p:spPr>
          <a:xfrm>
            <a:off x="594360" y="1417320"/>
            <a:ext cx="10972800" cy="86868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„România ar trebui să adopte modelul portughez de dezincriminare a consumului personal de droguri.”</a:t>
            </a:r>
            <a:endParaRPr lang="en-US" sz="1800" dirty="0"/>
          </a:p>
        </p:txBody>
      </p:sp>
      <p:sp>
        <p:nvSpPr>
          <p:cNvPr id="7" name="Shape 5"/>
          <p:cNvSpPr/>
          <p:nvPr/>
        </p:nvSpPr>
        <p:spPr>
          <a:xfrm>
            <a:off x="594360" y="246888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8" name="Text 6"/>
          <p:cNvSpPr/>
          <p:nvPr/>
        </p:nvSpPr>
        <p:spPr>
          <a:xfrm>
            <a:off x="594360" y="246888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Total de acord</a:t>
            </a:r>
            <a:endParaRPr lang="en-US" sz="1500" dirty="0"/>
          </a:p>
        </p:txBody>
      </p:sp>
      <p:sp>
        <p:nvSpPr>
          <p:cNvPr id="9" name="Shape 7"/>
          <p:cNvSpPr/>
          <p:nvPr/>
        </p:nvSpPr>
        <p:spPr>
          <a:xfrm>
            <a:off x="2834640" y="246888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0" name="Text 8"/>
          <p:cNvSpPr/>
          <p:nvPr/>
        </p:nvSpPr>
        <p:spPr>
          <a:xfrm>
            <a:off x="2834640" y="246888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De acord</a:t>
            </a:r>
            <a:endParaRPr lang="en-US" sz="1500" dirty="0"/>
          </a:p>
        </p:txBody>
      </p:sp>
      <p:sp>
        <p:nvSpPr>
          <p:cNvPr id="11" name="Shape 9"/>
          <p:cNvSpPr/>
          <p:nvPr/>
        </p:nvSpPr>
        <p:spPr>
          <a:xfrm>
            <a:off x="5074920" y="246888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2" name="Text 10"/>
          <p:cNvSpPr/>
          <p:nvPr/>
        </p:nvSpPr>
        <p:spPr>
          <a:xfrm>
            <a:off x="5074920" y="246888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 știu</a:t>
            </a:r>
            <a:endParaRPr lang="en-US" sz="1500" dirty="0"/>
          </a:p>
        </p:txBody>
      </p:sp>
      <p:sp>
        <p:nvSpPr>
          <p:cNvPr id="13" name="Shape 11"/>
          <p:cNvSpPr/>
          <p:nvPr/>
        </p:nvSpPr>
        <p:spPr>
          <a:xfrm>
            <a:off x="7315200" y="246888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7315200" y="246888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Împotrivă</a:t>
            </a:r>
            <a:endParaRPr lang="en-US" sz="1500" dirty="0"/>
          </a:p>
        </p:txBody>
      </p:sp>
      <p:sp>
        <p:nvSpPr>
          <p:cNvPr id="15" name="Shape 13"/>
          <p:cNvSpPr/>
          <p:nvPr/>
        </p:nvSpPr>
        <p:spPr>
          <a:xfrm>
            <a:off x="9555480" y="246888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6" name="Text 14"/>
          <p:cNvSpPr/>
          <p:nvPr/>
        </p:nvSpPr>
        <p:spPr>
          <a:xfrm>
            <a:off x="9555480" y="2468880"/>
            <a:ext cx="2057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Total împotrivă</a:t>
            </a:r>
            <a:endParaRPr lang="en-US" sz="1500" dirty="0"/>
          </a:p>
        </p:txBody>
      </p:sp>
      <p:sp>
        <p:nvSpPr>
          <p:cNvPr id="17" name="Shape 15"/>
          <p:cNvSpPr/>
          <p:nvPr/>
        </p:nvSpPr>
        <p:spPr>
          <a:xfrm>
            <a:off x="594360" y="3108960"/>
            <a:ext cx="5349240" cy="2011680"/>
          </a:xfrm>
          <a:prstGeom prst="roundRect">
            <a:avLst>
              <a:gd name="adj" fmla="val 4091"/>
            </a:avLst>
          </a:prstGeom>
          <a:solidFill>
            <a:srgbClr val="1D1F2B"/>
          </a:solidFill>
          <a:ln w="12700">
            <a:solidFill>
              <a:srgbClr val="1D1F2B"/>
            </a:solidFill>
            <a:prstDash val="solid"/>
          </a:ln>
        </p:spPr>
        <p:txBody>
          <a:bodyPr/>
          <a:p/>
        </p:txBody>
      </p:sp>
      <p:sp>
        <p:nvSpPr>
          <p:cNvPr id="18" name="Text 16"/>
          <p:cNvSpPr/>
          <p:nvPr/>
        </p:nvSpPr>
        <p:spPr>
          <a:xfrm>
            <a:off x="868680" y="3200400"/>
            <a:ext cx="4754880" cy="411480"/>
          </a:xfrm>
          <a:prstGeom prst="rect">
            <a:avLst/>
          </a:prstGeom>
          <a:noFill/>
          <a:ln/>
        </p:spPr>
        <p:txBody>
          <a:bodyPr wrap="square" lIns="0" tIns="0" rIns="0" bIns="0" rtlCol="0" anchor="t"/>
          <a:lstStyle/>
          <a:p>
            <a:pPr indent="0" marL="0">
              <a:buNone/>
            </a:pPr>
            <a:r>
              <a:rPr lang="en-US" sz="1600" b="1" dirty="0">
                <a:solidFill>
                  <a:srgbClr val="959BB0"/>
                </a:solidFill>
                <a:latin typeface="Palatino Linotype" pitchFamily="34" charset="0"/>
                <a:ea typeface="Palatino Linotype" pitchFamily="34" charset="-122"/>
                <a:cs typeface="Palatino Linotype" pitchFamily="34" charset="-120"/>
              </a:rPr>
              <a:t>Primul vot</a:t>
            </a:r>
            <a:endParaRPr lang="en-US" sz="1600" dirty="0"/>
          </a:p>
        </p:txBody>
      </p:sp>
      <p:sp>
        <p:nvSpPr>
          <p:cNvPr id="19" name="Text 17"/>
          <p:cNvSpPr/>
          <p:nvPr/>
        </p:nvSpPr>
        <p:spPr>
          <a:xfrm>
            <a:off x="594360" y="3657600"/>
            <a:ext cx="5349240" cy="1280160"/>
          </a:xfrm>
          <a:prstGeom prst="rect">
            <a:avLst/>
          </a:prstGeom>
          <a:noFill/>
          <a:ln/>
        </p:spPr>
        <p:txBody>
          <a:bodyPr wrap="square" lIns="0" tIns="0" rIns="0" bIns="0" rtlCol="0" anchor="ctr"/>
          <a:lstStyle/>
          <a:p>
            <a:pPr algn="ctr" indent="0" marL="0">
              <a:buNone/>
            </a:pPr>
            <a:r>
              <a:rPr lang="en-US" sz="1400" dirty="0">
                <a:solidFill>
                  <a:srgbClr val="959BB0"/>
                </a:solidFill>
                <a:latin typeface="Palatino Linotype" pitchFamily="34" charset="0"/>
                <a:ea typeface="Palatino Linotype" pitchFamily="34" charset="-122"/>
                <a:cs typeface="Palatino Linotype" pitchFamily="34" charset="-120"/>
              </a:rPr>
              <a:t>[rezultatele Mentimeter]</a:t>
            </a:r>
            <a:endParaRPr lang="en-US" sz="1400" dirty="0"/>
          </a:p>
        </p:txBody>
      </p:sp>
      <p:sp>
        <p:nvSpPr>
          <p:cNvPr id="20" name="Shape 18"/>
          <p:cNvSpPr/>
          <p:nvPr/>
        </p:nvSpPr>
        <p:spPr>
          <a:xfrm>
            <a:off x="6217920" y="3108960"/>
            <a:ext cx="5349240" cy="2011680"/>
          </a:xfrm>
          <a:prstGeom prst="roundRect">
            <a:avLst>
              <a:gd name="adj" fmla="val 4091"/>
            </a:avLst>
          </a:prstGeom>
          <a:solidFill>
            <a:srgbClr val="1D1F2B"/>
          </a:solidFill>
          <a:ln w="12700">
            <a:solidFill>
              <a:srgbClr val="1D1F2B"/>
            </a:solidFill>
            <a:prstDash val="solid"/>
          </a:ln>
        </p:spPr>
        <p:txBody>
          <a:bodyPr/>
          <a:p/>
        </p:txBody>
      </p:sp>
      <p:sp>
        <p:nvSpPr>
          <p:cNvPr id="21" name="Text 19"/>
          <p:cNvSpPr/>
          <p:nvPr/>
        </p:nvSpPr>
        <p:spPr>
          <a:xfrm>
            <a:off x="6492240" y="3200400"/>
            <a:ext cx="475488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Al doilea vot</a:t>
            </a:r>
            <a:endParaRPr lang="en-US" sz="1600" dirty="0"/>
          </a:p>
        </p:txBody>
      </p:sp>
      <p:sp>
        <p:nvSpPr>
          <p:cNvPr id="22" name="Text 20"/>
          <p:cNvSpPr/>
          <p:nvPr/>
        </p:nvSpPr>
        <p:spPr>
          <a:xfrm>
            <a:off x="6217920" y="3657600"/>
            <a:ext cx="5349240" cy="1280160"/>
          </a:xfrm>
          <a:prstGeom prst="rect">
            <a:avLst/>
          </a:prstGeom>
          <a:noFill/>
          <a:ln/>
        </p:spPr>
        <p:txBody>
          <a:bodyPr wrap="square" lIns="0" tIns="0" rIns="0" bIns="0" rtlCol="0" anchor="ctr"/>
          <a:lstStyle/>
          <a:p>
            <a:pPr algn="ctr" indent="0" marL="0">
              <a:buNone/>
            </a:pPr>
            <a:r>
              <a:rPr lang="en-US" sz="1400" dirty="0">
                <a:solidFill>
                  <a:srgbClr val="959BB0"/>
                </a:solidFill>
                <a:latin typeface="Palatino Linotype" pitchFamily="34" charset="0"/>
                <a:ea typeface="Palatino Linotype" pitchFamily="34" charset="-122"/>
                <a:cs typeface="Palatino Linotype" pitchFamily="34" charset="-120"/>
              </a:rPr>
              <a:t>[rezultatele Mentimeter]</a:t>
            </a:r>
            <a:endParaRPr lang="en-US" sz="1400" dirty="0"/>
          </a:p>
        </p:txBody>
      </p:sp>
      <p:sp>
        <p:nvSpPr>
          <p:cNvPr id="23" name="Text 21"/>
          <p:cNvSpPr/>
          <p:nvPr/>
        </p:nvSpPr>
        <p:spPr>
          <a:xfrm>
            <a:off x="594360" y="534924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Nu contează în ce direcție v-ați mișcat, ci dacă ați știut de ce.</a:t>
            </a:r>
            <a:endParaRPr lang="en-US" sz="1800" dirty="0"/>
          </a:p>
        </p:txBody>
      </p:sp>
      <p:sp>
        <p:nvSpPr>
          <p:cNvPr id="24" name="Shape 22"/>
          <p:cNvSpPr/>
          <p:nvPr/>
        </p:nvSpPr>
        <p:spPr>
          <a:xfrm>
            <a:off x="9738360" y="5532120"/>
            <a:ext cx="1828800" cy="1188720"/>
          </a:xfrm>
          <a:prstGeom prst="roundRect">
            <a:avLst>
              <a:gd name="adj" fmla="val 6923"/>
            </a:avLst>
          </a:prstGeom>
          <a:solidFill>
            <a:srgbClr val="FFFFFF"/>
          </a:solidFill>
          <a:ln w="12700">
            <a:solidFill>
              <a:srgbClr val="FFFFFF"/>
            </a:solidFill>
            <a:prstDash val="solid"/>
          </a:ln>
        </p:spPr>
        <p:txBody>
          <a:bodyPr/>
          <a:p/>
        </p:txBody>
      </p:sp>
      <p:pic>
        <p:nvPicPr>
          <p:cNvPr id="25" name="Picture 24" descr="Mentimeter_OPT_DROGURI_C03.png"/>
          <p:cNvPicPr>
            <a:picLocks noChangeAspect="1"/>
          </p:cNvPicPr>
          <p:nvPr/>
        </p:nvPicPr>
        <p:blipFill>
          <a:blip r:embed="rId3"/>
          <a:stretch>
            <a:fillRect/>
          </a:stretch>
        </p:blipFill>
        <p:spPr>
          <a:xfrm>
            <a:off x="10275569" y="5532120"/>
            <a:ext cx="754381" cy="754381"/>
          </a:xfrm>
          <a:prstGeom prst="rect">
            <a:avLst/>
          </a:prstGeom>
        </p:spPr>
      </p:pic>
      <p:sp>
        <p:nvSpPr>
          <p:cNvPr id="26" name="TextBox 25"/>
          <p:cNvSpPr txBox="1"/>
          <p:nvPr/>
        </p:nvSpPr>
        <p:spPr>
          <a:xfrm>
            <a:off x="9738360" y="632460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CHAT · 30 DE SECUNDE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DOUA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„Când auzi un argument despre droguri, întreabă-te: pot verifica asta într-o sursă? Dacă da, cere sursa. Dacă nu, discutați despre ce vreți, nu despre ce s-a întâmplat.”</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 într-o frază.</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2103120"/>
            <a:ext cx="10972800" cy="1280160"/>
          </a:xfrm>
          <a:prstGeom prst="rect">
            <a:avLst/>
          </a:prstGeom>
          <a:noFill/>
          <a:ln/>
        </p:spPr>
        <p:txBody>
          <a:bodyPr wrap="square" lIns="0" tIns="0" rIns="0" bIns="0" rtlCol="0" anchor="ctr"/>
          <a:lstStyle/>
          <a:p>
            <a:pPr algn="ctr" indent="0" marL="0">
              <a:buNone/>
            </a:pPr>
            <a:r>
              <a:rPr lang="en-US" sz="6600" b="1" dirty="0">
                <a:solidFill>
                  <a:srgbClr val="FFFFFF"/>
                </a:solidFill>
                <a:latin typeface="Palatino Linotype" pitchFamily="34" charset="0"/>
                <a:ea typeface="Palatino Linotype" pitchFamily="34" charset="-122"/>
                <a:cs typeface="Palatino Linotype" pitchFamily="34" charset="-120"/>
              </a:rPr>
              <a:t>Zece minute</a:t>
            </a:r>
            <a:endParaRPr lang="en-US" sz="6600" dirty="0"/>
          </a:p>
        </p:txBody>
      </p:sp>
      <p:sp>
        <p:nvSpPr>
          <p:cNvPr id="3" name="Text 1"/>
          <p:cNvSpPr/>
          <p:nvPr/>
        </p:nvSpPr>
        <p:spPr>
          <a:xfrm>
            <a:off x="1371600" y="3566160"/>
            <a:ext cx="9418320" cy="822960"/>
          </a:xfrm>
          <a:prstGeom prst="rect">
            <a:avLst/>
          </a:prstGeom>
          <a:noFill/>
          <a:ln/>
        </p:spPr>
        <p:txBody>
          <a:bodyPr wrap="square" lIns="0" tIns="0" rIns="0" bIns="0" rtlCol="0" anchor="t"/>
          <a:lstStyle/>
          <a:p>
            <a:pPr algn="ctr" indent="0" marL="0">
              <a:buNone/>
            </a:pPr>
            <a:r>
              <a:rPr lang="en-US" sz="2000" dirty="0">
                <a:solidFill>
                  <a:srgbClr val="959BB0"/>
                </a:solidFill>
                <a:latin typeface="Palatino Linotype" pitchFamily="34" charset="0"/>
                <a:ea typeface="Palatino Linotype" pitchFamily="34" charset="-122"/>
                <a:cs typeface="Palatino Linotype" pitchFamily="34" charset="-120"/>
              </a:rPr>
              <a:t>Urmează farmacia: uleiul bunicii, colegul de apartament și copiii mici din Ontario.</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DROGURI/active/img/cannabis_planta_commons.jpg">    </p:cNvPr>
          <p:cNvPicPr>
            <a:picLocks noChangeAspect="1"/>
          </p:cNvPicPr>
          <p:nvPr/>
        </p:nvPicPr>
        <p:blipFill>
          <a:blip r:embed="rId1"/>
          <a:stretch>
            <a:fillRect/>
          </a:stretch>
        </p:blipFill>
        <p:spPr>
          <a:xfrm>
            <a:off x="0" y="0"/>
            <a:ext cx="4846320" cy="6455664"/>
          </a:xfrm>
          <a:prstGeom prst="rect">
            <a:avLst/>
          </a:prstGeom>
        </p:spPr>
      </p:pic>
      <p:sp>
        <p:nvSpPr>
          <p:cNvPr id="3" name="Shape 0"/>
          <p:cNvSpPr/>
          <p:nvPr/>
        </p:nvSpPr>
        <p:spPr>
          <a:xfrm>
            <a:off x="0" y="6355080"/>
            <a:ext cx="4846320" cy="502920"/>
          </a:xfrm>
          <a:prstGeom prst="rect">
            <a:avLst/>
          </a:prstGeom>
          <a:solidFill>
            <a:srgbClr val="11121A">
              <a:alpha val="70000"/>
            </a:srgbClr>
          </a:solidFill>
          <a:ln w="12700">
            <a:solidFill>
              <a:srgbClr val="11121A"/>
            </a:solidFill>
            <a:prstDash val="solid"/>
          </a:ln>
        </p:spPr>
        <p:txBody>
          <a:bodyPr/>
          <a:p/>
        </p:txBody>
      </p:sp>
      <p:sp>
        <p:nvSpPr>
          <p:cNvPr id="4" name="Text 1"/>
          <p:cNvSpPr/>
          <p:nvPr/>
        </p:nvSpPr>
        <p:spPr>
          <a:xfrm>
            <a:off x="182880" y="6373368"/>
            <a:ext cx="4480560" cy="256032"/>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Planta de cannabis</a:t>
            </a:r>
            <a:endParaRPr lang="en-US" sz="1100" dirty="0"/>
          </a:p>
        </p:txBody>
      </p:sp>
      <p:sp>
        <p:nvSpPr>
          <p:cNvPr id="5" name="Text 2"/>
          <p:cNvSpPr/>
          <p:nvPr/>
        </p:nvSpPr>
        <p:spPr>
          <a:xfrm>
            <a:off x="182880" y="6601968"/>
            <a:ext cx="448056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James St. John · CC BY 2.0 · Wikimedia Commons</a:t>
            </a:r>
            <a:endParaRPr lang="en-US" sz="850" dirty="0"/>
          </a:p>
        </p:txBody>
      </p:sp>
      <p:sp>
        <p:nvSpPr>
          <p:cNvPr id="6" name="Text 3"/>
          <p:cNvSpPr/>
          <p:nvPr/>
        </p:nvSpPr>
        <p:spPr>
          <a:xfrm>
            <a:off x="5303520" y="347472"/>
            <a:ext cx="6400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PARTEA A TREIA · FARMACIA</a:t>
            </a:r>
            <a:endParaRPr lang="en-US" sz="1300" dirty="0"/>
          </a:p>
        </p:txBody>
      </p:sp>
      <p:sp>
        <p:nvSpPr>
          <p:cNvPr id="7" name="Text 4"/>
          <p:cNvSpPr/>
          <p:nvPr/>
        </p:nvSpPr>
        <p:spPr>
          <a:xfrm>
            <a:off x="5303520" y="731520"/>
            <a:ext cx="6400800" cy="64008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Mesajul de duminică</a:t>
            </a:r>
            <a:endParaRPr lang="en-US" sz="3200" dirty="0"/>
          </a:p>
        </p:txBody>
      </p:sp>
      <p:sp>
        <p:nvSpPr>
          <p:cNvPr id="8" name="Shape 5"/>
          <p:cNvSpPr/>
          <p:nvPr/>
        </p:nvSpPr>
        <p:spPr>
          <a:xfrm>
            <a:off x="5303520" y="1600200"/>
            <a:ext cx="6263640" cy="457200"/>
          </a:xfrm>
          <a:prstGeom prst="roundRect">
            <a:avLst>
              <a:gd name="adj" fmla="val 18000"/>
            </a:avLst>
          </a:prstGeom>
          <a:solidFill>
            <a:srgbClr val="2B3048"/>
          </a:solidFill>
          <a:ln w="12700">
            <a:solidFill>
              <a:srgbClr val="2B3048"/>
            </a:solidFill>
            <a:prstDash val="solid"/>
          </a:ln>
        </p:spPr>
        <p:txBody>
          <a:bodyPr/>
          <a:p/>
        </p:txBody>
      </p:sp>
      <p:sp>
        <p:nvSpPr>
          <p:cNvPr id="9" name="Text 6"/>
          <p:cNvSpPr/>
          <p:nvPr/>
        </p:nvSpPr>
        <p:spPr>
          <a:xfrm>
            <a:off x="5532120" y="1600200"/>
            <a:ext cx="5806440" cy="457200"/>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Duminică seara</a:t>
            </a:r>
            <a:endParaRPr lang="en-US" sz="1300" dirty="0"/>
          </a:p>
        </p:txBody>
      </p:sp>
      <p:sp>
        <p:nvSpPr>
          <p:cNvPr id="10" name="Shape 7"/>
          <p:cNvSpPr/>
          <p:nvPr/>
        </p:nvSpPr>
        <p:spPr>
          <a:xfrm>
            <a:off x="5303520" y="2240280"/>
            <a:ext cx="5136185" cy="1097280"/>
          </a:xfrm>
          <a:prstGeom prst="roundRect">
            <a:avLst>
              <a:gd name="adj" fmla="val 7500"/>
            </a:avLst>
          </a:prstGeom>
          <a:solidFill>
            <a:srgbClr val="272A38"/>
          </a:solidFill>
          <a:ln w="12700">
            <a:solidFill>
              <a:srgbClr val="272A38"/>
            </a:solidFill>
            <a:prstDash val="solid"/>
          </a:ln>
        </p:spPr>
        <p:txBody>
          <a:bodyPr/>
          <a:p/>
        </p:txBody>
      </p:sp>
      <p:sp>
        <p:nvSpPr>
          <p:cNvPr id="11" name="Text 8"/>
          <p:cNvSpPr/>
          <p:nvPr/>
        </p:nvSpPr>
        <p:spPr>
          <a:xfrm>
            <a:off x="5486400" y="2313432"/>
            <a:ext cx="4770425"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Colega ta</a:t>
            </a:r>
            <a:endParaRPr lang="en-US" sz="1100" dirty="0"/>
          </a:p>
        </p:txBody>
      </p:sp>
      <p:sp>
        <p:nvSpPr>
          <p:cNvPr id="12" name="Text 9"/>
          <p:cNvSpPr/>
          <p:nvPr/>
        </p:nvSpPr>
        <p:spPr>
          <a:xfrm>
            <a:off x="5486400" y="2551176"/>
            <a:ext cx="4770425"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Bunica face chimioterapie și îi e rău după fiecare cură, deși ia medicamentele împotriva vărsăturilor.</a:t>
            </a:r>
            <a:endParaRPr lang="en-US" sz="1500" dirty="0"/>
          </a:p>
        </p:txBody>
      </p:sp>
      <p:sp>
        <p:nvSpPr>
          <p:cNvPr id="13" name="Shape 10"/>
          <p:cNvSpPr/>
          <p:nvPr/>
        </p:nvSpPr>
        <p:spPr>
          <a:xfrm>
            <a:off x="5303520" y="3502152"/>
            <a:ext cx="5136185" cy="1097280"/>
          </a:xfrm>
          <a:prstGeom prst="roundRect">
            <a:avLst>
              <a:gd name="adj" fmla="val 7500"/>
            </a:avLst>
          </a:prstGeom>
          <a:solidFill>
            <a:srgbClr val="272A38"/>
          </a:solidFill>
          <a:ln w="12700">
            <a:solidFill>
              <a:srgbClr val="272A38"/>
            </a:solidFill>
            <a:prstDash val="solid"/>
          </a:ln>
        </p:spPr>
        <p:txBody>
          <a:bodyPr/>
          <a:p/>
        </p:txBody>
      </p:sp>
      <p:sp>
        <p:nvSpPr>
          <p:cNvPr id="14" name="Text 11"/>
          <p:cNvSpPr/>
          <p:nvPr/>
        </p:nvSpPr>
        <p:spPr>
          <a:xfrm>
            <a:off x="5486400" y="3575304"/>
            <a:ext cx="4770425"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Colega ta</a:t>
            </a:r>
            <a:endParaRPr lang="en-US" sz="1100" dirty="0"/>
          </a:p>
        </p:txBody>
      </p:sp>
      <p:sp>
        <p:nvSpPr>
          <p:cNvPr id="15" name="Text 12"/>
          <p:cNvSpPr/>
          <p:nvPr/>
        </p:nvSpPr>
        <p:spPr>
          <a:xfrm>
            <a:off x="5486400" y="3813048"/>
            <a:ext cx="4770425"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O vecină i-a adus un ulei „de cannabis, natural, care vindecă și cancerul”. Tu ești la medicină. Merge?</a:t>
            </a:r>
            <a:endParaRPr lang="en-US" sz="1500" dirty="0"/>
          </a:p>
        </p:txBody>
      </p:sp>
      <p:sp>
        <p:nvSpPr>
          <p:cNvPr id="16" name="Text 13"/>
          <p:cNvSpPr/>
          <p:nvPr/>
        </p:nvSpPr>
        <p:spPr>
          <a:xfrm>
            <a:off x="5303520" y="5989320"/>
            <a:ext cx="54864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MESAJUL DE DUMINICĂ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răspundeți?</a:t>
            </a:r>
            <a:endParaRPr lang="en-US" sz="3400" dirty="0"/>
          </a:p>
        </p:txBody>
      </p:sp>
      <p:sp>
        <p:nvSpPr>
          <p:cNvPr id="6" name="Shape 4"/>
          <p:cNvSpPr/>
          <p:nvPr/>
        </p:nvSpPr>
        <p:spPr>
          <a:xfrm>
            <a:off x="594360" y="146304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7" name="Shape 5"/>
          <p:cNvSpPr/>
          <p:nvPr/>
        </p:nvSpPr>
        <p:spPr>
          <a:xfrm>
            <a:off x="914400" y="1709928"/>
            <a:ext cx="420624" cy="420624"/>
          </a:xfrm>
          <a:prstGeom prst="ellipse">
            <a:avLst/>
          </a:prstGeom>
          <a:solidFill>
            <a:srgbClr val="FFC24B"/>
          </a:solidFill>
          <a:ln/>
        </p:spPr>
        <p:txBody>
          <a:bodyPr/>
          <a:p/>
        </p:txBody>
      </p:sp>
      <p:sp>
        <p:nvSpPr>
          <p:cNvPr id="8" name="Text 6"/>
          <p:cNvSpPr/>
          <p:nvPr/>
        </p:nvSpPr>
        <p:spPr>
          <a:xfrm>
            <a:off x="914400" y="1709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463040"/>
            <a:ext cx="969264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„Da, cannabisul tratează și greața, și cancerul.”</a:t>
            </a:r>
            <a:endParaRPr lang="en-US" sz="1650" dirty="0"/>
          </a:p>
        </p:txBody>
      </p:sp>
      <p:sp>
        <p:nvSpPr>
          <p:cNvPr id="10" name="Shape 8"/>
          <p:cNvSpPr/>
          <p:nvPr/>
        </p:nvSpPr>
        <p:spPr>
          <a:xfrm>
            <a:off x="594360" y="251460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11" name="Shape 9"/>
          <p:cNvSpPr/>
          <p:nvPr/>
        </p:nvSpPr>
        <p:spPr>
          <a:xfrm>
            <a:off x="914400" y="2761488"/>
            <a:ext cx="420624" cy="420624"/>
          </a:xfrm>
          <a:prstGeom prst="ellipse">
            <a:avLst/>
          </a:prstGeom>
          <a:solidFill>
            <a:srgbClr val="FFC24B"/>
          </a:solidFill>
          <a:ln/>
        </p:spPr>
        <p:txBody>
          <a:bodyPr/>
          <a:p/>
        </p:txBody>
      </p:sp>
      <p:sp>
        <p:nvSpPr>
          <p:cNvPr id="12" name="Text 10"/>
          <p:cNvSpPr/>
          <p:nvPr/>
        </p:nvSpPr>
        <p:spPr>
          <a:xfrm>
            <a:off x="914400" y="27614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14600"/>
            <a:ext cx="969264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„Poate ajuta la greață în anumite situații; pentru cancer, ghidul nu îl recomandă în afara studiilor; să vorbească cu oncologul.”</a:t>
            </a:r>
            <a:endParaRPr lang="en-US" sz="1650" dirty="0"/>
          </a:p>
        </p:txBody>
      </p:sp>
      <p:sp>
        <p:nvSpPr>
          <p:cNvPr id="14" name="Shape 12"/>
          <p:cNvSpPr/>
          <p:nvPr/>
        </p:nvSpPr>
        <p:spPr>
          <a:xfrm>
            <a:off x="594360" y="356616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15" name="Shape 13"/>
          <p:cNvSpPr/>
          <p:nvPr/>
        </p:nvSpPr>
        <p:spPr>
          <a:xfrm>
            <a:off x="914400" y="3813048"/>
            <a:ext cx="420624" cy="420624"/>
          </a:xfrm>
          <a:prstGeom prst="ellipse">
            <a:avLst/>
          </a:prstGeom>
          <a:solidFill>
            <a:srgbClr val="FFC24B"/>
          </a:solidFill>
          <a:ln/>
        </p:spPr>
        <p:txBody>
          <a:bodyPr/>
          <a:p/>
        </p:txBody>
      </p:sp>
      <p:sp>
        <p:nvSpPr>
          <p:cNvPr id="16" name="Text 14"/>
          <p:cNvSpPr/>
          <p:nvPr/>
        </p:nvSpPr>
        <p:spPr>
          <a:xfrm>
            <a:off x="914400" y="3813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566160"/>
            <a:ext cx="969264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cannabisul nu are niciun efect medical.”</a:t>
            </a:r>
            <a:endParaRPr lang="en-US" sz="1650" dirty="0"/>
          </a:p>
        </p:txBody>
      </p:sp>
      <p:sp>
        <p:nvSpPr>
          <p:cNvPr id="18" name="Shape 16"/>
          <p:cNvSpPr/>
          <p:nvPr/>
        </p:nvSpPr>
        <p:spPr>
          <a:xfrm>
            <a:off x="594360" y="461772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19" name="Shape 17"/>
          <p:cNvSpPr/>
          <p:nvPr/>
        </p:nvSpPr>
        <p:spPr>
          <a:xfrm>
            <a:off x="914400" y="4864608"/>
            <a:ext cx="420624" cy="420624"/>
          </a:xfrm>
          <a:prstGeom prst="ellipse">
            <a:avLst/>
          </a:prstGeom>
          <a:solidFill>
            <a:srgbClr val="FFC24B"/>
          </a:solidFill>
          <a:ln/>
        </p:spPr>
        <p:txBody>
          <a:bodyPr/>
          <a:p/>
        </p:txBody>
      </p:sp>
      <p:sp>
        <p:nvSpPr>
          <p:cNvPr id="20" name="Text 18"/>
          <p:cNvSpPr/>
          <p:nvPr/>
        </p:nvSpPr>
        <p:spPr>
          <a:xfrm>
            <a:off x="914400" y="4864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617720"/>
            <a:ext cx="969264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știu.”</a:t>
            </a:r>
            <a:endParaRPr lang="en-US" sz="1650" dirty="0"/>
          </a:p>
        </p:txBody>
      </p:sp>
      <p:sp>
        <p:nvSpPr>
          <p:cNvPr id="22" name="Shape 20"/>
          <p:cNvSpPr/>
          <p:nvPr/>
        </p:nvSpPr>
        <p:spPr>
          <a:xfrm>
            <a:off x="9738360" y="5669280"/>
            <a:ext cx="1828800" cy="1051560"/>
          </a:xfrm>
          <a:prstGeom prst="roundRect">
            <a:avLst>
              <a:gd name="adj" fmla="val 7826"/>
            </a:avLst>
          </a:prstGeom>
          <a:solidFill>
            <a:srgbClr val="FFFFFF"/>
          </a:solidFill>
          <a:ln w="12700">
            <a:solidFill>
              <a:srgbClr val="FFFFFF"/>
            </a:solidFill>
            <a:prstDash val="solid"/>
          </a:ln>
        </p:spPr>
        <p:txBody>
          <a:bodyPr/>
          <a:p/>
        </p:txBody>
      </p:sp>
      <p:pic>
        <p:nvPicPr>
          <p:cNvPr id="23" name="Picture 22" descr="Mentimeter_OPT_DROGURI_C03.png"/>
          <p:cNvPicPr>
            <a:picLocks noChangeAspect="1"/>
          </p:cNvPicPr>
          <p:nvPr/>
        </p:nvPicPr>
        <p:blipFill>
          <a:blip r:embed="rId3"/>
          <a:stretch>
            <a:fillRect/>
          </a:stretch>
        </p:blipFill>
        <p:spPr>
          <a:xfrm>
            <a:off x="10344149" y="5669280"/>
            <a:ext cx="617221" cy="617221"/>
          </a:xfrm>
          <a:prstGeom prst="rect">
            <a:avLst/>
          </a:prstGeom>
        </p:spPr>
      </p:pic>
      <p:sp>
        <p:nvSpPr>
          <p:cNvPr id="24" name="TextBox 23"/>
          <p:cNvSpPr txBox="1"/>
          <p:nvPr/>
        </p:nvSpPr>
        <p:spPr>
          <a:xfrm>
            <a:off x="9738360" y="632460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NASEM · 2017 · DOVEZI CONCLUDENTE SAU SUBSTANȚIALE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situații, nu douăzeci</a:t>
            </a:r>
            <a:endParaRPr lang="en-US" sz="3200" dirty="0"/>
          </a:p>
        </p:txBody>
      </p:sp>
      <p:sp>
        <p:nvSpPr>
          <p:cNvPr id="4" name="Shape 2"/>
          <p:cNvSpPr/>
          <p:nvPr/>
        </p:nvSpPr>
        <p:spPr>
          <a:xfrm>
            <a:off x="594360" y="1554480"/>
            <a:ext cx="3520440" cy="2194560"/>
          </a:xfrm>
          <a:prstGeom prst="roundRect">
            <a:avLst>
              <a:gd name="adj" fmla="val 3750"/>
            </a:avLst>
          </a:prstGeom>
          <a:solidFill>
            <a:srgbClr val="ECEAE4"/>
          </a:solidFill>
          <a:ln w="12700">
            <a:solidFill>
              <a:srgbClr val="ECEAE4"/>
            </a:solidFill>
            <a:prstDash val="solid"/>
          </a:ln>
        </p:spPr>
        <p:txBody>
          <a:bodyPr/>
          <a:p/>
        </p:txBody>
      </p:sp>
      <p:sp>
        <p:nvSpPr>
          <p:cNvPr id="5" name="Text 3"/>
          <p:cNvSpPr/>
          <p:nvPr/>
        </p:nvSpPr>
        <p:spPr>
          <a:xfrm>
            <a:off x="868680" y="1645920"/>
            <a:ext cx="914400" cy="731520"/>
          </a:xfrm>
          <a:prstGeom prst="rect">
            <a:avLst/>
          </a:prstGeom>
          <a:noFill/>
          <a:ln/>
        </p:spPr>
        <p:txBody>
          <a:bodyPr wrap="square" lIns="0" tIns="0" rIns="0" bIns="0" rtlCol="0" anchor="t"/>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1</a:t>
            </a:r>
            <a:endParaRPr lang="en-US" sz="4000" dirty="0"/>
          </a:p>
        </p:txBody>
      </p:sp>
      <p:sp>
        <p:nvSpPr>
          <p:cNvPr id="6" name="Text 4"/>
          <p:cNvSpPr/>
          <p:nvPr/>
        </p:nvSpPr>
        <p:spPr>
          <a:xfrm>
            <a:off x="868680" y="2377440"/>
            <a:ext cx="30175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Durerea cronică</a:t>
            </a:r>
            <a:endParaRPr lang="en-US" sz="1900" dirty="0"/>
          </a:p>
        </p:txBody>
      </p:sp>
      <p:sp>
        <p:nvSpPr>
          <p:cNvPr id="7" name="Text 5"/>
          <p:cNvSpPr/>
          <p:nvPr/>
        </p:nvSpPr>
        <p:spPr>
          <a:xfrm>
            <a:off x="868680" y="2834640"/>
            <a:ext cx="3017520" cy="82296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la adulți (cannabis)</a:t>
            </a:r>
            <a:endParaRPr lang="en-US" sz="1500" dirty="0"/>
          </a:p>
        </p:txBody>
      </p:sp>
      <p:sp>
        <p:nvSpPr>
          <p:cNvPr id="8" name="Shape 6"/>
          <p:cNvSpPr/>
          <p:nvPr/>
        </p:nvSpPr>
        <p:spPr>
          <a:xfrm>
            <a:off x="4366260" y="1554480"/>
            <a:ext cx="3520440" cy="2194560"/>
          </a:xfrm>
          <a:prstGeom prst="roundRect">
            <a:avLst>
              <a:gd name="adj" fmla="val 3750"/>
            </a:avLst>
          </a:prstGeom>
          <a:solidFill>
            <a:srgbClr val="ECEAE4"/>
          </a:solidFill>
          <a:ln w="12700">
            <a:solidFill>
              <a:srgbClr val="ECEAE4"/>
            </a:solidFill>
            <a:prstDash val="solid"/>
          </a:ln>
        </p:spPr>
        <p:txBody>
          <a:bodyPr/>
          <a:p/>
        </p:txBody>
      </p:sp>
      <p:sp>
        <p:nvSpPr>
          <p:cNvPr id="9" name="Text 7"/>
          <p:cNvSpPr/>
          <p:nvPr/>
        </p:nvSpPr>
        <p:spPr>
          <a:xfrm>
            <a:off x="4640580" y="1645920"/>
            <a:ext cx="914400" cy="731520"/>
          </a:xfrm>
          <a:prstGeom prst="rect">
            <a:avLst/>
          </a:prstGeom>
          <a:noFill/>
          <a:ln/>
        </p:spPr>
        <p:txBody>
          <a:bodyPr wrap="square" lIns="0" tIns="0" rIns="0" bIns="0" rtlCol="0" anchor="t"/>
          <a:lstStyle/>
          <a:p>
            <a:pPr indent="0" marL="0">
              <a:buNone/>
            </a:pPr>
            <a:r>
              <a:rPr lang="en-US" sz="4000" b="1" dirty="0">
                <a:solidFill>
                  <a:srgbClr val="8A6100"/>
                </a:solidFill>
                <a:latin typeface="Palatino Linotype" pitchFamily="34" charset="0"/>
                <a:ea typeface="Palatino Linotype" pitchFamily="34" charset="-122"/>
                <a:cs typeface="Palatino Linotype" pitchFamily="34" charset="-120"/>
              </a:rPr>
              <a:t>2</a:t>
            </a:r>
            <a:endParaRPr lang="en-US" sz="4000" dirty="0"/>
          </a:p>
        </p:txBody>
      </p:sp>
      <p:sp>
        <p:nvSpPr>
          <p:cNvPr id="10" name="Text 8"/>
          <p:cNvSpPr/>
          <p:nvPr/>
        </p:nvSpPr>
        <p:spPr>
          <a:xfrm>
            <a:off x="4640580" y="2377440"/>
            <a:ext cx="30175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Greața și vărsăturile</a:t>
            </a:r>
            <a:endParaRPr lang="en-US" sz="1900" dirty="0"/>
          </a:p>
        </p:txBody>
      </p:sp>
      <p:sp>
        <p:nvSpPr>
          <p:cNvPr id="11" name="Text 9"/>
          <p:cNvSpPr/>
          <p:nvPr/>
        </p:nvSpPr>
        <p:spPr>
          <a:xfrm>
            <a:off x="4640580" y="2834640"/>
            <a:ext cx="3017520" cy="82296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produse de chimioterapie (canabinoizi pe cale orală)</a:t>
            </a:r>
            <a:endParaRPr lang="en-US" sz="1500" dirty="0"/>
          </a:p>
        </p:txBody>
      </p:sp>
      <p:sp>
        <p:nvSpPr>
          <p:cNvPr id="12" name="Shape 10"/>
          <p:cNvSpPr/>
          <p:nvPr/>
        </p:nvSpPr>
        <p:spPr>
          <a:xfrm>
            <a:off x="8138160" y="1554480"/>
            <a:ext cx="3520440" cy="2194560"/>
          </a:xfrm>
          <a:prstGeom prst="roundRect">
            <a:avLst>
              <a:gd name="adj" fmla="val 3750"/>
            </a:avLst>
          </a:prstGeom>
          <a:solidFill>
            <a:srgbClr val="ECEAE4"/>
          </a:solidFill>
          <a:ln w="12700">
            <a:solidFill>
              <a:srgbClr val="ECEAE4"/>
            </a:solidFill>
            <a:prstDash val="solid"/>
          </a:ln>
        </p:spPr>
        <p:txBody>
          <a:bodyPr/>
          <a:p/>
        </p:txBody>
      </p:sp>
      <p:sp>
        <p:nvSpPr>
          <p:cNvPr id="13" name="Text 11"/>
          <p:cNvSpPr/>
          <p:nvPr/>
        </p:nvSpPr>
        <p:spPr>
          <a:xfrm>
            <a:off x="8412480" y="1645920"/>
            <a:ext cx="914400" cy="731520"/>
          </a:xfrm>
          <a:prstGeom prst="rect">
            <a:avLst/>
          </a:prstGeom>
          <a:noFill/>
          <a:ln/>
        </p:spPr>
        <p:txBody>
          <a:bodyPr wrap="square" lIns="0" tIns="0" rIns="0" bIns="0" rtlCol="0" anchor="t"/>
          <a:lstStyle/>
          <a:p>
            <a:pPr indent="0" marL="0">
              <a:buNone/>
            </a:pPr>
            <a:r>
              <a:rPr lang="en-US" sz="4000" b="1" dirty="0">
                <a:solidFill>
                  <a:srgbClr val="4A2D8C"/>
                </a:solidFill>
                <a:latin typeface="Palatino Linotype" pitchFamily="34" charset="0"/>
                <a:ea typeface="Palatino Linotype" pitchFamily="34" charset="-122"/>
                <a:cs typeface="Palatino Linotype" pitchFamily="34" charset="-120"/>
              </a:rPr>
              <a:t>3</a:t>
            </a:r>
            <a:endParaRPr lang="en-US" sz="4000" dirty="0"/>
          </a:p>
        </p:txBody>
      </p:sp>
      <p:sp>
        <p:nvSpPr>
          <p:cNvPr id="14" name="Text 12"/>
          <p:cNvSpPr/>
          <p:nvPr/>
        </p:nvSpPr>
        <p:spPr>
          <a:xfrm>
            <a:off x="8412480" y="2377440"/>
            <a:ext cx="30175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Spasticitatea</a:t>
            </a:r>
            <a:endParaRPr lang="en-US" sz="1900" dirty="0"/>
          </a:p>
        </p:txBody>
      </p:sp>
      <p:sp>
        <p:nvSpPr>
          <p:cNvPr id="15" name="Text 13"/>
          <p:cNvSpPr/>
          <p:nvPr/>
        </p:nvSpPr>
        <p:spPr>
          <a:xfrm>
            <a:off x="8412480" y="2834640"/>
            <a:ext cx="3017520" cy="82296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din scleroza multiplă, raportată de pacient</a:t>
            </a:r>
            <a:endParaRPr lang="en-US" sz="1500" dirty="0"/>
          </a:p>
        </p:txBody>
      </p:sp>
      <p:sp>
        <p:nvSpPr>
          <p:cNvPr id="16" name="Text 14"/>
          <p:cNvSpPr/>
          <p:nvPr/>
        </p:nvSpPr>
        <p:spPr>
          <a:xfrm>
            <a:off x="594360" y="4023360"/>
            <a:ext cx="10972800" cy="54864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Răspunsul sprijinit de dovezi: B. Poate ajuta la greață, ca adaos; nu tratează boala.</a:t>
            </a:r>
            <a:endParaRPr lang="en-US" sz="1900" dirty="0"/>
          </a:p>
        </p:txBody>
      </p:sp>
      <p:sp>
        <p:nvSpPr>
          <p:cNvPr id="17" name="Text 15"/>
          <p:cNvSpPr/>
          <p:nvPr/>
        </p:nvSpPr>
        <p:spPr>
          <a:xfrm>
            <a:off x="594360" y="4709160"/>
            <a:ext cx="10972800" cy="4572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a treia situație, două cuvinte contează: „raportată de pacient”.</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National Academies of Sciences, Engineering, and Medicine, 2017.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Rezultatul raportat de pacient</a:t>
            </a:r>
            <a:endParaRPr lang="en-US" sz="3400" dirty="0"/>
          </a:p>
        </p:txBody>
      </p:sp>
      <p:sp>
        <p:nvSpPr>
          <p:cNvPr id="4" name="Shape 2"/>
          <p:cNvSpPr/>
          <p:nvPr/>
        </p:nvSpPr>
        <p:spPr>
          <a:xfrm>
            <a:off x="594360" y="1600200"/>
            <a:ext cx="5349240" cy="2377440"/>
          </a:xfrm>
          <a:prstGeom prst="roundRect">
            <a:avLst>
              <a:gd name="adj" fmla="val 3462"/>
            </a:avLst>
          </a:prstGeom>
          <a:solidFill>
            <a:srgbClr val="1D1F2B"/>
          </a:solidFill>
          <a:ln w="12700">
            <a:solidFill>
              <a:srgbClr val="1D1F2B"/>
            </a:solidFill>
            <a:prstDash val="solid"/>
          </a:ln>
        </p:spPr>
        <p:txBody>
          <a:bodyPr/>
          <a:p/>
        </p:txBody>
      </p:sp>
      <p:sp>
        <p:nvSpPr>
          <p:cNvPr id="5" name="Shape 3"/>
          <p:cNvSpPr/>
          <p:nvPr/>
        </p:nvSpPr>
        <p:spPr>
          <a:xfrm>
            <a:off x="6217920" y="1600200"/>
            <a:ext cx="5349240" cy="2377440"/>
          </a:xfrm>
          <a:prstGeom prst="roundRect">
            <a:avLst>
              <a:gd name="adj" fmla="val 3462"/>
            </a:avLst>
          </a:prstGeom>
          <a:solidFill>
            <a:srgbClr val="1D1F2B"/>
          </a:solidFill>
          <a:ln w="12700">
            <a:solidFill>
              <a:srgbClr val="1D1F2B"/>
            </a:solidFill>
            <a:prstDash val="solid"/>
          </a:ln>
        </p:spPr>
        <p:txBody>
          <a:bodyPr/>
          <a:p/>
        </p:txBody>
      </p:sp>
      <p:sp>
        <p:nvSpPr>
          <p:cNvPr id="6" name="Text 4"/>
          <p:cNvSpPr/>
          <p:nvPr/>
        </p:nvSpPr>
        <p:spPr>
          <a:xfrm>
            <a:off x="868680" y="1783080"/>
            <a:ext cx="484632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CE SIMTE PACIENTUL</a:t>
            </a:r>
            <a:endParaRPr lang="en-US" sz="1400" dirty="0"/>
          </a:p>
        </p:txBody>
      </p:sp>
      <p:sp>
        <p:nvSpPr>
          <p:cNvPr id="7" name="Text 5"/>
          <p:cNvSpPr/>
          <p:nvPr/>
        </p:nvSpPr>
        <p:spPr>
          <a:xfrm>
            <a:off x="868680" y="2240280"/>
            <a:ext cx="4846320" cy="15544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Îl spune pacientul însuși, de obicei printr-un chestionar: „cât de rigid vă simțiți piciorul?”</a:t>
            </a:r>
            <a:endParaRPr lang="en-US" sz="1800" dirty="0"/>
          </a:p>
        </p:txBody>
      </p:sp>
      <p:sp>
        <p:nvSpPr>
          <p:cNvPr id="8" name="Text 6"/>
          <p:cNvSpPr/>
          <p:nvPr/>
        </p:nvSpPr>
        <p:spPr>
          <a:xfrm>
            <a:off x="6492240" y="1783080"/>
            <a:ext cx="4846320" cy="365760"/>
          </a:xfrm>
          <a:prstGeom prst="rect">
            <a:avLst/>
          </a:prstGeom>
          <a:noFill/>
          <a:ln/>
        </p:spPr>
        <p:txBody>
          <a:bodyPr wrap="square" lIns="0" tIns="0" rIns="0" bIns="0" rtlCol="0" anchor="t"/>
          <a:lstStyle/>
          <a:p>
            <a:pPr indent="0" marL="0">
              <a:buNone/>
            </a:pPr>
            <a:r>
              <a:rPr lang="en-US" sz="1400" b="1" spc="200" kern="0" dirty="0">
                <a:solidFill>
                  <a:srgbClr val="FFC24B"/>
                </a:solidFill>
                <a:latin typeface="Palatino Linotype" pitchFamily="34" charset="0"/>
                <a:ea typeface="Palatino Linotype" pitchFamily="34" charset="-122"/>
                <a:cs typeface="Palatino Linotype" pitchFamily="34" charset="-120"/>
              </a:rPr>
              <a:t>CE GĂSEȘTE MEDICUL</a:t>
            </a:r>
            <a:endParaRPr lang="en-US" sz="1400" dirty="0"/>
          </a:p>
        </p:txBody>
      </p:sp>
      <p:sp>
        <p:nvSpPr>
          <p:cNvPr id="9" name="Text 7"/>
          <p:cNvSpPr/>
          <p:nvPr/>
        </p:nvSpPr>
        <p:spPr>
          <a:xfrm>
            <a:off x="6492240" y="2240280"/>
            <a:ext cx="4846320" cy="15544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Îl măsoară un examinator, cu o scală sau cu un instrument.</a:t>
            </a:r>
            <a:endParaRPr lang="en-US" sz="1800" dirty="0"/>
          </a:p>
        </p:txBody>
      </p:sp>
      <p:sp>
        <p:nvSpPr>
          <p:cNvPr id="10" name="Text 8"/>
          <p:cNvSpPr/>
          <p:nvPr/>
        </p:nvSpPr>
        <p:spPr>
          <a:xfrm>
            <a:off x="594360" y="429768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Amândouă sunt rezultate reale. Nu sunt același lucru.</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GHIDUL ASCO 2024 · META-ANALIZA DIN 2018</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Ghidul din 2024 și scleroza multiplă</a:t>
            </a:r>
            <a:endParaRPr lang="en-US" sz="3000" dirty="0"/>
          </a:p>
        </p:txBody>
      </p:sp>
      <p:sp>
        <p:nvSpPr>
          <p:cNvPr id="4" name="Shape 2"/>
          <p:cNvSpPr/>
          <p:nvPr/>
        </p:nvSpPr>
        <p:spPr>
          <a:xfrm>
            <a:off x="594360" y="1508760"/>
            <a:ext cx="5349240" cy="4160520"/>
          </a:xfrm>
          <a:prstGeom prst="roundRect">
            <a:avLst>
              <a:gd name="adj" fmla="val 1978"/>
            </a:avLst>
          </a:prstGeom>
          <a:solidFill>
            <a:srgbClr val="ECEAE4"/>
          </a:solidFill>
          <a:ln w="12700">
            <a:solidFill>
              <a:srgbClr val="ECEAE4"/>
            </a:solidFill>
            <a:prstDash val="solid"/>
          </a:ln>
        </p:spPr>
        <p:txBody>
          <a:bodyPr/>
          <a:p/>
        </p:txBody>
      </p:sp>
      <p:sp>
        <p:nvSpPr>
          <p:cNvPr id="5" name="Text 3"/>
          <p:cNvSpPr/>
          <p:nvPr/>
        </p:nvSpPr>
        <p:spPr>
          <a:xfrm>
            <a:off x="868680" y="1645920"/>
            <a:ext cx="4846320" cy="4114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Greața de la chimioterapie</a:t>
            </a:r>
            <a:endParaRPr lang="en-US" sz="1800" dirty="0"/>
          </a:p>
        </p:txBody>
      </p:sp>
      <p:sp>
        <p:nvSpPr>
          <p:cNvPr id="6" name="Text 4"/>
          <p:cNvSpPr/>
          <p:nvPr/>
        </p:nvSpPr>
        <p:spPr>
          <a:xfrm>
            <a:off x="868680" y="2103120"/>
            <a:ext cx="4846320" cy="201168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adaos, nu un înlocuitor: numai când greața continuă cu profilaxia recomandată. Recomandare slabă; calitate moderată a dovezilor, scăzută pentru THC:CBD.</a:t>
            </a:r>
            <a:endParaRPr lang="en-US" sz="1550" dirty="0"/>
          </a:p>
        </p:txBody>
      </p:sp>
      <p:sp>
        <p:nvSpPr>
          <p:cNvPr id="7" name="Text 5"/>
          <p:cNvSpPr/>
          <p:nvPr/>
        </p:nvSpPr>
        <p:spPr>
          <a:xfrm>
            <a:off x="868680" y="4434840"/>
            <a:ext cx="4846320" cy="8229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Pentru cancer: numai în studii clinice.</a:t>
            </a:r>
            <a:endParaRPr lang="en-US" sz="1700" dirty="0"/>
          </a:p>
        </p:txBody>
      </p:sp>
      <p:sp>
        <p:nvSpPr>
          <p:cNvPr id="8" name="Shape 6"/>
          <p:cNvSpPr/>
          <p:nvPr/>
        </p:nvSpPr>
        <p:spPr>
          <a:xfrm>
            <a:off x="6217920" y="1508760"/>
            <a:ext cx="5349240" cy="4160520"/>
          </a:xfrm>
          <a:prstGeom prst="roundRect">
            <a:avLst>
              <a:gd name="adj" fmla="val 1978"/>
            </a:avLst>
          </a:prstGeom>
          <a:solidFill>
            <a:srgbClr val="E8E2F4"/>
          </a:solidFill>
          <a:ln w="12700">
            <a:solidFill>
              <a:srgbClr val="E8E2F4"/>
            </a:solidFill>
            <a:prstDash val="solid"/>
          </a:ln>
        </p:spPr>
        <p:txBody>
          <a:bodyPr/>
          <a:p/>
        </p:txBody>
      </p:sp>
      <p:sp>
        <p:nvSpPr>
          <p:cNvPr id="9" name="Text 7"/>
          <p:cNvSpPr/>
          <p:nvPr/>
        </p:nvSpPr>
        <p:spPr>
          <a:xfrm>
            <a:off x="6492240" y="1645920"/>
            <a:ext cx="4846320" cy="41148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Scleroza multiplă</a:t>
            </a:r>
            <a:endParaRPr lang="en-US" sz="1800" dirty="0"/>
          </a:p>
        </p:txBody>
      </p:sp>
      <p:sp>
        <p:nvSpPr>
          <p:cNvPr id="10" name="Text 8"/>
          <p:cNvSpPr/>
          <p:nvPr/>
        </p:nvSpPr>
        <p:spPr>
          <a:xfrm>
            <a:off x="6492240" y="2103120"/>
            <a:ext cx="4846320" cy="457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17 studii clinice, 3 161 de pacienți.</a:t>
            </a:r>
            <a:endParaRPr lang="en-US" sz="1600" dirty="0"/>
          </a:p>
        </p:txBody>
      </p:sp>
      <p:sp>
        <p:nvSpPr>
          <p:cNvPr id="11" name="Text 9"/>
          <p:cNvSpPr/>
          <p:nvPr/>
        </p:nvSpPr>
        <p:spPr>
          <a:xfrm>
            <a:off x="6492240" y="2743200"/>
            <a:ext cx="4846320" cy="41148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Pacientul raportează</a:t>
            </a:r>
            <a:endParaRPr lang="en-US" sz="1550" dirty="0"/>
          </a:p>
        </p:txBody>
      </p:sp>
      <p:sp>
        <p:nvSpPr>
          <p:cNvPr id="12" name="Text 10"/>
          <p:cNvSpPr/>
          <p:nvPr/>
        </p:nvSpPr>
        <p:spPr>
          <a:xfrm>
            <a:off x="6492240" y="3154680"/>
            <a:ext cx="4846320" cy="640080"/>
          </a:xfrm>
          <a:prstGeom prst="rect">
            <a:avLst/>
          </a:prstGeom>
          <a:noFill/>
          <a:ln/>
        </p:spPr>
        <p:txBody>
          <a:bodyPr wrap="square" lIns="0" tIns="0" rIns="0" bIns="0" rtlCol="0" anchor="t"/>
          <a:lstStyle/>
          <a:p>
            <a:pPr indent="0" marL="0">
              <a:buNone/>
            </a:pPr>
            <a:r>
              <a:rPr lang="en-US" sz="2600" b="1" dirty="0">
                <a:solidFill>
                  <a:srgbClr val="0E7C6B"/>
                </a:solidFill>
                <a:latin typeface="Palatino Linotype" pitchFamily="34" charset="0"/>
                <a:ea typeface="Palatino Linotype" pitchFamily="34" charset="-122"/>
                <a:cs typeface="Palatino Linotype" pitchFamily="34" charset="-120"/>
              </a:rPr>
              <a:t>ameliorare</a:t>
            </a:r>
            <a:endParaRPr lang="en-US" sz="2600" dirty="0"/>
          </a:p>
        </p:txBody>
      </p:sp>
      <p:sp>
        <p:nvSpPr>
          <p:cNvPr id="13" name="Text 11"/>
          <p:cNvSpPr/>
          <p:nvPr/>
        </p:nvSpPr>
        <p:spPr>
          <a:xfrm>
            <a:off x="6492240" y="4023360"/>
            <a:ext cx="4846320" cy="41148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Scala Ashworth (examinatorul)</a:t>
            </a:r>
            <a:endParaRPr lang="en-US" sz="1550" dirty="0"/>
          </a:p>
        </p:txBody>
      </p:sp>
      <p:sp>
        <p:nvSpPr>
          <p:cNvPr id="14" name="Text 12"/>
          <p:cNvSpPr/>
          <p:nvPr/>
        </p:nvSpPr>
        <p:spPr>
          <a:xfrm>
            <a:off x="6492240" y="4434840"/>
            <a:ext cx="4846320" cy="64008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niciun efect</a:t>
            </a:r>
            <a:endParaRPr lang="en-US" sz="26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ghidul ASCO, 2024; Torres-Moreno și colab., JAMA Network Open, 2018.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CHAT · 2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SCRIEȚI ÎN CHATUL TEAMS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Pacientul spune „mai bine”, examinatorul nu vede nimic</a:t>
            </a:r>
            <a:endParaRPr lang="en-US" sz="3000" dirty="0"/>
          </a:p>
        </p:txBody>
      </p:sp>
      <p:sp>
        <p:nvSpPr>
          <p:cNvPr id="6" name="Shape 4"/>
          <p:cNvSpPr/>
          <p:nvPr/>
        </p:nvSpPr>
        <p:spPr>
          <a:xfrm>
            <a:off x="594360" y="2011680"/>
            <a:ext cx="5349240" cy="1463040"/>
          </a:xfrm>
          <a:prstGeom prst="wedgeRoundRectCallout">
            <a:avLst/>
          </a:prstGeom>
          <a:solidFill>
            <a:srgbClr val="272A38"/>
          </a:solidFill>
          <a:ln w="19050">
            <a:solidFill>
              <a:srgbClr val="27D3BE"/>
            </a:solidFill>
            <a:prstDash val="solid"/>
          </a:ln>
        </p:spPr>
        <p:txBody>
          <a:bodyPr/>
          <a:p/>
        </p:txBody>
      </p:sp>
      <p:sp>
        <p:nvSpPr>
          <p:cNvPr id="7" name="Text 5"/>
          <p:cNvSpPr/>
          <p:nvPr/>
        </p:nvSpPr>
        <p:spPr>
          <a:xfrm>
            <a:off x="914400" y="2103120"/>
            <a:ext cx="4754880" cy="36576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PACIENTUL</a:t>
            </a:r>
            <a:endParaRPr lang="en-US" sz="1300" dirty="0"/>
          </a:p>
        </p:txBody>
      </p:sp>
      <p:sp>
        <p:nvSpPr>
          <p:cNvPr id="8" name="Text 6"/>
          <p:cNvSpPr/>
          <p:nvPr/>
        </p:nvSpPr>
        <p:spPr>
          <a:xfrm>
            <a:off x="914400" y="2514600"/>
            <a:ext cx="4754880" cy="731520"/>
          </a:xfrm>
          <a:prstGeom prst="rect">
            <a:avLst/>
          </a:prstGeom>
          <a:noFill/>
          <a:ln/>
        </p:spPr>
        <p:txBody>
          <a:bodyPr wrap="square" lIns="0" tIns="0" rIns="0" bIns="0" rtlCol="0" anchor="t"/>
          <a:lstStyle/>
          <a:p>
            <a:pPr indent="0" marL="0">
              <a:buNone/>
            </a:pPr>
            <a:r>
              <a:rPr lang="en-US" sz="2400" b="1" i="1" dirty="0">
                <a:solidFill>
                  <a:srgbClr val="FFFFFF"/>
                </a:solidFill>
                <a:latin typeface="Palatino Linotype" pitchFamily="34" charset="0"/>
                <a:ea typeface="Palatino Linotype" pitchFamily="34" charset="-122"/>
                <a:cs typeface="Palatino Linotype" pitchFamily="34" charset="-120"/>
              </a:rPr>
              <a:t>„Îmi e mai bine.”</a:t>
            </a:r>
            <a:endParaRPr lang="en-US" sz="2400" dirty="0"/>
          </a:p>
        </p:txBody>
      </p:sp>
      <p:sp>
        <p:nvSpPr>
          <p:cNvPr id="9" name="Shape 7"/>
          <p:cNvSpPr/>
          <p:nvPr/>
        </p:nvSpPr>
        <p:spPr>
          <a:xfrm>
            <a:off x="6217920" y="2011680"/>
            <a:ext cx="5349240" cy="1463040"/>
          </a:xfrm>
          <a:prstGeom prst="wedgeRoundRectCallout">
            <a:avLst/>
          </a:prstGeom>
          <a:solidFill>
            <a:srgbClr val="272A38"/>
          </a:solidFill>
          <a:ln w="19050">
            <a:solidFill>
              <a:srgbClr val="FFC24B"/>
            </a:solidFill>
            <a:prstDash val="solid"/>
          </a:ln>
        </p:spPr>
        <p:txBody>
          <a:bodyPr/>
          <a:p/>
        </p:txBody>
      </p:sp>
      <p:sp>
        <p:nvSpPr>
          <p:cNvPr id="10" name="Text 8"/>
          <p:cNvSpPr/>
          <p:nvPr/>
        </p:nvSpPr>
        <p:spPr>
          <a:xfrm>
            <a:off x="6537960" y="2103120"/>
            <a:ext cx="4754880" cy="36576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EXAMINATORUL</a:t>
            </a:r>
            <a:endParaRPr lang="en-US" sz="1300" dirty="0"/>
          </a:p>
        </p:txBody>
      </p:sp>
      <p:sp>
        <p:nvSpPr>
          <p:cNvPr id="11" name="Text 9"/>
          <p:cNvSpPr/>
          <p:nvPr/>
        </p:nvSpPr>
        <p:spPr>
          <a:xfrm>
            <a:off x="6537960" y="2514600"/>
            <a:ext cx="4754880" cy="731520"/>
          </a:xfrm>
          <a:prstGeom prst="rect">
            <a:avLst/>
          </a:prstGeom>
          <a:noFill/>
          <a:ln/>
        </p:spPr>
        <p:txBody>
          <a:bodyPr wrap="square" lIns="0" tIns="0" rIns="0" bIns="0" rtlCol="0" anchor="t"/>
          <a:lstStyle/>
          <a:p>
            <a:pPr indent="0" marL="0">
              <a:buNone/>
            </a:pPr>
            <a:r>
              <a:rPr lang="en-US" sz="2400" b="1" i="1" dirty="0">
                <a:solidFill>
                  <a:srgbClr val="FFFFFF"/>
                </a:solidFill>
                <a:latin typeface="Palatino Linotype" pitchFamily="34" charset="0"/>
                <a:ea typeface="Palatino Linotype" pitchFamily="34" charset="-122"/>
                <a:cs typeface="Palatino Linotype" pitchFamily="34" charset="-120"/>
              </a:rPr>
              <a:t>„Nicio schimbare.”</a:t>
            </a:r>
            <a:endParaRPr lang="en-US" sz="2400" dirty="0"/>
          </a:p>
        </p:txBody>
      </p:sp>
      <p:sp>
        <p:nvSpPr>
          <p:cNvPr id="12" name="Text 10"/>
          <p:cNvSpPr/>
          <p:nvPr/>
        </p:nvSpPr>
        <p:spPr>
          <a:xfrm>
            <a:off x="594360" y="4023360"/>
            <a:ext cx="10972800" cy="640080"/>
          </a:xfrm>
          <a:prstGeom prst="rect">
            <a:avLst/>
          </a:prstGeom>
          <a:noFill/>
          <a:ln/>
        </p:spPr>
        <p:txBody>
          <a:bodyPr wrap="square" lIns="0" tIns="0" rIns="0" bIns="0" rtlCol="0" anchor="t"/>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Cine are dreptate? Două explicații posibile, în chat.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EXPLICAȚII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explicații legitime</a:t>
            </a:r>
            <a:endParaRPr lang="en-US" sz="3200" dirty="0"/>
          </a:p>
        </p:txBody>
      </p:sp>
      <p:sp>
        <p:nvSpPr>
          <p:cNvPr id="4" name="Shape 2"/>
          <p:cNvSpPr/>
          <p:nvPr/>
        </p:nvSpPr>
        <p:spPr>
          <a:xfrm>
            <a:off x="594360" y="1463040"/>
            <a:ext cx="10972800" cy="685800"/>
          </a:xfrm>
          <a:prstGeom prst="roundRect">
            <a:avLst>
              <a:gd name="adj" fmla="val 12000"/>
            </a:avLst>
          </a:prstGeom>
          <a:solidFill>
            <a:srgbClr val="ECEAE4"/>
          </a:solidFill>
          <a:ln w="12700">
            <a:solidFill>
              <a:srgbClr val="ECEAE4"/>
            </a:solidFill>
            <a:prstDash val="solid"/>
          </a:ln>
        </p:spPr>
        <p:txBody>
          <a:bodyPr/>
          <a:p/>
        </p:txBody>
      </p:sp>
      <p:sp>
        <p:nvSpPr>
          <p:cNvPr id="5" name="Shape 3"/>
          <p:cNvSpPr/>
          <p:nvPr/>
        </p:nvSpPr>
        <p:spPr>
          <a:xfrm>
            <a:off x="914400" y="1595628"/>
            <a:ext cx="420624" cy="420624"/>
          </a:xfrm>
          <a:prstGeom prst="ellipse">
            <a:avLst/>
          </a:prstGeom>
          <a:solidFill>
            <a:srgbClr val="B02532"/>
          </a:solidFill>
          <a:ln/>
        </p:spPr>
        <p:txBody>
          <a:bodyPr/>
          <a:p/>
        </p:txBody>
      </p:sp>
      <p:sp>
        <p:nvSpPr>
          <p:cNvPr id="6" name="Text 4"/>
          <p:cNvSpPr/>
          <p:nvPr/>
        </p:nvSpPr>
        <p:spPr>
          <a:xfrm>
            <a:off x="914400" y="15956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463040"/>
            <a:ext cx="9692640" cy="6858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Scala examinatorului nu prinde ce contează pentru pacient.</a:t>
            </a:r>
            <a:endParaRPr lang="en-US" sz="1650" dirty="0"/>
          </a:p>
        </p:txBody>
      </p:sp>
      <p:sp>
        <p:nvSpPr>
          <p:cNvPr id="8" name="Shape 6"/>
          <p:cNvSpPr/>
          <p:nvPr/>
        </p:nvSpPr>
        <p:spPr>
          <a:xfrm>
            <a:off x="594360" y="2267712"/>
            <a:ext cx="10972800" cy="685800"/>
          </a:xfrm>
          <a:prstGeom prst="roundRect">
            <a:avLst>
              <a:gd name="adj" fmla="val 12000"/>
            </a:avLst>
          </a:prstGeom>
          <a:solidFill>
            <a:srgbClr val="ECEAE4"/>
          </a:solidFill>
          <a:ln w="12700">
            <a:solidFill>
              <a:srgbClr val="ECEAE4"/>
            </a:solidFill>
            <a:prstDash val="solid"/>
          </a:ln>
        </p:spPr>
        <p:txBody>
          <a:bodyPr/>
          <a:p/>
        </p:txBody>
      </p:sp>
      <p:sp>
        <p:nvSpPr>
          <p:cNvPr id="9" name="Shape 7"/>
          <p:cNvSpPr/>
          <p:nvPr/>
        </p:nvSpPr>
        <p:spPr>
          <a:xfrm>
            <a:off x="914400" y="2400300"/>
            <a:ext cx="420624" cy="420624"/>
          </a:xfrm>
          <a:prstGeom prst="ellipse">
            <a:avLst/>
          </a:prstGeom>
          <a:solidFill>
            <a:srgbClr val="B02532"/>
          </a:solidFill>
          <a:ln/>
        </p:spPr>
        <p:txBody>
          <a:bodyPr/>
          <a:p/>
        </p:txBody>
      </p:sp>
      <p:sp>
        <p:nvSpPr>
          <p:cNvPr id="10" name="Text 8"/>
          <p:cNvSpPr/>
          <p:nvPr/>
        </p:nvSpPr>
        <p:spPr>
          <a:xfrm>
            <a:off x="914400" y="24003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267712"/>
            <a:ext cx="9692640" cy="6858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O parte e placebo: efectele psihoactive îi fac pe pacienți să ghicească ce au primit.</a:t>
            </a:r>
            <a:endParaRPr lang="en-US" sz="1650" dirty="0"/>
          </a:p>
        </p:txBody>
      </p:sp>
      <p:sp>
        <p:nvSpPr>
          <p:cNvPr id="12" name="Shape 10"/>
          <p:cNvSpPr/>
          <p:nvPr/>
        </p:nvSpPr>
        <p:spPr>
          <a:xfrm>
            <a:off x="594360" y="3072384"/>
            <a:ext cx="10972800" cy="685800"/>
          </a:xfrm>
          <a:prstGeom prst="roundRect">
            <a:avLst>
              <a:gd name="adj" fmla="val 12000"/>
            </a:avLst>
          </a:prstGeom>
          <a:solidFill>
            <a:srgbClr val="ECEAE4"/>
          </a:solidFill>
          <a:ln w="12700">
            <a:solidFill>
              <a:srgbClr val="ECEAE4"/>
            </a:solidFill>
            <a:prstDash val="solid"/>
          </a:ln>
        </p:spPr>
        <p:txBody>
          <a:bodyPr/>
          <a:p/>
        </p:txBody>
      </p:sp>
      <p:sp>
        <p:nvSpPr>
          <p:cNvPr id="13" name="Shape 11"/>
          <p:cNvSpPr/>
          <p:nvPr/>
        </p:nvSpPr>
        <p:spPr>
          <a:xfrm>
            <a:off x="914400" y="3204972"/>
            <a:ext cx="420624" cy="420624"/>
          </a:xfrm>
          <a:prstGeom prst="ellipse">
            <a:avLst/>
          </a:prstGeom>
          <a:solidFill>
            <a:srgbClr val="B02532"/>
          </a:solidFill>
          <a:ln/>
        </p:spPr>
        <p:txBody>
          <a:bodyPr/>
          <a:p/>
        </p:txBody>
      </p:sp>
      <p:sp>
        <p:nvSpPr>
          <p:cNvPr id="14" name="Text 12"/>
          <p:cNvSpPr/>
          <p:nvPr/>
        </p:nvSpPr>
        <p:spPr>
          <a:xfrm>
            <a:off x="914400" y="32049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072384"/>
            <a:ext cx="9692640" cy="6858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Amândouă. Datele nu decid între ele.</a:t>
            </a:r>
            <a:endParaRPr lang="en-US" sz="1650" dirty="0"/>
          </a:p>
        </p:txBody>
      </p:sp>
      <p:sp>
        <p:nvSpPr>
          <p:cNvPr id="16" name="Text 14"/>
          <p:cNvSpPr/>
          <p:nvPr/>
        </p:nvSpPr>
        <p:spPr>
          <a:xfrm>
            <a:off x="594360" y="3977640"/>
            <a:ext cx="10972800" cy="731520"/>
          </a:xfrm>
          <a:prstGeom prst="rect">
            <a:avLst/>
          </a:prstGeom>
          <a:noFill/>
          <a:ln/>
        </p:spPr>
        <p:txBody>
          <a:bodyPr wrap="square" lIns="0" tIns="0" rIns="0" bIns="0" rtlCol="0" anchor="t"/>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Două cuvinte șterse la citare, „raportat de pacient”, transformă ce simte pacientul într-o afirmație despre boală.</a:t>
            </a:r>
            <a:endParaRPr lang="en-US" sz="1650" dirty="0"/>
          </a:p>
        </p:txBody>
      </p:sp>
      <p:sp>
        <p:nvSpPr>
          <p:cNvPr id="17" name="Text 15"/>
          <p:cNvSpPr/>
          <p:nvPr/>
        </p:nvSpPr>
        <p:spPr>
          <a:xfrm>
            <a:off x="594360" y="4846320"/>
            <a:ext cx="10972800" cy="73152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Durerea cronică: prima situație din lista NASEM. Întrebați cât de mare e efectul și la ce fel de durere.</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CANNABISUL ȘI PSIHOZA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Colegul de apartament</a:t>
            </a:r>
            <a:endParaRPr lang="en-US" sz="3200" dirty="0"/>
          </a:p>
        </p:txBody>
      </p:sp>
      <p:sp>
        <p:nvSpPr>
          <p:cNvPr id="4" name="Shape 2"/>
          <p:cNvSpPr/>
          <p:nvPr/>
        </p:nvSpPr>
        <p:spPr>
          <a:xfrm>
            <a:off x="594360" y="1463040"/>
            <a:ext cx="5394960" cy="457200"/>
          </a:xfrm>
          <a:prstGeom prst="roundRect">
            <a:avLst>
              <a:gd name="adj" fmla="val 18000"/>
            </a:avLst>
          </a:prstGeom>
          <a:solidFill>
            <a:srgbClr val="2B3048"/>
          </a:solidFill>
          <a:ln w="12700">
            <a:solidFill>
              <a:srgbClr val="2B3048"/>
            </a:solidFill>
            <a:prstDash val="solid"/>
          </a:ln>
        </p:spPr>
        <p:txBody>
          <a:bodyPr/>
          <a:p/>
        </p:txBody>
      </p:sp>
      <p:sp>
        <p:nvSpPr>
          <p:cNvPr id="5" name="Text 3"/>
          <p:cNvSpPr/>
          <p:nvPr/>
        </p:nvSpPr>
        <p:spPr>
          <a:xfrm>
            <a:off x="822960" y="1463040"/>
            <a:ext cx="4937760" cy="457200"/>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Mesaje private</a:t>
            </a:r>
            <a:endParaRPr lang="en-US" sz="1300" dirty="0"/>
          </a:p>
        </p:txBody>
      </p:sp>
      <p:sp>
        <p:nvSpPr>
          <p:cNvPr id="6" name="Shape 4"/>
          <p:cNvSpPr/>
          <p:nvPr/>
        </p:nvSpPr>
        <p:spPr>
          <a:xfrm>
            <a:off x="594360" y="2103120"/>
            <a:ext cx="4423867" cy="777240"/>
          </a:xfrm>
          <a:prstGeom prst="roundRect">
            <a:avLst>
              <a:gd name="adj" fmla="val 10588"/>
            </a:avLst>
          </a:prstGeom>
          <a:solidFill>
            <a:srgbClr val="272A38"/>
          </a:solidFill>
          <a:ln w="12700">
            <a:solidFill>
              <a:srgbClr val="272A38"/>
            </a:solidFill>
            <a:prstDash val="solid"/>
          </a:ln>
        </p:spPr>
        <p:txBody>
          <a:bodyPr/>
          <a:p/>
        </p:txBody>
      </p:sp>
      <p:sp>
        <p:nvSpPr>
          <p:cNvPr id="7" name="Text 5"/>
          <p:cNvSpPr/>
          <p:nvPr/>
        </p:nvSpPr>
        <p:spPr>
          <a:xfrm>
            <a:off x="777240" y="2176272"/>
            <a:ext cx="4058107"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Radu, anul II</a:t>
            </a:r>
            <a:endParaRPr lang="en-US" sz="1100" dirty="0"/>
          </a:p>
        </p:txBody>
      </p:sp>
      <p:sp>
        <p:nvSpPr>
          <p:cNvPr id="8" name="Text 6"/>
          <p:cNvSpPr/>
          <p:nvPr/>
        </p:nvSpPr>
        <p:spPr>
          <a:xfrm>
            <a:off x="777240" y="2414016"/>
            <a:ext cx="4058107" cy="41148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Cineva mă urmărește prin telefon. Pe bune.</a:t>
            </a:r>
            <a:endParaRPr lang="en-US" sz="1500" dirty="0"/>
          </a:p>
        </p:txBody>
      </p:sp>
      <p:sp>
        <p:nvSpPr>
          <p:cNvPr id="9" name="Shape 7"/>
          <p:cNvSpPr/>
          <p:nvPr/>
        </p:nvSpPr>
        <p:spPr>
          <a:xfrm>
            <a:off x="594360" y="3044952"/>
            <a:ext cx="4423867" cy="777240"/>
          </a:xfrm>
          <a:prstGeom prst="roundRect">
            <a:avLst>
              <a:gd name="adj" fmla="val 10588"/>
            </a:avLst>
          </a:prstGeom>
          <a:solidFill>
            <a:srgbClr val="272A38"/>
          </a:solidFill>
          <a:ln w="12700">
            <a:solidFill>
              <a:srgbClr val="272A38"/>
            </a:solidFill>
            <a:prstDash val="solid"/>
          </a:ln>
        </p:spPr>
        <p:txBody>
          <a:bodyPr/>
          <a:p/>
        </p:txBody>
      </p:sp>
      <p:sp>
        <p:nvSpPr>
          <p:cNvPr id="10" name="Text 8"/>
          <p:cNvSpPr/>
          <p:nvPr/>
        </p:nvSpPr>
        <p:spPr>
          <a:xfrm>
            <a:off x="777240" y="3118104"/>
            <a:ext cx="4058107" cy="237744"/>
          </a:xfrm>
          <a:prstGeom prst="rect">
            <a:avLst/>
          </a:prstGeom>
          <a:noFill/>
          <a:ln/>
        </p:spPr>
        <p:txBody>
          <a:bodyPr wrap="square" lIns="0" tIns="0" rIns="0" bIns="0" rtlCol="0" anchor="t"/>
          <a:lstStyle/>
          <a:p>
            <a:pPr indent="0" marL="0">
              <a:buNone/>
            </a:pPr>
            <a:r>
              <a:rPr lang="en-US" sz="1100" b="1" dirty="0">
                <a:solidFill>
                  <a:srgbClr val="FFC24B"/>
                </a:solidFill>
                <a:latin typeface="Palatino Linotype" pitchFamily="34" charset="0"/>
                <a:ea typeface="Palatino Linotype" pitchFamily="34" charset="-122"/>
                <a:cs typeface="Palatino Linotype" pitchFamily="34" charset="-120"/>
              </a:rPr>
              <a:t>Radu, a doua zi</a:t>
            </a:r>
            <a:endParaRPr lang="en-US" sz="1100" dirty="0"/>
          </a:p>
        </p:txBody>
      </p:sp>
      <p:sp>
        <p:nvSpPr>
          <p:cNvPr id="11" name="Text 9"/>
          <p:cNvSpPr/>
          <p:nvPr/>
        </p:nvSpPr>
        <p:spPr>
          <a:xfrm>
            <a:off x="777240" y="3355848"/>
            <a:ext cx="4058107" cy="41148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Am glumit aseară, lasă. Sunt ok.</a:t>
            </a:r>
            <a:endParaRPr lang="en-US" sz="1500" dirty="0"/>
          </a:p>
        </p:txBody>
      </p:sp>
      <p:sp>
        <p:nvSpPr>
          <p:cNvPr id="12" name="Text 10"/>
          <p:cNvSpPr/>
          <p:nvPr/>
        </p:nvSpPr>
        <p:spPr>
          <a:xfrm>
            <a:off x="594360" y="4251960"/>
            <a:ext cx="5394960" cy="8229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Fumează aproape în fiecare seară, „ca să se relaxeze după învățat”.</a:t>
            </a:r>
            <a:endParaRPr lang="en-US" sz="1500" dirty="0"/>
          </a:p>
        </p:txBody>
      </p:sp>
      <p:sp>
        <p:nvSpPr>
          <p:cNvPr id="13" name="Text 11"/>
          <p:cNvSpPr/>
          <p:nvPr/>
        </p:nvSpPr>
        <p:spPr>
          <a:xfrm>
            <a:off x="6400800" y="1463040"/>
            <a:ext cx="512064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Ce se știe sigur</a:t>
            </a:r>
            <a:endParaRPr lang="en-US" sz="1700" dirty="0"/>
          </a:p>
        </p:txBody>
      </p:sp>
      <p:sp>
        <p:nvSpPr>
          <p:cNvPr id="14" name="Text 12"/>
          <p:cNvSpPr/>
          <p:nvPr/>
        </p:nvSpPr>
        <p:spPr>
          <a:xfrm>
            <a:off x="6400800" y="1965960"/>
            <a:ext cx="512064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de aproape patru ori</a:t>
            </a:r>
            <a:endParaRPr lang="en-US" sz="2200" dirty="0"/>
          </a:p>
        </p:txBody>
      </p:sp>
      <p:sp>
        <p:nvSpPr>
          <p:cNvPr id="15" name="Text 13"/>
          <p:cNvSpPr/>
          <p:nvPr/>
        </p:nvSpPr>
        <p:spPr>
          <a:xfrm>
            <a:off x="6400800" y="2423160"/>
            <a:ext cx="5120640" cy="54864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șansele de psihoză la consumatorii cei mai intensivi</a:t>
            </a:r>
            <a:endParaRPr lang="en-US" sz="1450" dirty="0"/>
          </a:p>
        </p:txBody>
      </p:sp>
      <p:sp>
        <p:nvSpPr>
          <p:cNvPr id="16" name="Text 14"/>
          <p:cNvSpPr/>
          <p:nvPr/>
        </p:nvSpPr>
        <p:spPr>
          <a:xfrm>
            <a:off x="6400800" y="3108960"/>
            <a:ext cx="512064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de aproximativ trei ori</a:t>
            </a:r>
            <a:endParaRPr lang="en-US" sz="2200" dirty="0"/>
          </a:p>
        </p:txBody>
      </p:sp>
      <p:sp>
        <p:nvSpPr>
          <p:cNvPr id="17" name="Text 15"/>
          <p:cNvSpPr/>
          <p:nvPr/>
        </p:nvSpPr>
        <p:spPr>
          <a:xfrm>
            <a:off x="6400800" y="3566160"/>
            <a:ext cx="5120640" cy="54864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consumul zilnic, într-un studiu din 2019</a:t>
            </a:r>
            <a:endParaRPr lang="en-US" sz="1450" dirty="0"/>
          </a:p>
        </p:txBody>
      </p:sp>
      <p:sp>
        <p:nvSpPr>
          <p:cNvPr id="18" name="Text 16"/>
          <p:cNvSpPr/>
          <p:nvPr/>
        </p:nvSpPr>
        <p:spPr>
          <a:xfrm>
            <a:off x="6400800" y="4251960"/>
            <a:ext cx="512064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de aproape cinci ori</a:t>
            </a:r>
            <a:endParaRPr lang="en-US" sz="2200" dirty="0"/>
          </a:p>
        </p:txBody>
      </p:sp>
      <p:sp>
        <p:nvSpPr>
          <p:cNvPr id="19" name="Text 17"/>
          <p:cNvSpPr/>
          <p:nvPr/>
        </p:nvSpPr>
        <p:spPr>
          <a:xfrm>
            <a:off x="6400800" y="4709160"/>
            <a:ext cx="5120640" cy="54864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consumul zilnic de cannabis puternic, THC de cel puțin 10%</a:t>
            </a:r>
            <a:endParaRPr lang="en-US" sz="1450" dirty="0"/>
          </a:p>
        </p:txBody>
      </p:sp>
      <p:sp>
        <p:nvSpPr>
          <p:cNvPr id="20" name="Text 18"/>
          <p:cNvSpPr/>
          <p:nvPr/>
        </p:nvSpPr>
        <p:spPr>
          <a:xfrm>
            <a:off x="6400800" y="5440680"/>
            <a:ext cx="5120640" cy="73152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O asociere dovedită. Cauzalitatea nu poate fi stabilită fără echivoc din aceste date.</a:t>
            </a:r>
            <a:endParaRPr lang="en-US" sz="1400" dirty="0"/>
          </a:p>
        </p:txBody>
      </p:sp>
      <p:sp>
        <p:nvSpPr>
          <p:cNvPr id="21" name="Text 19"/>
          <p:cNvSpPr/>
          <p:nvPr/>
        </p:nvSpPr>
        <p:spPr>
          <a:xfrm>
            <a:off x="594360" y="6309360"/>
            <a:ext cx="54864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DIN 100 DE CAZURI NOI DE PSIHOZĂ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Cifra care presupune ce ar trebui să demonstreze</a:t>
            </a:r>
            <a:endParaRPr lang="en-US" sz="3000" dirty="0"/>
          </a:p>
        </p:txBody>
      </p:sp>
      <p:sp>
        <p:nvSpPr>
          <p:cNvPr id="4" name="Text 2"/>
          <p:cNvSpPr/>
          <p:nvPr/>
        </p:nvSpPr>
        <p:spPr>
          <a:xfrm>
            <a:off x="594360" y="1463040"/>
            <a:ext cx="3520440" cy="1371600"/>
          </a:xfrm>
          <a:prstGeom prst="rect">
            <a:avLst/>
          </a:prstGeom>
          <a:noFill/>
          <a:ln/>
        </p:spPr>
        <p:txBody>
          <a:bodyPr wrap="square" lIns="0" tIns="0" rIns="0" bIns="0" rtlCol="0" anchor="t"/>
          <a:lstStyle/>
          <a:p>
            <a:pPr indent="0" marL="0">
              <a:buNone/>
            </a:pPr>
            <a:r>
              <a:rPr lang="en-US" sz="8800" b="1" dirty="0">
                <a:solidFill>
                  <a:srgbClr val="FF4757"/>
                </a:solidFill>
                <a:latin typeface="Palatino Linotype" pitchFamily="34" charset="0"/>
                <a:ea typeface="Palatino Linotype" pitchFamily="34" charset="-122"/>
                <a:cs typeface="Palatino Linotype" pitchFamily="34" charset="-120"/>
              </a:rPr>
              <a:t>50</a:t>
            </a:r>
            <a:endParaRPr lang="en-US" sz="8800" dirty="0"/>
          </a:p>
        </p:txBody>
      </p:sp>
      <p:sp>
        <p:nvSpPr>
          <p:cNvPr id="5" name="Text 3"/>
          <p:cNvSpPr/>
          <p:nvPr/>
        </p:nvSpPr>
        <p:spPr>
          <a:xfrm>
            <a:off x="594360" y="2834640"/>
            <a:ext cx="3520440" cy="411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din 100 · Amsterdam</a:t>
            </a:r>
            <a:endParaRPr lang="en-US" sz="1600" dirty="0"/>
          </a:p>
        </p:txBody>
      </p:sp>
      <p:sp>
        <p:nvSpPr>
          <p:cNvPr id="6" name="Text 4"/>
          <p:cNvSpPr/>
          <p:nvPr/>
        </p:nvSpPr>
        <p:spPr>
          <a:xfrm>
            <a:off x="4366260" y="1463040"/>
            <a:ext cx="3520440" cy="1371600"/>
          </a:xfrm>
          <a:prstGeom prst="rect">
            <a:avLst/>
          </a:prstGeom>
          <a:noFill/>
          <a:ln/>
        </p:spPr>
        <p:txBody>
          <a:bodyPr wrap="square" lIns="0" tIns="0" rIns="0" bIns="0" rtlCol="0" anchor="t"/>
          <a:lstStyle/>
          <a:p>
            <a:pPr indent="0" marL="0">
              <a:buNone/>
            </a:pPr>
            <a:r>
              <a:rPr lang="en-US" sz="8800" b="1" dirty="0">
                <a:solidFill>
                  <a:srgbClr val="FFC24B"/>
                </a:solidFill>
                <a:latin typeface="Palatino Linotype" pitchFamily="34" charset="0"/>
                <a:ea typeface="Palatino Linotype" pitchFamily="34" charset="-122"/>
                <a:cs typeface="Palatino Linotype" pitchFamily="34" charset="-120"/>
              </a:rPr>
              <a:t>30</a:t>
            </a:r>
            <a:endParaRPr lang="en-US" sz="8800" dirty="0"/>
          </a:p>
        </p:txBody>
      </p:sp>
      <p:sp>
        <p:nvSpPr>
          <p:cNvPr id="7" name="Text 5"/>
          <p:cNvSpPr/>
          <p:nvPr/>
        </p:nvSpPr>
        <p:spPr>
          <a:xfrm>
            <a:off x="4366260" y="2834640"/>
            <a:ext cx="3520440" cy="411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din 100 · Londra</a:t>
            </a:r>
            <a:endParaRPr lang="en-US" sz="1600" dirty="0"/>
          </a:p>
        </p:txBody>
      </p:sp>
      <p:sp>
        <p:nvSpPr>
          <p:cNvPr id="8" name="Text 6"/>
          <p:cNvSpPr/>
          <p:nvPr/>
        </p:nvSpPr>
        <p:spPr>
          <a:xfrm>
            <a:off x="8138160" y="1463040"/>
            <a:ext cx="3520440" cy="1371600"/>
          </a:xfrm>
          <a:prstGeom prst="rect">
            <a:avLst/>
          </a:prstGeom>
          <a:noFill/>
          <a:ln/>
        </p:spPr>
        <p:txBody>
          <a:bodyPr wrap="square" lIns="0" tIns="0" rIns="0" bIns="0" rtlCol="0" anchor="t"/>
          <a:lstStyle/>
          <a:p>
            <a:pPr indent="0" marL="0">
              <a:buNone/>
            </a:pPr>
            <a:r>
              <a:rPr lang="en-US" sz="8800" b="1" dirty="0">
                <a:solidFill>
                  <a:srgbClr val="27D3BE"/>
                </a:solidFill>
                <a:latin typeface="Palatino Linotype" pitchFamily="34" charset="0"/>
                <a:ea typeface="Palatino Linotype" pitchFamily="34" charset="-122"/>
                <a:cs typeface="Palatino Linotype" pitchFamily="34" charset="-120"/>
              </a:rPr>
              <a:t>12</a:t>
            </a:r>
            <a:endParaRPr lang="en-US" sz="8800" dirty="0"/>
          </a:p>
        </p:txBody>
      </p:sp>
      <p:sp>
        <p:nvSpPr>
          <p:cNvPr id="9" name="Text 7"/>
          <p:cNvSpPr/>
          <p:nvPr/>
        </p:nvSpPr>
        <p:spPr>
          <a:xfrm>
            <a:off x="8138160" y="2834640"/>
            <a:ext cx="3520440" cy="4114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din 100 · toate cele 11 locuri</a:t>
            </a:r>
            <a:endParaRPr lang="en-US" sz="1600" dirty="0"/>
          </a:p>
        </p:txBody>
      </p:sp>
      <p:sp>
        <p:nvSpPr>
          <p:cNvPr id="10" name="Text 8"/>
          <p:cNvSpPr/>
          <p:nvPr/>
        </p:nvSpPr>
        <p:spPr>
          <a:xfrm>
            <a:off x="594360" y="3520440"/>
            <a:ext cx="10972800" cy="50292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„s-ar evita fără cannabisul puternic”: calculat presupunând cauzalitatea.</a:t>
            </a:r>
            <a:endParaRPr lang="en-US" sz="1900" dirty="0"/>
          </a:p>
        </p:txBody>
      </p:sp>
      <p:sp>
        <p:nvSpPr>
          <p:cNvPr id="11" name="Text 9"/>
          <p:cNvSpPr/>
          <p:nvPr/>
        </p:nvSpPr>
        <p:spPr>
          <a:xfrm>
            <a:off x="594360" y="4206240"/>
            <a:ext cx="10972800" cy="12801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Un studiu care compară bolnavi cu sănătoși nu poate exclude că primele semne au venit înaintea consumului. Asocierea rămâne după ajustarea pentru vârsta la primul consum, dar ajustarea nu arată ce a apărut mai întâi.</a:t>
            </a:r>
            <a:endParaRPr lang="en-US" sz="16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Di Forti și colab., The Lancet Psychiatry, 2019.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a:off x="822960" y="1005840"/>
            <a:ext cx="10515600" cy="2514600"/>
          </a:xfrm>
          <a:prstGeom prst="rect">
            <a:avLst/>
          </a:prstGeom>
          <a:solidFill>
            <a:srgbClr val="FBF8F1"/>
          </a:solidFill>
          <a:ln w="9525">
            <a:solidFill>
              <a:srgbClr val="D6D2C8"/>
            </a:solidFill>
            <a:prstDash val="solid"/>
          </a:ln>
          <a:effectLst>
            <a:outerShdw sx="100000" sy="100000" kx="0" ky="0" algn="bl" rotWithShape="0" blurRad="127000" dist="63500" dir="3600000">
              <a:srgbClr val="000000">
                <a:alpha val="45000"/>
              </a:srgbClr>
            </a:outerShdw>
          </a:effectLst>
        </p:spPr>
        <p:txBody>
          <a:bodyPr/>
          <a:p/>
        </p:txBody>
      </p:sp>
      <p:sp>
        <p:nvSpPr>
          <p:cNvPr id="6" name="Shape 4"/>
          <p:cNvSpPr/>
          <p:nvPr/>
        </p:nvSpPr>
        <p:spPr>
          <a:xfrm>
            <a:off x="1234440" y="1417320"/>
            <a:ext cx="9692640" cy="27432"/>
          </a:xfrm>
          <a:prstGeom prst="rect">
            <a:avLst/>
          </a:prstGeom>
          <a:solidFill>
            <a:srgbClr val="11121A"/>
          </a:solidFill>
          <a:ln w="12700">
            <a:solidFill>
              <a:srgbClr val="11121A"/>
            </a:solidFill>
            <a:prstDash val="solid"/>
          </a:ln>
        </p:spPr>
        <p:txBody>
          <a:bodyPr/>
          <a:p/>
        </p:txBody>
      </p:sp>
      <p:sp>
        <p:nvSpPr>
          <p:cNvPr id="7" name="Text 5"/>
          <p:cNvSpPr/>
          <p:nvPr/>
        </p:nvSpPr>
        <p:spPr>
          <a:xfrm>
            <a:off x="1234440" y="1536192"/>
            <a:ext cx="9692640" cy="274320"/>
          </a:xfrm>
          <a:prstGeom prst="rect">
            <a:avLst/>
          </a:prstGeom>
          <a:noFill/>
          <a:ln/>
        </p:spPr>
        <p:txBody>
          <a:bodyPr wrap="square" lIns="0" tIns="0" rIns="0" bIns="0" rtlCol="0" anchor="t"/>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BBC NEWS · 20 MARTIE 2019</a:t>
            </a:r>
            <a:endParaRPr lang="en-US" sz="1100" dirty="0"/>
          </a:p>
        </p:txBody>
      </p:sp>
      <p:sp>
        <p:nvSpPr>
          <p:cNvPr id="8" name="Text 6"/>
          <p:cNvSpPr/>
          <p:nvPr/>
        </p:nvSpPr>
        <p:spPr>
          <a:xfrm>
            <a:off x="1234440" y="1920240"/>
            <a:ext cx="9692640" cy="14173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Potent cannabis increases risk of serious mental illness, says study</a:t>
            </a:r>
            <a:endParaRPr lang="en-US" sz="3000" dirty="0"/>
          </a:p>
        </p:txBody>
      </p:sp>
      <p:sp>
        <p:nvSpPr>
          <p:cNvPr id="9" name="Text 7"/>
          <p:cNvSpPr/>
          <p:nvPr/>
        </p:nvSpPr>
        <p:spPr>
          <a:xfrm>
            <a:off x="822960" y="3657600"/>
            <a:ext cx="10515600" cy="54864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„Cannabisul puternic crește riscul de boală psihică gravă, spune un studiu.”</a:t>
            </a:r>
            <a:endParaRPr lang="en-US" sz="1800" dirty="0"/>
          </a:p>
        </p:txBody>
      </p:sp>
      <p:sp>
        <p:nvSpPr>
          <p:cNvPr id="10" name="Shape 8"/>
          <p:cNvSpPr/>
          <p:nvPr/>
        </p:nvSpPr>
        <p:spPr>
          <a:xfrm>
            <a:off x="822960" y="443484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822960" y="443484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Da</a:t>
            </a:r>
            <a:endParaRPr lang="en-US" sz="1500" dirty="0"/>
          </a:p>
        </p:txBody>
      </p:sp>
      <p:sp>
        <p:nvSpPr>
          <p:cNvPr id="12" name="Shape 10"/>
          <p:cNvSpPr/>
          <p:nvPr/>
        </p:nvSpPr>
        <p:spPr>
          <a:xfrm>
            <a:off x="3200400" y="4434840"/>
            <a:ext cx="214884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3200400" y="4434840"/>
            <a:ext cx="2148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Nu</a:t>
            </a:r>
            <a:endParaRPr lang="en-US" sz="1500" dirty="0"/>
          </a:p>
        </p:txBody>
      </p:sp>
      <p:sp>
        <p:nvSpPr>
          <p:cNvPr id="14" name="Shape 12"/>
          <p:cNvSpPr/>
          <p:nvPr/>
        </p:nvSpPr>
        <p:spPr>
          <a:xfrm>
            <a:off x="5577840" y="4434840"/>
            <a:ext cx="384048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5577840" y="4434840"/>
            <a:ext cx="384048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Depinde ce a măsurat studiul</a:t>
            </a:r>
            <a:endParaRPr lang="en-US" sz="1500" dirty="0"/>
          </a:p>
        </p:txBody>
      </p:sp>
      <p:sp>
        <p:nvSpPr>
          <p:cNvPr id="16" name="Text 14"/>
          <p:cNvSpPr/>
          <p:nvPr/>
        </p:nvSpPr>
        <p:spPr>
          <a:xfrm>
            <a:off x="594360" y="5120640"/>
            <a:ext cx="10972800" cy="45720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Titlu real, despre studiul de pe diapozitivul anterior.</a:t>
            </a:r>
            <a:endParaRPr lang="en-US" sz="1500" dirty="0"/>
          </a:p>
        </p:txBody>
      </p:sp>
      <p:sp>
        <p:nvSpPr>
          <p:cNvPr id="17" name="Shape 15"/>
          <p:cNvSpPr/>
          <p:nvPr/>
        </p:nvSpPr>
        <p:spPr>
          <a:xfrm>
            <a:off x="9738360" y="4937760"/>
            <a:ext cx="1828800" cy="1645920"/>
          </a:xfrm>
          <a:prstGeom prst="roundRect">
            <a:avLst>
              <a:gd name="adj" fmla="val 5000"/>
            </a:avLst>
          </a:prstGeom>
          <a:solidFill>
            <a:srgbClr val="FFFFFF"/>
          </a:solidFill>
          <a:ln w="12700">
            <a:solidFill>
              <a:srgbClr val="FFFFFF"/>
            </a:solidFill>
            <a:prstDash val="solid"/>
          </a:ln>
        </p:spPr>
        <p:txBody>
          <a:bodyPr/>
          <a:p/>
        </p:txBody>
      </p:sp>
      <p:pic>
        <p:nvPicPr>
          <p:cNvPr id="18" name="Picture 17" descr="Mentimeter_OPT_DROGURI_C03.png"/>
          <p:cNvPicPr>
            <a:picLocks noChangeAspect="1"/>
          </p:cNvPicPr>
          <p:nvPr/>
        </p:nvPicPr>
        <p:blipFill>
          <a:blip r:embed="rId3"/>
          <a:stretch>
            <a:fillRect/>
          </a:stretch>
        </p:blipFill>
        <p:spPr>
          <a:xfrm>
            <a:off x="10046969" y="4937760"/>
            <a:ext cx="1211581" cy="1211581"/>
          </a:xfrm>
          <a:prstGeom prst="rect">
            <a:avLst/>
          </a:prstGeom>
        </p:spPr>
      </p:pic>
      <p:sp>
        <p:nvSpPr>
          <p:cNvPr id="19" name="TextBox 18"/>
          <p:cNvSpPr txBox="1"/>
          <p:nvPr/>
        </p:nvSpPr>
        <p:spPr>
          <a:xfrm>
            <a:off x="9738360" y="618744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 MĂSURAT STUDIUL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arată un studiu care poate testa direcția</a:t>
            </a:r>
            <a:endParaRPr lang="en-US" sz="3000" dirty="0"/>
          </a:p>
        </p:txBody>
      </p:sp>
      <p:sp>
        <p:nvSpPr>
          <p:cNvPr id="4" name="Text 2"/>
          <p:cNvSpPr/>
          <p:nvPr/>
        </p:nvSpPr>
        <p:spPr>
          <a:xfrm>
            <a:off x="594360" y="1463040"/>
            <a:ext cx="10972800" cy="914400"/>
          </a:xfrm>
          <a:prstGeom prst="rect">
            <a:avLst/>
          </a:prstGeom>
          <a:noFill/>
          <a:ln/>
        </p:spPr>
        <p:txBody>
          <a:bodyPr wrap="square" lIns="0" tIns="0" rIns="0" bIns="0" rtlCol="0" anchor="t"/>
          <a:lstStyle/>
          <a:p>
            <a:pPr indent="0" marL="0">
              <a:buNone/>
            </a:pPr>
            <a:r>
              <a:rPr lang="en-US" sz="1750" b="1" dirty="0">
                <a:solidFill>
                  <a:srgbClr val="B02532"/>
                </a:solidFill>
                <a:latin typeface="Palatino Linotype" pitchFamily="34" charset="0"/>
                <a:ea typeface="Palatino Linotype" pitchFamily="34" charset="-122"/>
                <a:cs typeface="Palatino Linotype" pitchFamily="34" charset="-120"/>
              </a:rPr>
              <a:t>„crește” </a:t>
            </a:r>
            <a:pPr indent="0" marL="0">
              <a:buNone/>
            </a:pPr>
            <a:r>
              <a:rPr lang="en-US" sz="1750" dirty="0">
                <a:solidFill>
                  <a:srgbClr val="11121A"/>
                </a:solidFill>
                <a:latin typeface="Palatino Linotype" pitchFamily="34" charset="0"/>
                <a:ea typeface="Palatino Linotype" pitchFamily="34" charset="-122"/>
                <a:cs typeface="Palatino Linotype" pitchFamily="34" charset="-120"/>
              </a:rPr>
              <a:t>spune că o cauză produce un efect; studiul a măsurat o asociere. Articolul însuși notează mai jos că studiul nu e o dovadă definitivă.</a:t>
            </a:r>
            <a:endParaRPr lang="en-US" sz="1750" dirty="0"/>
          </a:p>
        </p:txBody>
      </p:sp>
      <p:sp>
        <p:nvSpPr>
          <p:cNvPr id="5" name="Shape 3"/>
          <p:cNvSpPr/>
          <p:nvPr/>
        </p:nvSpPr>
        <p:spPr>
          <a:xfrm>
            <a:off x="594360" y="2606040"/>
            <a:ext cx="10972800" cy="1920240"/>
          </a:xfrm>
          <a:prstGeom prst="roundRect">
            <a:avLst>
              <a:gd name="adj" fmla="val 4286"/>
            </a:avLst>
          </a:prstGeom>
          <a:solidFill>
            <a:srgbClr val="E1F0EC"/>
          </a:solidFill>
          <a:ln w="12700">
            <a:solidFill>
              <a:srgbClr val="E1F0EC"/>
            </a:solidFill>
            <a:prstDash val="solid"/>
          </a:ln>
        </p:spPr>
        <p:txBody>
          <a:bodyPr/>
          <a:p/>
        </p:txBody>
      </p:sp>
      <p:sp>
        <p:nvSpPr>
          <p:cNvPr id="6" name="Text 4"/>
          <p:cNvSpPr/>
          <p:nvPr/>
        </p:nvSpPr>
        <p:spPr>
          <a:xfrm>
            <a:off x="868680" y="2743200"/>
            <a:ext cx="1042416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UN STUDIU GENETIC, 2018</a:t>
            </a:r>
            <a:endParaRPr lang="en-US" sz="1300" dirty="0"/>
          </a:p>
        </p:txBody>
      </p:sp>
      <p:sp>
        <p:nvSpPr>
          <p:cNvPr id="7" name="Text 5"/>
          <p:cNvSpPr/>
          <p:nvPr/>
        </p:nvSpPr>
        <p:spPr>
          <a:xfrm>
            <a:off x="868680" y="3108960"/>
            <a:ext cx="1042416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Folosește variantele genetice moștenite la întâmplare ca pe o tragere la sorți naturală. Rezultat: la cei care consumă, șansele de schizofrenie sunt cu aproximativ o treime mai mari; datele obișnuite de observație dau o estimare foarte apropiată.</a:t>
            </a:r>
            <a:endParaRPr lang="en-US" sz="1600" dirty="0"/>
          </a:p>
        </p:txBody>
      </p:sp>
      <p:sp>
        <p:nvSpPr>
          <p:cNvPr id="8" name="Text 6"/>
          <p:cNvSpPr/>
          <p:nvPr/>
        </p:nvSpPr>
        <p:spPr>
          <a:xfrm>
            <a:off x="594360" y="4754880"/>
            <a:ext cx="10972800" cy="82296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Ce rămâne solid: consumul frecvent se asociază cu psihoza, iar studiul genetic sprijină un efect real, fără să închidă discuția.</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CHAT · 30 DE SECUNDE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TREIA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„Există trei situații în care un medicament din cannabis are dovezi solide, iar la una dintre ele beneficiul îl simte pacientul, nu îl măsoară medicul. Cannabisul fumat zilnic, mai ales cel puternic, se leagă de psihoză; cât de mult, nu se știe exact.”</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 într-o frază.</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PARTEA A PATRA · 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Legalizarea reglementată</a:t>
            </a:r>
            <a:endParaRPr lang="en-US" sz="3200" dirty="0"/>
          </a:p>
        </p:txBody>
      </p:sp>
      <p:sp>
        <p:nvSpPr>
          <p:cNvPr id="4" name="Text 2"/>
          <p:cNvSpPr/>
          <p:nvPr/>
        </p:nvSpPr>
        <p:spPr>
          <a:xfrm>
            <a:off x="594360" y="1417320"/>
            <a:ext cx="6675120" cy="10972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Consumul, producția și vânzarea devin permise, cu reguli ale statului: licențe, vârstă minimă, controlul concentrației, taxe.</a:t>
            </a:r>
            <a:endParaRPr lang="en-US" sz="1700" dirty="0"/>
          </a:p>
        </p:txBody>
      </p:sp>
      <p:sp>
        <p:nvSpPr>
          <p:cNvPr id="5" name="Text 3"/>
          <p:cNvSpPr/>
          <p:nvPr/>
        </p:nvSpPr>
        <p:spPr>
          <a:xfrm>
            <a:off x="594360" y="2560320"/>
            <a:ext cx="6675120" cy="502920"/>
          </a:xfrm>
          <a:prstGeom prst="rect">
            <a:avLst/>
          </a:prstGeom>
          <a:noFill/>
          <a:ln/>
        </p:spPr>
        <p:txBody>
          <a:bodyPr wrap="square" lIns="0" tIns="0" rIns="0" bIns="0" rtlCol="0" anchor="t"/>
          <a:lstStyle/>
          <a:p>
            <a:pPr indent="0" marL="0">
              <a:buNone/>
            </a:pPr>
            <a:r>
              <a:rPr lang="en-US" sz="1900" b="1" i="1" dirty="0">
                <a:solidFill>
                  <a:srgbClr val="B02532"/>
                </a:solidFill>
                <a:latin typeface="Palatino Linotype" pitchFamily="34" charset="0"/>
                <a:ea typeface="Palatino Linotype" pitchFamily="34" charset="-122"/>
                <a:cs typeface="Palatino Linotype" pitchFamily="34" charset="-120"/>
              </a:rPr>
              <a:t>„Se vinde legal, ca alcoolul, dar cu reguli.”</a:t>
            </a:r>
            <a:endParaRPr lang="en-US" sz="1900" dirty="0"/>
          </a:p>
        </p:txBody>
      </p:sp>
      <p:sp>
        <p:nvSpPr>
          <p:cNvPr id="6" name="Shape 4"/>
          <p:cNvSpPr/>
          <p:nvPr/>
        </p:nvSpPr>
        <p:spPr>
          <a:xfrm>
            <a:off x="7589520" y="1417320"/>
            <a:ext cx="3977640" cy="1691640"/>
          </a:xfrm>
          <a:prstGeom prst="roundRect">
            <a:avLst>
              <a:gd name="adj" fmla="val 4865"/>
            </a:avLst>
          </a:prstGeom>
          <a:solidFill>
            <a:srgbClr val="ECEAE4"/>
          </a:solidFill>
          <a:ln w="12700">
            <a:solidFill>
              <a:srgbClr val="ECEAE4"/>
            </a:solidFill>
            <a:prstDash val="solid"/>
          </a:ln>
        </p:spPr>
        <p:txBody>
          <a:bodyPr/>
          <a:p/>
        </p:txBody>
      </p:sp>
      <p:sp>
        <p:nvSpPr>
          <p:cNvPr id="7" name="Text 5"/>
          <p:cNvSpPr/>
          <p:nvPr/>
        </p:nvSpPr>
        <p:spPr>
          <a:xfrm>
            <a:off x="7818120" y="1508760"/>
            <a:ext cx="3566160" cy="15087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Canada, Uruguay, 12 state americane (situația din 2021). Portugalia, nu.</a:t>
            </a:r>
            <a:endParaRPr lang="en-US" sz="1600" dirty="0"/>
          </a:p>
        </p:txBody>
      </p:sp>
      <p:sp>
        <p:nvSpPr>
          <p:cNvPr id="8" name="Text 6"/>
          <p:cNvSpPr/>
          <p:nvPr/>
        </p:nvSpPr>
        <p:spPr>
          <a:xfrm>
            <a:off x="594360" y="3429000"/>
            <a:ext cx="10972800" cy="41148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Tinerii</a:t>
            </a:r>
            <a:endParaRPr lang="en-US" sz="1800" dirty="0"/>
          </a:p>
        </p:txBody>
      </p:sp>
      <p:sp>
        <p:nvSpPr>
          <p:cNvPr id="9" name="Shape 7"/>
          <p:cNvSpPr/>
          <p:nvPr/>
        </p:nvSpPr>
        <p:spPr>
          <a:xfrm>
            <a:off x="594360" y="3931920"/>
            <a:ext cx="3520440" cy="1600200"/>
          </a:xfrm>
          <a:prstGeom prst="roundRect">
            <a:avLst>
              <a:gd name="adj" fmla="val 5143"/>
            </a:avLst>
          </a:prstGeom>
          <a:solidFill>
            <a:srgbClr val="E1F0EC"/>
          </a:solidFill>
          <a:ln w="12700">
            <a:solidFill>
              <a:srgbClr val="E1F0EC"/>
            </a:solidFill>
            <a:prstDash val="solid"/>
          </a:ln>
        </p:spPr>
        <p:txBody>
          <a:bodyPr/>
          <a:p/>
        </p:txBody>
      </p:sp>
      <p:sp>
        <p:nvSpPr>
          <p:cNvPr id="10" name="Text 8"/>
          <p:cNvSpPr/>
          <p:nvPr/>
        </p:nvSpPr>
        <p:spPr>
          <a:xfrm>
            <a:off x="822960" y="4041648"/>
            <a:ext cx="3108960" cy="411480"/>
          </a:xfrm>
          <a:prstGeom prst="rect">
            <a:avLst/>
          </a:prstGeom>
          <a:noFill/>
          <a:ln/>
        </p:spPr>
        <p:txBody>
          <a:bodyPr wrap="square" lIns="0" tIns="0" rIns="0" bIns="0" rtlCol="0" anchor="t"/>
          <a:lstStyle/>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Consumul în general</a:t>
            </a:r>
            <a:endParaRPr lang="en-US" sz="1550" dirty="0"/>
          </a:p>
        </p:txBody>
      </p:sp>
      <p:sp>
        <p:nvSpPr>
          <p:cNvPr id="11" name="Text 9"/>
          <p:cNvSpPr/>
          <p:nvPr/>
        </p:nvSpPr>
        <p:spPr>
          <a:xfrm>
            <a:off x="822960" y="4480560"/>
            <a:ext cx="310896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nu a crescut cât se temea lumea</a:t>
            </a:r>
            <a:endParaRPr lang="en-US" sz="1550" dirty="0"/>
          </a:p>
        </p:txBody>
      </p:sp>
      <p:sp>
        <p:nvSpPr>
          <p:cNvPr id="12" name="Shape 10"/>
          <p:cNvSpPr/>
          <p:nvPr/>
        </p:nvSpPr>
        <p:spPr>
          <a:xfrm>
            <a:off x="4366260" y="3931920"/>
            <a:ext cx="3520440" cy="1600200"/>
          </a:xfrm>
          <a:prstGeom prst="roundRect">
            <a:avLst>
              <a:gd name="adj" fmla="val 5143"/>
            </a:avLst>
          </a:prstGeom>
          <a:solidFill>
            <a:srgbClr val="E1F0EC"/>
          </a:solidFill>
          <a:ln w="12700">
            <a:solidFill>
              <a:srgbClr val="E1F0EC"/>
            </a:solidFill>
            <a:prstDash val="solid"/>
          </a:ln>
        </p:spPr>
        <p:txBody>
          <a:bodyPr/>
          <a:p/>
        </p:txBody>
      </p:sp>
      <p:sp>
        <p:nvSpPr>
          <p:cNvPr id="13" name="Text 11"/>
          <p:cNvSpPr/>
          <p:nvPr/>
        </p:nvSpPr>
        <p:spPr>
          <a:xfrm>
            <a:off x="4594860" y="4041648"/>
            <a:ext cx="3108960" cy="411480"/>
          </a:xfrm>
          <a:prstGeom prst="rect">
            <a:avLst/>
          </a:prstGeom>
          <a:noFill/>
          <a:ln/>
        </p:spPr>
        <p:txBody>
          <a:bodyPr wrap="square" lIns="0" tIns="0" rIns="0" bIns="0" rtlCol="0" anchor="t"/>
          <a:lstStyle/>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Felul consumului</a:t>
            </a:r>
            <a:endParaRPr lang="en-US" sz="1550" dirty="0"/>
          </a:p>
        </p:txBody>
      </p:sp>
      <p:sp>
        <p:nvSpPr>
          <p:cNvPr id="14" name="Text 12"/>
          <p:cNvSpPr/>
          <p:nvPr/>
        </p:nvSpPr>
        <p:spPr>
          <a:xfrm>
            <a:off x="4594860" y="4480560"/>
            <a:ext cx="310896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mai mult zilnic și mai mult vaporizat</a:t>
            </a:r>
            <a:endParaRPr lang="en-US" sz="1550" dirty="0"/>
          </a:p>
        </p:txBody>
      </p:sp>
      <p:sp>
        <p:nvSpPr>
          <p:cNvPr id="15" name="Shape 13"/>
          <p:cNvSpPr/>
          <p:nvPr/>
        </p:nvSpPr>
        <p:spPr>
          <a:xfrm>
            <a:off x="8138160" y="3931920"/>
            <a:ext cx="3520440" cy="1600200"/>
          </a:xfrm>
          <a:prstGeom prst="roundRect">
            <a:avLst>
              <a:gd name="adj" fmla="val 5143"/>
            </a:avLst>
          </a:prstGeom>
          <a:solidFill>
            <a:srgbClr val="E1F0EC"/>
          </a:solidFill>
          <a:ln w="12700">
            <a:solidFill>
              <a:srgbClr val="E1F0EC"/>
            </a:solidFill>
            <a:prstDash val="solid"/>
          </a:ln>
        </p:spPr>
        <p:txBody>
          <a:bodyPr/>
          <a:p/>
        </p:txBody>
      </p:sp>
      <p:sp>
        <p:nvSpPr>
          <p:cNvPr id="16" name="Text 14"/>
          <p:cNvSpPr/>
          <p:nvPr/>
        </p:nvSpPr>
        <p:spPr>
          <a:xfrm>
            <a:off x="8366760" y="4041648"/>
            <a:ext cx="3108960" cy="411480"/>
          </a:xfrm>
          <a:prstGeom prst="rect">
            <a:avLst/>
          </a:prstGeom>
          <a:noFill/>
          <a:ln/>
        </p:spPr>
        <p:txBody>
          <a:bodyPr wrap="square" lIns="0" tIns="0" rIns="0" bIns="0" rtlCol="0" anchor="t"/>
          <a:lstStyle/>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Produsele</a:t>
            </a:r>
            <a:endParaRPr lang="en-US" sz="1550" dirty="0"/>
          </a:p>
        </p:txBody>
      </p:sp>
      <p:sp>
        <p:nvSpPr>
          <p:cNvPr id="17" name="Text 15"/>
          <p:cNvSpPr/>
          <p:nvPr/>
        </p:nvSpPr>
        <p:spPr>
          <a:xfrm>
            <a:off x="8366760" y="4480560"/>
            <a:ext cx="310896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mai ieftine; mai multe cu peste 70% THC</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ONTARIO · COPIII DE 0–9 ANI · VIZITE LA URGENȚE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Copiii mici: de la aproximativ 2 la 18</a:t>
            </a:r>
            <a:endParaRPr lang="en-US" sz="3200" dirty="0"/>
          </a:p>
        </p:txBody>
      </p:sp>
      <p:sp>
        <p:nvSpPr>
          <p:cNvPr id="4" name="Shape 2"/>
          <p:cNvSpPr/>
          <p:nvPr/>
        </p:nvSpPr>
        <p:spPr>
          <a:xfrm>
            <a:off x="822960" y="4780117"/>
            <a:ext cx="1554480" cy="340523"/>
          </a:xfrm>
          <a:prstGeom prst="rect">
            <a:avLst/>
          </a:prstGeom>
          <a:solidFill>
            <a:srgbClr val="8A8F9E"/>
          </a:solidFill>
          <a:ln w="12700">
            <a:solidFill>
              <a:srgbClr val="8A8F9E"/>
            </a:solidFill>
            <a:prstDash val="solid"/>
          </a:ln>
        </p:spPr>
        <p:txBody>
          <a:bodyPr/>
          <a:p/>
        </p:txBody>
      </p:sp>
      <p:sp>
        <p:nvSpPr>
          <p:cNvPr id="5" name="Text 3"/>
          <p:cNvSpPr/>
          <p:nvPr/>
        </p:nvSpPr>
        <p:spPr>
          <a:xfrm>
            <a:off x="640080" y="4231477"/>
            <a:ext cx="1920240" cy="502920"/>
          </a:xfrm>
          <a:prstGeom prst="rect">
            <a:avLst/>
          </a:prstGeom>
          <a:noFill/>
          <a:ln/>
        </p:spPr>
        <p:txBody>
          <a:bodyPr wrap="square" lIns="0" tIns="0" rIns="0" bIns="0" rtlCol="0" anchor="b"/>
          <a:lstStyle/>
          <a:p>
            <a:pPr algn="ctr" indent="0" marL="0">
              <a:buNone/>
            </a:pPr>
            <a:r>
              <a:rPr lang="en-US" sz="2400" b="1" dirty="0">
                <a:solidFill>
                  <a:srgbClr val="8A8F9E"/>
                </a:solidFill>
                <a:latin typeface="Palatino Linotype" pitchFamily="34" charset="0"/>
                <a:ea typeface="Palatino Linotype" pitchFamily="34" charset="-122"/>
                <a:cs typeface="Palatino Linotype" pitchFamily="34" charset="-120"/>
              </a:rPr>
              <a:t>1,96</a:t>
            </a:r>
            <a:endParaRPr lang="en-US" sz="2400" dirty="0"/>
          </a:p>
        </p:txBody>
      </p:sp>
      <p:sp>
        <p:nvSpPr>
          <p:cNvPr id="6" name="Text 4"/>
          <p:cNvSpPr/>
          <p:nvPr/>
        </p:nvSpPr>
        <p:spPr>
          <a:xfrm>
            <a:off x="594360" y="5212080"/>
            <a:ext cx="2011680" cy="502920"/>
          </a:xfrm>
          <a:prstGeom prst="rect">
            <a:avLst/>
          </a:prstGeom>
          <a:noFill/>
          <a:ln/>
        </p:spPr>
        <p:txBody>
          <a:bodyPr wrap="square" lIns="0" tIns="0" rIns="0" bIns="0" rtlCol="0" anchor="t"/>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Înainte de legalizare</a:t>
            </a:r>
            <a:endParaRPr lang="en-US" sz="1250" dirty="0"/>
          </a:p>
        </p:txBody>
      </p:sp>
      <p:sp>
        <p:nvSpPr>
          <p:cNvPr id="7" name="Text 5"/>
          <p:cNvSpPr/>
          <p:nvPr/>
        </p:nvSpPr>
        <p:spPr>
          <a:xfrm>
            <a:off x="594360" y="5687568"/>
            <a:ext cx="2011680" cy="27432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ian. 2016 – sept. 2018</a:t>
            </a:r>
            <a:endParaRPr lang="en-US" sz="1050" dirty="0"/>
          </a:p>
        </p:txBody>
      </p:sp>
      <p:sp>
        <p:nvSpPr>
          <p:cNvPr id="8" name="Shape 6"/>
          <p:cNvSpPr/>
          <p:nvPr/>
        </p:nvSpPr>
        <p:spPr>
          <a:xfrm>
            <a:off x="2971800" y="4053901"/>
            <a:ext cx="1554480" cy="1066739"/>
          </a:xfrm>
          <a:prstGeom prst="rect">
            <a:avLst/>
          </a:prstGeom>
          <a:solidFill>
            <a:srgbClr val="8A6100"/>
          </a:solidFill>
          <a:ln w="12700">
            <a:solidFill>
              <a:srgbClr val="8A6100"/>
            </a:solidFill>
            <a:prstDash val="solid"/>
          </a:ln>
        </p:spPr>
        <p:txBody>
          <a:bodyPr/>
          <a:p/>
        </p:txBody>
      </p:sp>
      <p:sp>
        <p:nvSpPr>
          <p:cNvPr id="9" name="Text 7"/>
          <p:cNvSpPr/>
          <p:nvPr/>
        </p:nvSpPr>
        <p:spPr>
          <a:xfrm>
            <a:off x="2788920" y="3505261"/>
            <a:ext cx="1920240" cy="502920"/>
          </a:xfrm>
          <a:prstGeom prst="rect">
            <a:avLst/>
          </a:prstGeom>
          <a:noFill/>
          <a:ln/>
        </p:spPr>
        <p:txBody>
          <a:bodyPr wrap="square" lIns="0" tIns="0" rIns="0" bIns="0" rtlCol="0" anchor="b"/>
          <a:lstStyle/>
          <a:p>
            <a:pPr algn="ctr" indent="0" marL="0">
              <a:buNone/>
            </a:pPr>
            <a:r>
              <a:rPr lang="en-US" sz="2400" b="1" dirty="0">
                <a:solidFill>
                  <a:srgbClr val="8A6100"/>
                </a:solidFill>
                <a:latin typeface="Palatino Linotype" pitchFamily="34" charset="0"/>
                <a:ea typeface="Palatino Linotype" pitchFamily="34" charset="-122"/>
                <a:cs typeface="Palatino Linotype" pitchFamily="34" charset="-120"/>
              </a:rPr>
              <a:t>6,14</a:t>
            </a:r>
            <a:endParaRPr lang="en-US" sz="2400" dirty="0"/>
          </a:p>
        </p:txBody>
      </p:sp>
      <p:sp>
        <p:nvSpPr>
          <p:cNvPr id="10" name="Text 8"/>
          <p:cNvSpPr/>
          <p:nvPr/>
        </p:nvSpPr>
        <p:spPr>
          <a:xfrm>
            <a:off x="2743200" y="5212080"/>
            <a:ext cx="2011680" cy="502920"/>
          </a:xfrm>
          <a:prstGeom prst="rect">
            <a:avLst/>
          </a:prstGeom>
          <a:noFill/>
          <a:ln/>
        </p:spPr>
        <p:txBody>
          <a:bodyPr wrap="square" lIns="0" tIns="0" rIns="0" bIns="0" rtlCol="0" anchor="t"/>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După legalizarea florilor</a:t>
            </a:r>
            <a:endParaRPr lang="en-US" sz="1250" dirty="0"/>
          </a:p>
        </p:txBody>
      </p:sp>
      <p:sp>
        <p:nvSpPr>
          <p:cNvPr id="11" name="Text 9"/>
          <p:cNvSpPr/>
          <p:nvPr/>
        </p:nvSpPr>
        <p:spPr>
          <a:xfrm>
            <a:off x="2743200" y="5687568"/>
            <a:ext cx="2011680" cy="27432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oct. 2018 – ian. 2020</a:t>
            </a:r>
            <a:endParaRPr lang="en-US" sz="1050" dirty="0"/>
          </a:p>
        </p:txBody>
      </p:sp>
      <p:sp>
        <p:nvSpPr>
          <p:cNvPr id="12" name="Shape 10"/>
          <p:cNvSpPr/>
          <p:nvPr/>
        </p:nvSpPr>
        <p:spPr>
          <a:xfrm>
            <a:off x="5120640" y="2036826"/>
            <a:ext cx="1554480" cy="3083814"/>
          </a:xfrm>
          <a:prstGeom prst="rect">
            <a:avLst/>
          </a:prstGeom>
          <a:solidFill>
            <a:srgbClr val="B02532"/>
          </a:solidFill>
          <a:ln w="12700">
            <a:solidFill>
              <a:srgbClr val="B02532"/>
            </a:solidFill>
            <a:prstDash val="solid"/>
          </a:ln>
        </p:spPr>
        <p:txBody>
          <a:bodyPr/>
          <a:p/>
        </p:txBody>
      </p:sp>
      <p:sp>
        <p:nvSpPr>
          <p:cNvPr id="13" name="Text 11"/>
          <p:cNvSpPr/>
          <p:nvPr/>
        </p:nvSpPr>
        <p:spPr>
          <a:xfrm>
            <a:off x="4937760" y="1488186"/>
            <a:ext cx="1920240" cy="502920"/>
          </a:xfrm>
          <a:prstGeom prst="rect">
            <a:avLst/>
          </a:prstGeom>
          <a:noFill/>
          <a:ln/>
        </p:spPr>
        <p:txBody>
          <a:bodyPr wrap="square" lIns="0" tIns="0" rIns="0" bIns="0" rtlCol="0" anchor="b"/>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17,75</a:t>
            </a:r>
            <a:endParaRPr lang="en-US" sz="2400" dirty="0"/>
          </a:p>
        </p:txBody>
      </p:sp>
      <p:sp>
        <p:nvSpPr>
          <p:cNvPr id="14" name="Text 12"/>
          <p:cNvSpPr/>
          <p:nvPr/>
        </p:nvSpPr>
        <p:spPr>
          <a:xfrm>
            <a:off x="4892040" y="5212080"/>
            <a:ext cx="2011680" cy="502920"/>
          </a:xfrm>
          <a:prstGeom prst="rect">
            <a:avLst/>
          </a:prstGeom>
          <a:noFill/>
          <a:ln/>
        </p:spPr>
        <p:txBody>
          <a:bodyPr wrap="square" lIns="0" tIns="0" rIns="0" bIns="0" rtlCol="0" anchor="t"/>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După apariția comestibilelor</a:t>
            </a:r>
            <a:endParaRPr lang="en-US" sz="1250" dirty="0"/>
          </a:p>
        </p:txBody>
      </p:sp>
      <p:sp>
        <p:nvSpPr>
          <p:cNvPr id="15" name="Text 13"/>
          <p:cNvSpPr/>
          <p:nvPr/>
        </p:nvSpPr>
        <p:spPr>
          <a:xfrm>
            <a:off x="4892040" y="5687568"/>
            <a:ext cx="2011680" cy="27432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feb. 2020 – mart. 2021</a:t>
            </a:r>
            <a:endParaRPr lang="en-US" sz="1050" dirty="0"/>
          </a:p>
        </p:txBody>
      </p:sp>
      <p:sp>
        <p:nvSpPr>
          <p:cNvPr id="16" name="Shape 14"/>
          <p:cNvSpPr/>
          <p:nvPr/>
        </p:nvSpPr>
        <p:spPr>
          <a:xfrm>
            <a:off x="640080" y="5120640"/>
            <a:ext cx="6492240" cy="27432"/>
          </a:xfrm>
          <a:prstGeom prst="rect">
            <a:avLst/>
          </a:prstGeom>
          <a:solidFill>
            <a:srgbClr val="11121A"/>
          </a:solidFill>
          <a:ln w="12700">
            <a:solidFill>
              <a:srgbClr val="11121A"/>
            </a:solidFill>
            <a:prstDash val="solid"/>
          </a:ln>
        </p:spPr>
        <p:txBody>
          <a:bodyPr/>
          <a:p/>
        </p:txBody>
      </p:sp>
      <p:sp>
        <p:nvSpPr>
          <p:cNvPr id="17" name="Text 15"/>
          <p:cNvSpPr/>
          <p:nvPr/>
        </p:nvSpPr>
        <p:spPr>
          <a:xfrm>
            <a:off x="594360" y="1463040"/>
            <a:ext cx="6400800" cy="365760"/>
          </a:xfrm>
          <a:prstGeom prst="rect">
            <a:avLst/>
          </a:prstGeom>
          <a:noFill/>
          <a:ln/>
        </p:spPr>
        <p:txBody>
          <a:bodyPr wrap="square" lIns="0" tIns="0" rIns="0" bIns="0" rtlCol="0" anchor="t"/>
          <a:lstStyle/>
          <a:p>
            <a:pPr indent="0" marL="0">
              <a:buNone/>
            </a:pPr>
            <a:r>
              <a:rPr lang="en-US" sz="1400" i="1" dirty="0">
                <a:solidFill>
                  <a:srgbClr val="3A3C44"/>
                </a:solidFill>
                <a:latin typeface="Palatino Linotype" pitchFamily="34" charset="0"/>
                <a:ea typeface="Palatino Linotype" pitchFamily="34" charset="-122"/>
                <a:cs typeface="Palatino Linotype" pitchFamily="34" charset="-120"/>
              </a:rPr>
              <a:t>vizite pe an, la 100 000 de copii</a:t>
            </a:r>
            <a:endParaRPr lang="en-US" sz="1400" dirty="0"/>
          </a:p>
        </p:txBody>
      </p:sp>
      <p:sp>
        <p:nvSpPr>
          <p:cNvPr id="18" name="Text 16"/>
          <p:cNvSpPr/>
          <p:nvPr/>
        </p:nvSpPr>
        <p:spPr>
          <a:xfrm>
            <a:off x="7589520" y="1737360"/>
            <a:ext cx="3977640" cy="146304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Mai grave: internările au urcat de la aproximativ un sfert la aproape 4 din 10 vizite.</a:t>
            </a:r>
            <a:endParaRPr lang="en-US" sz="1700" dirty="0"/>
          </a:p>
        </p:txBody>
      </p:sp>
      <p:sp>
        <p:nvSpPr>
          <p:cNvPr id="19" name="Text 17"/>
          <p:cNvSpPr/>
          <p:nvPr/>
        </p:nvSpPr>
        <p:spPr>
          <a:xfrm>
            <a:off x="7589520" y="3291840"/>
            <a:ext cx="3977640" cy="822960"/>
          </a:xfrm>
          <a:prstGeom prst="rect">
            <a:avLst/>
          </a:prstGeom>
          <a:noFill/>
          <a:ln/>
        </p:spPr>
        <p:txBody>
          <a:bodyPr wrap="square" lIns="0" tIns="0" rIns="0" bIns="0" rtlCol="0" anchor="t"/>
          <a:lstStyle/>
          <a:p>
            <a:pPr indent="0" marL="0">
              <a:buNone/>
            </a:pPr>
            <a:r>
              <a:rPr lang="en-US" sz="1600" dirty="0">
                <a:solidFill>
                  <a:srgbClr val="3A3C44"/>
                </a:solidFill>
                <a:latin typeface="Palatino Linotype" pitchFamily="34" charset="0"/>
                <a:ea typeface="Palatino Linotype" pitchFamily="34" charset="-122"/>
                <a:cs typeface="Palatino Linotype" pitchFamily="34" charset="-120"/>
              </a:rPr>
              <a:t>Autorii: comestibilele comerciale par un factor-cheie.</a:t>
            </a:r>
            <a:endParaRPr lang="en-US" sz="1600" dirty="0"/>
          </a:p>
        </p:txBody>
      </p:sp>
      <p:sp>
        <p:nvSpPr>
          <p:cNvPr id="20" name="Text 18"/>
          <p:cNvSpPr/>
          <p:nvPr/>
        </p:nvSpPr>
        <p:spPr>
          <a:xfrm>
            <a:off x="7589520" y="4251960"/>
            <a:ext cx="3977640" cy="822960"/>
          </a:xfrm>
          <a:prstGeom prst="rect">
            <a:avLst/>
          </a:prstGeom>
          <a:noFill/>
          <a:ln/>
        </p:spPr>
        <p:txBody>
          <a:bodyPr wrap="square" lIns="0" tIns="0" rIns="0" bIns="0" rtlCol="0" anchor="t"/>
          <a:lstStyle/>
          <a:p>
            <a:pPr indent="0" marL="0">
              <a:buNone/>
            </a:pPr>
            <a:r>
              <a:rPr lang="en-US" sz="2000" b="1" i="1" dirty="0">
                <a:solidFill>
                  <a:srgbClr val="B02532"/>
                </a:solidFill>
                <a:latin typeface="Palatino Linotype" pitchFamily="34" charset="0"/>
                <a:ea typeface="Palatino Linotype" pitchFamily="34" charset="-122"/>
                <a:cs typeface="Palatino Linotype" pitchFamily="34" charset="-120"/>
              </a:rPr>
              <a:t>O bomboană arată ca o bomboană.</a:t>
            </a:r>
            <a:endParaRPr lang="en-US" sz="20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Myran și colab., JAMA Network Open, 2022; Ontario, Canada.</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OPINIE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 SINGURĂ REGULĂ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regulă ar proteja cei mai mulți copii mici?</a:t>
            </a:r>
            <a:endParaRPr lang="en-US" sz="3000" dirty="0"/>
          </a:p>
        </p:txBody>
      </p:sp>
      <p:sp>
        <p:nvSpPr>
          <p:cNvPr id="6" name="Shape 4"/>
          <p:cNvSpPr/>
          <p:nvPr/>
        </p:nvSpPr>
        <p:spPr>
          <a:xfrm>
            <a:off x="594360" y="160020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914400" y="1755648"/>
            <a:ext cx="420624" cy="420624"/>
          </a:xfrm>
          <a:prstGeom prst="ellipse">
            <a:avLst/>
          </a:prstGeom>
          <a:solidFill>
            <a:srgbClr val="FFC24B"/>
          </a:solidFill>
          <a:ln/>
        </p:spPr>
        <p:txBody>
          <a:bodyPr/>
          <a:p/>
        </p:txBody>
      </p:sp>
      <p:sp>
        <p:nvSpPr>
          <p:cNvPr id="8" name="Text 6"/>
          <p:cNvSpPr/>
          <p:nvPr/>
        </p:nvSpPr>
        <p:spPr>
          <a:xfrm>
            <a:off x="91440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969264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Vârsta minimă de cumpărare</a:t>
            </a:r>
            <a:endParaRPr lang="en-US" sz="1800" dirty="0"/>
          </a:p>
        </p:txBody>
      </p:sp>
      <p:sp>
        <p:nvSpPr>
          <p:cNvPr id="10" name="Shape 8"/>
          <p:cNvSpPr/>
          <p:nvPr/>
        </p:nvSpPr>
        <p:spPr>
          <a:xfrm>
            <a:off x="594360" y="24688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914400" y="2624328"/>
            <a:ext cx="420624" cy="420624"/>
          </a:xfrm>
          <a:prstGeom prst="ellipse">
            <a:avLst/>
          </a:prstGeom>
          <a:solidFill>
            <a:srgbClr val="FFC24B"/>
          </a:solidFill>
          <a:ln/>
        </p:spPr>
        <p:txBody>
          <a:bodyPr/>
          <a:p/>
        </p:txBody>
      </p:sp>
      <p:sp>
        <p:nvSpPr>
          <p:cNvPr id="12" name="Text 10"/>
          <p:cNvSpPr/>
          <p:nvPr/>
        </p:nvSpPr>
        <p:spPr>
          <a:xfrm>
            <a:off x="914400" y="26243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468880"/>
            <a:ext cx="969264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Ambalaj opac și fără produse în formă de dulciuri</a:t>
            </a:r>
            <a:endParaRPr lang="en-US" sz="1800" dirty="0"/>
          </a:p>
        </p:txBody>
      </p:sp>
      <p:sp>
        <p:nvSpPr>
          <p:cNvPr id="14" name="Shape 12"/>
          <p:cNvSpPr/>
          <p:nvPr/>
        </p:nvSpPr>
        <p:spPr>
          <a:xfrm>
            <a:off x="594360" y="33375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914400" y="3493008"/>
            <a:ext cx="420624" cy="420624"/>
          </a:xfrm>
          <a:prstGeom prst="ellipse">
            <a:avLst/>
          </a:prstGeom>
          <a:solidFill>
            <a:srgbClr val="FFC24B"/>
          </a:solidFill>
          <a:ln/>
        </p:spPr>
        <p:txBody>
          <a:bodyPr/>
          <a:p/>
        </p:txBody>
      </p:sp>
      <p:sp>
        <p:nvSpPr>
          <p:cNvPr id="16" name="Text 14"/>
          <p:cNvSpPr/>
          <p:nvPr/>
        </p:nvSpPr>
        <p:spPr>
          <a:xfrm>
            <a:off x="914400" y="3493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337560"/>
            <a:ext cx="969264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Taxe mari</a:t>
            </a:r>
            <a:endParaRPr lang="en-US" sz="1800" dirty="0"/>
          </a:p>
        </p:txBody>
      </p:sp>
      <p:sp>
        <p:nvSpPr>
          <p:cNvPr id="18" name="Shape 16"/>
          <p:cNvSpPr/>
          <p:nvPr/>
        </p:nvSpPr>
        <p:spPr>
          <a:xfrm>
            <a:off x="594360" y="42062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9" name="Shape 17"/>
          <p:cNvSpPr/>
          <p:nvPr/>
        </p:nvSpPr>
        <p:spPr>
          <a:xfrm>
            <a:off x="914400" y="4361688"/>
            <a:ext cx="420624" cy="420624"/>
          </a:xfrm>
          <a:prstGeom prst="ellipse">
            <a:avLst/>
          </a:prstGeom>
          <a:solidFill>
            <a:srgbClr val="FFC24B"/>
          </a:solidFill>
          <a:ln/>
        </p:spPr>
        <p:txBody>
          <a:bodyPr/>
          <a:p/>
        </p:txBody>
      </p:sp>
      <p:sp>
        <p:nvSpPr>
          <p:cNvPr id="20" name="Text 18"/>
          <p:cNvSpPr/>
          <p:nvPr/>
        </p:nvSpPr>
        <p:spPr>
          <a:xfrm>
            <a:off x="914400" y="4361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206240"/>
            <a:ext cx="9692640" cy="7315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Interdicția publicității</a:t>
            </a:r>
            <a:endParaRPr lang="en-US" sz="1800" dirty="0"/>
          </a:p>
        </p:txBody>
      </p:sp>
      <p:sp>
        <p:nvSpPr>
          <p:cNvPr id="22" name="Text 20"/>
          <p:cNvSpPr/>
          <p:nvPr/>
        </p:nvSpPr>
        <p:spPr>
          <a:xfrm>
            <a:off x="594360" y="5212080"/>
            <a:ext cx="10972800" cy="73152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Vot de opinie, fără răspuns corect unic. Datele spun ce s-a întâmplat; regula aleasă e o decizie de politică.</a:t>
            </a:r>
            <a:endParaRPr lang="en-US" sz="1600" dirty="0"/>
          </a:p>
        </p:txBody>
      </p:sp>
      <p:sp>
        <p:nvSpPr>
          <p:cNvPr id="23" name="Shape 21"/>
          <p:cNvSpPr/>
          <p:nvPr/>
        </p:nvSpPr>
        <p:spPr>
          <a:xfrm>
            <a:off x="9738360" y="5166360"/>
            <a:ext cx="1828800" cy="1508760"/>
          </a:xfrm>
          <a:prstGeom prst="roundRect">
            <a:avLst>
              <a:gd name="adj" fmla="val 5455"/>
            </a:avLst>
          </a:prstGeom>
          <a:solidFill>
            <a:srgbClr val="FFFFFF"/>
          </a:solidFill>
          <a:ln w="12700">
            <a:solidFill>
              <a:srgbClr val="FFFFFF"/>
            </a:solidFill>
            <a:prstDash val="solid"/>
          </a:ln>
        </p:spPr>
        <p:txBody>
          <a:bodyPr/>
          <a:p/>
        </p:txBody>
      </p:sp>
      <p:pic>
        <p:nvPicPr>
          <p:cNvPr id="24" name="Picture 23" descr="Mentimeter_OPT_DROGURI_C03.png"/>
          <p:cNvPicPr>
            <a:picLocks noChangeAspect="1"/>
          </p:cNvPicPr>
          <p:nvPr/>
        </p:nvPicPr>
        <p:blipFill>
          <a:blip r:embed="rId3"/>
          <a:stretch>
            <a:fillRect/>
          </a:stretch>
        </p:blipFill>
        <p:spPr>
          <a:xfrm>
            <a:off x="10115549" y="5166360"/>
            <a:ext cx="1074421" cy="1074421"/>
          </a:xfrm>
          <a:prstGeom prst="rect">
            <a:avLst/>
          </a:prstGeom>
        </p:spPr>
      </p:pic>
      <p:sp>
        <p:nvSpPr>
          <p:cNvPr id="25" name="TextBox 24"/>
          <p:cNvSpPr txBox="1"/>
          <p:nvPr/>
        </p:nvSpPr>
        <p:spPr>
          <a:xfrm>
            <a:off x="9738360" y="6278881"/>
            <a:ext cx="18288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CHAT · 30 DE SECUNDE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PARTEA A PATRA · ÎNCHEIERE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îi spuneți mâine unui coleg</a:t>
            </a:r>
            <a:endParaRPr lang="en-US" sz="3400" dirty="0"/>
          </a:p>
        </p:txBody>
      </p:sp>
      <p:sp>
        <p:nvSpPr>
          <p:cNvPr id="6" name="Shape 4"/>
          <p:cNvSpPr/>
          <p:nvPr/>
        </p:nvSpPr>
        <p:spPr>
          <a:xfrm>
            <a:off x="594360" y="1828800"/>
            <a:ext cx="73152" cy="3291840"/>
          </a:xfrm>
          <a:prstGeom prst="rect">
            <a:avLst/>
          </a:prstGeom>
          <a:solidFill>
            <a:srgbClr val="27D3BE"/>
          </a:solidFill>
          <a:ln w="12700">
            <a:solidFill>
              <a:srgbClr val="27D3BE"/>
            </a:solidFill>
            <a:prstDash val="solid"/>
          </a:ln>
        </p:spPr>
        <p:txBody>
          <a:bodyPr/>
          <a:p/>
        </p:txBody>
      </p:sp>
      <p:sp>
        <p:nvSpPr>
          <p:cNvPr id="7" name="Text 5"/>
          <p:cNvSpPr/>
          <p:nvPr/>
        </p:nvSpPr>
        <p:spPr>
          <a:xfrm>
            <a:off x="960120" y="1828800"/>
            <a:ext cx="10515600" cy="3291840"/>
          </a:xfrm>
          <a:prstGeom prst="rect">
            <a:avLst/>
          </a:prstGeom>
          <a:noFill/>
          <a:ln/>
        </p:spPr>
        <p:txBody>
          <a:bodyPr wrap="square" lIns="0" tIns="0" rIns="0" bIns="0" rtlCol="0" anchor="ctr"/>
          <a:lstStyle/>
          <a:p>
            <a:pPr indent="0" marL="0">
              <a:buNone/>
            </a:pPr>
            <a:r>
              <a:rPr lang="en-US" sz="2300" i="1" dirty="0">
                <a:solidFill>
                  <a:srgbClr val="FFFFFF"/>
                </a:solidFill>
                <a:latin typeface="Palatino Linotype" pitchFamily="34" charset="0"/>
                <a:ea typeface="Palatino Linotype" pitchFamily="34" charset="-122"/>
                <a:cs typeface="Palatino Linotype" pitchFamily="34" charset="-120"/>
              </a:rPr>
              <a:t>„Acolo unde cannabisul s-a legalizat, consumul adolescenților nu a explodat, dar s-a schimbat felul în care se consumă. Iar cei care au plătit cel mai clar au fost copiii mici, din cauza produselor care arată ca dulciurile.”</a:t>
            </a:r>
            <a:endParaRPr lang="en-US" sz="2300" dirty="0"/>
          </a:p>
        </p:txBody>
      </p:sp>
      <p:sp>
        <p:nvSpPr>
          <p:cNvPr id="8" name="Text 6"/>
          <p:cNvSpPr/>
          <p:nvPr/>
        </p:nvSpPr>
        <p:spPr>
          <a:xfrm>
            <a:off x="594360" y="5486400"/>
            <a:ext cx="10972800" cy="41148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Scrieți-o în chat, cu cuvintele voastre, într-o frază.</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200" dirty="0"/>
          </a:p>
        </p:txBody>
      </p:sp>
      <p:sp>
        <p:nvSpPr>
          <p:cNvPr id="4" name="Shape 2"/>
          <p:cNvSpPr/>
          <p:nvPr/>
        </p:nvSpPr>
        <p:spPr>
          <a:xfrm>
            <a:off x="685800" y="1517904"/>
            <a:ext cx="420624" cy="420624"/>
          </a:xfrm>
          <a:prstGeom prst="ellipse">
            <a:avLst/>
          </a:prstGeom>
          <a:solidFill>
            <a:srgbClr val="FF4757"/>
          </a:solidFill>
          <a:ln/>
        </p:spPr>
        <p:txBody>
          <a:bodyPr/>
          <a:p/>
        </p:txBody>
      </p:sp>
      <p:sp>
        <p:nvSpPr>
          <p:cNvPr id="5" name="Text 3"/>
          <p:cNvSpPr/>
          <p:nvPr/>
        </p:nvSpPr>
        <p:spPr>
          <a:xfrm>
            <a:off x="685800" y="15179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6" name="Text 4"/>
          <p:cNvSpPr/>
          <p:nvPr/>
        </p:nvSpPr>
        <p:spPr>
          <a:xfrm>
            <a:off x="1325880" y="141732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titlu despre droguri: ce s-a întâmplat (sursa, anul) și ce ar trebui să facem (valorile).</a:t>
            </a:r>
            <a:endParaRPr lang="en-US" sz="1550" dirty="0"/>
          </a:p>
        </p:txBody>
      </p:sp>
      <p:sp>
        <p:nvSpPr>
          <p:cNvPr id="7" name="Shape 5"/>
          <p:cNvSpPr/>
          <p:nvPr/>
        </p:nvSpPr>
        <p:spPr>
          <a:xfrm>
            <a:off x="685800" y="2249424"/>
            <a:ext cx="420624" cy="420624"/>
          </a:xfrm>
          <a:prstGeom prst="ellipse">
            <a:avLst/>
          </a:prstGeom>
          <a:solidFill>
            <a:srgbClr val="FF4757"/>
          </a:solidFill>
          <a:ln/>
        </p:spPr>
        <p:txBody>
          <a:bodyPr/>
          <a:p/>
        </p:txBody>
      </p:sp>
      <p:sp>
        <p:nvSpPr>
          <p:cNvPr id="8" name="Text 6"/>
          <p:cNvSpPr/>
          <p:nvPr/>
        </p:nvSpPr>
        <p:spPr>
          <a:xfrm>
            <a:off x="685800" y="22494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9" name="Text 7"/>
          <p:cNvSpPr/>
          <p:nvPr/>
        </p:nvSpPr>
        <p:spPr>
          <a:xfrm>
            <a:off x="1325880" y="214884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„Portugalia a legalizat drogurile”? Le-a dezincriminat; vânzarea a rămas ilegală.</a:t>
            </a:r>
            <a:endParaRPr lang="en-US" sz="1550" dirty="0"/>
          </a:p>
        </p:txBody>
      </p:sp>
      <p:sp>
        <p:nvSpPr>
          <p:cNvPr id="10" name="Shape 8"/>
          <p:cNvSpPr/>
          <p:nvPr/>
        </p:nvSpPr>
        <p:spPr>
          <a:xfrm>
            <a:off x="685800" y="2980944"/>
            <a:ext cx="420624" cy="420624"/>
          </a:xfrm>
          <a:prstGeom prst="ellipse">
            <a:avLst/>
          </a:prstGeom>
          <a:solidFill>
            <a:srgbClr val="FF4757"/>
          </a:solidFill>
          <a:ln/>
        </p:spPr>
        <p:txBody>
          <a:bodyPr/>
          <a:p/>
        </p:txBody>
      </p:sp>
      <p:sp>
        <p:nvSpPr>
          <p:cNvPr id="11" name="Text 9"/>
          <p:cNvSpPr/>
          <p:nvPr/>
        </p:nvSpPr>
        <p:spPr>
          <a:xfrm>
            <a:off x="685800" y="29809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2" name="Text 10"/>
          <p:cNvSpPr/>
          <p:nvPr/>
        </p:nvSpPr>
        <p:spPr>
          <a:xfrm>
            <a:off x="1325880" y="288036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Cannabis pentru greața de la chimioterapie: un adaos, cu oncologul; pentru cancer, numai în studii clinice.</a:t>
            </a:r>
            <a:endParaRPr lang="en-US" sz="1550" dirty="0"/>
          </a:p>
        </p:txBody>
      </p:sp>
      <p:sp>
        <p:nvSpPr>
          <p:cNvPr id="13" name="Shape 11"/>
          <p:cNvSpPr/>
          <p:nvPr/>
        </p:nvSpPr>
        <p:spPr>
          <a:xfrm>
            <a:off x="685800" y="3712464"/>
            <a:ext cx="420624" cy="420624"/>
          </a:xfrm>
          <a:prstGeom prst="ellipse">
            <a:avLst/>
          </a:prstGeom>
          <a:solidFill>
            <a:srgbClr val="FF4757"/>
          </a:solidFill>
          <a:ln/>
        </p:spPr>
        <p:txBody>
          <a:bodyPr/>
          <a:p/>
        </p:txBody>
      </p:sp>
      <p:sp>
        <p:nvSpPr>
          <p:cNvPr id="14" name="Text 12"/>
          <p:cNvSpPr/>
          <p:nvPr/>
        </p:nvSpPr>
        <p:spPr>
          <a:xfrm>
            <a:off x="685800" y="37124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5" name="Text 13"/>
          <p:cNvSpPr/>
          <p:nvPr/>
        </p:nvSpPr>
        <p:spPr>
          <a:xfrm>
            <a:off x="1325880" y="361188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„Cannabisul ameliorează spasticitatea”: căutați „raportat de pacient”.</a:t>
            </a:r>
            <a:endParaRPr lang="en-US" sz="1550" dirty="0"/>
          </a:p>
        </p:txBody>
      </p:sp>
      <p:sp>
        <p:nvSpPr>
          <p:cNvPr id="16" name="Shape 14"/>
          <p:cNvSpPr/>
          <p:nvPr/>
        </p:nvSpPr>
        <p:spPr>
          <a:xfrm>
            <a:off x="685800" y="4443984"/>
            <a:ext cx="420624" cy="420624"/>
          </a:xfrm>
          <a:prstGeom prst="ellipse">
            <a:avLst/>
          </a:prstGeom>
          <a:solidFill>
            <a:srgbClr val="FF4757"/>
          </a:solidFill>
          <a:ln/>
        </p:spPr>
        <p:txBody>
          <a:bodyPr/>
          <a:p/>
        </p:txBody>
      </p:sp>
      <p:sp>
        <p:nvSpPr>
          <p:cNvPr id="17" name="Text 15"/>
          <p:cNvSpPr/>
          <p:nvPr/>
        </p:nvSpPr>
        <p:spPr>
          <a:xfrm>
            <a:off x="685800" y="44439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18" name="Text 16"/>
          <p:cNvSpPr/>
          <p:nvPr/>
        </p:nvSpPr>
        <p:spPr>
          <a:xfrm>
            <a:off x="1325880" y="434340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„Jumătate din cazuri s-ar evita”: ce a presupus calculul?</a:t>
            </a:r>
            <a:endParaRPr lang="en-US" sz="1550" dirty="0"/>
          </a:p>
        </p:txBody>
      </p:sp>
      <p:sp>
        <p:nvSpPr>
          <p:cNvPr id="19" name="Shape 17"/>
          <p:cNvSpPr/>
          <p:nvPr/>
        </p:nvSpPr>
        <p:spPr>
          <a:xfrm>
            <a:off x="685800" y="5175504"/>
            <a:ext cx="420624" cy="420624"/>
          </a:xfrm>
          <a:prstGeom prst="ellipse">
            <a:avLst/>
          </a:prstGeom>
          <a:solidFill>
            <a:srgbClr val="FF4757"/>
          </a:solidFill>
          <a:ln/>
        </p:spPr>
        <p:txBody>
          <a:bodyPr/>
          <a:p/>
        </p:txBody>
      </p:sp>
      <p:sp>
        <p:nvSpPr>
          <p:cNvPr id="20" name="Text 18"/>
          <p:cNvSpPr/>
          <p:nvPr/>
        </p:nvSpPr>
        <p:spPr>
          <a:xfrm>
            <a:off x="685800" y="51755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6</a:t>
            </a:r>
            <a:endParaRPr lang="en-US" sz="1400" dirty="0"/>
          </a:p>
        </p:txBody>
      </p:sp>
      <p:sp>
        <p:nvSpPr>
          <p:cNvPr id="21" name="Text 19"/>
          <p:cNvSpPr/>
          <p:nvPr/>
        </p:nvSpPr>
        <p:spPr>
          <a:xfrm>
            <a:off x="1325880" y="5074920"/>
            <a:ext cx="1024128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coleg consumă zilnic și are episoade ciudate: nu glumiți; îl îndemnați să vorbească cu un medic.</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RECAPITULARE</a:t>
            </a:r>
            <a:endParaRPr lang="en-US" sz="1300" dirty="0"/>
          </a:p>
        </p:txBody>
      </p:sp>
      <p:sp>
        <p:nvSpPr>
          <p:cNvPr id="5" name="Text 3"/>
          <p:cNvSpPr/>
          <p:nvPr/>
        </p:nvSpPr>
        <p:spPr>
          <a:xfrm>
            <a:off x="594360" y="1280160"/>
            <a:ext cx="10972800" cy="9144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Lisabona, taberele, farmacia, Ontario</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sau linkul din chat.</a:t>
            </a:r>
            <a:endParaRPr lang="en-US" sz="2200" dirty="0"/>
          </a:p>
        </p:txBody>
      </p:sp>
      <p:sp>
        <p:nvSpPr>
          <p:cNvPr id="7" name="Text 5"/>
          <p:cNvSpPr/>
          <p:nvPr/>
        </p:nvSpPr>
        <p:spPr>
          <a:xfrm>
            <a:off x="594360" y="3200400"/>
            <a:ext cx="10972800" cy="1097280"/>
          </a:xfrm>
          <a:prstGeom prst="rect">
            <a:avLst/>
          </a:prstGeom>
          <a:noFill/>
          <a:ln/>
        </p:spPr>
        <p:txBody>
          <a:bodyPr wrap="square" lIns="0" tIns="0" rIns="0" bIns="0" rtlCol="0" anchor="ctr"/>
          <a:lstStyle/>
          <a:p>
            <a:pPr indent="0" marL="0">
              <a:buNone/>
            </a:pPr>
            <a:r>
              <a:rPr lang="en-US" sz="2200" i="1" dirty="0">
                <a:solidFill>
                  <a:srgbClr val="FFFFFF"/>
                </a:solidFill>
                <a:latin typeface="Palatino Linotype" pitchFamily="34" charset="0"/>
                <a:ea typeface="Palatino Linotype" pitchFamily="34" charset="-122"/>
                <a:cs typeface="Palatino Linotype" pitchFamily="34" charset="-120"/>
              </a:rPr>
              <a:t>Zece întrebări. Rezultatul nu se notează. După fiecare întrebare: varianta corectă și sursa ei.</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LIMITELE DE AZI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nu putem afirma</a:t>
            </a:r>
            <a:endParaRPr lang="en-US" sz="3200" dirty="0"/>
          </a:p>
        </p:txBody>
      </p:sp>
      <p:sp>
        <p:nvSpPr>
          <p:cNvPr id="4" name="Shape 2"/>
          <p:cNvSpPr/>
          <p:nvPr/>
        </p:nvSpPr>
        <p:spPr>
          <a:xfrm>
            <a:off x="594360" y="1554480"/>
            <a:ext cx="64008" cy="548640"/>
          </a:xfrm>
          <a:prstGeom prst="rect">
            <a:avLst/>
          </a:prstGeom>
          <a:solidFill>
            <a:srgbClr val="B02532"/>
          </a:solidFill>
          <a:ln w="12700">
            <a:solidFill>
              <a:srgbClr val="B02532"/>
            </a:solidFill>
            <a:prstDash val="solid"/>
          </a:ln>
        </p:spPr>
        <p:txBody>
          <a:bodyPr/>
          <a:p/>
        </p:txBody>
      </p:sp>
      <p:sp>
        <p:nvSpPr>
          <p:cNvPr id="5" name="Text 3"/>
          <p:cNvSpPr/>
          <p:nvPr/>
        </p:nvSpPr>
        <p:spPr>
          <a:xfrm>
            <a:off x="868680" y="1463040"/>
            <a:ext cx="1069848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Forma în vigoare azi a legii portugheze; am citit forma inițială.</a:t>
            </a:r>
            <a:endParaRPr lang="en-US" sz="1700" dirty="0"/>
          </a:p>
        </p:txBody>
      </p:sp>
      <p:sp>
        <p:nvSpPr>
          <p:cNvPr id="6" name="Shape 4"/>
          <p:cNvSpPr/>
          <p:nvPr/>
        </p:nvSpPr>
        <p:spPr>
          <a:xfrm>
            <a:off x="594360" y="2423160"/>
            <a:ext cx="64008" cy="548640"/>
          </a:xfrm>
          <a:prstGeom prst="rect">
            <a:avLst/>
          </a:prstGeom>
          <a:solidFill>
            <a:srgbClr val="B02532"/>
          </a:solidFill>
          <a:ln w="12700">
            <a:solidFill>
              <a:srgbClr val="B02532"/>
            </a:solidFill>
            <a:prstDash val="solid"/>
          </a:ln>
        </p:spPr>
        <p:txBody>
          <a:bodyPr/>
          <a:p/>
        </p:txBody>
      </p:sp>
      <p:sp>
        <p:nvSpPr>
          <p:cNvPr id="7" name="Text 5"/>
          <p:cNvSpPr/>
          <p:nvPr/>
        </p:nvSpPr>
        <p:spPr>
          <a:xfrm>
            <a:off x="868680" y="2331720"/>
            <a:ext cx="1069848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Cifrele exacte ale rezultatelor portugheze care circulă și decesele din ultimii ani.</a:t>
            </a:r>
            <a:endParaRPr lang="en-US" sz="1700" dirty="0"/>
          </a:p>
        </p:txBody>
      </p:sp>
      <p:sp>
        <p:nvSpPr>
          <p:cNvPr id="8" name="Shape 6"/>
          <p:cNvSpPr/>
          <p:nvPr/>
        </p:nvSpPr>
        <p:spPr>
          <a:xfrm>
            <a:off x="594360" y="3291840"/>
            <a:ext cx="64008" cy="548640"/>
          </a:xfrm>
          <a:prstGeom prst="rect">
            <a:avLst/>
          </a:prstGeom>
          <a:solidFill>
            <a:srgbClr val="B02532"/>
          </a:solidFill>
          <a:ln w="12700">
            <a:solidFill>
              <a:srgbClr val="B02532"/>
            </a:solidFill>
            <a:prstDash val="solid"/>
          </a:ln>
        </p:spPr>
        <p:txBody>
          <a:bodyPr/>
          <a:p/>
        </p:txBody>
      </p:sp>
      <p:sp>
        <p:nvSpPr>
          <p:cNvPr id="9" name="Text 7"/>
          <p:cNvSpPr/>
          <p:nvPr/>
        </p:nvSpPr>
        <p:spPr>
          <a:xfrm>
            <a:off x="868680" y="3200400"/>
            <a:ext cx="1069848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Cât din scăderea infecțiilor și a deceselor se datorează legii și cât serviciilor.</a:t>
            </a:r>
            <a:endParaRPr lang="en-US" sz="1700" dirty="0"/>
          </a:p>
        </p:txBody>
      </p:sp>
      <p:sp>
        <p:nvSpPr>
          <p:cNvPr id="10" name="Shape 8"/>
          <p:cNvSpPr/>
          <p:nvPr/>
        </p:nvSpPr>
        <p:spPr>
          <a:xfrm>
            <a:off x="594360" y="4160520"/>
            <a:ext cx="64008" cy="548640"/>
          </a:xfrm>
          <a:prstGeom prst="rect">
            <a:avLst/>
          </a:prstGeom>
          <a:solidFill>
            <a:srgbClr val="B02532"/>
          </a:solidFill>
          <a:ln w="12700">
            <a:solidFill>
              <a:srgbClr val="B02532"/>
            </a:solidFill>
            <a:prstDash val="solid"/>
          </a:ln>
        </p:spPr>
        <p:txBody>
          <a:bodyPr/>
          <a:p/>
        </p:txBody>
      </p:sp>
      <p:sp>
        <p:nvSpPr>
          <p:cNvPr id="11" name="Text 9"/>
          <p:cNvSpPr/>
          <p:nvPr/>
        </p:nvSpPr>
        <p:spPr>
          <a:xfrm>
            <a:off x="868680" y="4069080"/>
            <a:ext cx="1069848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Cât de mare este, exact, efectul cannabisului asupra riscului de psihoză.</a:t>
            </a:r>
            <a:endParaRPr lang="en-US" sz="1700" dirty="0"/>
          </a:p>
        </p:txBody>
      </p:sp>
      <p:sp>
        <p:nvSpPr>
          <p:cNvPr id="12" name="Text 10"/>
          <p:cNvSpPr/>
          <p:nvPr/>
        </p:nvSpPr>
        <p:spPr>
          <a:xfrm>
            <a:off x="594360" y="5120640"/>
            <a:ext cx="10972800" cy="411480"/>
          </a:xfrm>
          <a:prstGeom prst="rect">
            <a:avLst/>
          </a:prstGeom>
          <a:noFill/>
          <a:ln/>
        </p:spPr>
        <p:txBody>
          <a:bodyPr wrap="square" lIns="0" tIns="0" rIns="0" bIns="0" rtlCol="0" anchor="t"/>
          <a:lstStyle/>
          <a:p>
            <a:pPr indent="0" marL="0">
              <a:buNone/>
            </a:pPr>
            <a:r>
              <a:rPr lang="en-US" sz="1500" i="1" dirty="0">
                <a:solidFill>
                  <a:srgbClr val="3A3C44"/>
                </a:solidFill>
                <a:latin typeface="Palatino Linotype" pitchFamily="34" charset="0"/>
                <a:ea typeface="Palatino Linotype" pitchFamily="34" charset="-122"/>
                <a:cs typeface="Palatino Linotype" pitchFamily="34" charset="-120"/>
              </a:rPr>
              <a:t>Lista completă, în note.</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titular</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te-am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Linkul e și în chat. Luni, pe pagina disciplinei: două lucruri schimbate după răspunsuri.</a:t>
            </a:r>
            <a:endParaRPr lang="en-US" sz="1700" dirty="0"/>
          </a:p>
        </p:txBody>
      </p:sp>
      <p:pic>
        <p:nvPicPr>
          <p:cNvPr id="17" name="Picture 16" descr="Mentimeter_OPT_DROGURI_C03.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3 - Portugalia 2001 și cannabisul: cum separi politica de știință</dc:title>
  <dc:subject>PptxGenJS Presentation</dc:subject>
  <dc:creator>Conf. Univ. Dr. Adrian Pana</dc:creator>
  <cp:lastModifiedBy>Conf. Univ. Dr. Adrian Pana</cp:lastModifiedBy>
  <cp:revision>1</cp:revision>
  <dcterms:created xsi:type="dcterms:W3CDTF">2026-10-11T09:58:08Z</dcterms:created>
  <dcterms:modified xsi:type="dcterms:W3CDTF">2026-10-11T09:58:08Z</dcterms:modified>
  <cp:keywords>sursa_amprenta=a76d1b60eb69c751; proiectie</cp:keywords>
</cp:coreProperties>
</file>